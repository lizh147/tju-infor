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56"/>
  </p:handoutMasterIdLst>
  <p:sldIdLst>
    <p:sldId id="345" r:id="rId3"/>
    <p:sldId id="346" r:id="rId4"/>
    <p:sldId id="702" r:id="rId5"/>
    <p:sldId id="703" r:id="rId6"/>
    <p:sldId id="305" r:id="rId7"/>
    <p:sldId id="313" r:id="rId8"/>
    <p:sldId id="314" r:id="rId9"/>
    <p:sldId id="315" r:id="rId10"/>
    <p:sldId id="317" r:id="rId11"/>
    <p:sldId id="316" r:id="rId12"/>
    <p:sldId id="318" r:id="rId13"/>
    <p:sldId id="319" r:id="rId14"/>
    <p:sldId id="267" r:id="rId15"/>
    <p:sldId id="268" r:id="rId16"/>
    <p:sldId id="344" r:id="rId17"/>
    <p:sldId id="343" r:id="rId18"/>
    <p:sldId id="309" r:id="rId19"/>
    <p:sldId id="307" r:id="rId20"/>
    <p:sldId id="320" r:id="rId21"/>
    <p:sldId id="669" r:id="rId22"/>
    <p:sldId id="670" r:id="rId23"/>
    <p:sldId id="269" r:id="rId24"/>
    <p:sldId id="342" r:id="rId25"/>
    <p:sldId id="270" r:id="rId26"/>
    <p:sldId id="271" r:id="rId27"/>
    <p:sldId id="348" r:id="rId28"/>
    <p:sldId id="273" r:id="rId29"/>
    <p:sldId id="321" r:id="rId30"/>
    <p:sldId id="332" r:id="rId32"/>
    <p:sldId id="333" r:id="rId33"/>
    <p:sldId id="350" r:id="rId34"/>
    <p:sldId id="334" r:id="rId35"/>
    <p:sldId id="335" r:id="rId36"/>
    <p:sldId id="336" r:id="rId37"/>
    <p:sldId id="337" r:id="rId38"/>
    <p:sldId id="338" r:id="rId39"/>
    <p:sldId id="340" r:id="rId40"/>
    <p:sldId id="637" r:id="rId41"/>
    <p:sldId id="308" r:id="rId42"/>
    <p:sldId id="310" r:id="rId43"/>
    <p:sldId id="322" r:id="rId44"/>
    <p:sldId id="323" r:id="rId45"/>
    <p:sldId id="324" r:id="rId46"/>
    <p:sldId id="325" r:id="rId47"/>
    <p:sldId id="326" r:id="rId48"/>
    <p:sldId id="327" r:id="rId49"/>
    <p:sldId id="311" r:id="rId50"/>
    <p:sldId id="312" r:id="rId51"/>
    <p:sldId id="329" r:id="rId52"/>
    <p:sldId id="328" r:id="rId53"/>
    <p:sldId id="330" r:id="rId54"/>
    <p:sldId id="331" r:id="rId55"/>
  </p:sldIdLst>
  <p:sldSz cx="9144000" cy="6858000" type="screen4x3"/>
  <p:notesSz cx="7048500" cy="9296400"/>
  <p:custDataLst>
    <p:tags r:id="rId60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e4c74ca-715f-4261-b023-968fb36f4d32}">
          <p14:sldIdLst>
            <p14:sldId id="345"/>
            <p14:sldId id="346"/>
            <p14:sldId id="702"/>
            <p14:sldId id="703"/>
            <p14:sldId id="305"/>
            <p14:sldId id="313"/>
            <p14:sldId id="314"/>
            <p14:sldId id="315"/>
            <p14:sldId id="317"/>
            <p14:sldId id="316"/>
            <p14:sldId id="318"/>
            <p14:sldId id="319"/>
            <p14:sldId id="267"/>
            <p14:sldId id="268"/>
            <p14:sldId id="344"/>
            <p14:sldId id="343"/>
            <p14:sldId id="309"/>
            <p14:sldId id="307"/>
            <p14:sldId id="320"/>
            <p14:sldId id="669"/>
            <p14:sldId id="670"/>
            <p14:sldId id="269"/>
            <p14:sldId id="342"/>
            <p14:sldId id="270"/>
            <p14:sldId id="271"/>
            <p14:sldId id="348"/>
            <p14:sldId id="273"/>
            <p14:sldId id="321"/>
            <p14:sldId id="332"/>
            <p14:sldId id="333"/>
            <p14:sldId id="350"/>
            <p14:sldId id="334"/>
            <p14:sldId id="335"/>
            <p14:sldId id="336"/>
            <p14:sldId id="337"/>
            <p14:sldId id="338"/>
            <p14:sldId id="340"/>
            <p14:sldId id="637"/>
            <p14:sldId id="308"/>
            <p14:sldId id="310"/>
            <p14:sldId id="322"/>
            <p14:sldId id="323"/>
            <p14:sldId id="324"/>
            <p14:sldId id="325"/>
            <p14:sldId id="326"/>
            <p14:sldId id="327"/>
            <p14:sldId id="311"/>
            <p14:sldId id="312"/>
            <p14:sldId id="329"/>
            <p14:sldId id="328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CCFFFF"/>
    <a:srgbClr val="FF0000"/>
    <a:srgbClr val="00CC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6"/>
    <p:restoredTop sz="94655"/>
  </p:normalViewPr>
  <p:slideViewPr>
    <p:cSldViewPr snapToGrid="0" showGuides="1">
      <p:cViewPr varScale="1">
        <p:scale>
          <a:sx n="80" d="100"/>
          <a:sy n="80" d="100"/>
        </p:scale>
        <p:origin x="-1038" y="-90"/>
      </p:cViewPr>
      <p:guideLst>
        <p:guide orient="horz" pos="2166"/>
        <p:guide pos="28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gs" Target="tags/tag2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1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0" Type="http://schemas.openxmlformats.org/officeDocument/2006/relationships/image" Target="../media/image29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.wmf"/><Relationship Id="rId5" Type="http://schemas.openxmlformats.org/officeDocument/2006/relationships/image" Target="../media/image33.wmf"/><Relationship Id="rId4" Type="http://schemas.openxmlformats.org/officeDocument/2006/relationships/image" Target="../media/image2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3" Type="http://schemas.openxmlformats.org/officeDocument/2006/relationships/image" Target="../media/image34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17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4.wmf"/><Relationship Id="rId3" Type="http://schemas.openxmlformats.org/officeDocument/2006/relationships/image" Target="../media/image47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3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3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3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3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3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4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5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wmf"/><Relationship Id="rId1" Type="http://schemas.openxmlformats.org/officeDocument/2006/relationships/image" Target="../media/image159.wmf"/></Relationships>
</file>

<file path=ppt/drawings/_rels/vmlDrawing4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5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/Relationships>
</file>

<file path=ppt/drawings/_rels/vmlDrawing4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lstStyle>
            <a:lvl1pPr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Comic Sans MS" panose="030F0702030302020204" pitchFamily="66" charset="0"/>
              </a:rPr>
            </a:fld>
            <a:endParaRPr lang="zh-CN" altLang="en-US" sz="1200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defTabSz="933450">
              <a:defRPr sz="1200"/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algn="r" defTabSz="933450">
              <a:defRPr sz="1200"/>
            </a:lvl1pPr>
          </a:lstStyle>
          <a:p>
            <a:pPr marL="0" marR="0" lvl="0" indent="0" algn="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4" name="Rectangle 4"/>
          <p:cNvSpPr>
            <a:spLocks noTextEdit="1"/>
          </p:cNvSpPr>
          <p:nvPr>
            <p:ph type="sldImg" idx="2"/>
          </p:nvPr>
        </p:nvSpPr>
        <p:spPr>
          <a:xfrm>
            <a:off x="120015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lstStyle>
            <a:lvl1pPr defTabSz="933450">
              <a:defRPr sz="1200"/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p>
            <a:pPr lvl="0" algn="r" defTabSz="933450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 anchor="b"/>
          <a:p>
            <a:pPr lvl="0" algn="r" defTabSz="933450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798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397" tIns="46698" rIns="93397" bIns="46698" anchor="t"/>
          <a:p>
            <a:pPr lvl="0"/>
            <a:r>
              <a:rPr lang="zh-CN" altLang="en-US" dirty="0"/>
              <a:t>插值法是一种方法，本节考虑另外一种方法。即针对同一个问题，可建立不同的数学模型，从而有不同求解方法。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>
              <a:buNone/>
            </a:pPr>
            <a:fld id="{9A0DB2DC-4C9A-4742-B13C-FB6460FD3503}" type="slidenum">
              <a:rPr lang="zh-CN" altLang="zh-CN" dirty="0">
                <a:latin typeface="Times New Roman" panose="02020603050405020304" pitchFamily="18" charset="0"/>
              </a:rPr>
            </a:fld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6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0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9.w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0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5.png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25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3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6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4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5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48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5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54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2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5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8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55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6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59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6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4.wmf"/><Relationship Id="rId1" Type="http://schemas.openxmlformats.org/officeDocument/2006/relationships/oleObject" Target="../embeddings/oleObject7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73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1.wmf"/><Relationship Id="rId1" Type="http://schemas.openxmlformats.org/officeDocument/2006/relationships/oleObject" Target="../embeddings/oleObject7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73.wmf"/><Relationship Id="rId1" Type="http://schemas.openxmlformats.org/officeDocument/2006/relationships/oleObject" Target="../embeddings/oleObject79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6.wmf"/><Relationship Id="rId1" Type="http://schemas.openxmlformats.org/officeDocument/2006/relationships/oleObject" Target="../embeddings/oleObject8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77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8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81.w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7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3.w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94.bin"/><Relationship Id="rId2" Type="http://schemas.openxmlformats.org/officeDocument/2006/relationships/image" Target="../media/image87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93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wmf"/><Relationship Id="rId1" Type="http://schemas.openxmlformats.org/officeDocument/2006/relationships/oleObject" Target="../embeddings/oleObject97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1.w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97.wmf"/><Relationship Id="rId13" Type="http://schemas.openxmlformats.org/officeDocument/2006/relationships/oleObject" Target="../embeddings/oleObject104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98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98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105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2.wmf"/><Relationship Id="rId1" Type="http://schemas.openxmlformats.org/officeDocument/2006/relationships/oleObject" Target="../embeddings/oleObject109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03.wmf"/><Relationship Id="rId1" Type="http://schemas.openxmlformats.org/officeDocument/2006/relationships/oleObject" Target="../embeddings/oleObject11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1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08.wmf"/><Relationship Id="rId12" Type="http://schemas.openxmlformats.org/officeDocument/2006/relationships/vmlDrawing" Target="../drawings/vmlDrawing29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1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13.wmf"/><Relationship Id="rId12" Type="http://schemas.openxmlformats.org/officeDocument/2006/relationships/vmlDrawing" Target="../drawings/vmlDrawing30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20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18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2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23.wmf"/><Relationship Id="rId1" Type="http://schemas.openxmlformats.org/officeDocument/2006/relationships/oleObject" Target="../embeddings/oleObject13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23.wmf"/><Relationship Id="rId1" Type="http://schemas.openxmlformats.org/officeDocument/2006/relationships/oleObject" Target="../embeddings/oleObject13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37.bin"/><Relationship Id="rId2" Type="http://schemas.openxmlformats.org/officeDocument/2006/relationships/image" Target="../media/image127.wmf"/><Relationship Id="rId1" Type="http://schemas.openxmlformats.org/officeDocument/2006/relationships/oleObject" Target="../embeddings/oleObject136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30.wmf"/><Relationship Id="rId14" Type="http://schemas.openxmlformats.org/officeDocument/2006/relationships/vmlDrawing" Target="../drawings/vmlDrawing35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39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9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48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46.bin"/><Relationship Id="rId2" Type="http://schemas.openxmlformats.org/officeDocument/2006/relationships/image" Target="../media/image136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4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41.wmf"/><Relationship Id="rId1" Type="http://schemas.openxmlformats.org/officeDocument/2006/relationships/oleObject" Target="../embeddings/oleObject150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44.wmf"/><Relationship Id="rId10" Type="http://schemas.openxmlformats.org/officeDocument/2006/relationships/vmlDrawing" Target="../drawings/vmlDrawing38.vml"/><Relationship Id="rId1" Type="http://schemas.openxmlformats.org/officeDocument/2006/relationships/oleObject" Target="../embeddings/oleObject153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48.wmf"/><Relationship Id="rId17" Type="http://schemas.openxmlformats.org/officeDocument/2006/relationships/vmlDrawing" Target="../drawings/vmlDrawing39.vml"/><Relationship Id="rId16" Type="http://schemas.openxmlformats.org/officeDocument/2006/relationships/slideLayout" Target="../slideLayouts/slideLayout7.xml"/><Relationship Id="rId15" Type="http://schemas.openxmlformats.org/officeDocument/2006/relationships/oleObject" Target="../embeddings/oleObject164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63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62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57.bin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5.wmf"/><Relationship Id="rId2" Type="http://schemas.openxmlformats.org/officeDocument/2006/relationships/oleObject" Target="../embeddings/oleObject165.bin"/><Relationship Id="rId1" Type="http://schemas.openxmlformats.org/officeDocument/2006/relationships/tags" Target="../tags/tag1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5.wmf"/><Relationship Id="rId2" Type="http://schemas.openxmlformats.org/officeDocument/2006/relationships/oleObject" Target="../embeddings/oleObject166.bin"/><Relationship Id="rId1" Type="http://schemas.openxmlformats.org/officeDocument/2006/relationships/image" Target="../media/image156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1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70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68.bin"/><Relationship Id="rId2" Type="http://schemas.openxmlformats.org/officeDocument/2006/relationships/image" Target="../media/image157.wmf"/><Relationship Id="rId12" Type="http://schemas.openxmlformats.org/officeDocument/2006/relationships/vmlDrawing" Target="../drawings/vmlDrawing42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67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59.wmf"/><Relationship Id="rId1" Type="http://schemas.openxmlformats.org/officeDocument/2006/relationships/oleObject" Target="../embeddings/oleObject172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8.bin"/><Relationship Id="rId8" Type="http://schemas.openxmlformats.org/officeDocument/2006/relationships/image" Target="../media/image165.wmf"/><Relationship Id="rId7" Type="http://schemas.openxmlformats.org/officeDocument/2006/relationships/oleObject" Target="../embeddings/oleObject177.bin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175.bin"/><Relationship Id="rId2" Type="http://schemas.openxmlformats.org/officeDocument/2006/relationships/image" Target="../media/image162.wmf"/><Relationship Id="rId14" Type="http://schemas.openxmlformats.org/officeDocument/2006/relationships/vmlDrawing" Target="../drawings/vmlDrawing4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79.bin"/><Relationship Id="rId10" Type="http://schemas.openxmlformats.org/officeDocument/2006/relationships/image" Target="../media/image166.wmf"/><Relationship Id="rId1" Type="http://schemas.openxmlformats.org/officeDocument/2006/relationships/oleObject" Target="../embeddings/oleObject174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4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81.bin"/><Relationship Id="rId2" Type="http://schemas.openxmlformats.org/officeDocument/2006/relationships/image" Target="../media/image167.wmf"/><Relationship Id="rId14" Type="http://schemas.openxmlformats.org/officeDocument/2006/relationships/vmlDrawing" Target="../drawings/vmlDrawing4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2.wmf"/><Relationship Id="rId11" Type="http://schemas.openxmlformats.org/officeDocument/2006/relationships/oleObject" Target="../embeddings/oleObject185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8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68612" name="Rectangle 2"/>
          <p:cNvSpPr>
            <a:spLocks noGrp="1"/>
          </p:cNvSpPr>
          <p:nvPr>
            <p:ph type="ctrTitle"/>
          </p:nvPr>
        </p:nvSpPr>
        <p:spPr>
          <a:xfrm>
            <a:off x="685800" y="1282700"/>
            <a:ext cx="7772400" cy="1143000"/>
          </a:xfrm>
        </p:spPr>
        <p:txBody>
          <a:bodyPr vert="horz" wrap="square" lIns="91440" tIns="45720" rIns="91440" bIns="45720" anchor="ctr"/>
          <a:p>
            <a:pPr algn="ctr">
              <a:buClrTx/>
              <a:buSzTx/>
              <a:buFontTx/>
            </a:pPr>
            <a:r>
              <a:rPr lang="zh-CN" altLang="en-US" sz="4800" b="1" u="none" dirty="0"/>
              <a:t>第</a:t>
            </a:r>
            <a:r>
              <a:rPr lang="en-US" altLang="zh-CN" sz="4800" b="1" u="none" dirty="0">
                <a:latin typeface="Times New Roman" panose="02020603050405020304" pitchFamily="18" charset="0"/>
              </a:rPr>
              <a:t>7</a:t>
            </a:r>
            <a:r>
              <a:rPr lang="zh-CN" altLang="en-US" sz="4800" b="1" u="none" dirty="0"/>
              <a:t>章</a:t>
            </a:r>
            <a:r>
              <a:rPr lang="en-US" altLang="zh-CN" sz="4800" b="1" u="none" dirty="0"/>
              <a:t> </a:t>
            </a:r>
            <a:r>
              <a:rPr lang="zh-CN" altLang="en-US" sz="4800" b="1" u="none" dirty="0"/>
              <a:t>插值法</a:t>
            </a:r>
            <a:r>
              <a:rPr lang="zh-CN" altLang="en-US" sz="4800" b="1" u="none" dirty="0"/>
              <a:t>与数值逼近</a:t>
            </a:r>
            <a:endParaRPr lang="zh-CN" altLang="en-US" sz="4800" b="1" u="none" dirty="0"/>
          </a:p>
        </p:txBody>
      </p:sp>
      <p:sp>
        <p:nvSpPr>
          <p:cNvPr id="68613" name="Rectangle 3"/>
          <p:cNvSpPr>
            <a:spLocks noGrp="1"/>
          </p:cNvSpPr>
          <p:nvPr>
            <p:ph type="subTitle" idx="1"/>
          </p:nvPr>
        </p:nvSpPr>
        <p:spPr>
          <a:xfrm>
            <a:off x="1371600" y="3752850"/>
            <a:ext cx="6400800" cy="1984375"/>
          </a:xfrm>
        </p:spPr>
        <p:txBody>
          <a:bodyPr vert="horz" wrap="square" lIns="91440" tIns="45720" rIns="91440" bIns="45720" anchor="t"/>
          <a:p>
            <a:pPr>
              <a:buSzPct val="85000"/>
            </a:pP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r>
              <a:rPr lang="zh-CN" altLang="en-US" sz="36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  <a:endParaRPr lang="zh-CN" altLang="en-US" sz="3600" b="1" dirty="0">
              <a:latin typeface="+mn-lt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71684" name="Rectangle 1026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/>
          <a:p>
            <a:pPr algn="ctr">
              <a:buClrTx/>
              <a:buSzTx/>
              <a:buFontTx/>
            </a:pPr>
            <a:r>
              <a:rPr lang="en-US" altLang="zh-CN" b="1" u="none" dirty="0">
                <a:latin typeface="Times New Roman" panose="02020603050405020304" pitchFamily="18" charset="0"/>
              </a:rPr>
              <a:t>7</a:t>
            </a:r>
            <a:r>
              <a:rPr lang="zh-CN" altLang="zh-CN" b="1" u="none" dirty="0">
                <a:latin typeface="Times New Roman" panose="02020603050405020304" pitchFamily="18" charset="0"/>
              </a:rPr>
              <a:t>.</a:t>
            </a:r>
            <a:r>
              <a:rPr lang="en-US" altLang="zh-CN" b="1" u="none" dirty="0">
                <a:latin typeface="Times New Roman" panose="02020603050405020304" pitchFamily="18" charset="0"/>
              </a:rPr>
              <a:t>6</a:t>
            </a:r>
            <a:r>
              <a:rPr lang="zh-CN" altLang="zh-CN" b="1" u="none" dirty="0"/>
              <a:t> 最佳平方逼近</a:t>
            </a:r>
            <a:endParaRPr lang="zh-CN" altLang="en-US" b="1" u="none" dirty="0"/>
          </a:p>
        </p:txBody>
      </p:sp>
      <p:sp>
        <p:nvSpPr>
          <p:cNvPr id="71685" name="Rectangle 1027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/>
          <a:p>
            <a:pPr>
              <a:buSzPct val="85000"/>
            </a:pPr>
            <a:r>
              <a:rPr lang="zh-CN" altLang="en-US" dirty="0">
                <a:latin typeface="+mn-lt"/>
                <a:ea typeface="+mn-ea"/>
                <a:cs typeface="+mn-cs"/>
              </a:rPr>
              <a:t>天津大学数学学院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605" y="67310"/>
            <a:ext cx="8697595" cy="633349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482600" y="0"/>
            <a:ext cx="9626600" cy="640080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zh-CN" altLang="zh-CN" dirty="0"/>
            </a:fld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0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3321" name="Rectangle 6"/>
          <p:cNvSpPr>
            <a:spLocks noGrp="1"/>
          </p:cNvSpPr>
          <p:nvPr>
            <p:ph type="title"/>
          </p:nvPr>
        </p:nvSpPr>
        <p:spPr>
          <a:xfrm>
            <a:off x="200025" y="423863"/>
            <a:ext cx="7772400" cy="641350"/>
          </a:xfrm>
        </p:spPr>
        <p:txBody>
          <a:bodyPr vert="horz" wrap="square" lIns="91440" tIns="45720" rIns="91440" bIns="45720" anchor="ctr"/>
          <a:p>
            <a:r>
              <a:rPr lang="zh-CN" altLang="en-US" sz="3600" b="1" u="none" dirty="0"/>
              <a:t>1.</a:t>
            </a:r>
            <a:r>
              <a:rPr lang="zh-CN" altLang="zh-CN" sz="3600" b="1" u="none" dirty="0"/>
              <a:t>最佳平方逼近</a:t>
            </a:r>
            <a:r>
              <a:rPr lang="zh-CN" altLang="en-US" sz="3600" b="1" u="none" dirty="0"/>
              <a:t>函数的概念</a:t>
            </a:r>
            <a:endParaRPr lang="zh-CN" altLang="en-US" sz="3600" b="1" u="none" dirty="0"/>
          </a:p>
        </p:txBody>
      </p:sp>
      <p:sp>
        <p:nvSpPr>
          <p:cNvPr id="207880" name="Text Box 8"/>
          <p:cNvSpPr txBox="1"/>
          <p:nvPr/>
        </p:nvSpPr>
        <p:spPr>
          <a:xfrm>
            <a:off x="311150" y="1135063"/>
            <a:ext cx="847248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定义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Comic Sans MS" panose="030F0702030302020204" pitchFamily="66" charset="0"/>
              </a:rPr>
              <a:t> 设有</a:t>
            </a:r>
            <a:r>
              <a:rPr lang="en-US" altLang="en-US" sz="3200" i="1" dirty="0">
                <a:latin typeface="Times New Roman" panose="02020603050405020304" pitchFamily="18" charset="0"/>
              </a:rPr>
              <a:t>f </a:t>
            </a:r>
            <a:r>
              <a:rPr lang="zh-CN" altLang="en-US" sz="3200" dirty="0">
                <a:latin typeface="宋体" panose="02010600030101010101" pitchFamily="2" charset="-122"/>
              </a:rPr>
              <a:t>∈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</a:rPr>
              <a:t>[</a:t>
            </a:r>
            <a:r>
              <a:rPr lang="en-US" altLang="en-US" sz="3200" i="1" dirty="0">
                <a:latin typeface="Times New Roman" panose="02020603050405020304" pitchFamily="18" charset="0"/>
              </a:rPr>
              <a:t>a , b</a:t>
            </a:r>
            <a:r>
              <a:rPr lang="en-US" altLang="en-US" sz="3200" dirty="0">
                <a:latin typeface="Times New Roman" panose="02020603050405020304" pitchFamily="18" charset="0"/>
              </a:rPr>
              <a:t>] </a:t>
            </a:r>
            <a:r>
              <a:rPr lang="zh-CN" altLang="en-US" sz="3200" dirty="0">
                <a:latin typeface="Times New Roman" panose="02020603050405020304" pitchFamily="18" charset="0"/>
              </a:rPr>
              <a:t>及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3200" dirty="0">
                <a:latin typeface="Times New Roman" panose="02020603050405020304" pitchFamily="18" charset="0"/>
              </a:rPr>
              <a:t>[</a:t>
            </a:r>
            <a:r>
              <a:rPr lang="en-US" altLang="en-US" sz="3200" i="1" dirty="0">
                <a:latin typeface="Times New Roman" panose="02020603050405020304" pitchFamily="18" charset="0"/>
              </a:rPr>
              <a:t>a , b</a:t>
            </a:r>
            <a:r>
              <a:rPr lang="en-US" altLang="en-US" sz="3200" dirty="0">
                <a:latin typeface="Times New Roman" panose="02020603050405020304" pitchFamily="18" charset="0"/>
              </a:rPr>
              <a:t>]</a:t>
            </a:r>
            <a:r>
              <a:rPr lang="zh-CN" altLang="zh-CN" sz="3200" dirty="0">
                <a:latin typeface="Times New Roman" panose="02020603050405020304" pitchFamily="18" charset="0"/>
              </a:rPr>
              <a:t>中</a:t>
            </a:r>
            <a:r>
              <a:rPr lang="zh-CN" altLang="en-US" sz="3200" dirty="0">
                <a:latin typeface="Times New Roman" panose="02020603050405020304" pitchFamily="18" charset="0"/>
              </a:rPr>
              <a:t>的子集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07883" name="Text Box 11"/>
          <p:cNvSpPr txBox="1"/>
          <p:nvPr/>
        </p:nvSpPr>
        <p:spPr>
          <a:xfrm>
            <a:off x="312738" y="4221163"/>
            <a:ext cx="84836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成立</a:t>
            </a:r>
            <a:r>
              <a:rPr lang="zh-CN" altLang="en-US" dirty="0">
                <a:latin typeface="Times New Roman" panose="02020603050405020304" pitchFamily="18" charset="0"/>
              </a:rPr>
              <a:t>, 则称</a:t>
            </a:r>
            <a:r>
              <a:rPr lang="en-US" altLang="en-US" i="1" dirty="0">
                <a:latin typeface="Times New Roman" panose="02020603050405020304" pitchFamily="18" charset="0"/>
              </a:rPr>
              <a:t>S</a:t>
            </a:r>
            <a:r>
              <a:rPr lang="en-US" altLang="en-US" baseline="30000" dirty="0">
                <a:latin typeface="Times New Roman" panose="02020603050405020304" pitchFamily="18" charset="0"/>
              </a:rPr>
              <a:t>*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zh-CN" dirty="0">
                <a:latin typeface="Times New Roman" panose="02020603050405020304" pitchFamily="18" charset="0"/>
              </a:rPr>
              <a:t>在 </a:t>
            </a:r>
            <a:r>
              <a:rPr lang="en-US" altLang="zh-CN" b="1" dirty="0">
                <a:latin typeface="宋体" panose="02010600030101010101" pitchFamily="2" charset="-122"/>
              </a:rPr>
              <a:t>Φ</a:t>
            </a:r>
            <a:r>
              <a:rPr lang="zh-CN" altLang="zh-CN" dirty="0">
                <a:latin typeface="宋体" panose="02010600030101010101" pitchFamily="2" charset="-122"/>
              </a:rPr>
              <a:t>中的最佳平方逼近函数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7908" name="Object 36"/>
          <p:cNvGraphicFramePr/>
          <p:nvPr/>
        </p:nvGraphicFramePr>
        <p:xfrm>
          <a:off x="2584450" y="1679575"/>
          <a:ext cx="35067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459865" imgH="228600" progId="Equation.3">
                  <p:embed/>
                </p:oleObj>
              </mc:Choice>
              <mc:Fallback>
                <p:oleObj name="" r:id="rId1" imgW="1459865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4450" y="1679575"/>
                        <a:ext cx="3506788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/>
          <p:nvPr/>
        </p:nvGrpSpPr>
        <p:grpSpPr>
          <a:xfrm>
            <a:off x="254000" y="2201863"/>
            <a:ext cx="7754938" cy="549275"/>
            <a:chOff x="0" y="1747"/>
            <a:chExt cx="4885" cy="346"/>
          </a:xfrm>
        </p:grpSpPr>
        <p:sp>
          <p:nvSpPr>
            <p:cNvPr id="13331" name="Text Box 18"/>
            <p:cNvSpPr txBox="1"/>
            <p:nvPr/>
          </p:nvSpPr>
          <p:spPr>
            <a:xfrm>
              <a:off x="0" y="1761"/>
              <a:ext cx="488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其中                   线性无关。若存在</a:t>
              </a:r>
              <a:r>
                <a:rPr lang="en-US" altLang="en-US" i="1" dirty="0">
                  <a:latin typeface="Times New Roman" panose="02020603050405020304" pitchFamily="18" charset="0"/>
                </a:rPr>
                <a:t>S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*</a:t>
              </a:r>
              <a:r>
                <a:rPr lang="en-US" altLang="en-US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b="1" dirty="0">
                  <a:latin typeface="宋体" panose="02010600030101010101" pitchFamily="2" charset="-122"/>
                </a:rPr>
                <a:t>Φ</a:t>
              </a:r>
              <a:r>
                <a:rPr lang="zh-CN" altLang="en-US" dirty="0">
                  <a:latin typeface="Comic Sans MS" panose="030F0702030302020204" pitchFamily="66" charset="0"/>
                </a:rPr>
                <a:t>使得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3318" name="Object 38"/>
            <p:cNvGraphicFramePr/>
            <p:nvPr/>
          </p:nvGraphicFramePr>
          <p:xfrm>
            <a:off x="513" y="1747"/>
            <a:ext cx="120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799465" imgH="228600" progId="Equation.3">
                    <p:embed/>
                  </p:oleObj>
                </mc:Choice>
                <mc:Fallback>
                  <p:oleObj name="" r:id="rId3" imgW="799465" imgH="228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3" y="1747"/>
                          <a:ext cx="1206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/>
          <p:cNvGrpSpPr/>
          <p:nvPr/>
        </p:nvGrpSpPr>
        <p:grpSpPr>
          <a:xfrm>
            <a:off x="1017588" y="2663825"/>
            <a:ext cx="6997222" cy="1654175"/>
            <a:chOff x="1231900" y="2663825"/>
            <a:chExt cx="6995899" cy="1654175"/>
          </a:xfrm>
        </p:grpSpPr>
        <p:sp>
          <p:nvSpPr>
            <p:cNvPr id="13330" name="Text Box 43"/>
            <p:cNvSpPr txBox="1"/>
            <p:nvPr/>
          </p:nvSpPr>
          <p:spPr>
            <a:xfrm>
              <a:off x="7097713" y="3524250"/>
              <a:ext cx="1130086" cy="5219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latin typeface="Times New Roman" panose="02020603050405020304" pitchFamily="18" charset="0"/>
                </a:rPr>
                <a:t>7.6</a:t>
              </a:r>
              <a:r>
                <a:rPr lang="zh-CN" altLang="en-US" dirty="0">
                  <a:latin typeface="Times New Roman" panose="02020603050405020304" pitchFamily="18" charset="0"/>
                </a:rPr>
                <a:t>.1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17" name="Object 47"/>
            <p:cNvGraphicFramePr/>
            <p:nvPr/>
          </p:nvGraphicFramePr>
          <p:xfrm>
            <a:off x="1231900" y="2663825"/>
            <a:ext cx="5389563" cy="165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5" imgW="2171065" imgH="660400" progId="Equation.3">
                    <p:embed/>
                  </p:oleObj>
                </mc:Choice>
                <mc:Fallback>
                  <p:oleObj name="" r:id="rId5" imgW="2171065" imgH="6604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31900" y="2663825"/>
                          <a:ext cx="5389563" cy="1654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0"/>
          <p:cNvGrpSpPr/>
          <p:nvPr/>
        </p:nvGrpSpPr>
        <p:grpSpPr>
          <a:xfrm>
            <a:off x="285750" y="4862513"/>
            <a:ext cx="8159750" cy="1584325"/>
            <a:chOff x="285750" y="4862349"/>
            <a:chExt cx="8159750" cy="1584489"/>
          </a:xfrm>
        </p:grpSpPr>
        <p:grpSp>
          <p:nvGrpSpPr>
            <p:cNvPr id="13327" name="Group 42"/>
            <p:cNvGrpSpPr/>
            <p:nvPr/>
          </p:nvGrpSpPr>
          <p:grpSpPr>
            <a:xfrm>
              <a:off x="285750" y="4873625"/>
              <a:ext cx="8159750" cy="1573213"/>
              <a:chOff x="60" y="3290"/>
              <a:chExt cx="5140" cy="991"/>
            </a:xfrm>
          </p:grpSpPr>
          <p:sp>
            <p:nvSpPr>
              <p:cNvPr id="13328" name="Text Box 22"/>
              <p:cNvSpPr txBox="1"/>
              <p:nvPr/>
            </p:nvSpPr>
            <p:spPr>
              <a:xfrm>
                <a:off x="60" y="3297"/>
                <a:ext cx="51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当                                    时，满足上式的               </a:t>
                </a:r>
                <a:r>
                  <a:rPr lang="zh-CN" altLang="en-US" dirty="0">
                    <a:latin typeface="Comic Sans MS" panose="030F0702030302020204" pitchFamily="66" charset="0"/>
                  </a:rPr>
                  <a:t>称</a:t>
                </a:r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aphicFrame>
            <p:nvGraphicFramePr>
              <p:cNvPr id="13316" name="Object 23"/>
              <p:cNvGraphicFramePr/>
              <p:nvPr/>
            </p:nvGraphicFramePr>
            <p:xfrm>
              <a:off x="339" y="3290"/>
              <a:ext cx="2106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2" name="" r:id="rId7" imgW="1397000" imgH="228600" progId="Equation.DSMT4">
                      <p:embed/>
                    </p:oleObj>
                  </mc:Choice>
                  <mc:Fallback>
                    <p:oleObj name="" r:id="rId7" imgW="1397000" imgH="228600" progId="Equation.DSMT4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39" y="3290"/>
                            <a:ext cx="2106" cy="3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29" name="Text Box 25"/>
              <p:cNvSpPr txBox="1"/>
              <p:nvPr/>
            </p:nvSpPr>
            <p:spPr>
              <a:xfrm>
                <a:off x="69" y="3685"/>
                <a:ext cx="5116" cy="5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Comic Sans MS" panose="030F0702030302020204" pitchFamily="66" charset="0"/>
                  </a:rPr>
                  <a:t>为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f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latin typeface="Times New Roman" panose="02020603050405020304" pitchFamily="18" charset="0"/>
                  </a:rPr>
                  <a:t>的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zh-CN" b="1" dirty="0">
                    <a:latin typeface="Times New Roman" panose="02020603050405020304" pitchFamily="18" charset="0"/>
                  </a:rPr>
                  <a:t>次最佳平方逼近多项式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，简称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zh-CN" b="1" dirty="0">
                    <a:latin typeface="Times New Roman" panose="02020603050405020304" pitchFamily="18" charset="0"/>
                  </a:rPr>
                  <a:t>次最佳平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  <a:p>
                <a:r>
                  <a:rPr lang="zh-CN" altLang="zh-CN" b="1" dirty="0">
                    <a:latin typeface="Times New Roman" panose="02020603050405020304" pitchFamily="18" charset="0"/>
                  </a:rPr>
                  <a:t>方逼近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3315" name="Object 11"/>
            <p:cNvGraphicFramePr/>
            <p:nvPr/>
          </p:nvGraphicFramePr>
          <p:xfrm>
            <a:off x="6520770" y="4862349"/>
            <a:ext cx="1108075" cy="58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9" imgW="457200" imgH="241300" progId="Equation.3">
                    <p:embed/>
                  </p:oleObj>
                </mc:Choice>
                <mc:Fallback>
                  <p:oleObj name="" r:id="rId9" imgW="457200" imgH="2413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520770" y="4862349"/>
                          <a:ext cx="1108075" cy="5810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/>
      <p:bldP spid="2078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2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4343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90588"/>
          </a:xfrm>
        </p:spPr>
        <p:txBody>
          <a:bodyPr vert="horz" wrap="square" lIns="91440" tIns="45720" rIns="91440" bIns="45720" anchor="ctr"/>
          <a:p>
            <a:r>
              <a:rPr lang="zh-CN" altLang="en-US" sz="3600" b="1" u="none" dirty="0">
                <a:latin typeface="Times New Roman" panose="02020603050405020304" pitchFamily="18" charset="0"/>
              </a:rPr>
              <a:t>2</a:t>
            </a:r>
            <a:r>
              <a:rPr lang="zh-CN" altLang="en-US" sz="3600" b="1" u="none" dirty="0"/>
              <a:t>.</a:t>
            </a:r>
            <a:r>
              <a:rPr lang="zh-CN" altLang="zh-CN" sz="3600" b="1" u="none" dirty="0"/>
              <a:t>最佳平方逼近的求法</a:t>
            </a:r>
            <a:endParaRPr lang="zh-CN" altLang="en-US" sz="4400" b="1" dirty="0"/>
          </a:p>
        </p:txBody>
      </p:sp>
      <p:sp>
        <p:nvSpPr>
          <p:cNvPr id="218115" name="Rectangle 3"/>
          <p:cNvSpPr>
            <a:spLocks noGrp="1"/>
          </p:cNvSpPr>
          <p:nvPr>
            <p:ph idx="1"/>
          </p:nvPr>
        </p:nvSpPr>
        <p:spPr>
          <a:xfrm>
            <a:off x="501650" y="1679575"/>
            <a:ext cx="7772400" cy="1743075"/>
          </a:xfrm>
        </p:spPr>
        <p:txBody>
          <a:bodyPr vert="horz" wrap="square" lIns="91440" tIns="45720" rIns="91440" bIns="45720" anchor="t"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7.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dirty="0"/>
              <a:t>  对于任意的函数 </a:t>
            </a:r>
            <a:r>
              <a:rPr lang="en-US" altLang="en-US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宋体" panose="02010600030101010101" pitchFamily="2" charset="-122"/>
              </a:rPr>
              <a:t>∈</a:t>
            </a:r>
            <a:r>
              <a:rPr lang="en-US" altLang="en-US" i="1" dirty="0">
                <a:latin typeface="Times New Roman" panose="02020603050405020304" pitchFamily="18" charset="0"/>
              </a:rPr>
              <a:t>C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a , b</a:t>
            </a:r>
            <a:r>
              <a:rPr lang="en-US" altLang="en-US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，其在</a:t>
            </a:r>
            <a:r>
              <a:rPr lang="en-US" altLang="zh-CN" b="1" dirty="0">
                <a:latin typeface="宋体" panose="02010600030101010101" pitchFamily="2" charset="-122"/>
              </a:rPr>
              <a:t>Φ</a:t>
            </a:r>
            <a:r>
              <a:rPr lang="zh-CN" altLang="zh-CN" dirty="0">
                <a:latin typeface="宋体" panose="02010600030101010101" pitchFamily="2" charset="-122"/>
              </a:rPr>
              <a:t>中的最佳平方</a:t>
            </a:r>
            <a:r>
              <a:rPr lang="zh-CN" altLang="en-US" dirty="0"/>
              <a:t>逼近函数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zh-CN" dirty="0">
                <a:latin typeface="Times New Roman" panose="02020603050405020304" pitchFamily="18" charset="0"/>
              </a:rPr>
              <a:t>是存在且唯一的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证明：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b="1" dirty="0">
                <a:latin typeface="宋体" panose="02010600030101010101" pitchFamily="2" charset="-122"/>
              </a:rPr>
              <a:t>Φ</a:t>
            </a:r>
            <a:r>
              <a:rPr lang="zh-CN" altLang="en-US" dirty="0">
                <a:latin typeface="Times New Roman" panose="02020603050405020304" pitchFamily="18" charset="0"/>
              </a:rPr>
              <a:t>中元素（函数）可以表示为</a:t>
            </a:r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3190875" y="3208338"/>
            <a:ext cx="3298825" cy="1069975"/>
            <a:chOff x="2010" y="1971"/>
            <a:chExt cx="2078" cy="674"/>
          </a:xfrm>
        </p:grpSpPr>
        <p:graphicFrame>
          <p:nvGraphicFramePr>
            <p:cNvPr id="14340" name="Object 4"/>
            <p:cNvGraphicFramePr/>
            <p:nvPr/>
          </p:nvGraphicFramePr>
          <p:xfrm>
            <a:off x="2010" y="1971"/>
            <a:ext cx="1780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1167765" imgH="444500" progId="Equation.3">
                    <p:embed/>
                  </p:oleObj>
                </mc:Choice>
                <mc:Fallback>
                  <p:oleObj name="" r:id="rId1" imgW="1167765" imgH="4445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0" y="1971"/>
                          <a:ext cx="1780" cy="6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Text Box 7"/>
            <p:cNvSpPr txBox="1"/>
            <p:nvPr/>
          </p:nvSpPr>
          <p:spPr>
            <a:xfrm>
              <a:off x="3748" y="2174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82613" y="4203700"/>
            <a:ext cx="7578725" cy="2171700"/>
            <a:chOff x="367" y="2468"/>
            <a:chExt cx="4774" cy="1368"/>
          </a:xfrm>
        </p:grpSpPr>
        <p:sp>
          <p:nvSpPr>
            <p:cNvPr id="14348" name="Text Box 6"/>
            <p:cNvSpPr txBox="1"/>
            <p:nvPr/>
          </p:nvSpPr>
          <p:spPr>
            <a:xfrm>
              <a:off x="367" y="2468"/>
              <a:ext cx="4148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故求最佳平方逼近函数等价于求多元函数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4339" name="Object 8"/>
            <p:cNvGraphicFramePr/>
            <p:nvPr/>
          </p:nvGraphicFramePr>
          <p:xfrm>
            <a:off x="550" y="2836"/>
            <a:ext cx="4591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3" imgW="3008630" imgH="444500" progId="Equation.3">
                    <p:embed/>
                  </p:oleObj>
                </mc:Choice>
                <mc:Fallback>
                  <p:oleObj name="" r:id="rId3" imgW="3008630" imgH="4445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0" y="2836"/>
                          <a:ext cx="4591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9" name="Text Box 11"/>
            <p:cNvSpPr txBox="1"/>
            <p:nvPr/>
          </p:nvSpPr>
          <p:spPr>
            <a:xfrm>
              <a:off x="379" y="3509"/>
              <a:ext cx="17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的最小值问题。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18125" name="Text Box 13"/>
          <p:cNvSpPr txBox="1"/>
          <p:nvPr/>
        </p:nvSpPr>
        <p:spPr>
          <a:xfrm>
            <a:off x="541338" y="1038225"/>
            <a:ext cx="6102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2.1 </a:t>
            </a:r>
            <a:r>
              <a:rPr lang="zh-CN" altLang="zh-CN" sz="3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最佳平方</a:t>
            </a:r>
            <a:r>
              <a:rPr lang="zh-CN" altLang="en-US" sz="32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逼近的</a:t>
            </a:r>
            <a:r>
              <a:rPr lang="zh-CN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存在与唯一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性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8147" name="Object 35"/>
          <p:cNvGraphicFramePr/>
          <p:nvPr/>
        </p:nvGraphicFramePr>
        <p:xfrm>
          <a:off x="4640263" y="217488"/>
          <a:ext cx="441325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1777365" imgH="660400" progId="Equation.3">
                  <p:embed/>
                </p:oleObj>
              </mc:Choice>
              <mc:Fallback>
                <p:oleObj name="" r:id="rId5" imgW="1777365" imgH="6604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0263" y="217488"/>
                        <a:ext cx="4413250" cy="16541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8115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8115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ldLvl="2" build="p"/>
      <p:bldP spid="2181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5369" name="Text Box 2"/>
          <p:cNvSpPr txBox="1"/>
          <p:nvPr/>
        </p:nvSpPr>
        <p:spPr>
          <a:xfrm>
            <a:off x="357188" y="568325"/>
            <a:ext cx="4095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由极值存在的必要条件有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306638" y="1152525"/>
            <a:ext cx="4359275" cy="1035050"/>
            <a:chOff x="1663" y="796"/>
            <a:chExt cx="2746" cy="652"/>
          </a:xfrm>
        </p:grpSpPr>
        <p:graphicFrame>
          <p:nvGraphicFramePr>
            <p:cNvPr id="15366" name="Object 3"/>
            <p:cNvGraphicFramePr/>
            <p:nvPr/>
          </p:nvGraphicFramePr>
          <p:xfrm>
            <a:off x="1663" y="796"/>
            <a:ext cx="2260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" imgW="1511300" imgH="431800" progId="Equation.3">
                    <p:embed/>
                  </p:oleObj>
                </mc:Choice>
                <mc:Fallback>
                  <p:oleObj name="" r:id="rId1" imgW="1511300" imgH="4318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63" y="796"/>
                          <a:ext cx="2260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Text Box 5"/>
            <p:cNvSpPr txBox="1"/>
            <p:nvPr/>
          </p:nvSpPr>
          <p:spPr>
            <a:xfrm>
              <a:off x="4002" y="950"/>
              <a:ext cx="4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379413" y="1985963"/>
            <a:ext cx="8305800" cy="1449387"/>
            <a:chOff x="239" y="1311"/>
            <a:chExt cx="5232" cy="913"/>
          </a:xfrm>
        </p:grpSpPr>
        <p:graphicFrame>
          <p:nvGraphicFramePr>
            <p:cNvPr id="15364" name="Object 7"/>
            <p:cNvGraphicFramePr/>
            <p:nvPr/>
          </p:nvGraphicFramePr>
          <p:xfrm>
            <a:off x="262" y="1311"/>
            <a:ext cx="4591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3" imgW="3009900" imgH="444500" progId="Equation.3">
                    <p:embed/>
                  </p:oleObj>
                </mc:Choice>
                <mc:Fallback>
                  <p:oleObj name="" r:id="rId3" imgW="3009900" imgH="4445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2" y="1311"/>
                          <a:ext cx="4591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Text Box 9"/>
            <p:cNvSpPr txBox="1"/>
            <p:nvPr/>
          </p:nvSpPr>
          <p:spPr>
            <a:xfrm>
              <a:off x="4863" y="1461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对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15365" name="Object 10"/>
            <p:cNvGraphicFramePr/>
            <p:nvPr/>
          </p:nvGraphicFramePr>
          <p:xfrm>
            <a:off x="5203" y="1455"/>
            <a:ext cx="26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177800" imgH="227965" progId="Equation.3">
                    <p:embed/>
                  </p:oleObj>
                </mc:Choice>
                <mc:Fallback>
                  <p:oleObj name="" r:id="rId5" imgW="177800" imgH="22796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03" y="1455"/>
                          <a:ext cx="26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Text Box 11"/>
            <p:cNvSpPr txBox="1"/>
            <p:nvPr/>
          </p:nvSpPr>
          <p:spPr>
            <a:xfrm>
              <a:off x="239" y="1897"/>
              <a:ext cx="23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求偏导数，我们可得到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19150" name="Text Box 14"/>
          <p:cNvSpPr txBox="1"/>
          <p:nvPr/>
        </p:nvSpPr>
        <p:spPr>
          <a:xfrm>
            <a:off x="457200" y="4549775"/>
            <a:ext cx="65262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整理并写成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空间中内积的形式，得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9"/>
          <p:cNvGrpSpPr/>
          <p:nvPr/>
        </p:nvGrpSpPr>
        <p:grpSpPr>
          <a:xfrm>
            <a:off x="1349375" y="3335338"/>
            <a:ext cx="7029450" cy="1069975"/>
            <a:chOff x="850" y="2101"/>
            <a:chExt cx="4428" cy="674"/>
          </a:xfrm>
        </p:grpSpPr>
        <p:graphicFrame>
          <p:nvGraphicFramePr>
            <p:cNvPr id="15363" name="Object 12"/>
            <p:cNvGraphicFramePr/>
            <p:nvPr/>
          </p:nvGraphicFramePr>
          <p:xfrm>
            <a:off x="850" y="2101"/>
            <a:ext cx="4153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7" imgW="2717800" imgH="444500" progId="Equation.3">
                    <p:embed/>
                  </p:oleObj>
                </mc:Choice>
                <mc:Fallback>
                  <p:oleObj name="" r:id="rId7" imgW="2717800" imgH="4445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50" y="2101"/>
                          <a:ext cx="4153" cy="6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Rectangle 18"/>
            <p:cNvSpPr/>
            <p:nvPr/>
          </p:nvSpPr>
          <p:spPr>
            <a:xfrm>
              <a:off x="4938" y="2276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。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1025525" y="5181600"/>
            <a:ext cx="7259638" cy="1069975"/>
            <a:chOff x="686" y="3264"/>
            <a:chExt cx="4573" cy="674"/>
          </a:xfrm>
        </p:grpSpPr>
        <p:graphicFrame>
          <p:nvGraphicFramePr>
            <p:cNvPr id="15362" name="Object 15"/>
            <p:cNvGraphicFramePr/>
            <p:nvPr/>
          </p:nvGraphicFramePr>
          <p:xfrm>
            <a:off x="686" y="3264"/>
            <a:ext cx="3688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9" imgW="2411730" imgH="444500" progId="Equation.3">
                    <p:embed/>
                  </p:oleObj>
                </mc:Choice>
                <mc:Fallback>
                  <p:oleObj name="" r:id="rId9" imgW="2411730" imgH="4445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6" y="3264"/>
                          <a:ext cx="3688" cy="6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Text Box 20"/>
            <p:cNvSpPr txBox="1"/>
            <p:nvPr/>
          </p:nvSpPr>
          <p:spPr>
            <a:xfrm>
              <a:off x="4323" y="3425"/>
              <a:ext cx="9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。</a:t>
              </a:r>
              <a:r>
                <a:rPr lang="zh-CN" altLang="en-US" dirty="0">
                  <a:latin typeface="Times New Roman" panose="02020603050405020304" pitchFamily="18" charset="0"/>
                </a:rPr>
                <a:t>(7.6.4)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20162" name="Text Box 2"/>
          <p:cNvSpPr txBox="1"/>
          <p:nvPr/>
        </p:nvSpPr>
        <p:spPr>
          <a:xfrm>
            <a:off x="509588" y="695325"/>
            <a:ext cx="6597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从而得到关于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的线性方程组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0163" name="Object 3"/>
          <p:cNvGraphicFramePr/>
          <p:nvPr/>
        </p:nvGraphicFramePr>
        <p:xfrm>
          <a:off x="667544" y="1225550"/>
          <a:ext cx="78708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3238500" imgH="444500" progId="Equation.3">
                  <p:embed/>
                </p:oleObj>
              </mc:Choice>
              <mc:Fallback>
                <p:oleObj name="" r:id="rId1" imgW="3238500" imgH="4445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7544" y="1225550"/>
                        <a:ext cx="7870825" cy="106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5" name="Object 5"/>
          <p:cNvGraphicFramePr/>
          <p:nvPr/>
        </p:nvGraphicFramePr>
        <p:xfrm>
          <a:off x="1117600" y="2289175"/>
          <a:ext cx="7410450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3086100" imgH="939800" progId="Equation.3">
                  <p:embed/>
                </p:oleObj>
              </mc:Choice>
              <mc:Fallback>
                <p:oleObj name="" r:id="rId3" imgW="3086100" imgH="939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7600" y="2289175"/>
                        <a:ext cx="7410450" cy="224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7" name="Text Box 7"/>
          <p:cNvSpPr txBox="1"/>
          <p:nvPr/>
        </p:nvSpPr>
        <p:spPr>
          <a:xfrm>
            <a:off x="419100" y="3144838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即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403225" y="4692650"/>
            <a:ext cx="8628063" cy="1058863"/>
            <a:chOff x="284" y="2886"/>
            <a:chExt cx="5435" cy="667"/>
          </a:xfrm>
        </p:grpSpPr>
        <p:sp>
          <p:nvSpPr>
            <p:cNvPr id="16396" name="Text Box 9"/>
            <p:cNvSpPr txBox="1"/>
            <p:nvPr/>
          </p:nvSpPr>
          <p:spPr>
            <a:xfrm>
              <a:off x="284" y="2907"/>
              <a:ext cx="5435" cy="6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因为                      线性无关，所以上述方程组(7.6.5)的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系数矩阵的行列式非零，故有唯一解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89" name="Object 10"/>
            <p:cNvGraphicFramePr/>
            <p:nvPr/>
          </p:nvGraphicFramePr>
          <p:xfrm>
            <a:off x="778" y="2886"/>
            <a:ext cx="121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5" imgW="800100" imgH="228600" progId="Equation.3">
                    <p:embed/>
                  </p:oleObj>
                </mc:Choice>
                <mc:Fallback>
                  <p:oleObj name="" r:id="rId5" imgW="800100" imgH="2286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78" y="2886"/>
                          <a:ext cx="121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" name="Object 12"/>
            <p:cNvGraphicFramePr/>
            <p:nvPr/>
          </p:nvGraphicFramePr>
          <p:xfrm>
            <a:off x="3913" y="3182"/>
            <a:ext cx="151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7" imgW="1015365" imgH="241300" progId="Equation.3">
                    <p:embed/>
                  </p:oleObj>
                </mc:Choice>
                <mc:Fallback>
                  <p:oleObj name="" r:id="rId7" imgW="1015365" imgH="2413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13" y="3182"/>
                          <a:ext cx="1514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0176" name="Object 16"/>
          <p:cNvGraphicFramePr/>
          <p:nvPr/>
        </p:nvGraphicFramePr>
        <p:xfrm>
          <a:off x="782796" y="252413"/>
          <a:ext cx="717677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9" imgW="2957830" imgH="444500" progId="Equation.DSMT4">
                  <p:embed/>
                </p:oleObj>
              </mc:Choice>
              <mc:Fallback>
                <p:oleObj name="" r:id="rId9" imgW="2957830" imgH="4445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2796" y="252413"/>
                        <a:ext cx="7176770" cy="1069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0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/>
      <p:bldP spid="2201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1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pSp>
        <p:nvGrpSpPr>
          <p:cNvPr id="2" name="Group 5"/>
          <p:cNvGrpSpPr/>
          <p:nvPr/>
        </p:nvGrpSpPr>
        <p:grpSpPr>
          <a:xfrm>
            <a:off x="846138" y="430213"/>
            <a:ext cx="6851650" cy="1068387"/>
            <a:chOff x="533" y="271"/>
            <a:chExt cx="4316" cy="673"/>
          </a:xfrm>
        </p:grpSpPr>
        <p:sp>
          <p:nvSpPr>
            <p:cNvPr id="17434" name="Text Box 3"/>
            <p:cNvSpPr txBox="1"/>
            <p:nvPr/>
          </p:nvSpPr>
          <p:spPr>
            <a:xfrm>
              <a:off x="533" y="409"/>
              <a:ext cx="3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19" name="Object 4"/>
            <p:cNvGraphicFramePr/>
            <p:nvPr/>
          </p:nvGraphicFramePr>
          <p:xfrm>
            <a:off x="1029" y="271"/>
            <a:ext cx="3820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" imgW="2501900" imgH="444500" progId="Equation.3">
                    <p:embed/>
                  </p:oleObj>
                </mc:Choice>
                <mc:Fallback>
                  <p:oleObj name="" r:id="rId1" imgW="2501900" imgH="4445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9" y="271"/>
                          <a:ext cx="3820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180975" y="1484313"/>
            <a:ext cx="8124825" cy="1614487"/>
            <a:chOff x="274" y="975"/>
            <a:chExt cx="5118" cy="1017"/>
          </a:xfrm>
        </p:grpSpPr>
        <p:sp>
          <p:nvSpPr>
            <p:cNvPr id="17432" name="Text Box 6"/>
            <p:cNvSpPr txBox="1"/>
            <p:nvPr/>
          </p:nvSpPr>
          <p:spPr>
            <a:xfrm>
              <a:off x="274" y="981"/>
              <a:ext cx="43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下面证明            满足式（7.6.1），即要证明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16" name="Object 7"/>
            <p:cNvGraphicFramePr/>
            <p:nvPr/>
          </p:nvGraphicFramePr>
          <p:xfrm>
            <a:off x="1271" y="975"/>
            <a:ext cx="6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3" imgW="393700" imgH="228600" progId="Equation.3">
                    <p:embed/>
                  </p:oleObj>
                </mc:Choice>
                <mc:Fallback>
                  <p:oleObj name="" r:id="rId3" imgW="393700" imgH="2286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71" y="975"/>
                          <a:ext cx="6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9"/>
            <p:cNvGraphicFramePr/>
            <p:nvPr/>
          </p:nvGraphicFramePr>
          <p:xfrm>
            <a:off x="1551" y="1359"/>
            <a:ext cx="2024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5" imgW="1333500" imgH="228600" progId="Equation.3">
                    <p:embed/>
                  </p:oleObj>
                </mc:Choice>
                <mc:Fallback>
                  <p:oleObj name="" r:id="rId5" imgW="1333500" imgH="2286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51" y="1359"/>
                          <a:ext cx="2024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Object 11"/>
            <p:cNvGraphicFramePr/>
            <p:nvPr/>
          </p:nvGraphicFramePr>
          <p:xfrm>
            <a:off x="4603" y="1021"/>
            <a:ext cx="7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7" imgW="507365" imgH="177800" progId="Equation.3">
                    <p:embed/>
                  </p:oleObj>
                </mc:Choice>
                <mc:Fallback>
                  <p:oleObj name="" r:id="rId7" imgW="507365" imgH="1778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03" y="1021"/>
                          <a:ext cx="78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Text Box 13"/>
            <p:cNvSpPr txBox="1"/>
            <p:nvPr/>
          </p:nvSpPr>
          <p:spPr>
            <a:xfrm>
              <a:off x="322" y="1665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成立。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238125" y="3028950"/>
            <a:ext cx="8255000" cy="1069975"/>
            <a:chOff x="230" y="1048"/>
            <a:chExt cx="5200" cy="674"/>
          </a:xfrm>
        </p:grpSpPr>
        <p:graphicFrame>
          <p:nvGraphicFramePr>
            <p:cNvPr id="17415" name="Object 16"/>
            <p:cNvGraphicFramePr/>
            <p:nvPr/>
          </p:nvGraphicFramePr>
          <p:xfrm>
            <a:off x="1415" y="1048"/>
            <a:ext cx="3688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9" imgW="2411730" imgH="444500" progId="Equation.3">
                    <p:embed/>
                  </p:oleObj>
                </mc:Choice>
                <mc:Fallback>
                  <p:oleObj name="" r:id="rId9" imgW="2411730" imgH="4445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15" y="1048"/>
                          <a:ext cx="3688" cy="6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Text Box 17"/>
            <p:cNvSpPr txBox="1"/>
            <p:nvPr/>
          </p:nvSpPr>
          <p:spPr>
            <a:xfrm>
              <a:off x="230" y="1204"/>
              <a:ext cx="52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由（</a:t>
              </a:r>
              <a:r>
                <a:rPr lang="zh-CN" altLang="en-US" dirty="0">
                  <a:latin typeface="Times New Roman" panose="02020603050405020304" pitchFamily="18" charset="0"/>
                </a:rPr>
                <a:t>7.6</a:t>
              </a:r>
              <a:r>
                <a:rPr lang="zh-CN" altLang="en-US" dirty="0">
                  <a:latin typeface="Times New Roman" panose="02020603050405020304" pitchFamily="18" charset="0"/>
                </a:rPr>
                <a:t>.4</a:t>
              </a:r>
              <a:r>
                <a:rPr lang="zh-CN" altLang="en-US" dirty="0">
                  <a:latin typeface="Comic Sans MS" panose="030F0702030302020204" pitchFamily="66" charset="0"/>
                </a:rPr>
                <a:t>）                                                        知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1687513" y="4183063"/>
            <a:ext cx="5119687" cy="581025"/>
            <a:chOff x="1063" y="1685"/>
            <a:chExt cx="3225" cy="366"/>
          </a:xfrm>
        </p:grpSpPr>
        <p:graphicFrame>
          <p:nvGraphicFramePr>
            <p:cNvPr id="17413" name="Object 19"/>
            <p:cNvGraphicFramePr/>
            <p:nvPr/>
          </p:nvGraphicFramePr>
          <p:xfrm>
            <a:off x="1063" y="1685"/>
            <a:ext cx="1517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1" imgW="1016000" imgH="241300" progId="Equation.3">
                    <p:embed/>
                  </p:oleObj>
                </mc:Choice>
                <mc:Fallback>
                  <p:oleObj name="" r:id="rId11" imgW="1016000" imgH="2413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3" y="1685"/>
                          <a:ext cx="1517" cy="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20"/>
            <p:cNvGraphicFramePr/>
            <p:nvPr/>
          </p:nvGraphicFramePr>
          <p:xfrm>
            <a:off x="2672" y="1715"/>
            <a:ext cx="125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3" imgW="850265" imgH="203200" progId="Equation.3">
                    <p:embed/>
                  </p:oleObj>
                </mc:Choice>
                <mc:Fallback>
                  <p:oleObj name="" r:id="rId13" imgW="850265" imgH="2032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72" y="1715"/>
                          <a:ext cx="1258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0" name="Rectangle 21"/>
            <p:cNvSpPr/>
            <p:nvPr/>
          </p:nvSpPr>
          <p:spPr>
            <a:xfrm>
              <a:off x="3948" y="1701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7"/>
          <p:cNvGrpSpPr/>
          <p:nvPr/>
        </p:nvGrpSpPr>
        <p:grpSpPr>
          <a:xfrm>
            <a:off x="357188" y="5019675"/>
            <a:ext cx="7829550" cy="550863"/>
            <a:chOff x="225" y="2972"/>
            <a:chExt cx="4932" cy="347"/>
          </a:xfrm>
        </p:grpSpPr>
        <p:sp>
          <p:nvSpPr>
            <p:cNvPr id="17429" name="Text Box 22"/>
            <p:cNvSpPr txBox="1"/>
            <p:nvPr/>
          </p:nvSpPr>
          <p:spPr>
            <a:xfrm>
              <a:off x="225" y="2976"/>
              <a:ext cx="49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又由于                  ，所以有                                  。 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11" name="Object 23"/>
            <p:cNvGraphicFramePr/>
            <p:nvPr/>
          </p:nvGraphicFramePr>
          <p:xfrm>
            <a:off x="943" y="2978"/>
            <a:ext cx="105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5" imgW="711200" imgH="203200" progId="Equation.3">
                    <p:embed/>
                  </p:oleObj>
                </mc:Choice>
                <mc:Fallback>
                  <p:oleObj name="" r:id="rId15" imgW="711200" imgH="2032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43" y="2978"/>
                          <a:ext cx="1050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2" name="Object 25"/>
            <p:cNvGraphicFramePr/>
            <p:nvPr/>
          </p:nvGraphicFramePr>
          <p:xfrm>
            <a:off x="2872" y="2972"/>
            <a:ext cx="1882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7" imgW="1244600" imgH="228600" progId="Equation.3">
                    <p:embed/>
                  </p:oleObj>
                </mc:Choice>
                <mc:Fallback>
                  <p:oleObj name="" r:id="rId17" imgW="1244600" imgH="2286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72" y="2972"/>
                          <a:ext cx="1882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1"/>
          <p:cNvGrpSpPr/>
          <p:nvPr/>
        </p:nvGrpSpPr>
        <p:grpSpPr>
          <a:xfrm>
            <a:off x="355600" y="5668963"/>
            <a:ext cx="2940050" cy="519112"/>
            <a:chOff x="284" y="3571"/>
            <a:chExt cx="1852" cy="327"/>
          </a:xfrm>
        </p:grpSpPr>
        <p:sp>
          <p:nvSpPr>
            <p:cNvPr id="17428" name="Text Box 28"/>
            <p:cNvSpPr txBox="1"/>
            <p:nvPr/>
          </p:nvSpPr>
          <p:spPr>
            <a:xfrm>
              <a:off x="284" y="3571"/>
              <a:ext cx="18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这样              ，有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10" name="Object 29"/>
            <p:cNvGraphicFramePr/>
            <p:nvPr/>
          </p:nvGraphicFramePr>
          <p:xfrm>
            <a:off x="819" y="3601"/>
            <a:ext cx="7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19" imgW="507365" imgH="177800" progId="Equation.3">
                    <p:embed/>
                  </p:oleObj>
                </mc:Choice>
                <mc:Fallback>
                  <p:oleObj name="" r:id="rId19" imgW="507365" imgH="1778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19" y="3601"/>
                          <a:ext cx="78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1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aphicFrame>
        <p:nvGraphicFramePr>
          <p:cNvPr id="221200" name="Object 16"/>
          <p:cNvGraphicFramePr/>
          <p:nvPr/>
        </p:nvGraphicFramePr>
        <p:xfrm>
          <a:off x="520700" y="692150"/>
          <a:ext cx="45529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879600" imgH="228600" progId="Equation.3">
                  <p:embed/>
                </p:oleObj>
              </mc:Choice>
              <mc:Fallback>
                <p:oleObj name="" r:id="rId1" imgW="18796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0700" y="692150"/>
                        <a:ext cx="455295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2" name="Object 18"/>
          <p:cNvGraphicFramePr/>
          <p:nvPr/>
        </p:nvGraphicFramePr>
        <p:xfrm>
          <a:off x="558800" y="1579563"/>
          <a:ext cx="83661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3454400" imgH="228600" progId="Equation.3">
                  <p:embed/>
                </p:oleObj>
              </mc:Choice>
              <mc:Fallback>
                <p:oleObj name="" r:id="rId3" imgW="34544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800" y="1579563"/>
                        <a:ext cx="836612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3" name="Object 19"/>
          <p:cNvGraphicFramePr/>
          <p:nvPr/>
        </p:nvGraphicFramePr>
        <p:xfrm>
          <a:off x="563563" y="2366963"/>
          <a:ext cx="55070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2273300" imgH="228600" progId="Equation.3">
                  <p:embed/>
                </p:oleObj>
              </mc:Choice>
              <mc:Fallback>
                <p:oleObj name="" r:id="rId5" imgW="2273300" imgH="228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563" y="2366963"/>
                        <a:ext cx="5507037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04" name="AutoShape 20"/>
          <p:cNvSpPr/>
          <p:nvPr/>
        </p:nvSpPr>
        <p:spPr>
          <a:xfrm>
            <a:off x="6096000" y="750888"/>
            <a:ext cx="914400" cy="609600"/>
          </a:xfrm>
          <a:prstGeom prst="wedgeRoundRectCallout">
            <a:avLst>
              <a:gd name="adj1" fmla="val -112847"/>
              <a:gd name="adj2" fmla="val 11927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= 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588963" y="3163888"/>
            <a:ext cx="6257925" cy="550862"/>
            <a:chOff x="371" y="1993"/>
            <a:chExt cx="3942" cy="347"/>
          </a:xfrm>
        </p:grpSpPr>
        <p:sp>
          <p:nvSpPr>
            <p:cNvPr id="18447" name="Text Box 22"/>
            <p:cNvSpPr txBox="1"/>
            <p:nvPr/>
          </p:nvSpPr>
          <p:spPr>
            <a:xfrm>
              <a:off x="371" y="2005"/>
              <a:ext cx="16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于是               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38" name="Object 24"/>
            <p:cNvGraphicFramePr/>
            <p:nvPr/>
          </p:nvGraphicFramePr>
          <p:xfrm>
            <a:off x="1922" y="1993"/>
            <a:ext cx="2024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7" imgW="1333500" imgH="228600" progId="Equation.3">
                    <p:embed/>
                  </p:oleObj>
                </mc:Choice>
                <mc:Fallback>
                  <p:oleObj name="" r:id="rId7" imgW="1333500" imgH="2286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2" y="1993"/>
                          <a:ext cx="2024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25"/>
            <p:cNvGraphicFramePr/>
            <p:nvPr/>
          </p:nvGraphicFramePr>
          <p:xfrm>
            <a:off x="904" y="2045"/>
            <a:ext cx="7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9" imgW="508000" imgH="177800" progId="Equation.3">
                    <p:embed/>
                  </p:oleObj>
                </mc:Choice>
                <mc:Fallback>
                  <p:oleObj name="" r:id="rId9" imgW="508000" imgH="1778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04" y="2045"/>
                          <a:ext cx="789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Text Box 26"/>
            <p:cNvSpPr txBox="1"/>
            <p:nvPr/>
          </p:nvSpPr>
          <p:spPr>
            <a:xfrm>
              <a:off x="3973" y="2005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/>
          <p:nvPr/>
        </p:nvGrpSpPr>
        <p:grpSpPr>
          <a:xfrm>
            <a:off x="669925" y="3835400"/>
            <a:ext cx="7843838" cy="549275"/>
            <a:chOff x="442" y="2416"/>
            <a:chExt cx="4941" cy="346"/>
          </a:xfrm>
        </p:grpSpPr>
        <p:graphicFrame>
          <p:nvGraphicFramePr>
            <p:cNvPr id="18437" name="Object 23"/>
            <p:cNvGraphicFramePr/>
            <p:nvPr/>
          </p:nvGraphicFramePr>
          <p:xfrm>
            <a:off x="1572" y="2416"/>
            <a:ext cx="6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1" imgW="393700" imgH="228600" progId="Equation.3">
                    <p:embed/>
                  </p:oleObj>
                </mc:Choice>
                <mc:Fallback>
                  <p:oleObj name="" r:id="rId11" imgW="393700" imgH="2286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72" y="2416"/>
                          <a:ext cx="6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6" name="Text Box 27"/>
            <p:cNvSpPr txBox="1"/>
            <p:nvPr/>
          </p:nvSpPr>
          <p:spPr>
            <a:xfrm>
              <a:off x="442" y="2428"/>
              <a:ext cx="49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这就证明了          为在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Ф</a:t>
              </a:r>
              <a:r>
                <a:rPr lang="zh-CN" altLang="en-US" dirty="0">
                  <a:latin typeface="Times New Roman" panose="02020603050405020304" pitchFamily="18" charset="0"/>
                </a:rPr>
                <a:t>中的最佳平方逼近函数。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21214" name="Text Box 30"/>
          <p:cNvSpPr txBox="1"/>
          <p:nvPr/>
        </p:nvSpPr>
        <p:spPr>
          <a:xfrm>
            <a:off x="558800" y="4708525"/>
            <a:ext cx="6673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下面我们看一看最佳平方逼近的几何意义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1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04" grpId="0" animBg="1"/>
      <p:bldP spid="2212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4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94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b="1" u="none" dirty="0">
                <a:latin typeface="Times New Roman" panose="02020603050405020304" pitchFamily="18" charset="0"/>
              </a:rPr>
              <a:t>2.2 最佳平方逼近的几何意义</a:t>
            </a:r>
            <a:endParaRPr lang="zh-CN" altLang="en-US" sz="3200" b="1" u="none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012825" y="1169988"/>
            <a:ext cx="6516688" cy="592137"/>
            <a:chOff x="782" y="833"/>
            <a:chExt cx="4105" cy="373"/>
          </a:xfrm>
        </p:grpSpPr>
        <p:graphicFrame>
          <p:nvGraphicFramePr>
            <p:cNvPr id="19461" name="Object 4"/>
            <p:cNvGraphicFramePr/>
            <p:nvPr/>
          </p:nvGraphicFramePr>
          <p:xfrm>
            <a:off x="1218" y="840"/>
            <a:ext cx="1517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" imgW="1016000" imgH="241300" progId="Equation.3">
                    <p:embed/>
                  </p:oleObj>
                </mc:Choice>
                <mc:Fallback>
                  <p:oleObj name="" r:id="rId1" imgW="1016000" imgH="2413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18" y="840"/>
                          <a:ext cx="1517" cy="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5"/>
            <p:cNvGraphicFramePr/>
            <p:nvPr/>
          </p:nvGraphicFramePr>
          <p:xfrm>
            <a:off x="2827" y="870"/>
            <a:ext cx="125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3" imgW="850265" imgH="203200" progId="Equation.3">
                    <p:embed/>
                  </p:oleObj>
                </mc:Choice>
                <mc:Fallback>
                  <p:oleObj name="" r:id="rId3" imgW="850265" imgH="2032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27" y="870"/>
                          <a:ext cx="1258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4" name="Rectangle 6"/>
            <p:cNvSpPr/>
            <p:nvPr/>
          </p:nvSpPr>
          <p:spPr>
            <a:xfrm>
              <a:off x="4043" y="860"/>
              <a:ext cx="8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可知 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5" name="Text Box 7"/>
            <p:cNvSpPr txBox="1"/>
            <p:nvPr/>
          </p:nvSpPr>
          <p:spPr>
            <a:xfrm>
              <a:off x="782" y="833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由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282575" y="1162050"/>
            <a:ext cx="8304213" cy="1209675"/>
            <a:chOff x="196" y="858"/>
            <a:chExt cx="5231" cy="762"/>
          </a:xfrm>
        </p:grpSpPr>
        <p:graphicFrame>
          <p:nvGraphicFramePr>
            <p:cNvPr id="19460" name="Object 9"/>
            <p:cNvGraphicFramePr/>
            <p:nvPr/>
          </p:nvGraphicFramePr>
          <p:xfrm>
            <a:off x="4756" y="858"/>
            <a:ext cx="67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5" imgW="444500" imgH="228600" progId="Equation.3">
                    <p:embed/>
                  </p:oleObj>
                </mc:Choice>
                <mc:Fallback>
                  <p:oleObj name="" r:id="rId5" imgW="444500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56" y="858"/>
                          <a:ext cx="67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3" name="Text Box 13"/>
            <p:cNvSpPr txBox="1"/>
            <p:nvPr/>
          </p:nvSpPr>
          <p:spPr>
            <a:xfrm>
              <a:off x="196" y="1293"/>
              <a:ext cx="28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与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lang="zh-CN" altLang="en-US" dirty="0">
                  <a:latin typeface="Times New Roman" panose="02020603050405020304" pitchFamily="18" charset="0"/>
                </a:rPr>
                <a:t>中的所有函数都正交，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23248" name="Object 16"/>
          <p:cNvGraphicFramePr/>
          <p:nvPr/>
        </p:nvGraphicFramePr>
        <p:xfrm>
          <a:off x="1849438" y="3578225"/>
          <a:ext cx="3814762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7" imgW="1592580" imgH="1188720" progId="Paint.Picture">
                  <p:embed/>
                </p:oleObj>
              </mc:Choice>
              <mc:Fallback>
                <p:oleObj name="" r:id="rId7" imgW="1592580" imgH="1188720" progId="Paint.Picture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9438" y="3578225"/>
                        <a:ext cx="3814762" cy="285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1"/>
          <p:cNvGrpSpPr/>
          <p:nvPr/>
        </p:nvGrpSpPr>
        <p:grpSpPr>
          <a:xfrm>
            <a:off x="273050" y="1817688"/>
            <a:ext cx="8582025" cy="1733550"/>
            <a:chOff x="219" y="1263"/>
            <a:chExt cx="5406" cy="1092"/>
          </a:xfrm>
        </p:grpSpPr>
        <p:graphicFrame>
          <p:nvGraphicFramePr>
            <p:cNvPr id="19459" name="Object 14"/>
            <p:cNvGraphicFramePr/>
            <p:nvPr/>
          </p:nvGraphicFramePr>
          <p:xfrm>
            <a:off x="4648" y="1263"/>
            <a:ext cx="67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9" imgW="444500" imgH="228600" progId="Equation.3">
                    <p:embed/>
                  </p:oleObj>
                </mc:Choice>
                <mc:Fallback>
                  <p:oleObj name="" r:id="rId9" imgW="444500" imgH="2286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48" y="1263"/>
                          <a:ext cx="67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Text Box 15"/>
            <p:cNvSpPr txBox="1"/>
            <p:nvPr/>
          </p:nvSpPr>
          <p:spPr>
            <a:xfrm>
              <a:off x="219" y="1705"/>
              <a:ext cx="5406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与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lang="zh-CN" altLang="en-US" dirty="0">
                  <a:latin typeface="Times New Roman" panose="02020603050405020304" pitchFamily="18" charset="0"/>
                </a:rPr>
                <a:t>中的所有元素均垂直，即</a:t>
              </a:r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*</a:t>
              </a:r>
              <a:r>
                <a:rPr lang="zh-CN" altLang="en-US" dirty="0">
                  <a:latin typeface="Times New Roman" panose="02020603050405020304" pitchFamily="18" charset="0"/>
                </a:rPr>
                <a:t>为元素 </a:t>
              </a:r>
              <a:r>
                <a:rPr lang="en-US" altLang="zh-CN" i="1" dirty="0">
                  <a:latin typeface="Times New Roman" panose="02020603050405020304" pitchFamily="18" charset="0"/>
                </a:rPr>
                <a:t>f </a:t>
              </a:r>
              <a:r>
                <a:rPr lang="zh-CN" altLang="en-US" dirty="0">
                  <a:latin typeface="Times New Roman" panose="02020603050405020304" pitchFamily="18" charset="0"/>
                </a:rPr>
                <a:t>在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lang="zh-CN" altLang="en-US" dirty="0">
                  <a:latin typeface="Times New Roman" panose="02020603050405020304" pitchFamily="18" charset="0"/>
                </a:rPr>
                <a:t>中的</a:t>
              </a:r>
              <a:r>
                <a: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正交</a:t>
              </a:r>
              <a:endPara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r>
                <a: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投影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9472" name="Text Box 18"/>
            <p:cNvSpPr txBox="1"/>
            <p:nvPr/>
          </p:nvSpPr>
          <p:spPr>
            <a:xfrm>
              <a:off x="2792" y="1278"/>
              <a:ext cx="19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从几何意义上来讲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3251" name="Text Box 19"/>
          <p:cNvSpPr txBox="1"/>
          <p:nvPr/>
        </p:nvSpPr>
        <p:spPr>
          <a:xfrm>
            <a:off x="1217613" y="3055938"/>
            <a:ext cx="2317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如下图所示。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3254" name="AutoShape 22"/>
          <p:cNvSpPr/>
          <p:nvPr/>
        </p:nvSpPr>
        <p:spPr>
          <a:xfrm>
            <a:off x="6284913" y="3448050"/>
            <a:ext cx="2619375" cy="1973263"/>
          </a:xfrm>
          <a:prstGeom prst="wedgeRoundRectCallout">
            <a:avLst>
              <a:gd name="adj1" fmla="val -95759"/>
              <a:gd name="adj2" fmla="val 4517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just"/>
            <a:r>
              <a:rPr lang="zh-CN" altLang="en-US" b="1" dirty="0">
                <a:latin typeface="Times New Roman" panose="02020603050405020304" pitchFamily="18" charset="0"/>
              </a:rPr>
              <a:t>整个平面代表空间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]，</a:t>
            </a:r>
            <a:r>
              <a:rPr lang="zh-CN" altLang="en-US" b="1" dirty="0">
                <a:latin typeface="Times New Roman" panose="02020603050405020304" pitchFamily="18" charset="0"/>
              </a:rPr>
              <a:t>这条水平线代表子空间</a:t>
            </a:r>
            <a:r>
              <a:rPr lang="en-US" altLang="zh-CN" b="1" dirty="0">
                <a:latin typeface="Times New Roman" panose="02020603050405020304" pitchFamily="18" charset="0"/>
              </a:rPr>
              <a:t>Φ。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1" grpId="0"/>
      <p:bldP spid="22325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0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0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b="1" u="none" dirty="0">
                <a:latin typeface="Times New Roman" panose="02020603050405020304" pitchFamily="18" charset="0"/>
              </a:rPr>
              <a:t>2.3</a:t>
            </a:r>
            <a:r>
              <a:rPr lang="zh-CN" altLang="en-US" sz="3200" b="1" u="none" dirty="0"/>
              <a:t> 最佳平方逼近函数的平方误差</a:t>
            </a:r>
            <a:endParaRPr lang="zh-CN" altLang="en-US" sz="4400" b="1" dirty="0"/>
          </a:p>
        </p:txBody>
      </p:sp>
      <p:sp>
        <p:nvSpPr>
          <p:cNvPr id="224259" name="Rectangle 3"/>
          <p:cNvSpPr>
            <a:spLocks noGrp="1"/>
          </p:cNvSpPr>
          <p:nvPr>
            <p:ph idx="1"/>
          </p:nvPr>
        </p:nvSpPr>
        <p:spPr>
          <a:xfrm>
            <a:off x="517525" y="1476375"/>
            <a:ext cx="4905375" cy="665163"/>
          </a:xfrm>
        </p:spPr>
        <p:txBody>
          <a:bodyPr vert="horz" wrap="square" lIns="91440" tIns="45720" rIns="91440" bIns="45720" anchor="t"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由最佳平方逼近的几何意义知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4261" name="Object 5"/>
          <p:cNvGraphicFramePr/>
          <p:nvPr/>
        </p:nvGraphicFramePr>
        <p:xfrm>
          <a:off x="5389563" y="1487488"/>
          <a:ext cx="240823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016000" imgH="228600" progId="Equation.3">
                  <p:embed/>
                </p:oleObj>
              </mc:Choice>
              <mc:Fallback>
                <p:oleObj name="" r:id="rId1" imgW="1016000" imgH="2286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89563" y="1487488"/>
                        <a:ext cx="2408237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4" name="Object 8"/>
          <p:cNvGraphicFramePr/>
          <p:nvPr/>
        </p:nvGraphicFramePr>
        <p:xfrm>
          <a:off x="627063" y="2078038"/>
          <a:ext cx="43672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1803400" imgH="228600" progId="Equation.3">
                  <p:embed/>
                </p:oleObj>
              </mc:Choice>
              <mc:Fallback>
                <p:oleObj name="" r:id="rId3" imgW="1803400" imgH="228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063" y="2078038"/>
                        <a:ext cx="4367212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5" name="Object 9"/>
          <p:cNvGraphicFramePr/>
          <p:nvPr/>
        </p:nvGraphicFramePr>
        <p:xfrm>
          <a:off x="2173288" y="2701925"/>
          <a:ext cx="41830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5" imgW="1727200" imgH="228600" progId="Equation.3">
                  <p:embed/>
                </p:oleObj>
              </mc:Choice>
              <mc:Fallback>
                <p:oleObj name="" r:id="rId5" imgW="1727200" imgH="2286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3288" y="2701925"/>
                        <a:ext cx="4183062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6" name="Object 10"/>
          <p:cNvGraphicFramePr/>
          <p:nvPr/>
        </p:nvGraphicFramePr>
        <p:xfrm>
          <a:off x="2162175" y="3286125"/>
          <a:ext cx="20605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7" imgW="850265" imgH="228600" progId="Equation.3">
                  <p:embed/>
                </p:oleObj>
              </mc:Choice>
              <mc:Fallback>
                <p:oleObj name="" r:id="rId7" imgW="850265" imgH="2286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2175" y="3286125"/>
                        <a:ext cx="2060575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7" name="Object 11"/>
          <p:cNvGraphicFramePr/>
          <p:nvPr/>
        </p:nvGraphicFramePr>
        <p:xfrm>
          <a:off x="4297363" y="3290888"/>
          <a:ext cx="27384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9" imgW="1129665" imgH="228600" progId="Equation.3">
                  <p:embed/>
                </p:oleObj>
              </mc:Choice>
              <mc:Fallback>
                <p:oleObj name="" r:id="rId9" imgW="1129665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7363" y="3290888"/>
                        <a:ext cx="2738437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13"/>
          <p:cNvGraphicFramePr/>
          <p:nvPr/>
        </p:nvGraphicFramePr>
        <p:xfrm>
          <a:off x="2146300" y="3716338"/>
          <a:ext cx="344805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1" imgW="1434465" imgH="431800" progId="Equation.3">
                  <p:embed/>
                </p:oleObj>
              </mc:Choice>
              <mc:Fallback>
                <p:oleObj name="" r:id="rId11" imgW="1434465" imgH="4318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6300" y="3716338"/>
                        <a:ext cx="3448050" cy="103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0" name="Object 14"/>
          <p:cNvGraphicFramePr/>
          <p:nvPr/>
        </p:nvGraphicFramePr>
        <p:xfrm>
          <a:off x="2117725" y="4760913"/>
          <a:ext cx="3357563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3" imgW="1396365" imgH="431800" progId="Equation.3">
                  <p:embed/>
                </p:oleObj>
              </mc:Choice>
              <mc:Fallback>
                <p:oleObj name="" r:id="rId13" imgW="1396365" imgH="4318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7725" y="4760913"/>
                        <a:ext cx="3357563" cy="10366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0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1511" name="Rectangle 8"/>
          <p:cNvSpPr>
            <a:spLocks noGrp="1"/>
          </p:cNvSpPr>
          <p:nvPr>
            <p:ph type="title"/>
          </p:nvPr>
        </p:nvSpPr>
        <p:spPr>
          <a:xfrm>
            <a:off x="223838" y="152400"/>
            <a:ext cx="8081962" cy="863600"/>
          </a:xfrm>
        </p:spPr>
        <p:txBody>
          <a:bodyPr vert="horz" wrap="square" lIns="91440" tIns="45720" rIns="91440" bIns="45720" anchor="ctr"/>
          <a:p>
            <a:r>
              <a:rPr lang="zh-CN" altLang="en-US" sz="3200" b="1" u="none" dirty="0">
                <a:latin typeface="Times New Roman" panose="02020603050405020304" pitchFamily="18" charset="0"/>
              </a:rPr>
              <a:t>2.4 </a:t>
            </a:r>
            <a:r>
              <a:rPr lang="zh-CN" altLang="zh-CN" sz="3200" b="1" u="none" dirty="0"/>
              <a:t>最佳平方逼近的求法</a:t>
            </a:r>
            <a:endParaRPr lang="zh-CN" altLang="zh-CN" b="1" u="none" dirty="0"/>
          </a:p>
        </p:txBody>
      </p:sp>
      <p:grpSp>
        <p:nvGrpSpPr>
          <p:cNvPr id="2" name="Group 35"/>
          <p:cNvGrpSpPr/>
          <p:nvPr/>
        </p:nvGrpSpPr>
        <p:grpSpPr>
          <a:xfrm>
            <a:off x="250825" y="5119688"/>
            <a:ext cx="8145463" cy="949325"/>
            <a:chOff x="149" y="3105"/>
            <a:chExt cx="5131" cy="598"/>
          </a:xfrm>
        </p:grpSpPr>
        <p:sp>
          <p:nvSpPr>
            <p:cNvPr id="21517" name="Text Box 20"/>
            <p:cNvSpPr txBox="1"/>
            <p:nvPr/>
          </p:nvSpPr>
          <p:spPr>
            <a:xfrm>
              <a:off x="149" y="3225"/>
              <a:ext cx="18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(4) 计算</a:t>
              </a:r>
              <a:r>
                <a:rPr lang="zh-CN" altLang="en-US" b="1" dirty="0">
                  <a:solidFill>
                    <a:srgbClr val="FF0000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平方误差</a:t>
              </a:r>
              <a:endParaRPr lang="zh-CN" altLang="en-US" b="1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1508" name="Object 21"/>
            <p:cNvGraphicFramePr/>
            <p:nvPr/>
          </p:nvGraphicFramePr>
          <p:xfrm>
            <a:off x="2050" y="3105"/>
            <a:ext cx="3230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1" imgW="2322830" imgH="431800" progId="Equation.DSMT4">
                    <p:embed/>
                  </p:oleObj>
                </mc:Choice>
                <mc:Fallback>
                  <p:oleObj name="" r:id="rId1" imgW="2322830" imgH="431800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50" y="3105"/>
                          <a:ext cx="3230" cy="5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8975" name="Text Box 15"/>
          <p:cNvSpPr txBox="1">
            <a:spLocks noChangeAspect="1"/>
          </p:cNvSpPr>
          <p:nvPr/>
        </p:nvSpPr>
        <p:spPr>
          <a:xfrm>
            <a:off x="242888" y="903288"/>
            <a:ext cx="52816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(1) 确定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Comic Sans MS" panose="030F0702030302020204" pitchFamily="66" charset="0"/>
              </a:rPr>
              <a:t>即确定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Comic Sans MS" panose="030F0702030302020204" pitchFamily="66" charset="0"/>
              </a:rPr>
              <a:t>的形式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8987" name="Object 27"/>
          <p:cNvGraphicFramePr/>
          <p:nvPr/>
        </p:nvGraphicFramePr>
        <p:xfrm>
          <a:off x="684213" y="2016125"/>
          <a:ext cx="7408862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3086100" imgH="939800" progId="Equation.3">
                  <p:embed/>
                </p:oleObj>
              </mc:Choice>
              <mc:Fallback>
                <p:oleObj name="" r:id="rId3" imgW="3086100" imgH="939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016125"/>
                        <a:ext cx="7408862" cy="224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/>
          <p:nvPr/>
        </p:nvGrpSpPr>
        <p:grpSpPr>
          <a:xfrm>
            <a:off x="217488" y="4241800"/>
            <a:ext cx="8748712" cy="1017588"/>
            <a:chOff x="197" y="2522"/>
            <a:chExt cx="5511" cy="641"/>
          </a:xfrm>
        </p:grpSpPr>
        <p:sp>
          <p:nvSpPr>
            <p:cNvPr id="21516" name="Text Box 16"/>
            <p:cNvSpPr txBox="1">
              <a:spLocks noChangeAspect="1"/>
            </p:cNvSpPr>
            <p:nvPr/>
          </p:nvSpPr>
          <p:spPr>
            <a:xfrm>
              <a:off x="197" y="2659"/>
              <a:ext cx="551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(3) 令</a:t>
              </a:r>
              <a:r>
                <a:rPr lang="zh-CN" altLang="en-US" sz="2400" dirty="0">
                  <a:latin typeface="Comic Sans MS" panose="030F0702030302020204" pitchFamily="66" charset="0"/>
                </a:rPr>
                <a:t>                              ，</a:t>
              </a:r>
              <a:r>
                <a:rPr lang="zh-CN" altLang="en-US" dirty="0">
                  <a:latin typeface="Comic Sans MS" panose="030F0702030302020204" pitchFamily="66" charset="0"/>
                </a:rPr>
                <a:t>则</a:t>
              </a:r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*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zh-CN" dirty="0">
                  <a:latin typeface="Times New Roman" panose="02020603050405020304" pitchFamily="18" charset="0"/>
                </a:rPr>
                <a:t>为最佳平方逼近函数</a:t>
              </a:r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507" name="Object 29"/>
            <p:cNvGraphicFramePr/>
            <p:nvPr/>
          </p:nvGraphicFramePr>
          <p:xfrm>
            <a:off x="827" y="2522"/>
            <a:ext cx="1773" cy="6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5" imgW="1218565" imgH="444500" progId="Equation.3">
                    <p:embed/>
                  </p:oleObj>
                </mc:Choice>
                <mc:Fallback>
                  <p:oleObj name="" r:id="rId5" imgW="1218565" imgH="4445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7" y="2522"/>
                          <a:ext cx="1773" cy="6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8994" name="Text Box 34"/>
          <p:cNvSpPr txBox="1">
            <a:spLocks noChangeAspect="1"/>
          </p:cNvSpPr>
          <p:nvPr/>
        </p:nvSpPr>
        <p:spPr>
          <a:xfrm>
            <a:off x="236538" y="1452563"/>
            <a:ext cx="74660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(2) 解以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aseline="16000" dirty="0">
                <a:latin typeface="Times New Roman" panose="02020603050405020304" pitchFamily="18" charset="0"/>
              </a:rPr>
              <a:t>. . .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为未知元的线性法方程组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8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5" grpId="0"/>
      <p:bldP spid="1689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4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69997" name="Text Box 13"/>
          <p:cNvSpPr txBox="1"/>
          <p:nvPr/>
        </p:nvSpPr>
        <p:spPr>
          <a:xfrm>
            <a:off x="292100" y="1525588"/>
            <a:ext cx="79057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解：</a:t>
            </a:r>
            <a:r>
              <a:rPr lang="zh-CN" altLang="en-US" sz="3200" dirty="0">
                <a:latin typeface="Comic Sans MS" panose="030F0702030302020204" pitchFamily="66" charset="0"/>
              </a:rPr>
              <a:t>依题意，设</a:t>
            </a:r>
            <a:r>
              <a:rPr lang="zh-CN" altLang="en-US" sz="3200" dirty="0">
                <a:latin typeface="Times New Roman" panose="02020603050405020304" pitchFamily="18" charset="0"/>
              </a:rPr>
              <a:t>一次最佳平方逼近多</a:t>
            </a:r>
            <a:r>
              <a:rPr lang="zh-CN" altLang="en-US" sz="3200" dirty="0">
                <a:latin typeface="Comic Sans MS" panose="030F0702030302020204" pitchFamily="66" charset="0"/>
              </a:rPr>
              <a:t>项式为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169998" name="Object 14"/>
          <p:cNvGraphicFramePr/>
          <p:nvPr/>
        </p:nvGraphicFramePr>
        <p:xfrm>
          <a:off x="3059113" y="2224088"/>
          <a:ext cx="2678112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1066165" imgH="241300" progId="Equation.DSMT4">
                  <p:embed/>
                </p:oleObj>
              </mc:Choice>
              <mc:Fallback>
                <p:oleObj name="" r:id="rId1" imgW="1066165" imgH="2413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9113" y="2224088"/>
                        <a:ext cx="2678112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9" name="Object 15"/>
          <p:cNvGraphicFramePr/>
          <p:nvPr/>
        </p:nvGraphicFramePr>
        <p:xfrm>
          <a:off x="1336675" y="2852738"/>
          <a:ext cx="70675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2832100" imgH="228600" progId="Equation.DSMT4">
                  <p:embed/>
                </p:oleObj>
              </mc:Choice>
              <mc:Fallback>
                <p:oleObj name="" r:id="rId3" imgW="2832100" imgH="228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6675" y="2852738"/>
                        <a:ext cx="7067550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00" name="Text Box 16"/>
          <p:cNvSpPr txBox="1"/>
          <p:nvPr/>
        </p:nvSpPr>
        <p:spPr>
          <a:xfrm>
            <a:off x="282575" y="3632200"/>
            <a:ext cx="481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所以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满足</a:t>
            </a:r>
            <a:r>
              <a:rPr lang="zh-CN" altLang="en-US" sz="3200" dirty="0">
                <a:latin typeface="Comic Sans MS" panose="030F0702030302020204" pitchFamily="66" charset="0"/>
              </a:rPr>
              <a:t>以下方程组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170001" name="Object 17"/>
          <p:cNvGraphicFramePr/>
          <p:nvPr/>
        </p:nvGraphicFramePr>
        <p:xfrm>
          <a:off x="1916113" y="4438650"/>
          <a:ext cx="518953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5" imgW="2069465" imgH="482600" progId="Equation.DSMT4">
                  <p:embed/>
                </p:oleObj>
              </mc:Choice>
              <mc:Fallback>
                <p:oleObj name="" r:id="rId5" imgW="2069465" imgH="4826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6113" y="4438650"/>
                        <a:ext cx="5189537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46"/>
          <p:cNvSpPr>
            <a:spLocks noGrp="1"/>
          </p:cNvSpPr>
          <p:nvPr>
            <p:ph type="title"/>
          </p:nvPr>
        </p:nvSpPr>
        <p:spPr>
          <a:xfrm>
            <a:off x="296863" y="228600"/>
            <a:ext cx="8388350" cy="1143000"/>
          </a:xfrm>
        </p:spPr>
        <p:txBody>
          <a:bodyPr vert="horz" wrap="square" lIns="91440" tIns="45720" rIns="91440" bIns="45720" anchor="ctr"/>
          <a:p>
            <a:pPr>
              <a:lnSpc>
                <a:spcPct val="120000"/>
              </a:lnSpc>
            </a:pPr>
            <a:r>
              <a:rPr lang="zh-CN" altLang="en-US" sz="3200" b="1" u="none" dirty="0">
                <a:solidFill>
                  <a:srgbClr val="FF0000"/>
                </a:solidFill>
              </a:rPr>
              <a:t>例</a:t>
            </a:r>
            <a:r>
              <a:rPr lang="zh-CN" altLang="en-US" sz="3200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7.6</a:t>
            </a:r>
            <a:r>
              <a:rPr lang="zh-CN" altLang="en-US" sz="3200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.1</a:t>
            </a:r>
            <a:r>
              <a:rPr lang="zh-CN" altLang="en-US" sz="3200" u="none" dirty="0">
                <a:solidFill>
                  <a:srgbClr val="FF0000"/>
                </a:solidFill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</a:rPr>
              <a:t>求函数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u="none" dirty="0">
                <a:solidFill>
                  <a:schemeClr val="tx1"/>
                </a:solidFill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</a:rPr>
              <a:t>在区间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[0, 1] 上的一次最佳平方逼近多</a:t>
            </a:r>
            <a:r>
              <a:rPr lang="zh-CN" altLang="en-US" sz="3200" u="none" dirty="0">
                <a:solidFill>
                  <a:schemeClr val="tx1"/>
                </a:solidFill>
              </a:rPr>
              <a:t>项式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, 并计算</a:t>
            </a:r>
            <a:r>
              <a:rPr lang="zh-CN" altLang="en-US" sz="3200" u="none" dirty="0">
                <a:solidFill>
                  <a:schemeClr val="tx1"/>
                </a:solidFill>
              </a:rPr>
              <a:t>平方误差.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sp>
        <p:nvSpPr>
          <p:cNvPr id="170031" name="Text Box 47"/>
          <p:cNvSpPr txBox="1"/>
          <p:nvPr/>
        </p:nvSpPr>
        <p:spPr>
          <a:xfrm>
            <a:off x="309563" y="2767013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即取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7" grpId="0"/>
      <p:bldP spid="170000" grpId="0"/>
      <p:bldP spid="1700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9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3560" name="Rectangle 1026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90588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</a:rPr>
              <a:t>通过计算得：</a:t>
            </a:r>
            <a:endParaRPr lang="zh-CN" altLang="en-US" dirty="0"/>
          </a:p>
        </p:txBody>
      </p:sp>
      <p:graphicFrame>
        <p:nvGraphicFramePr>
          <p:cNvPr id="253957" name="Object 1029"/>
          <p:cNvGraphicFramePr/>
          <p:nvPr/>
        </p:nvGraphicFramePr>
        <p:xfrm>
          <a:off x="847725" y="1235075"/>
          <a:ext cx="31416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1256665" imgH="330200" progId="Equation.DSMT4">
                  <p:embed/>
                </p:oleObj>
              </mc:Choice>
              <mc:Fallback>
                <p:oleObj name="" r:id="rId1" imgW="1256665" imgH="330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7725" y="1235075"/>
                        <a:ext cx="3141663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1030"/>
          <p:cNvGraphicFramePr/>
          <p:nvPr/>
        </p:nvGraphicFramePr>
        <p:xfrm>
          <a:off x="852488" y="2054225"/>
          <a:ext cx="4760912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3" imgW="1904365" imgH="393700" progId="Equation.DSMT4">
                  <p:embed/>
                </p:oleObj>
              </mc:Choice>
              <mc:Fallback>
                <p:oleObj name="" r:id="rId3" imgW="1904365" imgH="3937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2488" y="2054225"/>
                        <a:ext cx="4760912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1032"/>
          <p:cNvGraphicFramePr/>
          <p:nvPr/>
        </p:nvGraphicFramePr>
        <p:xfrm>
          <a:off x="838200" y="4013200"/>
          <a:ext cx="33321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5" imgW="1332865" imgH="330200" progId="Equation.DSMT4">
                  <p:embed/>
                </p:oleObj>
              </mc:Choice>
              <mc:Fallback>
                <p:oleObj name="" r:id="rId5" imgW="1332865" imgH="3302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4013200"/>
                        <a:ext cx="3332163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2052"/>
          <p:cNvGraphicFramePr/>
          <p:nvPr/>
        </p:nvGraphicFramePr>
        <p:xfrm>
          <a:off x="793750" y="3003550"/>
          <a:ext cx="732313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7" imgW="2984500" imgH="393700" progId="Equation.3">
                  <p:embed/>
                </p:oleObj>
              </mc:Choice>
              <mc:Fallback>
                <p:oleObj name="" r:id="rId7" imgW="2984500" imgH="393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3750" y="3003550"/>
                        <a:ext cx="7323138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3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51924" name="Text Box 20"/>
          <p:cNvSpPr txBox="1">
            <a:spLocks noChangeAspect="1"/>
          </p:cNvSpPr>
          <p:nvPr/>
        </p:nvSpPr>
        <p:spPr>
          <a:xfrm>
            <a:off x="592138" y="2347913"/>
            <a:ext cx="590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Comic Sans MS" panose="030F0702030302020204" pitchFamily="66" charset="0"/>
              </a:rPr>
              <a:t>得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graphicFrame>
        <p:nvGraphicFramePr>
          <p:cNvPr id="251925" name="Object 21"/>
          <p:cNvGraphicFramePr>
            <a:graphicFrameLocks noChangeAspect="1"/>
          </p:cNvGraphicFramePr>
          <p:nvPr/>
        </p:nvGraphicFramePr>
        <p:xfrm>
          <a:off x="1747838" y="1630363"/>
          <a:ext cx="4810125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497965" imgH="812165" progId="Equation.DSMT4">
                  <p:embed/>
                </p:oleObj>
              </mc:Choice>
              <mc:Fallback>
                <p:oleObj name="" r:id="rId1" imgW="1497965" imgH="812165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7838" y="1630363"/>
                        <a:ext cx="4810125" cy="202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27" name="Text Box 23"/>
          <p:cNvSpPr txBox="1"/>
          <p:nvPr/>
        </p:nvSpPr>
        <p:spPr>
          <a:xfrm>
            <a:off x="515938" y="4016375"/>
            <a:ext cx="1403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解得：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251928" name="Object 24"/>
          <p:cNvGraphicFramePr/>
          <p:nvPr/>
        </p:nvGraphicFramePr>
        <p:xfrm>
          <a:off x="1662113" y="5207000"/>
          <a:ext cx="437673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3" imgW="1739265" imgH="241300" progId="Equation.DSMT4">
                  <p:embed/>
                </p:oleObj>
              </mc:Choice>
              <mc:Fallback>
                <p:oleObj name="" r:id="rId3" imgW="1739265" imgH="2413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2113" y="5207000"/>
                        <a:ext cx="4376737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Rectangle 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</a:rPr>
              <a:t>所以由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251930" name="Object 26"/>
          <p:cNvGraphicFramePr/>
          <p:nvPr/>
        </p:nvGraphicFramePr>
        <p:xfrm>
          <a:off x="1868488" y="282575"/>
          <a:ext cx="518953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2069465" imgH="482600" progId="Equation.DSMT4">
                  <p:embed/>
                </p:oleObj>
              </mc:Choice>
              <mc:Fallback>
                <p:oleObj name="" r:id="rId5" imgW="2069465" imgH="4826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8488" y="282575"/>
                        <a:ext cx="5189537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66" name="Object 62"/>
          <p:cNvGraphicFramePr>
            <a:graphicFrameLocks noChangeAspect="1"/>
          </p:cNvGraphicFramePr>
          <p:nvPr/>
        </p:nvGraphicFramePr>
        <p:xfrm>
          <a:off x="1612900" y="3813175"/>
          <a:ext cx="2894013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7" imgW="901065" imgH="482600" progId="Equation.DSMT4">
                  <p:embed/>
                </p:oleObj>
              </mc:Choice>
              <mc:Fallback>
                <p:oleObj name="" r:id="rId7" imgW="901065" imgH="4826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2900" y="3813175"/>
                        <a:ext cx="2894013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67" name="Text Box 63"/>
          <p:cNvSpPr txBox="1"/>
          <p:nvPr/>
        </p:nvSpPr>
        <p:spPr>
          <a:xfrm>
            <a:off x="446088" y="5153025"/>
            <a:ext cx="9969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Comic Sans MS" panose="030F0702030302020204" pitchFamily="66" charset="0"/>
              </a:rPr>
              <a:t>于是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24" grpId="0"/>
      <p:bldP spid="251927" grpId="0"/>
      <p:bldP spid="2519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56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</a:rPr>
              <a:t>平方误差为：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214020" name="Object 4"/>
          <p:cNvGraphicFramePr/>
          <p:nvPr/>
        </p:nvGraphicFramePr>
        <p:xfrm>
          <a:off x="1377950" y="1200150"/>
          <a:ext cx="52387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2094865" imgH="431800" progId="Equation.3">
                  <p:embed/>
                </p:oleObj>
              </mc:Choice>
              <mc:Fallback>
                <p:oleObj name="" r:id="rId1" imgW="2094865" imgH="4318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7950" y="1200150"/>
                        <a:ext cx="523875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2" name="Object 6"/>
          <p:cNvGraphicFramePr/>
          <p:nvPr/>
        </p:nvGraphicFramePr>
        <p:xfrm>
          <a:off x="1314450" y="2397125"/>
          <a:ext cx="40322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1612265" imgH="431800" progId="Equation.DSMT4">
                  <p:embed/>
                </p:oleObj>
              </mc:Choice>
              <mc:Fallback>
                <p:oleObj name="" r:id="rId3" imgW="1612265" imgH="4318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4450" y="2397125"/>
                        <a:ext cx="403225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3" name="Object 7"/>
          <p:cNvGraphicFramePr/>
          <p:nvPr/>
        </p:nvGraphicFramePr>
        <p:xfrm>
          <a:off x="1346200" y="3492500"/>
          <a:ext cx="55562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2222500" imgH="419100" progId="Equation.DSMT4">
                  <p:embed/>
                </p:oleObj>
              </mc:Choice>
              <mc:Fallback>
                <p:oleObj name="" r:id="rId5" imgW="2222500" imgH="4191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6200" y="3492500"/>
                        <a:ext cx="555625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/>
          <p:nvPr/>
        </p:nvGraphicFramePr>
        <p:xfrm>
          <a:off x="1346200" y="4872038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7" imgW="812165" imgH="203200" progId="Equation.DSMT4">
                  <p:embed/>
                </p:oleObj>
              </mc:Choice>
              <mc:Fallback>
                <p:oleObj name="" r:id="rId7" imgW="812165" imgH="2032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6200" y="4872038"/>
                        <a:ext cx="20320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2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6633" name="Rectangle 43"/>
          <p:cNvSpPr>
            <a:spLocks noGrp="1"/>
          </p:cNvSpPr>
          <p:nvPr>
            <p:ph type="title"/>
          </p:nvPr>
        </p:nvSpPr>
        <p:spPr>
          <a:xfrm>
            <a:off x="0" y="55563"/>
            <a:ext cx="9144000" cy="1349375"/>
          </a:xfrm>
        </p:spPr>
        <p:txBody>
          <a:bodyPr vert="horz" wrap="square" lIns="91440" tIns="45720" rIns="91440" bIns="45720" anchor="ctr"/>
          <a:p>
            <a:pPr algn="ctr"/>
            <a:r>
              <a:rPr lang="zh-CN" altLang="zh-CN" sz="3600" b="1" u="none" dirty="0">
                <a:latin typeface="Times New Roman" panose="02020603050405020304" pitchFamily="18" charset="0"/>
              </a:rPr>
              <a:t>3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. </a:t>
            </a:r>
            <a:r>
              <a:rPr lang="zh-CN" altLang="zh-CN" sz="3600" b="1" u="none" dirty="0"/>
              <a:t>用正交多项式作函数的最佳平方逼近</a:t>
            </a:r>
            <a:endParaRPr lang="zh-CN" altLang="en-US" sz="4400" b="1" u="none" dirty="0"/>
          </a:p>
        </p:txBody>
      </p:sp>
      <p:grpSp>
        <p:nvGrpSpPr>
          <p:cNvPr id="2" name="Group 77"/>
          <p:cNvGrpSpPr/>
          <p:nvPr/>
        </p:nvGrpSpPr>
        <p:grpSpPr>
          <a:xfrm>
            <a:off x="158750" y="3321050"/>
            <a:ext cx="6754813" cy="577850"/>
            <a:chOff x="0" y="1712"/>
            <a:chExt cx="4255" cy="364"/>
          </a:xfrm>
        </p:grpSpPr>
        <p:sp>
          <p:nvSpPr>
            <p:cNvPr id="26640" name="Text Box 61"/>
            <p:cNvSpPr txBox="1"/>
            <p:nvPr/>
          </p:nvSpPr>
          <p:spPr>
            <a:xfrm>
              <a:off x="0" y="1720"/>
              <a:ext cx="42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zh-CN" dirty="0">
                  <a:latin typeface="Comic Sans MS" panose="030F0702030302020204" pitchFamily="66" charset="0"/>
                </a:rPr>
                <a:t>其中                         应为下列方程组的解</a:t>
              </a:r>
              <a:endParaRPr lang="zh-CN" altLang="en-US" sz="20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6630" name="Object 62"/>
            <p:cNvGraphicFramePr/>
            <p:nvPr/>
          </p:nvGraphicFramePr>
          <p:xfrm>
            <a:off x="517" y="1712"/>
            <a:ext cx="161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1066165" imgH="241300" progId="Equation.DSMT4">
                    <p:embed/>
                  </p:oleObj>
                </mc:Choice>
                <mc:Fallback>
                  <p:oleObj name="" r:id="rId1" imgW="1066165" imgH="2413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17" y="1712"/>
                          <a:ext cx="1619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9977" name="Object 57"/>
          <p:cNvGraphicFramePr/>
          <p:nvPr/>
        </p:nvGraphicFramePr>
        <p:xfrm>
          <a:off x="2532063" y="2387600"/>
          <a:ext cx="29972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243965" imgH="431800" progId="Equation.DSMT4">
                  <p:embed/>
                </p:oleObj>
              </mc:Choice>
              <mc:Fallback>
                <p:oleObj name="" r:id="rId3" imgW="1243965" imgH="4318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2063" y="2387600"/>
                        <a:ext cx="2997200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6"/>
          <p:cNvGrpSpPr/>
          <p:nvPr/>
        </p:nvGrpSpPr>
        <p:grpSpPr>
          <a:xfrm>
            <a:off x="215900" y="1219200"/>
            <a:ext cx="8459788" cy="1116013"/>
            <a:chOff x="136" y="468"/>
            <a:chExt cx="5329" cy="703"/>
          </a:xfrm>
        </p:grpSpPr>
        <p:sp>
          <p:nvSpPr>
            <p:cNvPr id="26638" name="Text Box 45"/>
            <p:cNvSpPr txBox="1"/>
            <p:nvPr/>
          </p:nvSpPr>
          <p:spPr>
            <a:xfrm>
              <a:off x="142" y="481"/>
              <a:ext cx="48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Comic Sans MS" panose="030F0702030302020204" pitchFamily="66" charset="0"/>
                </a:rPr>
                <a:t>设                                             在[</a:t>
              </a:r>
              <a:r>
                <a:rPr lang="en-US" altLang="zh-CN" i="1" dirty="0">
                  <a:latin typeface="Times New Roman" panose="02020603050405020304" pitchFamily="18" charset="0"/>
                </a:rPr>
                <a:t>a , b</a:t>
              </a:r>
              <a:r>
                <a:rPr lang="en-US" altLang="zh-CN" dirty="0">
                  <a:latin typeface="Comic Sans MS" panose="030F0702030302020204" pitchFamily="66" charset="0"/>
                </a:rPr>
                <a:t>] </a:t>
              </a:r>
              <a:r>
                <a:rPr lang="zh-CN" altLang="zh-CN" dirty="0">
                  <a:latin typeface="Comic Sans MS" panose="030F0702030302020204" pitchFamily="66" charset="0"/>
                </a:rPr>
                <a:t>上带权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26639" name="Text Box 46"/>
            <p:cNvSpPr txBox="1"/>
            <p:nvPr/>
          </p:nvSpPr>
          <p:spPr>
            <a:xfrm>
              <a:off x="136" y="844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zh-CN" dirty="0">
                  <a:latin typeface="Times New Roman" panose="02020603050405020304" pitchFamily="18" charset="0"/>
                </a:rPr>
                <a:t>正交，</a:t>
              </a:r>
              <a:endParaRPr lang="zh-CN" altLang="en-US" sz="2000" b="1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6628" name="Object 56"/>
            <p:cNvGraphicFramePr/>
            <p:nvPr/>
          </p:nvGraphicFramePr>
          <p:xfrm>
            <a:off x="5011" y="501"/>
            <a:ext cx="45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5" imgW="342900" imgH="203200" progId="Equation.DSMT4">
                    <p:embed/>
                  </p:oleObj>
                </mc:Choice>
                <mc:Fallback>
                  <p:oleObj name="" r:id="rId5" imgW="342900" imgH="203200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11" y="501"/>
                          <a:ext cx="454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9" name="Object 74"/>
            <p:cNvGraphicFramePr/>
            <p:nvPr/>
          </p:nvGraphicFramePr>
          <p:xfrm>
            <a:off x="467" y="468"/>
            <a:ext cx="2976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7" imgW="1967865" imgH="241300" progId="Equation.3">
                    <p:embed/>
                  </p:oleObj>
                </mc:Choice>
                <mc:Fallback>
                  <p:oleObj name="" r:id="rId7" imgW="1967865" imgH="2413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7" y="468"/>
                          <a:ext cx="2976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995" name="Text Box 75"/>
          <p:cNvSpPr txBox="1"/>
          <p:nvPr/>
        </p:nvSpPr>
        <p:spPr>
          <a:xfrm>
            <a:off x="1223963" y="1866900"/>
            <a:ext cx="52101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zh-CN" dirty="0">
                <a:latin typeface="Times New Roman" panose="02020603050405020304" pitchFamily="18" charset="0"/>
              </a:rPr>
              <a:t>可知， </a:t>
            </a:r>
            <a:r>
              <a:rPr lang="en-US" altLang="en-US" i="1" dirty="0">
                <a:latin typeface="Times New Roman" panose="02020603050405020304" pitchFamily="18" charset="0"/>
              </a:rPr>
              <a:t>f 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的最佳平方</a:t>
            </a:r>
            <a:r>
              <a:rPr lang="zh-CN" altLang="en-US" dirty="0">
                <a:latin typeface="Comic Sans MS" panose="030F0702030302020204" pitchFamily="66" charset="0"/>
              </a:rPr>
              <a:t>逼近函数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10001" name="Object 81"/>
          <p:cNvGraphicFramePr/>
          <p:nvPr/>
        </p:nvGraphicFramePr>
        <p:xfrm>
          <a:off x="949325" y="3905250"/>
          <a:ext cx="7408863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9" imgW="3086100" imgH="939800" progId="Equation.3">
                  <p:embed/>
                </p:oleObj>
              </mc:Choice>
              <mc:Fallback>
                <p:oleObj name="" r:id="rId9" imgW="3086100" imgH="9398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9325" y="3905250"/>
                        <a:ext cx="7408863" cy="22494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004" name="AutoShape 84"/>
          <p:cNvSpPr/>
          <p:nvPr/>
        </p:nvSpPr>
        <p:spPr>
          <a:xfrm>
            <a:off x="6556375" y="2359025"/>
            <a:ext cx="2232025" cy="1060450"/>
          </a:xfrm>
          <a:prstGeom prst="wedgeRoundRectCallout">
            <a:avLst>
              <a:gd name="adj1" fmla="val -37769"/>
              <a:gd name="adj2" fmla="val 102394"/>
              <a:gd name="adj3" fmla="val 16667"/>
            </a:avLst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b="1" dirty="0">
                <a:latin typeface="Comic Sans MS" panose="030F0702030302020204" pitchFamily="66" charset="0"/>
              </a:rPr>
              <a:t>由正交性可将它化为？</a:t>
            </a:r>
            <a:endParaRPr lang="zh-CN" altLang="en-US" b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210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210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95" grpId="0"/>
      <p:bldP spid="2100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765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</a:rPr>
              <a:t>由正交性可将上式化为</a:t>
            </a:r>
            <a:endParaRPr lang="zh-CN" altLang="en-US" sz="2400" u="none" dirty="0">
              <a:solidFill>
                <a:schemeClr val="tx1"/>
              </a:solidFill>
            </a:endParaRPr>
          </a:p>
        </p:txBody>
      </p:sp>
      <p:graphicFrame>
        <p:nvGraphicFramePr>
          <p:cNvPr id="225285" name="Object 1029"/>
          <p:cNvGraphicFramePr/>
          <p:nvPr/>
        </p:nvGraphicFramePr>
        <p:xfrm>
          <a:off x="1617663" y="1492250"/>
          <a:ext cx="535146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2146300" imgH="228600" progId="Equation.DSMT4">
                  <p:embed/>
                </p:oleObj>
              </mc:Choice>
              <mc:Fallback>
                <p:oleObj name="" r:id="rId1" imgW="2146300" imgH="2286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7663" y="1492250"/>
                        <a:ext cx="5351462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32"/>
          <p:cNvGrpSpPr/>
          <p:nvPr/>
        </p:nvGrpSpPr>
        <p:grpSpPr>
          <a:xfrm>
            <a:off x="590550" y="2255838"/>
            <a:ext cx="7578725" cy="1039812"/>
            <a:chOff x="372" y="1640"/>
            <a:chExt cx="4774" cy="655"/>
          </a:xfrm>
        </p:grpSpPr>
        <p:graphicFrame>
          <p:nvGraphicFramePr>
            <p:cNvPr id="27652" name="Object 1030"/>
            <p:cNvGraphicFramePr/>
            <p:nvPr/>
          </p:nvGraphicFramePr>
          <p:xfrm>
            <a:off x="1062" y="1640"/>
            <a:ext cx="4084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3" imgW="2667000" imgH="431800" progId="Equation.3">
                    <p:embed/>
                  </p:oleObj>
                </mc:Choice>
                <mc:Fallback>
                  <p:oleObj name="" r:id="rId3" imgW="2667000" imgH="4318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62" y="1640"/>
                          <a:ext cx="4084" cy="6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0" name="Text Box 1031"/>
            <p:cNvSpPr txBox="1"/>
            <p:nvPr/>
          </p:nvSpPr>
          <p:spPr>
            <a:xfrm>
              <a:off x="372" y="1747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其解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34"/>
          <p:cNvGrpSpPr/>
          <p:nvPr/>
        </p:nvGrpSpPr>
        <p:grpSpPr>
          <a:xfrm>
            <a:off x="652463" y="3705225"/>
            <a:ext cx="7639050" cy="1065213"/>
            <a:chOff x="411" y="2861"/>
            <a:chExt cx="4812" cy="671"/>
          </a:xfrm>
        </p:grpSpPr>
        <p:sp>
          <p:nvSpPr>
            <p:cNvPr id="27658" name="Text Box 1027"/>
            <p:cNvSpPr txBox="1"/>
            <p:nvPr/>
          </p:nvSpPr>
          <p:spPr>
            <a:xfrm>
              <a:off x="411" y="2983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所以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7651" name="Object 1028"/>
            <p:cNvGraphicFramePr/>
            <p:nvPr/>
          </p:nvGraphicFramePr>
          <p:xfrm>
            <a:off x="1519" y="2861"/>
            <a:ext cx="2172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5" imgW="1434465" imgH="444500" progId="Equation.DSMT4">
                    <p:embed/>
                  </p:oleObj>
                </mc:Choice>
                <mc:Fallback>
                  <p:oleObj name="" r:id="rId5" imgW="1434465" imgH="4445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9" y="2861"/>
                          <a:ext cx="2172" cy="6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9" name="Text Box 1033"/>
            <p:cNvSpPr txBox="1"/>
            <p:nvPr/>
          </p:nvSpPr>
          <p:spPr>
            <a:xfrm>
              <a:off x="4511" y="3053"/>
              <a:ext cx="71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(</a:t>
              </a:r>
              <a:r>
                <a:rPr lang="en-US" altLang="zh-CN" dirty="0">
                  <a:latin typeface="Times New Roman" panose="02020603050405020304" pitchFamily="18" charset="0"/>
                </a:rPr>
                <a:t>7</a:t>
              </a:r>
              <a:r>
                <a:rPr lang="zh-CN" altLang="en-US" dirty="0">
                  <a:latin typeface="Times New Roman" panose="02020603050405020304" pitchFamily="18" charset="0"/>
                </a:rPr>
                <a:t>.</a:t>
              </a:r>
              <a:r>
                <a:rPr lang="en-US" altLang="zh-CN" dirty="0">
                  <a:latin typeface="Times New Roman" panose="02020603050405020304" pitchFamily="18" charset="0"/>
                </a:rPr>
                <a:t>6</a:t>
              </a:r>
              <a:r>
                <a:rPr lang="zh-CN" altLang="en-US" dirty="0">
                  <a:latin typeface="Times New Roman" panose="02020603050405020304" pitchFamily="18" charset="0"/>
                </a:rPr>
                <a:t>.</a:t>
              </a:r>
              <a:r>
                <a:rPr lang="en-US" altLang="zh-CN" dirty="0">
                  <a:latin typeface="Times New Roman" panose="02020603050405020304" pitchFamily="18" charset="0"/>
                </a:rPr>
                <a:t>8</a:t>
              </a:r>
              <a:r>
                <a:rPr lang="zh-CN" altLang="en-US" dirty="0">
                  <a:latin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5128" name="Rectangle 93"/>
          <p:cNvSpPr>
            <a:spLocks noGrp="1"/>
          </p:cNvSpPr>
          <p:nvPr>
            <p:ph type="title"/>
          </p:nvPr>
        </p:nvSpPr>
        <p:spPr>
          <a:xfrm>
            <a:off x="295275" y="236538"/>
            <a:ext cx="7772400" cy="842962"/>
          </a:xfrm>
        </p:spPr>
        <p:txBody>
          <a:bodyPr vert="horz" wrap="square" lIns="91440" tIns="45720" rIns="91440" bIns="45720" anchor="ctr"/>
          <a:p>
            <a:r>
              <a:rPr lang="zh-CN" altLang="en-US"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回顾. </a:t>
            </a:r>
            <a:r>
              <a:rPr lang="en-US" altLang="zh-CN"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Legendre</a:t>
            </a:r>
            <a:r>
              <a:rPr lang="en-US" altLang="zh-CN" sz="3600" b="1" u="none" dirty="0"/>
              <a:t> </a:t>
            </a:r>
            <a:r>
              <a:rPr lang="zh-CN" altLang="zh-CN" sz="3600" b="1" u="none" dirty="0"/>
              <a:t>多项式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grpSp>
        <p:nvGrpSpPr>
          <p:cNvPr id="2" name="Group 105"/>
          <p:cNvGrpSpPr/>
          <p:nvPr/>
        </p:nvGrpSpPr>
        <p:grpSpPr>
          <a:xfrm>
            <a:off x="249238" y="949325"/>
            <a:ext cx="8662987" cy="2428875"/>
            <a:chOff x="157" y="598"/>
            <a:chExt cx="5457" cy="1530"/>
          </a:xfrm>
        </p:grpSpPr>
        <p:sp>
          <p:nvSpPr>
            <p:cNvPr id="5132" name="Text Box 94"/>
            <p:cNvSpPr txBox="1"/>
            <p:nvPr/>
          </p:nvSpPr>
          <p:spPr>
            <a:xfrm>
              <a:off x="157" y="598"/>
              <a:ext cx="5457" cy="15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若区间 [-1 , 1], 权函数               由{1,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…}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经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正交化结构公式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可得正交多项式族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), 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), …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 ,…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称这族多项式为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Legendre </a:t>
              </a:r>
              <a:r>
                <a:rPr lang="zh-CN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多项式</a:t>
              </a:r>
              <a:r>
                <a:rPr lang="zh-CN" altLang="zh-CN" sz="3200" b="1" dirty="0">
                  <a:latin typeface="Times New Roman" panose="02020603050405020304" pitchFamily="18" charset="0"/>
                </a:rPr>
                <a:t>。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5" name="Object 95"/>
            <p:cNvGraphicFramePr/>
            <p:nvPr/>
          </p:nvGraphicFramePr>
          <p:xfrm>
            <a:off x="2707" y="682"/>
            <a:ext cx="97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608965" imgH="203200" progId="Equation.DSMT4">
                    <p:embed/>
                  </p:oleObj>
                </mc:Choice>
                <mc:Fallback>
                  <p:oleObj name="" r:id="rId1" imgW="608965" imgH="2032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07" y="682"/>
                          <a:ext cx="970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1890" name="Text Box 98"/>
          <p:cNvSpPr txBox="1"/>
          <p:nvPr/>
        </p:nvSpPr>
        <p:spPr>
          <a:xfrm>
            <a:off x="1460500" y="2843213"/>
            <a:ext cx="2749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</a:rPr>
              <a:t>其标准形式为</a:t>
            </a:r>
            <a:r>
              <a:rPr lang="zh-CN" altLang="en-US" sz="3200" b="1" dirty="0">
                <a:latin typeface="Times New Roman" panose="02020603050405020304" pitchFamily="18" charset="0"/>
              </a:rPr>
              <a:t>: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graphicFrame>
        <p:nvGraphicFramePr>
          <p:cNvPr id="161891" name="Object 99"/>
          <p:cNvGraphicFramePr>
            <a:graphicFrameLocks noChangeAspect="1"/>
          </p:cNvGraphicFramePr>
          <p:nvPr/>
        </p:nvGraphicFramePr>
        <p:xfrm>
          <a:off x="509588" y="3286125"/>
          <a:ext cx="824865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3302000" imgH="419100" progId="Equation.DSMT4">
                  <p:embed/>
                </p:oleObj>
              </mc:Choice>
              <mc:Fallback>
                <p:oleObj name="" r:id="rId3" imgW="3302000" imgH="4191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9588" y="3286125"/>
                        <a:ext cx="8248650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6"/>
          <p:cNvGrpSpPr/>
          <p:nvPr/>
        </p:nvGrpSpPr>
        <p:grpSpPr>
          <a:xfrm>
            <a:off x="457200" y="4135438"/>
            <a:ext cx="7999413" cy="1892300"/>
            <a:chOff x="288" y="2685"/>
            <a:chExt cx="5039" cy="1192"/>
          </a:xfrm>
        </p:grpSpPr>
        <p:graphicFrame>
          <p:nvGraphicFramePr>
            <p:cNvPr id="5123" name="Object 102"/>
            <p:cNvGraphicFramePr>
              <a:graphicFrameLocks noChangeAspect="1"/>
            </p:cNvGraphicFramePr>
            <p:nvPr/>
          </p:nvGraphicFramePr>
          <p:xfrm>
            <a:off x="288" y="2685"/>
            <a:ext cx="5039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3199130" imgH="635000" progId="Equation.DSMT4">
                    <p:embed/>
                  </p:oleObj>
                </mc:Choice>
                <mc:Fallback>
                  <p:oleObj name="" r:id="rId5" imgW="3199130" imgH="6350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" y="2685"/>
                          <a:ext cx="5039" cy="9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103"/>
            <p:cNvGraphicFramePr>
              <a:graphicFrameLocks noChangeAspect="1"/>
            </p:cNvGraphicFramePr>
            <p:nvPr/>
          </p:nvGraphicFramePr>
          <p:xfrm>
            <a:off x="351" y="3556"/>
            <a:ext cx="145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7" imgW="913765" imgH="203200" progId="Equation.DSMT4">
                    <p:embed/>
                  </p:oleObj>
                </mc:Choice>
                <mc:Fallback>
                  <p:oleObj name="" r:id="rId7" imgW="913765" imgH="2032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1" y="3556"/>
                          <a:ext cx="1456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162822" name="Text Box 6"/>
          <p:cNvSpPr txBox="1"/>
          <p:nvPr/>
        </p:nvSpPr>
        <p:spPr>
          <a:xfrm>
            <a:off x="49213" y="244475"/>
            <a:ext cx="830103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lr>
                <a:schemeClr val="accent2"/>
              </a:buClr>
              <a:buFont typeface="ZapfDingbats" pitchFamily="82" charset="2"/>
            </a:pPr>
            <a:r>
              <a:rPr lang="zh-CN" altLang="en-US" sz="2400" dirty="0">
                <a:latin typeface="Comic Sans MS" panose="030F0702030302020204" pitchFamily="66" charset="0"/>
              </a:rPr>
              <a:t>  </a:t>
            </a:r>
            <a:r>
              <a:rPr lang="zh-CN" altLang="en-US" sz="3200" dirty="0">
                <a:latin typeface="Comic Sans MS" panose="030F0702030302020204" pitchFamily="66" charset="0"/>
              </a:rPr>
              <a:t>可以证明</a:t>
            </a:r>
            <a:r>
              <a:rPr lang="zh-CN" altLang="en-US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</a:rPr>
              <a:t>多项式有下列递推关系：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162823" name="Object 7"/>
          <p:cNvGraphicFramePr/>
          <p:nvPr/>
        </p:nvGraphicFramePr>
        <p:xfrm>
          <a:off x="396875" y="923925"/>
          <a:ext cx="8396288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3351530" imgH="482600" progId="Equation.DSMT4">
                  <p:embed/>
                </p:oleObj>
              </mc:Choice>
              <mc:Fallback>
                <p:oleObj name="" r:id="rId1" imgW="3351530" imgH="482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875" y="923925"/>
                        <a:ext cx="8396288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506413" y="2085975"/>
            <a:ext cx="7967662" cy="4445000"/>
            <a:chOff x="319" y="1314"/>
            <a:chExt cx="5019" cy="2800"/>
          </a:xfrm>
        </p:grpSpPr>
        <p:graphicFrame>
          <p:nvGraphicFramePr>
            <p:cNvPr id="6147" name="Object 9"/>
            <p:cNvGraphicFramePr>
              <a:graphicFrameLocks noChangeAspect="1"/>
            </p:cNvGraphicFramePr>
            <p:nvPr/>
          </p:nvGraphicFramePr>
          <p:xfrm>
            <a:off x="319" y="1314"/>
            <a:ext cx="2820" cy="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3" imgW="1790700" imgH="1778000" progId="Equation.DSMT4">
                    <p:embed/>
                  </p:oleObj>
                </mc:Choice>
                <mc:Fallback>
                  <p:oleObj name="" r:id="rId3" imgW="1790700" imgH="17780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9" y="1314"/>
                          <a:ext cx="2820" cy="2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3" name="AutoShape 10"/>
            <p:cNvSpPr>
              <a:spLocks noChangeAspect="1"/>
            </p:cNvSpPr>
            <p:nvPr/>
          </p:nvSpPr>
          <p:spPr>
            <a:xfrm>
              <a:off x="3378" y="2354"/>
              <a:ext cx="1960" cy="1275"/>
            </a:xfrm>
            <a:prstGeom prst="cloudCallout">
              <a:avLst>
                <a:gd name="adj1" fmla="val -104440"/>
                <a:gd name="adj2" fmla="val -43963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zh-CN" altLang="en-US" sz="3200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由上式可推出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62829" name="Text Box 13"/>
          <p:cNvSpPr txBox="1"/>
          <p:nvPr/>
        </p:nvSpPr>
        <p:spPr>
          <a:xfrm>
            <a:off x="152400" y="2424113"/>
            <a:ext cx="8769350" cy="1260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</a:rPr>
              <a:t>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zh-CN" altLang="zh-CN" sz="3200" dirty="0">
                <a:latin typeface="Comic Sans MS" panose="030F0702030302020204" pitchFamily="66" charset="0"/>
              </a:rPr>
              <a:t>偶数</a:t>
            </a:r>
            <a:r>
              <a:rPr lang="zh-CN" altLang="en-US" sz="3200" dirty="0">
                <a:latin typeface="Comic Sans MS" panose="030F0702030302020204" pitchFamily="66" charset="0"/>
              </a:rPr>
              <a:t>时</a:t>
            </a:r>
            <a:r>
              <a:rPr lang="zh-CN" altLang="en-US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P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</a:rPr>
              <a:t>为偶函数；</a:t>
            </a:r>
            <a:endParaRPr lang="zh-CN" altLang="zh-CN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</a:rPr>
              <a:t>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zh-CN" altLang="en-US" sz="3200" dirty="0">
                <a:latin typeface="Comic Sans MS" panose="030F0702030302020204" pitchFamily="66" charset="0"/>
              </a:rPr>
              <a:t>奇数时</a:t>
            </a:r>
            <a:r>
              <a:rPr lang="zh-CN" altLang="en-US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P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</a:rPr>
              <a:t>为奇函数。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282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>
                                            <p:txEl>
                                              <p:charRg st="3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2829">
                                            <p:txEl>
                                              <p:charRg st="35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2" grpId="0"/>
      <p:bldP spid="16282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8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8679" name="Rectangle 10"/>
          <p:cNvSpPr>
            <a:spLocks noGrp="1"/>
          </p:cNvSpPr>
          <p:nvPr>
            <p:ph type="title"/>
          </p:nvPr>
        </p:nvSpPr>
        <p:spPr>
          <a:xfrm>
            <a:off x="190500" y="309563"/>
            <a:ext cx="8362950" cy="801687"/>
          </a:xfrm>
        </p:spPr>
        <p:txBody>
          <a:bodyPr vert="horz" wrap="square" lIns="91440" tIns="45720" rIns="91440" bIns="45720" anchor="ctr"/>
          <a:p>
            <a:r>
              <a:rPr lang="zh-CN" altLang="zh-CN" sz="3200" u="none" dirty="0"/>
              <a:t> </a:t>
            </a:r>
            <a:r>
              <a:rPr lang="zh-CN" altLang="zh-CN" sz="3200" b="1" u="none" dirty="0"/>
              <a:t>用 </a:t>
            </a:r>
            <a:r>
              <a:rPr lang="zh-CN" altLang="zh-CN" sz="3200" b="1" u="none" dirty="0">
                <a:latin typeface="Times New Roman" panose="02020603050405020304" pitchFamily="18" charset="0"/>
              </a:rPr>
              <a:t>Legendre</a:t>
            </a:r>
            <a:r>
              <a:rPr lang="zh-CN" altLang="zh-CN" sz="3200" b="1" u="none" dirty="0"/>
              <a:t>多项式作</a:t>
            </a:r>
            <a:r>
              <a:rPr lang="zh-CN" altLang="en-US" sz="3200" b="1" u="none" dirty="0"/>
              <a:t> </a:t>
            </a:r>
            <a:r>
              <a:rPr lang="en-US" altLang="zh-CN" sz="3200" b="1" i="1" u="none" dirty="0">
                <a:latin typeface="Times New Roman" panose="02020603050405020304" pitchFamily="18" charset="0"/>
              </a:rPr>
              <a:t>f</a:t>
            </a:r>
            <a:r>
              <a:rPr lang="en-US" altLang="zh-CN" sz="3200" b="1" u="none" dirty="0">
                <a:latin typeface="Times New Roman" panose="02020603050405020304" pitchFamily="18" charset="0"/>
              </a:rPr>
              <a:t> (</a:t>
            </a:r>
            <a:r>
              <a:rPr lang="en-US" altLang="zh-CN" sz="3200" b="1" i="1" u="none" dirty="0">
                <a:latin typeface="Times New Roman" panose="02020603050405020304" pitchFamily="18" charset="0"/>
              </a:rPr>
              <a:t>x</a:t>
            </a:r>
            <a:r>
              <a:rPr lang="en-US" altLang="zh-CN" sz="3200" b="1" u="none" dirty="0">
                <a:latin typeface="Times New Roman" panose="02020603050405020304" pitchFamily="18" charset="0"/>
              </a:rPr>
              <a:t>)</a:t>
            </a:r>
            <a:r>
              <a:rPr lang="zh-CN" altLang="zh-CN" sz="3200" b="1" u="none" dirty="0"/>
              <a:t>的最佳平方逼近</a:t>
            </a:r>
            <a:endParaRPr lang="zh-CN" altLang="en-US" b="1" u="none" dirty="0"/>
          </a:p>
        </p:txBody>
      </p:sp>
      <p:grpSp>
        <p:nvGrpSpPr>
          <p:cNvPr id="2" name="Group 25"/>
          <p:cNvGrpSpPr/>
          <p:nvPr/>
        </p:nvGrpSpPr>
        <p:grpSpPr>
          <a:xfrm>
            <a:off x="323850" y="1235075"/>
            <a:ext cx="7743825" cy="2095500"/>
            <a:chOff x="194" y="428"/>
            <a:chExt cx="4878" cy="1320"/>
          </a:xfrm>
        </p:grpSpPr>
        <p:sp>
          <p:nvSpPr>
            <p:cNvPr id="28684" name="Text Box 12"/>
            <p:cNvSpPr txBox="1"/>
            <p:nvPr/>
          </p:nvSpPr>
          <p:spPr>
            <a:xfrm>
              <a:off x="194" y="428"/>
              <a:ext cx="421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因为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{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)}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在区间 [-1,1] 上正交且有</a:t>
              </a:r>
              <a:endParaRPr lang="zh-CN" altLang="en-US" sz="32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676" name="Object 14"/>
            <p:cNvGraphicFramePr/>
            <p:nvPr/>
          </p:nvGraphicFramePr>
          <p:xfrm>
            <a:off x="688" y="707"/>
            <a:ext cx="4384" cy="1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" imgW="2780030" imgH="660400" progId="Equation.DSMT4">
                    <p:embed/>
                  </p:oleObj>
                </mc:Choice>
                <mc:Fallback>
                  <p:oleObj name="" r:id="rId1" imgW="2780030" imgH="660400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88" y="707"/>
                          <a:ext cx="4384" cy="10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19" name="Text Box 11"/>
          <p:cNvSpPr txBox="1"/>
          <p:nvPr/>
        </p:nvSpPr>
        <p:spPr>
          <a:xfrm>
            <a:off x="363538" y="3448050"/>
            <a:ext cx="71247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200" dirty="0">
                <a:latin typeface="Times New Roman" panose="02020603050405020304" pitchFamily="18" charset="0"/>
              </a:rPr>
              <a:t>   </a:t>
            </a:r>
            <a:r>
              <a:rPr lang="zh-CN" altLang="en-US" sz="3200" dirty="0">
                <a:latin typeface="Comic Sans MS" panose="030F0702030302020204" pitchFamily="66" charset="0"/>
              </a:rPr>
              <a:t>若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</a:rPr>
              <a:t>∈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宋体" panose="02010600030101010101" pitchFamily="2" charset="-122"/>
              </a:rPr>
              <a:t>[-1,1], </a:t>
            </a:r>
            <a:r>
              <a:rPr lang="zh-CN" altLang="zh-CN" sz="3200" dirty="0">
                <a:latin typeface="宋体" panose="02010600030101010101" pitchFamily="2" charset="-122"/>
              </a:rPr>
              <a:t>由以上讨论</a:t>
            </a:r>
            <a:r>
              <a:rPr lang="zh-CN" altLang="en-US" sz="3200" dirty="0">
                <a:latin typeface="宋体" panose="02010600030101010101" pitchFamily="2" charset="-122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</a:rPr>
              <a:t>得：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aphicFrame>
        <p:nvGraphicFramePr>
          <p:cNvPr id="171024" name="Object 16"/>
          <p:cNvGraphicFramePr/>
          <p:nvPr/>
        </p:nvGraphicFramePr>
        <p:xfrm>
          <a:off x="333375" y="4124325"/>
          <a:ext cx="84613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3376930" imgH="431800" progId="Equation.DSMT4">
                  <p:embed/>
                </p:oleObj>
              </mc:Choice>
              <mc:Fallback>
                <p:oleObj name="" r:id="rId3" imgW="3376930" imgH="4318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75" y="4124325"/>
                        <a:ext cx="8461375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6"/>
          <p:cNvGrpSpPr/>
          <p:nvPr/>
        </p:nvGrpSpPr>
        <p:grpSpPr>
          <a:xfrm>
            <a:off x="381000" y="5099050"/>
            <a:ext cx="4297363" cy="1077913"/>
            <a:chOff x="279" y="2735"/>
            <a:chExt cx="2707" cy="679"/>
          </a:xfrm>
        </p:grpSpPr>
        <p:sp>
          <p:nvSpPr>
            <p:cNvPr id="28683" name="Text Box 17"/>
            <p:cNvSpPr txBox="1"/>
            <p:nvPr/>
          </p:nvSpPr>
          <p:spPr>
            <a:xfrm>
              <a:off x="279" y="2863"/>
              <a:ext cx="270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则                           。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675" name="Object 18"/>
            <p:cNvGraphicFramePr/>
            <p:nvPr/>
          </p:nvGraphicFramePr>
          <p:xfrm>
            <a:off x="738" y="2735"/>
            <a:ext cx="1843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5" imgW="1167765" imgH="431800" progId="Equation.DSMT4">
                    <p:embed/>
                  </p:oleObj>
                </mc:Choice>
                <mc:Fallback>
                  <p:oleObj name="" r:id="rId5" imgW="1167765" imgH="431800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8" y="2735"/>
                          <a:ext cx="1843" cy="6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9701" name="Rectangle 1026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06463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</a:rPr>
              <a:t>平方误差为：</a:t>
            </a:r>
            <a:endParaRPr lang="en-US" altLang="zh-CN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250883" name="Object 1027"/>
          <p:cNvGraphicFramePr>
            <a:graphicFrameLocks noChangeAspect="1"/>
          </p:cNvGraphicFramePr>
          <p:nvPr/>
        </p:nvGraphicFramePr>
        <p:xfrm>
          <a:off x="1152525" y="1104900"/>
          <a:ext cx="612775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2362200" imgH="914400" progId="Equation.DSMT4">
                  <p:embed/>
                </p:oleObj>
              </mc:Choice>
              <mc:Fallback>
                <p:oleObj name="" r:id="rId1" imgW="2362200" imgH="9144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52525" y="1104900"/>
                        <a:ext cx="6127750" cy="204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7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0728" name="Text Box 6"/>
          <p:cNvSpPr txBox="1"/>
          <p:nvPr/>
        </p:nvSpPr>
        <p:spPr>
          <a:xfrm>
            <a:off x="222250" y="225425"/>
            <a:ext cx="59261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Comic Sans MS" panose="030F0702030302020204" pitchFamily="66" charset="0"/>
              </a:rPr>
              <a:t>若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</a:rPr>
              <a:t>∈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宋体" panose="02010600030101010101" pitchFamily="2" charset="-122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宋体" panose="02010600030101010101" pitchFamily="2" charset="-122"/>
              </a:rPr>
              <a:t>], </a:t>
            </a:r>
            <a:r>
              <a:rPr lang="zh-CN" altLang="zh-CN" sz="3200" dirty="0">
                <a:latin typeface="宋体" panose="02010600030101010101" pitchFamily="2" charset="-122"/>
              </a:rPr>
              <a:t>由以上讨论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168275" y="757238"/>
            <a:ext cx="7781925" cy="941387"/>
            <a:chOff x="516" y="477"/>
            <a:chExt cx="4902" cy="593"/>
          </a:xfrm>
        </p:grpSpPr>
        <p:sp>
          <p:nvSpPr>
            <p:cNvPr id="30733" name="Text Box 8"/>
            <p:cNvSpPr txBox="1"/>
            <p:nvPr/>
          </p:nvSpPr>
          <p:spPr>
            <a:xfrm>
              <a:off x="516" y="596"/>
              <a:ext cx="49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作变换：                      则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sz="3200" dirty="0">
                  <a:latin typeface="宋体" panose="02010600030101010101" pitchFamily="2" charset="-122"/>
                </a:rPr>
                <a:t>∈[-1,1],那么</a:t>
              </a:r>
              <a:endParaRPr lang="zh-CN" altLang="zh-CN" sz="32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0725" name="Object 10"/>
            <p:cNvGraphicFramePr/>
            <p:nvPr/>
          </p:nvGraphicFramePr>
          <p:xfrm>
            <a:off x="1441" y="477"/>
            <a:ext cx="1768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" imgW="1167765" imgH="393700" progId="Equation.DSMT4">
                    <p:embed/>
                  </p:oleObj>
                </mc:Choice>
                <mc:Fallback>
                  <p:oleObj name="" r:id="rId1" imgW="1167765" imgH="3937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1" y="477"/>
                          <a:ext cx="1768" cy="5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2043" name="Object 11"/>
          <p:cNvGraphicFramePr/>
          <p:nvPr/>
        </p:nvGraphicFramePr>
        <p:xfrm>
          <a:off x="1336675" y="1603375"/>
          <a:ext cx="55753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" imgW="2310130" imgH="393700" progId="Equation.DSMT4">
                  <p:embed/>
                </p:oleObj>
              </mc:Choice>
              <mc:Fallback>
                <p:oleObj name="" r:id="rId3" imgW="2310130" imgH="3937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6675" y="1603375"/>
                        <a:ext cx="5575300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1" name="Object 9"/>
          <p:cNvGraphicFramePr/>
          <p:nvPr/>
        </p:nvGraphicFramePr>
        <p:xfrm>
          <a:off x="2425700" y="4090988"/>
          <a:ext cx="4494213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1866265" imgH="393700" progId="Equation.DSMT4">
                  <p:embed/>
                </p:oleObj>
              </mc:Choice>
              <mc:Fallback>
                <p:oleObj name="" r:id="rId5" imgW="1866265" imgH="3937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5700" y="4090988"/>
                        <a:ext cx="4494213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5" name="Text Box 13"/>
          <p:cNvSpPr txBox="1"/>
          <p:nvPr/>
        </p:nvSpPr>
        <p:spPr>
          <a:xfrm>
            <a:off x="201613" y="2413000"/>
            <a:ext cx="8720137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>
                <a:latin typeface="Comic Sans MS" panose="030F0702030302020204" pitchFamily="66" charset="0"/>
              </a:rPr>
              <a:t>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Comic Sans MS" panose="030F0702030302020204" pitchFamily="66" charset="0"/>
              </a:rPr>
              <a:t>的方法求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在 [-1,1] 上的最佳平方逼近 </a:t>
            </a:r>
            <a:r>
              <a:rPr lang="en-US" altLang="en-US" sz="3200" i="1" dirty="0">
                <a:latin typeface="Times New Roman" panose="02020603050405020304" pitchFamily="18" charset="0"/>
              </a:rPr>
              <a:t>S</a:t>
            </a:r>
            <a:r>
              <a:rPr lang="en-US" altLang="en-US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</a:rPr>
              <a:t>t</a:t>
            </a:r>
            <a:r>
              <a:rPr lang="en-US" altLang="en-US" sz="3200" dirty="0">
                <a:latin typeface="Times New Roman" panose="02020603050405020304" pitchFamily="18" charset="0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</a:rPr>
              <a:t>再</a:t>
            </a:r>
            <a:r>
              <a:rPr lang="zh-CN" altLang="en-US" sz="3200" dirty="0">
                <a:latin typeface="Comic Sans MS" panose="030F0702030302020204" pitchFamily="66" charset="0"/>
              </a:rPr>
              <a:t>换回原变量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zh-CN" sz="3200" dirty="0">
                <a:latin typeface="Times New Roman" panose="02020603050405020304" pitchFamily="18" charset="0"/>
              </a:rPr>
              <a:t>得</a:t>
            </a:r>
            <a:r>
              <a:rPr lang="zh-CN" altLang="zh-CN" sz="3200" i="1" dirty="0">
                <a:latin typeface="Times New Roman" panose="02020603050405020304" pitchFamily="18" charset="0"/>
              </a:rPr>
              <a:t>f</a:t>
            </a:r>
            <a:r>
              <a:rPr lang="zh-CN" altLang="en-US" sz="3200" i="1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</a:rPr>
              <a:t>(</a:t>
            </a:r>
            <a:r>
              <a:rPr lang="zh-CN" altLang="zh-CN" sz="3200" i="1" dirty="0">
                <a:latin typeface="Times New Roman" panose="02020603050405020304" pitchFamily="18" charset="0"/>
              </a:rPr>
              <a:t>x</a:t>
            </a:r>
            <a:r>
              <a:rPr lang="zh-CN" altLang="zh-CN" sz="3200" dirty="0">
                <a:latin typeface="Times New Roman" panose="02020603050405020304" pitchFamily="18" charset="0"/>
              </a:rPr>
              <a:t>)在</a:t>
            </a:r>
            <a:r>
              <a:rPr lang="zh-CN" altLang="en-US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zh-CN" sz="3200" dirty="0">
                <a:latin typeface="Times New Roman" panose="02020603050405020304" pitchFamily="18" charset="0"/>
              </a:rPr>
              <a:t>上的最佳平方逼近多项式</a:t>
            </a:r>
            <a:r>
              <a:rPr lang="zh-CN" altLang="en-US" sz="3200" dirty="0">
                <a:latin typeface="Times New Roman" panose="02020603050405020304" pitchFamily="18" charset="0"/>
              </a:rPr>
              <a:t>.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225425" y="4930775"/>
            <a:ext cx="7297738" cy="1639888"/>
            <a:chOff x="142" y="3036"/>
            <a:chExt cx="4597" cy="1033"/>
          </a:xfrm>
        </p:grpSpPr>
        <p:sp>
          <p:nvSpPr>
            <p:cNvPr id="30732" name="Text Box 16"/>
            <p:cNvSpPr txBox="1">
              <a:spLocks noChangeAspect="1"/>
            </p:cNvSpPr>
            <p:nvPr/>
          </p:nvSpPr>
          <p:spPr>
            <a:xfrm>
              <a:off x="142" y="3036"/>
              <a:ext cx="11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平方误差</a:t>
              </a:r>
              <a:endParaRPr lang="zh-CN" altLang="en-US" sz="32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724" name="Object 17"/>
            <p:cNvGraphicFramePr>
              <a:graphicFrameLocks noChangeAspect="1"/>
            </p:cNvGraphicFramePr>
            <p:nvPr/>
          </p:nvGraphicFramePr>
          <p:xfrm>
            <a:off x="1369" y="3093"/>
            <a:ext cx="3370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7" imgW="2044700" imgH="685800" progId="Equation.DSMT4">
                    <p:embed/>
                  </p:oleObj>
                </mc:Choice>
                <mc:Fallback>
                  <p:oleObj name="" r:id="rId7" imgW="2044700" imgH="6858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69" y="3093"/>
                          <a:ext cx="3370" cy="9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3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3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pSp>
        <p:nvGrpSpPr>
          <p:cNvPr id="2" name="Group 34"/>
          <p:cNvGrpSpPr/>
          <p:nvPr/>
        </p:nvGrpSpPr>
        <p:grpSpPr>
          <a:xfrm>
            <a:off x="247650" y="309563"/>
            <a:ext cx="8518525" cy="1181100"/>
            <a:chOff x="156" y="195"/>
            <a:chExt cx="5366" cy="744"/>
          </a:xfrm>
        </p:grpSpPr>
        <p:sp>
          <p:nvSpPr>
            <p:cNvPr id="31765" name="Text Box 6"/>
            <p:cNvSpPr txBox="1"/>
            <p:nvPr/>
          </p:nvSpPr>
          <p:spPr>
            <a:xfrm>
              <a:off x="156" y="195"/>
              <a:ext cx="5366" cy="7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10000"/>
                </a:lnSpc>
              </a:pPr>
              <a:r>
                <a:rPr lang="zh-CN" altLang="en-US" sz="32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例 </a:t>
              </a: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32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en-US" sz="3200" dirty="0">
                  <a:latin typeface="Comic Sans MS" panose="030F0702030302020204" pitchFamily="66" charset="0"/>
                </a:rPr>
                <a:t>求用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Legendre</a:t>
              </a:r>
              <a:r>
                <a:rPr lang="zh-CN" altLang="en-US" sz="3200" dirty="0">
                  <a:latin typeface="Comic Sans MS" panose="030F0702030302020204" pitchFamily="66" charset="0"/>
                </a:rPr>
                <a:t>多项式求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 = e</a:t>
              </a:r>
              <a:r>
                <a:rPr lang="en-US" altLang="zh-CN" sz="3200" i="1" baseline="30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Comic Sans MS" panose="030F0702030302020204" pitchFamily="66" charset="0"/>
                </a:rPr>
                <a:t> </a:t>
              </a:r>
              <a:r>
                <a:rPr lang="zh-CN" altLang="en-US" sz="3200" dirty="0">
                  <a:latin typeface="Comic Sans MS" panose="030F0702030302020204" pitchFamily="66" charset="0"/>
                </a:rPr>
                <a:t>在区间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[0, 1]上的一次最佳平方逼近多</a:t>
              </a:r>
              <a:r>
                <a:rPr lang="zh-CN" altLang="en-US" sz="3200" dirty="0">
                  <a:latin typeface="Comic Sans MS" panose="030F0702030302020204" pitchFamily="66" charset="0"/>
                </a:rPr>
                <a:t>项式       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,</a:t>
              </a:r>
              <a:r>
                <a:rPr lang="zh-CN" altLang="en-US" sz="3200" dirty="0">
                  <a:latin typeface="Comic Sans MS" panose="030F0702030302020204" pitchFamily="66" charset="0"/>
                </a:rPr>
                <a:t> </a:t>
              </a:r>
              <a:endParaRPr lang="zh-CN" altLang="en-US" sz="32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1751" name="Object 8"/>
            <p:cNvGraphicFramePr/>
            <p:nvPr/>
          </p:nvGraphicFramePr>
          <p:xfrm>
            <a:off x="4513" y="550"/>
            <a:ext cx="61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" imgW="381000" imgH="241300" progId="Equation.DSMT4">
                    <p:embed/>
                  </p:oleObj>
                </mc:Choice>
                <mc:Fallback>
                  <p:oleObj name="" r:id="rId1" imgW="381000" imgH="2413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13" y="550"/>
                          <a:ext cx="617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5"/>
          <p:cNvGrpSpPr/>
          <p:nvPr/>
        </p:nvGrpSpPr>
        <p:grpSpPr>
          <a:xfrm>
            <a:off x="254000" y="1571625"/>
            <a:ext cx="5849938" cy="633413"/>
            <a:chOff x="160" y="990"/>
            <a:chExt cx="3685" cy="399"/>
          </a:xfrm>
        </p:grpSpPr>
        <p:sp>
          <p:nvSpPr>
            <p:cNvPr id="31764" name="Text Box 7"/>
            <p:cNvSpPr txBox="1"/>
            <p:nvPr/>
          </p:nvSpPr>
          <p:spPr>
            <a:xfrm>
              <a:off x="160" y="990"/>
              <a:ext cx="212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并计算平方误差</a:t>
              </a:r>
              <a:endParaRPr lang="zh-CN" altLang="en-US" sz="32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1750" name="Object 9"/>
            <p:cNvGraphicFramePr/>
            <p:nvPr/>
          </p:nvGraphicFramePr>
          <p:xfrm>
            <a:off x="2081" y="1002"/>
            <a:ext cx="1764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3" imgW="1091565" imgH="241300" progId="Equation.DSMT4">
                    <p:embed/>
                  </p:oleObj>
                </mc:Choice>
                <mc:Fallback>
                  <p:oleObj name="" r:id="rId3" imgW="1091565" imgH="241300" progId="Equation.DSMT4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81" y="1002"/>
                          <a:ext cx="1764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3073" name="Object 17"/>
          <p:cNvGraphicFramePr/>
          <p:nvPr/>
        </p:nvGraphicFramePr>
        <p:xfrm>
          <a:off x="1728788" y="4125913"/>
          <a:ext cx="61690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5" imgW="2411730" imgH="393700" progId="Equation.DSMT4">
                  <p:embed/>
                </p:oleObj>
              </mc:Choice>
              <mc:Fallback>
                <p:oleObj name="" r:id="rId5" imgW="2411730" imgH="3937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8788" y="4125913"/>
                        <a:ext cx="6169025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7" name="Text Box 11"/>
          <p:cNvSpPr txBox="1"/>
          <p:nvPr/>
        </p:nvSpPr>
        <p:spPr>
          <a:xfrm>
            <a:off x="390525" y="2451100"/>
            <a:ext cx="10271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解：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grpSp>
        <p:nvGrpSpPr>
          <p:cNvPr id="4" name="Group 39"/>
          <p:cNvGrpSpPr/>
          <p:nvPr/>
        </p:nvGrpSpPr>
        <p:grpSpPr>
          <a:xfrm>
            <a:off x="5553075" y="2344738"/>
            <a:ext cx="2916238" cy="841375"/>
            <a:chOff x="3498" y="1487"/>
            <a:chExt cx="1837" cy="530"/>
          </a:xfrm>
        </p:grpSpPr>
        <p:graphicFrame>
          <p:nvGraphicFramePr>
            <p:cNvPr id="31749" name="Object 14"/>
            <p:cNvGraphicFramePr>
              <a:graphicFrameLocks noChangeAspect="1"/>
            </p:cNvGraphicFramePr>
            <p:nvPr/>
          </p:nvGraphicFramePr>
          <p:xfrm>
            <a:off x="3973" y="1487"/>
            <a:ext cx="1362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850265" imgH="330200" progId="Equation.DSMT4">
                    <p:embed/>
                  </p:oleObj>
                </mc:Choice>
                <mc:Fallback>
                  <p:oleObj name="" r:id="rId7" imgW="850265" imgH="330200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73" y="1487"/>
                          <a:ext cx="1362" cy="5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3" name="Text Box 26"/>
            <p:cNvSpPr txBox="1">
              <a:spLocks noChangeAspect="1"/>
            </p:cNvSpPr>
            <p:nvPr/>
          </p:nvSpPr>
          <p:spPr>
            <a:xfrm>
              <a:off x="3498" y="1615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则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404813" y="3414713"/>
            <a:ext cx="6924675" cy="631825"/>
            <a:chOff x="655" y="2181"/>
            <a:chExt cx="4362" cy="398"/>
          </a:xfrm>
        </p:grpSpPr>
        <p:sp>
          <p:nvSpPr>
            <p:cNvPr id="31762" name="Text Box 15"/>
            <p:cNvSpPr txBox="1">
              <a:spLocks noChangeAspect="1"/>
            </p:cNvSpPr>
            <p:nvPr/>
          </p:nvSpPr>
          <p:spPr>
            <a:xfrm>
              <a:off x="655" y="2181"/>
              <a:ext cx="19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根据题意，再令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1748" name="Object 16"/>
            <p:cNvGraphicFramePr>
              <a:graphicFrameLocks noChangeAspect="1"/>
            </p:cNvGraphicFramePr>
            <p:nvPr/>
          </p:nvGraphicFramePr>
          <p:xfrm>
            <a:off x="2580" y="2190"/>
            <a:ext cx="243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9" imgW="1497965" imgH="241300" progId="Equation.DSMT4">
                    <p:embed/>
                  </p:oleObj>
                </mc:Choice>
                <mc:Fallback>
                  <p:oleObj name="" r:id="rId9" imgW="1497965" imgH="2413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80" y="2190"/>
                          <a:ext cx="2437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3086" name="Text Box 30"/>
          <p:cNvSpPr txBox="1"/>
          <p:nvPr/>
        </p:nvSpPr>
        <p:spPr>
          <a:xfrm>
            <a:off x="565150" y="4284663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Comic Sans MS" panose="030F0702030302020204" pitchFamily="66" charset="0"/>
              </a:rPr>
              <a:t>其中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1208088" y="2308225"/>
            <a:ext cx="4162425" cy="1001713"/>
            <a:chOff x="761" y="1454"/>
            <a:chExt cx="2622" cy="631"/>
          </a:xfrm>
        </p:grpSpPr>
        <p:graphicFrame>
          <p:nvGraphicFramePr>
            <p:cNvPr id="31747" name="Object 12"/>
            <p:cNvGraphicFramePr/>
            <p:nvPr/>
          </p:nvGraphicFramePr>
          <p:xfrm>
            <a:off x="1200" y="1454"/>
            <a:ext cx="2183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1" imgW="1358265" imgH="393700" progId="Equation.DSMT4">
                    <p:embed/>
                  </p:oleObj>
                </mc:Choice>
                <mc:Fallback>
                  <p:oleObj name="" r:id="rId11" imgW="1358265" imgH="3937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00" y="1454"/>
                          <a:ext cx="2183" cy="6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1" name="Text Box 36"/>
            <p:cNvSpPr txBox="1"/>
            <p:nvPr/>
          </p:nvSpPr>
          <p:spPr>
            <a:xfrm>
              <a:off x="761" y="1607"/>
              <a:ext cx="42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令</a:t>
              </a:r>
              <a:r>
                <a:rPr lang="zh-CN" altLang="en-US" sz="2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7" grpId="0"/>
      <p:bldP spid="17308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pSp>
        <p:nvGrpSpPr>
          <p:cNvPr id="2" name="Group 32"/>
          <p:cNvGrpSpPr/>
          <p:nvPr/>
        </p:nvGrpSpPr>
        <p:grpSpPr>
          <a:xfrm>
            <a:off x="414338" y="3670300"/>
            <a:ext cx="4841875" cy="609600"/>
            <a:chOff x="261" y="2312"/>
            <a:chExt cx="3050" cy="384"/>
          </a:xfrm>
        </p:grpSpPr>
        <p:sp>
          <p:nvSpPr>
            <p:cNvPr id="32782" name="Text Box 9"/>
            <p:cNvSpPr txBox="1">
              <a:spLocks noChangeAspect="1"/>
            </p:cNvSpPr>
            <p:nvPr/>
          </p:nvSpPr>
          <p:spPr>
            <a:xfrm>
              <a:off x="261" y="2312"/>
              <a:ext cx="69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所以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  <a:endParaRPr lang="zh-CN" altLang="en-US" sz="20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2773" name="Object 10"/>
            <p:cNvGraphicFramePr>
              <a:graphicFrameLocks noChangeAspect="1"/>
            </p:cNvGraphicFramePr>
            <p:nvPr/>
          </p:nvGraphicFramePr>
          <p:xfrm>
            <a:off x="874" y="2329"/>
            <a:ext cx="2437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1" imgW="1524000" imgH="228600" progId="Equation.DSMT4">
                    <p:embed/>
                  </p:oleObj>
                </mc:Choice>
                <mc:Fallback>
                  <p:oleObj name="" r:id="rId1" imgW="1524000" imgH="228600" progId="Equation.DSMT4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74" y="2329"/>
                          <a:ext cx="2437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3"/>
          <p:cNvGrpSpPr/>
          <p:nvPr/>
        </p:nvGrpSpPr>
        <p:grpSpPr>
          <a:xfrm>
            <a:off x="477838" y="4348163"/>
            <a:ext cx="5951537" cy="1306512"/>
            <a:chOff x="301" y="2739"/>
            <a:chExt cx="3749" cy="823"/>
          </a:xfrm>
        </p:grpSpPr>
        <p:sp>
          <p:nvSpPr>
            <p:cNvPr id="32781" name="Text Box 12"/>
            <p:cNvSpPr txBox="1">
              <a:spLocks noChangeAspect="1"/>
            </p:cNvSpPr>
            <p:nvPr/>
          </p:nvSpPr>
          <p:spPr>
            <a:xfrm>
              <a:off x="301" y="2739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Comic Sans MS" panose="030F0702030302020204" pitchFamily="66" charset="0"/>
                </a:rPr>
                <a:t>故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2772" name="Object 13"/>
            <p:cNvGraphicFramePr>
              <a:graphicFrameLocks noChangeAspect="1"/>
            </p:cNvGraphicFramePr>
            <p:nvPr/>
          </p:nvGraphicFramePr>
          <p:xfrm>
            <a:off x="709" y="2787"/>
            <a:ext cx="3341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3" imgW="2056765" imgH="482600" progId="Equation.DSMT4">
                    <p:embed/>
                  </p:oleObj>
                </mc:Choice>
                <mc:Fallback>
                  <p:oleObj name="" r:id="rId3" imgW="2056765" imgH="4826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9" y="2787"/>
                          <a:ext cx="3341" cy="7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0121" name="Object 25"/>
          <p:cNvGraphicFramePr/>
          <p:nvPr/>
        </p:nvGraphicFramePr>
        <p:xfrm>
          <a:off x="1912938" y="1381125"/>
          <a:ext cx="4465637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5" imgW="1751965" imgH="862965" progId="Equation.DSMT4">
                  <p:embed/>
                </p:oleObj>
              </mc:Choice>
              <mc:Fallback>
                <p:oleObj name="" r:id="rId5" imgW="1751965" imgH="862965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2938" y="1381125"/>
                        <a:ext cx="4465637" cy="219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22" name="Text Box 26"/>
          <p:cNvSpPr txBox="1"/>
          <p:nvPr/>
        </p:nvSpPr>
        <p:spPr>
          <a:xfrm>
            <a:off x="547688" y="428625"/>
            <a:ext cx="9969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于是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30"/>
          <p:cNvGrpSpPr/>
          <p:nvPr/>
        </p:nvGrpSpPr>
        <p:grpSpPr>
          <a:xfrm>
            <a:off x="1862138" y="261938"/>
            <a:ext cx="6732587" cy="1006475"/>
            <a:chOff x="1173" y="165"/>
            <a:chExt cx="4241" cy="634"/>
          </a:xfrm>
        </p:grpSpPr>
        <p:graphicFrame>
          <p:nvGraphicFramePr>
            <p:cNvPr id="32771" name="Object 27"/>
            <p:cNvGraphicFramePr/>
            <p:nvPr/>
          </p:nvGraphicFramePr>
          <p:xfrm>
            <a:off x="1528" y="165"/>
            <a:ext cx="3886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7" imgW="2411730" imgH="393700" progId="Equation.DSMT4">
                    <p:embed/>
                  </p:oleObj>
                </mc:Choice>
                <mc:Fallback>
                  <p:oleObj name="" r:id="rId7" imgW="2411730" imgH="393700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28" y="165"/>
                          <a:ext cx="3886" cy="63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50000">
                              <a:schemeClr val="accent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24" name="Text Box 28"/>
            <p:cNvSpPr txBox="1">
              <a:spLocks noChangeArrowheads="1"/>
            </p:cNvSpPr>
            <p:nvPr/>
          </p:nvSpPr>
          <p:spPr bwMode="auto">
            <a:xfrm>
              <a:off x="1173" y="292"/>
              <a:ext cx="372" cy="365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0" lang="zh-CN" altLang="en-US" sz="3200" kern="1200" cap="none" spc="0" normalizeH="0" baseline="0" noProof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由</a:t>
              </a:r>
              <a:endParaRPr kumimoji="0" lang="zh-CN" altLang="en-US" sz="32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6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3797" name="Text Box 8"/>
          <p:cNvSpPr txBox="1"/>
          <p:nvPr/>
        </p:nvSpPr>
        <p:spPr>
          <a:xfrm>
            <a:off x="195263" y="547688"/>
            <a:ext cx="2216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Comic Sans MS" panose="030F0702030302020204" pitchFamily="66" charset="0"/>
              </a:rPr>
              <a:t>平方误差为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175113" name="Object 9"/>
          <p:cNvGraphicFramePr/>
          <p:nvPr/>
        </p:nvGraphicFramePr>
        <p:xfrm>
          <a:off x="1346200" y="1389063"/>
          <a:ext cx="6797675" cy="437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" imgW="2349500" imgH="1752600" progId="Equation.DSMT4">
                  <p:embed/>
                </p:oleObj>
              </mc:Choice>
              <mc:Fallback>
                <p:oleObj name="" r:id="rId1" imgW="2349500" imgH="17526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6200" y="1389063"/>
                        <a:ext cx="6797675" cy="437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algn="l"/>
            <a:r>
              <a:rPr lang="en-US" altLang="zh-CN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7.6.</a:t>
            </a:r>
            <a:r>
              <a:rPr lang="zh-CN" altLang="en-US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b="1" u="none" dirty="0"/>
              <a:t>曲线拟合的最小二乘法</a:t>
            </a:r>
            <a:endParaRPr lang="zh-CN" altLang="en-US" b="1" u="none" dirty="0"/>
          </a:p>
        </p:txBody>
      </p:sp>
      <p:sp>
        <p:nvSpPr>
          <p:cNvPr id="226307" name="Rectangle 3"/>
          <p:cNvSpPr>
            <a:spLocks noGrp="1"/>
          </p:cNvSpPr>
          <p:nvPr>
            <p:ph idx="1"/>
          </p:nvPr>
        </p:nvSpPr>
        <p:spPr>
          <a:xfrm>
            <a:off x="152400" y="1409700"/>
            <a:ext cx="7508240" cy="649605"/>
          </a:xfrm>
        </p:spPr>
        <p:txBody>
          <a:bodyPr vert="horz" wrap="square" lIns="91440" tIns="45720" rIns="91440" bIns="45720" anchor="t"/>
          <a:p>
            <a:pPr marL="0" indent="0"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7.6.</a:t>
            </a:r>
            <a:r>
              <a:rPr lang="zh-CN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4.1</a:t>
            </a:r>
            <a:r>
              <a:rPr lang="zh-CN" altLang="en-US" sz="3600" b="1" dirty="0">
                <a:solidFill>
                  <a:schemeClr val="accent2"/>
                </a:solidFill>
              </a:rPr>
              <a:t>曲线拟合的最小二乘问题</a:t>
            </a:r>
            <a:endParaRPr lang="zh-CN" altLang="en-US" sz="3600" b="1" dirty="0">
              <a:solidFill>
                <a:schemeClr val="accent2"/>
              </a:solidFill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0" y="2927350"/>
            <a:ext cx="9144000" cy="1247775"/>
            <a:chOff x="-3" y="-3"/>
            <a:chExt cx="2891" cy="812"/>
          </a:xfrm>
        </p:grpSpPr>
        <p:grpSp>
          <p:nvGrpSpPr>
            <p:cNvPr id="72713" name="Group 5"/>
            <p:cNvGrpSpPr>
              <a:grpSpLocks noChangeAspect="1"/>
            </p:cNvGrpSpPr>
            <p:nvPr/>
          </p:nvGrpSpPr>
          <p:grpSpPr>
            <a:xfrm>
              <a:off x="0" y="0"/>
              <a:ext cx="2885" cy="806"/>
              <a:chOff x="0" y="0"/>
              <a:chExt cx="2885" cy="806"/>
            </a:xfrm>
          </p:grpSpPr>
          <p:grpSp>
            <p:nvGrpSpPr>
              <p:cNvPr id="72715" name="Group 6"/>
              <p:cNvGrpSpPr>
                <a:grpSpLocks noChangeAspect="1"/>
              </p:cNvGrpSpPr>
              <p:nvPr/>
            </p:nvGrpSpPr>
            <p:grpSpPr>
              <a:xfrm>
                <a:off x="0" y="0"/>
                <a:ext cx="555" cy="403"/>
                <a:chOff x="0" y="0"/>
                <a:chExt cx="555" cy="403"/>
              </a:xfrm>
            </p:grpSpPr>
            <p:sp>
              <p:nvSpPr>
                <p:cNvPr id="72749" name="Rectangle 7"/>
                <p:cNvSpPr>
                  <a:spLocks noChangeAspect="1"/>
                </p:cNvSpPr>
                <p:nvPr/>
              </p:nvSpPr>
              <p:spPr>
                <a:xfrm>
                  <a:off x="43" y="0"/>
                  <a:ext cx="469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endParaRPr lang="en-US" altLang="zh-CN" sz="2400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0" name="Rectangle 8"/>
                <p:cNvSpPr>
                  <a:spLocks noChangeAspect="1"/>
                </p:cNvSpPr>
                <p:nvPr/>
              </p:nvSpPr>
              <p:spPr>
                <a:xfrm>
                  <a:off x="0" y="0"/>
                  <a:ext cx="555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16" name="Group 9"/>
              <p:cNvGrpSpPr>
                <a:grpSpLocks noChangeAspect="1"/>
              </p:cNvGrpSpPr>
              <p:nvPr/>
            </p:nvGrpSpPr>
            <p:grpSpPr>
              <a:xfrm>
                <a:off x="555" y="0"/>
                <a:ext cx="466" cy="403"/>
                <a:chOff x="555" y="0"/>
                <a:chExt cx="466" cy="403"/>
              </a:xfrm>
            </p:grpSpPr>
            <p:sp>
              <p:nvSpPr>
                <p:cNvPr id="72747" name="Rectangle 10"/>
                <p:cNvSpPr>
                  <a:spLocks noChangeAspect="1"/>
                </p:cNvSpPr>
                <p:nvPr/>
              </p:nvSpPr>
              <p:spPr>
                <a:xfrm>
                  <a:off x="598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8" name="Rectangle 11"/>
                <p:cNvSpPr>
                  <a:spLocks noChangeAspect="1"/>
                </p:cNvSpPr>
                <p:nvPr/>
              </p:nvSpPr>
              <p:spPr>
                <a:xfrm>
                  <a:off x="555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17" name="Group 12"/>
              <p:cNvGrpSpPr>
                <a:grpSpLocks noChangeAspect="1"/>
              </p:cNvGrpSpPr>
              <p:nvPr/>
            </p:nvGrpSpPr>
            <p:grpSpPr>
              <a:xfrm>
                <a:off x="1021" y="0"/>
                <a:ext cx="466" cy="403"/>
                <a:chOff x="1021" y="0"/>
                <a:chExt cx="466" cy="403"/>
              </a:xfrm>
            </p:grpSpPr>
            <p:sp>
              <p:nvSpPr>
                <p:cNvPr id="72745" name="Rectangle 13"/>
                <p:cNvSpPr>
                  <a:spLocks noChangeAspect="1"/>
                </p:cNvSpPr>
                <p:nvPr/>
              </p:nvSpPr>
              <p:spPr>
                <a:xfrm>
                  <a:off x="1064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zh-CN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6" name="Rectangle 14"/>
                <p:cNvSpPr>
                  <a:spLocks noChangeAspect="1"/>
                </p:cNvSpPr>
                <p:nvPr/>
              </p:nvSpPr>
              <p:spPr>
                <a:xfrm>
                  <a:off x="1021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18" name="Group 15"/>
              <p:cNvGrpSpPr>
                <a:grpSpLocks noChangeAspect="1"/>
              </p:cNvGrpSpPr>
              <p:nvPr/>
            </p:nvGrpSpPr>
            <p:grpSpPr>
              <a:xfrm>
                <a:off x="1487" y="0"/>
                <a:ext cx="466" cy="403"/>
                <a:chOff x="1487" y="0"/>
                <a:chExt cx="466" cy="403"/>
              </a:xfrm>
            </p:grpSpPr>
            <p:sp>
              <p:nvSpPr>
                <p:cNvPr id="72743" name="Rectangle 16"/>
                <p:cNvSpPr>
                  <a:spLocks noChangeAspect="1"/>
                </p:cNvSpPr>
                <p:nvPr/>
              </p:nvSpPr>
              <p:spPr>
                <a:xfrm>
                  <a:off x="1530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4" name="Rectangle 17"/>
                <p:cNvSpPr>
                  <a:spLocks noChangeAspect="1"/>
                </p:cNvSpPr>
                <p:nvPr/>
              </p:nvSpPr>
              <p:spPr>
                <a:xfrm>
                  <a:off x="1487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19" name="Group 18"/>
              <p:cNvGrpSpPr>
                <a:grpSpLocks noChangeAspect="1"/>
              </p:cNvGrpSpPr>
              <p:nvPr/>
            </p:nvGrpSpPr>
            <p:grpSpPr>
              <a:xfrm>
                <a:off x="1953" y="0"/>
                <a:ext cx="466" cy="403"/>
                <a:chOff x="1953" y="0"/>
                <a:chExt cx="466" cy="403"/>
              </a:xfrm>
            </p:grpSpPr>
            <p:sp>
              <p:nvSpPr>
                <p:cNvPr id="72741" name="Rectangle 19"/>
                <p:cNvSpPr>
                  <a:spLocks noChangeAspect="1"/>
                </p:cNvSpPr>
                <p:nvPr/>
              </p:nvSpPr>
              <p:spPr>
                <a:xfrm>
                  <a:off x="1996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…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2" name="Rectangle 20"/>
                <p:cNvSpPr>
                  <a:spLocks noChangeAspect="1"/>
                </p:cNvSpPr>
                <p:nvPr/>
              </p:nvSpPr>
              <p:spPr>
                <a:xfrm>
                  <a:off x="1953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0" name="Group 21"/>
              <p:cNvGrpSpPr>
                <a:grpSpLocks noChangeAspect="1"/>
              </p:cNvGrpSpPr>
              <p:nvPr/>
            </p:nvGrpSpPr>
            <p:grpSpPr>
              <a:xfrm>
                <a:off x="2419" y="0"/>
                <a:ext cx="466" cy="403"/>
                <a:chOff x="2419" y="0"/>
                <a:chExt cx="466" cy="403"/>
              </a:xfrm>
            </p:grpSpPr>
            <p:sp>
              <p:nvSpPr>
                <p:cNvPr id="72739" name="Rectangle 22"/>
                <p:cNvSpPr>
                  <a:spLocks noChangeAspect="1"/>
                </p:cNvSpPr>
                <p:nvPr/>
              </p:nvSpPr>
              <p:spPr>
                <a:xfrm>
                  <a:off x="2462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endParaRPr lang="en-US" altLang="zh-CN" i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0" name="Rectangle 23"/>
                <p:cNvSpPr>
                  <a:spLocks noChangeAspect="1"/>
                </p:cNvSpPr>
                <p:nvPr/>
              </p:nvSpPr>
              <p:spPr>
                <a:xfrm>
                  <a:off x="2419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1" name="Group 24"/>
              <p:cNvGrpSpPr>
                <a:grpSpLocks noChangeAspect="1"/>
              </p:cNvGrpSpPr>
              <p:nvPr/>
            </p:nvGrpSpPr>
            <p:grpSpPr>
              <a:xfrm>
                <a:off x="0" y="403"/>
                <a:ext cx="555" cy="403"/>
                <a:chOff x="0" y="403"/>
                <a:chExt cx="555" cy="403"/>
              </a:xfrm>
            </p:grpSpPr>
            <p:sp>
              <p:nvSpPr>
                <p:cNvPr id="72737" name="Rectangle 25"/>
                <p:cNvSpPr>
                  <a:spLocks noChangeAspect="1"/>
                </p:cNvSpPr>
                <p:nvPr/>
              </p:nvSpPr>
              <p:spPr>
                <a:xfrm>
                  <a:off x="43" y="403"/>
                  <a:ext cx="469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8" name="Rectangle 26"/>
                <p:cNvSpPr>
                  <a:spLocks noChangeAspect="1"/>
                </p:cNvSpPr>
                <p:nvPr/>
              </p:nvSpPr>
              <p:spPr>
                <a:xfrm>
                  <a:off x="0" y="403"/>
                  <a:ext cx="555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2" name="Group 27"/>
              <p:cNvGrpSpPr>
                <a:grpSpLocks noChangeAspect="1"/>
              </p:cNvGrpSpPr>
              <p:nvPr/>
            </p:nvGrpSpPr>
            <p:grpSpPr>
              <a:xfrm>
                <a:off x="555" y="403"/>
                <a:ext cx="466" cy="403"/>
                <a:chOff x="555" y="403"/>
                <a:chExt cx="466" cy="403"/>
              </a:xfrm>
            </p:grpSpPr>
            <p:sp>
              <p:nvSpPr>
                <p:cNvPr id="72735" name="Rectangle 28"/>
                <p:cNvSpPr>
                  <a:spLocks noChangeAspect="1"/>
                </p:cNvSpPr>
                <p:nvPr/>
              </p:nvSpPr>
              <p:spPr>
                <a:xfrm>
                  <a:off x="598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sz="24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6" name="Rectangle 29"/>
                <p:cNvSpPr>
                  <a:spLocks noChangeAspect="1"/>
                </p:cNvSpPr>
                <p:nvPr/>
              </p:nvSpPr>
              <p:spPr>
                <a:xfrm>
                  <a:off x="555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3" name="Group 30"/>
              <p:cNvGrpSpPr>
                <a:grpSpLocks noChangeAspect="1"/>
              </p:cNvGrpSpPr>
              <p:nvPr/>
            </p:nvGrpSpPr>
            <p:grpSpPr>
              <a:xfrm>
                <a:off x="1021" y="403"/>
                <a:ext cx="466" cy="403"/>
                <a:chOff x="1021" y="403"/>
                <a:chExt cx="466" cy="403"/>
              </a:xfrm>
            </p:grpSpPr>
            <p:sp>
              <p:nvSpPr>
                <p:cNvPr id="72733" name="Rectangle 31"/>
                <p:cNvSpPr>
                  <a:spLocks noChangeAspect="1"/>
                </p:cNvSpPr>
                <p:nvPr/>
              </p:nvSpPr>
              <p:spPr>
                <a:xfrm>
                  <a:off x="1064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4" name="Rectangle 32"/>
                <p:cNvSpPr>
                  <a:spLocks noChangeAspect="1"/>
                </p:cNvSpPr>
                <p:nvPr/>
              </p:nvSpPr>
              <p:spPr>
                <a:xfrm>
                  <a:off x="1021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4" name="Group 33"/>
              <p:cNvGrpSpPr>
                <a:grpSpLocks noChangeAspect="1"/>
              </p:cNvGrpSpPr>
              <p:nvPr/>
            </p:nvGrpSpPr>
            <p:grpSpPr>
              <a:xfrm>
                <a:off x="1487" y="403"/>
                <a:ext cx="466" cy="403"/>
                <a:chOff x="1487" y="403"/>
                <a:chExt cx="466" cy="403"/>
              </a:xfrm>
            </p:grpSpPr>
            <p:sp>
              <p:nvSpPr>
                <p:cNvPr id="72731" name="Rectangle 34"/>
                <p:cNvSpPr>
                  <a:spLocks noChangeAspect="1"/>
                </p:cNvSpPr>
                <p:nvPr/>
              </p:nvSpPr>
              <p:spPr>
                <a:xfrm>
                  <a:off x="1530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sz="2400" i="1" dirty="0">
                      <a:latin typeface="Times New Roman" panose="02020603050405020304" pitchFamily="18" charset="0"/>
                    </a:rPr>
                    <a:t>y</a:t>
                  </a:r>
                  <a:r>
                    <a:rPr lang="en-US" altLang="zh-CN" sz="2400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2" name="Rectangle 35"/>
                <p:cNvSpPr>
                  <a:spLocks noChangeAspect="1"/>
                </p:cNvSpPr>
                <p:nvPr/>
              </p:nvSpPr>
              <p:spPr>
                <a:xfrm>
                  <a:off x="1487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5" name="Group 36"/>
              <p:cNvGrpSpPr>
                <a:grpSpLocks noChangeAspect="1"/>
              </p:cNvGrpSpPr>
              <p:nvPr/>
            </p:nvGrpSpPr>
            <p:grpSpPr>
              <a:xfrm>
                <a:off x="1953" y="403"/>
                <a:ext cx="466" cy="403"/>
                <a:chOff x="1953" y="403"/>
                <a:chExt cx="466" cy="403"/>
              </a:xfrm>
            </p:grpSpPr>
            <p:sp>
              <p:nvSpPr>
                <p:cNvPr id="72729" name="Rectangle 37"/>
                <p:cNvSpPr>
                  <a:spLocks noChangeAspect="1"/>
                </p:cNvSpPr>
                <p:nvPr/>
              </p:nvSpPr>
              <p:spPr>
                <a:xfrm>
                  <a:off x="1996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…</a:t>
                  </a:r>
                  <a:endParaRPr lang="zh-CN" altLang="en-US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72730" name="Rectangle 38"/>
                <p:cNvSpPr>
                  <a:spLocks noChangeAspect="1"/>
                </p:cNvSpPr>
                <p:nvPr/>
              </p:nvSpPr>
              <p:spPr>
                <a:xfrm>
                  <a:off x="1953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6" name="Group 39"/>
              <p:cNvGrpSpPr>
                <a:grpSpLocks noChangeAspect="1"/>
              </p:cNvGrpSpPr>
              <p:nvPr/>
            </p:nvGrpSpPr>
            <p:grpSpPr>
              <a:xfrm>
                <a:off x="2419" y="403"/>
                <a:ext cx="466" cy="403"/>
                <a:chOff x="2419" y="403"/>
                <a:chExt cx="466" cy="403"/>
              </a:xfrm>
            </p:grpSpPr>
            <p:sp>
              <p:nvSpPr>
                <p:cNvPr id="72727" name="Rectangle 40"/>
                <p:cNvSpPr>
                  <a:spLocks noChangeAspect="1"/>
                </p:cNvSpPr>
                <p:nvPr/>
              </p:nvSpPr>
              <p:spPr>
                <a:xfrm>
                  <a:off x="2462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endParaRPr lang="en-US" altLang="zh-CN" i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28" name="Rectangle 41"/>
                <p:cNvSpPr>
                  <a:spLocks noChangeAspect="1"/>
                </p:cNvSpPr>
                <p:nvPr/>
              </p:nvSpPr>
              <p:spPr>
                <a:xfrm>
                  <a:off x="2419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14" name="Rectangle 42"/>
            <p:cNvSpPr>
              <a:spLocks noChangeAspect="1"/>
            </p:cNvSpPr>
            <p:nvPr/>
          </p:nvSpPr>
          <p:spPr>
            <a:xfrm>
              <a:off x="-3" y="-3"/>
              <a:ext cx="2891" cy="812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6347" name="Text Box 43"/>
          <p:cNvSpPr txBox="1"/>
          <p:nvPr/>
        </p:nvSpPr>
        <p:spPr>
          <a:xfrm>
            <a:off x="604838" y="2122488"/>
            <a:ext cx="34353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已知一组实验数据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26348" name="Text Box 44"/>
          <p:cNvSpPr txBox="1"/>
          <p:nvPr/>
        </p:nvSpPr>
        <p:spPr>
          <a:xfrm>
            <a:off x="206375" y="4468813"/>
            <a:ext cx="8828088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要求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的近似表达式（经验公式）。从几何上来讲，就是求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的一条近似曲线，故称曲线拟合问题。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6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/>
      <p:bldP spid="226347" grpId="0"/>
      <p:bldP spid="22634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6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4827" name="Rectangle 2"/>
          <p:cNvSpPr>
            <a:spLocks noGrp="1"/>
          </p:cNvSpPr>
          <p:nvPr>
            <p:ph type="title"/>
          </p:nvPr>
        </p:nvSpPr>
        <p:spPr>
          <a:xfrm>
            <a:off x="315913" y="100013"/>
            <a:ext cx="8561387" cy="1143000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基于函数最佳平方逼近的原理，提出如下问题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2" name="Group 9"/>
          <p:cNvGrpSpPr/>
          <p:nvPr/>
        </p:nvGrpSpPr>
        <p:grpSpPr>
          <a:xfrm>
            <a:off x="306388" y="1023938"/>
            <a:ext cx="5340350" cy="684212"/>
            <a:chOff x="323" y="807"/>
            <a:chExt cx="3364" cy="431"/>
          </a:xfrm>
        </p:grpSpPr>
        <p:sp>
          <p:nvSpPr>
            <p:cNvPr id="34838" name="Text Box 4"/>
            <p:cNvSpPr txBox="1"/>
            <p:nvPr/>
          </p:nvSpPr>
          <p:spPr>
            <a:xfrm>
              <a:off x="323" y="809"/>
              <a:ext cx="33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令                        ，                     ，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3" name="Object 6"/>
            <p:cNvGraphicFramePr/>
            <p:nvPr/>
          </p:nvGraphicFramePr>
          <p:xfrm>
            <a:off x="760" y="812"/>
            <a:ext cx="117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" imgW="774065" imgH="279400" progId="Equation.3">
                    <p:embed/>
                  </p:oleObj>
                </mc:Choice>
                <mc:Fallback>
                  <p:oleObj name="" r:id="rId1" imgW="774065" imgH="2794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60" y="812"/>
                          <a:ext cx="1170" cy="4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4" name="Object 7"/>
            <p:cNvGraphicFramePr/>
            <p:nvPr/>
          </p:nvGraphicFramePr>
          <p:xfrm>
            <a:off x="2165" y="807"/>
            <a:ext cx="119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3" imgW="787400" imgH="279400" progId="Equation.3">
                    <p:embed/>
                  </p:oleObj>
                </mc:Choice>
                <mc:Fallback>
                  <p:oleObj name="" r:id="rId3" imgW="787400" imgH="2794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65" y="807"/>
                          <a:ext cx="1190" cy="4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4"/>
          <p:cNvGrpSpPr/>
          <p:nvPr/>
        </p:nvGrpSpPr>
        <p:grpSpPr>
          <a:xfrm>
            <a:off x="257175" y="1784350"/>
            <a:ext cx="8294688" cy="609600"/>
            <a:chOff x="372" y="1232"/>
            <a:chExt cx="5225" cy="384"/>
          </a:xfrm>
        </p:grpSpPr>
        <p:sp>
          <p:nvSpPr>
            <p:cNvPr id="34837" name="Text Box 10"/>
            <p:cNvSpPr txBox="1"/>
            <p:nvPr/>
          </p:nvSpPr>
          <p:spPr>
            <a:xfrm>
              <a:off x="372" y="1248"/>
              <a:ext cx="522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在</a:t>
              </a:r>
              <a:r>
                <a:rPr lang="en-US" altLang="zh-CN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dirty="0">
                  <a:latin typeface="Times New Roman" panose="02020603050405020304" pitchFamily="18" charset="0"/>
                </a:rPr>
                <a:t>[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</a:rPr>
                <a:t>]</a:t>
              </a:r>
              <a:r>
                <a:rPr lang="zh-CN" altLang="en-US" dirty="0">
                  <a:latin typeface="Times New Roman" panose="02020603050405020304" pitchFamily="18" charset="0"/>
                </a:rPr>
                <a:t>中选定线性无关的函数             ，构造一个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2" name="Object 5"/>
            <p:cNvGraphicFramePr/>
            <p:nvPr/>
          </p:nvGraphicFramePr>
          <p:xfrm>
            <a:off x="3548" y="1232"/>
            <a:ext cx="72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5" imgW="469265" imgH="254000" progId="Equation.3">
                    <p:embed/>
                  </p:oleObj>
                </mc:Choice>
                <mc:Fallback>
                  <p:oleObj name="" r:id="rId5" imgW="469265" imgH="2540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48" y="1232"/>
                          <a:ext cx="72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/>
          <p:nvPr/>
        </p:nvGrpSpPr>
        <p:grpSpPr>
          <a:xfrm>
            <a:off x="227013" y="2389188"/>
            <a:ext cx="5391150" cy="560387"/>
            <a:chOff x="373" y="1640"/>
            <a:chExt cx="3396" cy="353"/>
          </a:xfrm>
        </p:grpSpPr>
        <p:sp>
          <p:nvSpPr>
            <p:cNvPr id="34836" name="Text Box 14"/>
            <p:cNvSpPr txBox="1"/>
            <p:nvPr/>
          </p:nvSpPr>
          <p:spPr>
            <a:xfrm>
              <a:off x="373" y="1640"/>
              <a:ext cx="339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函数类               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1" name="Object 4"/>
            <p:cNvGraphicFramePr/>
            <p:nvPr/>
          </p:nvGraphicFramePr>
          <p:xfrm>
            <a:off x="1189" y="1648"/>
            <a:ext cx="2284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7" imgW="1511300" imgH="228600" progId="Equation.3">
                    <p:embed/>
                  </p:oleObj>
                </mc:Choice>
                <mc:Fallback>
                  <p:oleObj name="" r:id="rId7" imgW="1511300" imgH="2286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9" y="1648"/>
                          <a:ext cx="2284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7591" name="Text Box 23"/>
          <p:cNvSpPr txBox="1"/>
          <p:nvPr/>
        </p:nvSpPr>
        <p:spPr>
          <a:xfrm>
            <a:off x="352425" y="4897438"/>
            <a:ext cx="847090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分别称为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在节点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上的偏差(或称残差)和上述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个点上的偏差向量(或称残差向量)。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07975" y="4189413"/>
            <a:ext cx="8532813" cy="593725"/>
            <a:chOff x="321" y="2093"/>
            <a:chExt cx="5375" cy="374"/>
          </a:xfrm>
        </p:grpSpPr>
        <p:sp>
          <p:nvSpPr>
            <p:cNvPr id="34835" name="Text Box 6"/>
            <p:cNvSpPr txBox="1"/>
            <p:nvPr/>
          </p:nvSpPr>
          <p:spPr>
            <a:xfrm>
              <a:off x="321" y="2093"/>
              <a:ext cx="537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记                                                和                                 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19" name="Object 21"/>
            <p:cNvGraphicFramePr/>
            <p:nvPr/>
          </p:nvGraphicFramePr>
          <p:xfrm>
            <a:off x="3540" y="2102"/>
            <a:ext cx="1728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9" imgW="1142365" imgH="241300" progId="Equation.3">
                    <p:embed/>
                  </p:oleObj>
                </mc:Choice>
                <mc:Fallback>
                  <p:oleObj name="" r:id="rId9" imgW="1142365" imgH="2413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0" y="2102"/>
                          <a:ext cx="1728" cy="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0" name="Object 1"/>
            <p:cNvGraphicFramePr/>
            <p:nvPr/>
          </p:nvGraphicFramePr>
          <p:xfrm>
            <a:off x="681" y="2093"/>
            <a:ext cx="256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1" imgW="1713865" imgH="241300" progId="Equation.3">
                    <p:embed/>
                  </p:oleObj>
                </mc:Choice>
                <mc:Fallback>
                  <p:oleObj name="" r:id="rId11" imgW="1713865" imgH="2413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81" y="2093"/>
                          <a:ext cx="2569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4"/>
          <p:cNvGraphicFramePr/>
          <p:nvPr/>
        </p:nvGraphicFramePr>
        <p:xfrm>
          <a:off x="2553494" y="3031967"/>
          <a:ext cx="6003925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3" imgW="2501900" imgH="444500" progId="Equation.3">
                  <p:embed/>
                </p:oleObj>
              </mc:Choice>
              <mc:Fallback>
                <p:oleObj name="" r:id="rId13" imgW="2501900" imgH="4445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3494" y="3031967"/>
                        <a:ext cx="6003925" cy="1065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5403850" y="2443163"/>
            <a:ext cx="324008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这样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元素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可以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82575" y="2965450"/>
            <a:ext cx="12620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表示为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91" grpId="0"/>
      <p:bldP spid="27" grpId="0"/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7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aphicFrame>
        <p:nvGraphicFramePr>
          <p:cNvPr id="285701" name="Object 5"/>
          <p:cNvGraphicFramePr/>
          <p:nvPr/>
        </p:nvGraphicFramePr>
        <p:xfrm>
          <a:off x="415925" y="1403350"/>
          <a:ext cx="828357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3479800" imgH="889000" progId="Equation.3">
                  <p:embed/>
                </p:oleObj>
              </mc:Choice>
              <mc:Fallback>
                <p:oleObj name="" r:id="rId1" imgW="3479800" imgH="8890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925" y="1403350"/>
                        <a:ext cx="8283575" cy="213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/>
          <p:nvPr/>
        </p:nvGrpSpPr>
        <p:grpSpPr>
          <a:xfrm>
            <a:off x="355600" y="3595688"/>
            <a:ext cx="8161338" cy="1117600"/>
            <a:chOff x="293" y="2100"/>
            <a:chExt cx="5141" cy="704"/>
          </a:xfrm>
        </p:grpSpPr>
        <p:sp>
          <p:nvSpPr>
            <p:cNvPr id="35854" name="Text Box 12"/>
            <p:cNvSpPr txBox="1"/>
            <p:nvPr/>
          </p:nvSpPr>
          <p:spPr>
            <a:xfrm>
              <a:off x="293" y="2100"/>
              <a:ext cx="5141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其中               为所讨论区间[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</a:rPr>
                <a:t>]</a:t>
              </a:r>
              <a:r>
                <a:rPr lang="zh-CN" altLang="en-US" dirty="0">
                  <a:latin typeface="Times New Roman" panose="02020603050405020304" pitchFamily="18" charset="0"/>
                </a:rPr>
                <a:t>上的权函数，它表示不同 (</a:t>
              </a:r>
              <a:r>
                <a:rPr lang="en-US" altLang="zh-CN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30000" dirty="0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i="1" baseline="-30000" dirty="0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latin typeface="Times New Roman" panose="02020603050405020304" pitchFamily="18" charset="0"/>
                </a:rPr>
                <a:t>数据点的权重。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45" name="Object 8"/>
            <p:cNvGraphicFramePr/>
            <p:nvPr/>
          </p:nvGraphicFramePr>
          <p:xfrm>
            <a:off x="794" y="2149"/>
            <a:ext cx="86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3" imgW="584200" imgH="203200" progId="Equation.3">
                    <p:embed/>
                  </p:oleObj>
                </mc:Choice>
                <mc:Fallback>
                  <p:oleObj name="" r:id="rId3" imgW="584200" imgH="2032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4" y="2149"/>
                          <a:ext cx="868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5696" name="Text Box 0"/>
          <p:cNvSpPr txBox="1"/>
          <p:nvPr/>
        </p:nvSpPr>
        <p:spPr>
          <a:xfrm>
            <a:off x="5014913" y="4149725"/>
            <a:ext cx="9032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于是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" name="Text Box 23"/>
          <p:cNvSpPr txBox="1"/>
          <p:nvPr/>
        </p:nvSpPr>
        <p:spPr>
          <a:xfrm>
            <a:off x="266700" y="466725"/>
            <a:ext cx="8615363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我们要寻求一函数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使之与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在上述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个点上的偏差，其加权平方</a:t>
            </a:r>
            <a:r>
              <a:rPr lang="zh-CN" altLang="en-US" dirty="0">
                <a:latin typeface="Times New Roman" panose="02020603050405020304" pitchFamily="18" charset="0"/>
              </a:rPr>
              <a:t>和是最小的，即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/>
          <p:nvPr/>
        </p:nvSpPr>
        <p:spPr>
          <a:xfrm>
            <a:off x="269875" y="5626100"/>
            <a:ext cx="19812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和它的偏差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2626" name="Object 2"/>
          <p:cNvGraphicFramePr/>
          <p:nvPr/>
        </p:nvGraphicFramePr>
        <p:xfrm>
          <a:off x="2287588" y="5610225"/>
          <a:ext cx="47767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5" imgW="2005965" imgH="241300" progId="Equation.3">
                  <p:embed/>
                </p:oleObj>
              </mc:Choice>
              <mc:Fallback>
                <p:oleObj name="" r:id="rId5" imgW="2005965" imgH="2413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7588" y="5610225"/>
                        <a:ext cx="4776787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/>
          <p:nvPr/>
        </p:nvGrpSpPr>
        <p:grpSpPr>
          <a:xfrm>
            <a:off x="2455863" y="4573588"/>
            <a:ext cx="6362700" cy="1066800"/>
            <a:chOff x="1188" y="2021"/>
            <a:chExt cx="4008" cy="672"/>
          </a:xfrm>
        </p:grpSpPr>
        <p:graphicFrame>
          <p:nvGraphicFramePr>
            <p:cNvPr id="35844" name="Object 3"/>
            <p:cNvGraphicFramePr/>
            <p:nvPr/>
          </p:nvGraphicFramePr>
          <p:xfrm>
            <a:off x="1188" y="2021"/>
            <a:ext cx="2687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7" imgW="1777365" imgH="444500" progId="Equation.3">
                    <p:embed/>
                  </p:oleObj>
                </mc:Choice>
                <mc:Fallback>
                  <p:oleObj name="" r:id="rId7" imgW="1777365" imgH="4445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8" y="2021"/>
                          <a:ext cx="2687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3" name="Text Box 21"/>
            <p:cNvSpPr txBox="1"/>
            <p:nvPr/>
          </p:nvSpPr>
          <p:spPr>
            <a:xfrm>
              <a:off x="4372" y="2161"/>
              <a:ext cx="8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(7.6.</a:t>
              </a:r>
              <a:r>
                <a:rPr lang="en-US" altLang="zh-CN" dirty="0">
                  <a:latin typeface="Times New Roman" panose="02020603050405020304" pitchFamily="18" charset="0"/>
                </a:rPr>
                <a:t>10</a:t>
              </a:r>
              <a:r>
                <a:rPr lang="zh-CN" altLang="en-US" dirty="0">
                  <a:latin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6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8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68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endParaRPr lang="zh-CN" altLang="en-US" dirty="0"/>
          </a:p>
        </p:txBody>
      </p:sp>
      <p:graphicFrame>
        <p:nvGraphicFramePr>
          <p:cNvPr id="286724" name="Object 4"/>
          <p:cNvGraphicFramePr/>
          <p:nvPr/>
        </p:nvGraphicFramePr>
        <p:xfrm>
          <a:off x="1863725" y="1201738"/>
          <a:ext cx="647065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" imgW="2717800" imgH="889000" progId="Equation.3">
                  <p:embed/>
                </p:oleObj>
              </mc:Choice>
              <mc:Fallback>
                <p:oleObj name="" r:id="rId1" imgW="2717800" imgH="8890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3725" y="1201738"/>
                        <a:ext cx="6470650" cy="213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0" name="Text Box 10"/>
          <p:cNvSpPr txBox="1"/>
          <p:nvPr/>
        </p:nvSpPr>
        <p:spPr>
          <a:xfrm>
            <a:off x="333375" y="3538538"/>
            <a:ext cx="8161338" cy="2453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满足式(7.6.</a:t>
            </a:r>
            <a:r>
              <a:rPr lang="en-US" altLang="zh-CN" sz="3200" dirty="0">
                <a:latin typeface="Times New Roman" panose="02020603050405020304" pitchFamily="18" charset="0"/>
              </a:rPr>
              <a:t>9</a:t>
            </a:r>
            <a:r>
              <a:rPr lang="zh-CN" altLang="en-US" sz="3200" dirty="0">
                <a:latin typeface="Times New Roman" panose="02020603050405020304" pitchFamily="18" charset="0"/>
              </a:rPr>
              <a:t>) 的函数 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称为问题的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最小二乘解</a:t>
            </a:r>
            <a:r>
              <a:rPr lang="zh-CN" altLang="en-US" sz="3200" dirty="0">
                <a:latin typeface="Times New Roman" panose="02020603050405020304" pitchFamily="18" charset="0"/>
              </a:rPr>
              <a:t>（或称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的离散形式的最佳平方逼近函数</a:t>
            </a:r>
            <a:r>
              <a:rPr lang="zh-CN" altLang="en-US" sz="3200" dirty="0">
                <a:latin typeface="Times New Roman" panose="02020603050405020304" pitchFamily="18" charset="0"/>
              </a:rPr>
              <a:t>），求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的方法称为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曲线拟合的最小二乘法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3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7894" name="Rectangle 2050"/>
          <p:cNvSpPr>
            <a:spLocks noGrp="1"/>
          </p:cNvSpPr>
          <p:nvPr>
            <p:ph type="title"/>
          </p:nvPr>
        </p:nvSpPr>
        <p:spPr>
          <a:xfrm>
            <a:off x="295275" y="228600"/>
            <a:ext cx="7772400" cy="1143000"/>
          </a:xfrm>
        </p:spPr>
        <p:txBody>
          <a:bodyPr vert="horz" wrap="square" lIns="91440" tIns="45720" rIns="91440" bIns="45720" anchor="ctr"/>
          <a:p>
            <a:r>
              <a:rPr lang="zh-CN" altLang="en-US"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7.6.</a:t>
            </a:r>
            <a:r>
              <a:rPr lang="en-US" altLang="zh-CN"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3600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最小二乘解的求法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39619" name="Rectangle 2051"/>
          <p:cNvSpPr>
            <a:spLocks noGrp="1"/>
          </p:cNvSpPr>
          <p:nvPr>
            <p:ph idx="1"/>
          </p:nvPr>
        </p:nvSpPr>
        <p:spPr>
          <a:xfrm>
            <a:off x="330200" y="1130300"/>
            <a:ext cx="8470900" cy="4570413"/>
          </a:xfrm>
        </p:spPr>
        <p:txBody>
          <a:bodyPr vert="horz" wrap="square" lIns="91440" tIns="45720" rIns="91440" bIns="45720" anchor="t"/>
          <a:p>
            <a:pPr marL="0" indent="0" algn="just">
              <a:lnSpc>
                <a:spcPct val="11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要求问题的最小二乘解，首先需确定函数类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Φ</a:t>
            </a:r>
            <a:r>
              <a:rPr lang="en-US" altLang="zh-CN" sz="3200" dirty="0">
                <a:ea typeface="黑体" panose="02010609060101010101" pitchFamily="49" charset="-122"/>
              </a:rPr>
              <a:t>，</a:t>
            </a:r>
            <a:r>
              <a:rPr lang="zh-CN" altLang="en-US" sz="3200" dirty="0">
                <a:ea typeface="黑体" panose="02010609060101010101" pitchFamily="49" charset="-122"/>
              </a:rPr>
              <a:t>为此需确定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ea typeface="黑体" panose="02010609060101010101" pitchFamily="49" charset="-122"/>
              </a:rPr>
              <a:t>的形式。通常的做法是将数据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ea typeface="黑体" panose="02010609060101010101" pitchFamily="49" charset="-122"/>
              </a:rPr>
              <a:t>描绘在坐标纸上，依据这些数据点的分布规律确定此函数的具体形式。这也等于确定了函数类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Φ</a:t>
            </a:r>
            <a:r>
              <a:rPr lang="en-US" altLang="zh-CN" sz="3200" dirty="0"/>
              <a:t>。 </a:t>
            </a:r>
            <a:endParaRPr lang="en-US" altLang="zh-CN" sz="3200" dirty="0"/>
          </a:p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其次是按式</a:t>
            </a:r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3200" b="1" dirty="0">
                <a:latin typeface="Times New Roman" panose="02020603050405020304" pitchFamily="18" charset="0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b="1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即需要确定其系数。此问题转化为求下面的多元函数极值问题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896" name="Rectangle 1045"/>
          <p:cNvSpPr/>
          <p:nvPr/>
        </p:nvSpPr>
        <p:spPr>
          <a:xfrm>
            <a:off x="0" y="31670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4516" name="Object 1044"/>
          <p:cNvGraphicFramePr/>
          <p:nvPr/>
        </p:nvGraphicFramePr>
        <p:xfrm>
          <a:off x="337820" y="4990941"/>
          <a:ext cx="8395335" cy="1246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3530600" imgH="520700" progId="Equation.3">
                  <p:embed/>
                </p:oleObj>
              </mc:Choice>
              <mc:Fallback>
                <p:oleObj name="" r:id="rId1" imgW="3530600" imgH="5207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820" y="4990941"/>
                        <a:ext cx="8395335" cy="12465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8" name="Object 1046"/>
          <p:cNvGraphicFramePr/>
          <p:nvPr/>
        </p:nvGraphicFramePr>
        <p:xfrm>
          <a:off x="2018189" y="2311400"/>
          <a:ext cx="505206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" imgW="2120900" imgH="431800" progId="Equation.3">
                  <p:embed/>
                </p:oleObj>
              </mc:Choice>
              <mc:Fallback>
                <p:oleObj name="" r:id="rId3" imgW="2120900" imgH="4318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8189" y="2311400"/>
                        <a:ext cx="5052060" cy="10350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charRg st="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10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9619">
                                            <p:txEl>
                                              <p:charRg st="105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3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8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8919" name="Rectangle 2"/>
          <p:cNvSpPr>
            <a:spLocks noGrp="1"/>
          </p:cNvSpPr>
          <p:nvPr>
            <p:ph type="title"/>
          </p:nvPr>
        </p:nvSpPr>
        <p:spPr>
          <a:xfrm>
            <a:off x="182563" y="228600"/>
            <a:ext cx="8793162" cy="987425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由极值存在的必要条件，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i="1" u="none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0,1,</a:t>
            </a:r>
            <a:r>
              <a:rPr lang="en-US" altLang="zh-CN" sz="3200" u="none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应满足</a:t>
            </a:r>
            <a:r>
              <a:rPr lang="zh-CN" altLang="en-US" sz="2800" u="none" dirty="0">
                <a:solidFill>
                  <a:schemeClr val="tx1"/>
                </a:solidFill>
              </a:rPr>
              <a:t> </a:t>
            </a:r>
            <a:endParaRPr lang="zh-CN" altLang="en-US" sz="2800" u="none" dirty="0">
              <a:solidFill>
                <a:schemeClr val="tx1"/>
              </a:solidFill>
            </a:endParaRPr>
          </a:p>
        </p:txBody>
      </p:sp>
      <p:graphicFrame>
        <p:nvGraphicFramePr>
          <p:cNvPr id="281602" name="Object 2"/>
          <p:cNvGraphicFramePr/>
          <p:nvPr/>
        </p:nvGraphicFramePr>
        <p:xfrm>
          <a:off x="2312988" y="1176338"/>
          <a:ext cx="362585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" imgW="1511300" imgH="431800" progId="Equation.3">
                  <p:embed/>
                </p:oleObj>
              </mc:Choice>
              <mc:Fallback>
                <p:oleObj name="" r:id="rId1" imgW="1511300" imgH="4318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2988" y="1176338"/>
                        <a:ext cx="3625850" cy="103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498475" y="2249488"/>
            <a:ext cx="6900863" cy="1157287"/>
            <a:chOff x="298" y="1540"/>
            <a:chExt cx="4347" cy="729"/>
          </a:xfrm>
        </p:grpSpPr>
        <p:graphicFrame>
          <p:nvGraphicFramePr>
            <p:cNvPr id="38916" name="Object 4"/>
            <p:cNvGraphicFramePr/>
            <p:nvPr/>
          </p:nvGraphicFramePr>
          <p:xfrm>
            <a:off x="768" y="1540"/>
            <a:ext cx="3877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3" imgW="2564130" imgH="482600" progId="Equation.3">
                    <p:embed/>
                  </p:oleObj>
                </mc:Choice>
                <mc:Fallback>
                  <p:oleObj name="" r:id="rId3" imgW="2564130" imgH="4826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8" y="1540"/>
                          <a:ext cx="3877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4" name="Text Box 9"/>
            <p:cNvSpPr txBox="1"/>
            <p:nvPr/>
          </p:nvSpPr>
          <p:spPr>
            <a:xfrm>
              <a:off x="298" y="1677"/>
              <a:ext cx="4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即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458788" y="3386138"/>
            <a:ext cx="8526462" cy="2138362"/>
            <a:chOff x="289" y="2043"/>
            <a:chExt cx="5371" cy="1347"/>
          </a:xfrm>
        </p:grpSpPr>
        <p:graphicFrame>
          <p:nvGraphicFramePr>
            <p:cNvPr id="38915" name="Object 3"/>
            <p:cNvGraphicFramePr/>
            <p:nvPr/>
          </p:nvGraphicFramePr>
          <p:xfrm>
            <a:off x="485" y="2354"/>
            <a:ext cx="4568" cy="1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5" imgW="3022600" imgH="685800" progId="Equation.3">
                    <p:embed/>
                  </p:oleObj>
                </mc:Choice>
                <mc:Fallback>
                  <p:oleObj name="" r:id="rId5" imgW="3022600" imgH="6858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5" y="2354"/>
                          <a:ext cx="4568" cy="10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2" name="Text Box 10"/>
            <p:cNvSpPr txBox="1"/>
            <p:nvPr/>
          </p:nvSpPr>
          <p:spPr>
            <a:xfrm>
              <a:off x="289" y="2043"/>
              <a:ext cx="4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或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23" name="Text Box 11"/>
            <p:cNvSpPr txBox="1"/>
            <p:nvPr/>
          </p:nvSpPr>
          <p:spPr>
            <a:xfrm>
              <a:off x="4734" y="3005"/>
              <a:ext cx="92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(7.6.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12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)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4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39945" name="Rectangle 2"/>
          <p:cNvSpPr>
            <a:spLocks noGrp="1"/>
          </p:cNvSpPr>
          <p:nvPr>
            <p:ph type="title"/>
          </p:nvPr>
        </p:nvSpPr>
        <p:spPr>
          <a:xfrm>
            <a:off x="296863" y="228600"/>
            <a:ext cx="8847137" cy="1143000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为了方便，规定离散形式的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内积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范数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endParaRPr lang="zh-CN" altLang="en-US" sz="3200" u="none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1667" name="Object 3"/>
          <p:cNvGraphicFramePr/>
          <p:nvPr/>
        </p:nvGraphicFramePr>
        <p:xfrm>
          <a:off x="1539875" y="1020763"/>
          <a:ext cx="5789613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" imgW="2413000" imgH="990600" progId="Equation.3">
                  <p:embed/>
                </p:oleObj>
              </mc:Choice>
              <mc:Fallback>
                <p:oleObj name="" r:id="rId1" imgW="2413000" imgH="9906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9875" y="1020763"/>
                        <a:ext cx="5789613" cy="237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3" name="Text Box 9"/>
          <p:cNvSpPr txBox="1"/>
          <p:nvPr/>
        </p:nvSpPr>
        <p:spPr>
          <a:xfrm>
            <a:off x="398463" y="3265488"/>
            <a:ext cx="18757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r>
              <a:rPr lang="zh-CN" altLang="en-US" sz="3200" dirty="0">
                <a:latin typeface="Times New Roman" panose="02020603050405020304" pitchFamily="18" charset="0"/>
              </a:rPr>
              <a:t>(7.6.</a:t>
            </a:r>
            <a:r>
              <a:rPr lang="en-US" altLang="zh-CN" sz="3200" dirty="0">
                <a:latin typeface="Times New Roman" panose="02020603050405020304" pitchFamily="18" charset="0"/>
              </a:rPr>
              <a:t>12</a:t>
            </a:r>
            <a:r>
              <a:rPr lang="zh-CN" altLang="en-US" sz="3200" dirty="0">
                <a:latin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495300" y="5346700"/>
            <a:ext cx="6384925" cy="584200"/>
            <a:chOff x="0" y="3292"/>
            <a:chExt cx="4022" cy="368"/>
          </a:xfrm>
        </p:grpSpPr>
        <p:sp>
          <p:nvSpPr>
            <p:cNvPr id="39951" name="Rectangle 11"/>
            <p:cNvSpPr/>
            <p:nvPr/>
          </p:nvSpPr>
          <p:spPr>
            <a:xfrm>
              <a:off x="0" y="3292"/>
              <a:ext cx="402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</a:rPr>
                <a:t>这是关于          线性方程组。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9942" name="Object 10"/>
            <p:cNvGraphicFramePr/>
            <p:nvPr/>
          </p:nvGraphicFramePr>
          <p:xfrm>
            <a:off x="1109" y="3315"/>
            <a:ext cx="117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3" imgW="774065" imgH="228600" progId="Equation.3">
                    <p:embed/>
                  </p:oleObj>
                </mc:Choice>
                <mc:Fallback>
                  <p:oleObj name="" r:id="rId3" imgW="774065" imgH="2286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09" y="3315"/>
                          <a:ext cx="1170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/>
          <p:nvPr/>
        </p:nvGrpSpPr>
        <p:grpSpPr>
          <a:xfrm>
            <a:off x="1609725" y="3944938"/>
            <a:ext cx="6867525" cy="1065212"/>
            <a:chOff x="1014" y="2345"/>
            <a:chExt cx="4326" cy="671"/>
          </a:xfrm>
        </p:grpSpPr>
        <p:graphicFrame>
          <p:nvGraphicFramePr>
            <p:cNvPr id="39940" name="Object 5"/>
            <p:cNvGraphicFramePr/>
            <p:nvPr/>
          </p:nvGraphicFramePr>
          <p:xfrm>
            <a:off x="1014" y="2345"/>
            <a:ext cx="2226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" name="" r:id="rId5" imgW="1472565" imgH="444500" progId="Equation.3">
                    <p:embed/>
                  </p:oleObj>
                </mc:Choice>
                <mc:Fallback>
                  <p:oleObj name="" r:id="rId5" imgW="1472565" imgH="4445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14" y="2345"/>
                          <a:ext cx="2226" cy="6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1" name="Object 7"/>
            <p:cNvGraphicFramePr/>
            <p:nvPr/>
          </p:nvGraphicFramePr>
          <p:xfrm>
            <a:off x="3346" y="2517"/>
            <a:ext cx="113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7" imgW="748665" imgH="203200" progId="Equation.3">
                    <p:embed/>
                  </p:oleObj>
                </mc:Choice>
                <mc:Fallback>
                  <p:oleObj name="" r:id="rId7" imgW="748665" imgH="20320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46" y="2517"/>
                          <a:ext cx="1131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0" name="Text Box 12"/>
            <p:cNvSpPr txBox="1"/>
            <p:nvPr/>
          </p:nvSpPr>
          <p:spPr>
            <a:xfrm>
              <a:off x="4628" y="2479"/>
              <a:ext cx="71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(7.6.7)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41680" name="Object 16"/>
          <p:cNvGraphicFramePr/>
          <p:nvPr/>
        </p:nvGraphicFramePr>
        <p:xfrm>
          <a:off x="773113" y="3736975"/>
          <a:ext cx="7496175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9" imgW="3124200" imgH="685800" progId="Equation.3">
                  <p:embed/>
                </p:oleObj>
              </mc:Choice>
              <mc:Fallback>
                <p:oleObj name="" r:id="rId9" imgW="3124200" imgH="6858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3113" y="3736975"/>
                        <a:ext cx="7496175" cy="1644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84" name="Text Box 20"/>
          <p:cNvSpPr txBox="1"/>
          <p:nvPr/>
        </p:nvSpPr>
        <p:spPr>
          <a:xfrm>
            <a:off x="2260600" y="3222625"/>
            <a:ext cx="1403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可写成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16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3" grpId="0"/>
      <p:bldP spid="24168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8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09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线性方程组矩阵形式为</a:t>
            </a:r>
            <a:endParaRPr lang="zh-CN" altLang="en-US" sz="2800" u="none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2694" name="Text Box 6"/>
          <p:cNvSpPr txBox="1"/>
          <p:nvPr/>
        </p:nvSpPr>
        <p:spPr>
          <a:xfrm>
            <a:off x="476250" y="3640138"/>
            <a:ext cx="7783513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称之为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法方程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正规方程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80578" name="Object 2"/>
          <p:cNvGraphicFramePr/>
          <p:nvPr/>
        </p:nvGraphicFramePr>
        <p:xfrm>
          <a:off x="522446" y="1198722"/>
          <a:ext cx="7808595" cy="279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3251200" imgH="1168400" progId="Equation.DSMT4">
                  <p:embed/>
                </p:oleObj>
              </mc:Choice>
              <mc:Fallback>
                <p:oleObj name="" r:id="rId1" imgW="3251200" imgH="1168400" progId="Equation.DSMT4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2446" y="1198722"/>
                        <a:ext cx="7808595" cy="2795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/>
          <p:nvPr/>
        </p:nvGrpSpPr>
        <p:grpSpPr>
          <a:xfrm>
            <a:off x="442913" y="4238625"/>
            <a:ext cx="8170862" cy="1641475"/>
            <a:chOff x="339" y="2290"/>
            <a:chExt cx="5147" cy="1034"/>
          </a:xfrm>
        </p:grpSpPr>
        <p:sp>
          <p:nvSpPr>
            <p:cNvPr id="40975" name="Text Box 9"/>
            <p:cNvSpPr txBox="1"/>
            <p:nvPr/>
          </p:nvSpPr>
          <p:spPr>
            <a:xfrm>
              <a:off x="339" y="2290"/>
              <a:ext cx="5147" cy="10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系数矩阵是对称矩阵，其行列式记为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i="1" baseline="-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 ，</a:t>
              </a:r>
              <a:r>
                <a:rPr lang="zh-CN" altLang="en-US" dirty="0">
                  <a:latin typeface="Times New Roman" panose="02020603050405020304" pitchFamily="18" charset="0"/>
                </a:rPr>
                <a:t>按(7.6.6)定义的“内积” 可证明                         线性无关的充要条件是行列式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i="1" baseline="-30000" dirty="0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不是零（证法略）。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0966" name="Object 6"/>
            <p:cNvGraphicFramePr/>
            <p:nvPr/>
          </p:nvGraphicFramePr>
          <p:xfrm>
            <a:off x="2736" y="2618"/>
            <a:ext cx="1283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3" imgW="850265" imgH="241300" progId="Equation.3">
                    <p:embed/>
                  </p:oleObj>
                </mc:Choice>
                <mc:Fallback>
                  <p:oleObj name="" r:id="rId3" imgW="850265" imgH="2413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36" y="2618"/>
                          <a:ext cx="1283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/>
          <p:nvPr/>
        </p:nvGrpSpPr>
        <p:grpSpPr>
          <a:xfrm>
            <a:off x="463550" y="4378325"/>
            <a:ext cx="7758113" cy="1133475"/>
            <a:chOff x="452" y="1046"/>
            <a:chExt cx="4887" cy="714"/>
          </a:xfrm>
        </p:grpSpPr>
        <p:grpSp>
          <p:nvGrpSpPr>
            <p:cNvPr id="40973" name="Group 14"/>
            <p:cNvGrpSpPr/>
            <p:nvPr/>
          </p:nvGrpSpPr>
          <p:grpSpPr>
            <a:xfrm>
              <a:off x="972" y="1046"/>
              <a:ext cx="1353" cy="703"/>
              <a:chOff x="972" y="1926"/>
              <a:chExt cx="1353" cy="703"/>
            </a:xfrm>
          </p:grpSpPr>
          <p:graphicFrame>
            <p:nvGraphicFramePr>
              <p:cNvPr id="40964" name="Object 4"/>
              <p:cNvGraphicFramePr/>
              <p:nvPr/>
            </p:nvGraphicFramePr>
            <p:xfrm>
              <a:off x="974" y="2261"/>
              <a:ext cx="1351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" name="" r:id="rId5" imgW="901065" imgH="241300" progId="Equation.3">
                      <p:embed/>
                    </p:oleObj>
                  </mc:Choice>
                  <mc:Fallback>
                    <p:oleObj name="" r:id="rId5" imgW="901065" imgH="241300" progId="Equation.3">
                      <p:embed/>
                      <p:pic>
                        <p:nvPicPr>
                          <p:cNvPr id="0" name="图片 321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974" y="2261"/>
                            <a:ext cx="1351" cy="3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65" name="Object 5"/>
              <p:cNvGraphicFramePr/>
              <p:nvPr/>
            </p:nvGraphicFramePr>
            <p:xfrm>
              <a:off x="972" y="1926"/>
              <a:ext cx="1264" cy="3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0" name="" r:id="rId7" imgW="837565" imgH="241300" progId="Equation.3">
                      <p:embed/>
                    </p:oleObj>
                  </mc:Choice>
                  <mc:Fallback>
                    <p:oleObj name="" r:id="rId7" imgW="837565" imgH="241300" progId="Equation.3">
                      <p:embed/>
                      <p:pic>
                        <p:nvPicPr>
                          <p:cNvPr id="0" name="图片 320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972" y="1926"/>
                            <a:ext cx="1264" cy="36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974" name="Text Box 17"/>
            <p:cNvSpPr txBox="1"/>
            <p:nvPr/>
          </p:nvSpPr>
          <p:spPr>
            <a:xfrm>
              <a:off x="452" y="1052"/>
              <a:ext cx="4887" cy="7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由于                       线性无关，可知（7.6.</a:t>
              </a:r>
              <a:r>
                <a:rPr lang="en-US" altLang="zh-CN" dirty="0">
                  <a:latin typeface="Times New Roman" panose="02020603050405020304" pitchFamily="18" charset="0"/>
                </a:rPr>
                <a:t>15</a:t>
              </a:r>
              <a:r>
                <a:rPr lang="zh-CN" altLang="en-US" dirty="0">
                  <a:latin typeface="Times New Roman" panose="02020603050405020304" pitchFamily="18" charset="0"/>
                </a:rPr>
                <a:t>）有唯一解                         。于是有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80579" name="Object 3"/>
          <p:cNvGraphicFramePr/>
          <p:nvPr/>
        </p:nvGraphicFramePr>
        <p:xfrm>
          <a:off x="2718594" y="5335429"/>
          <a:ext cx="2863850" cy="1068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9" imgW="1181100" imgH="444500" progId="Equation.3">
                  <p:embed/>
                </p:oleObj>
              </mc:Choice>
              <mc:Fallback>
                <p:oleObj name="" r:id="rId9" imgW="1181100" imgH="4445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8594" y="5335429"/>
                        <a:ext cx="2863850" cy="1068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2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1993" name="Rectangle 2"/>
          <p:cNvSpPr>
            <a:spLocks noGrp="1"/>
          </p:cNvSpPr>
          <p:nvPr>
            <p:ph type="title"/>
          </p:nvPr>
        </p:nvSpPr>
        <p:spPr>
          <a:xfrm>
            <a:off x="533400" y="323850"/>
            <a:ext cx="7921625" cy="1143000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可以证明：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确实使</a:t>
            </a:r>
            <a:r>
              <a:rPr lang="zh-CN" altLang="en-US" sz="3200" u="none" dirty="0">
                <a:solidFill>
                  <a:schemeClr val="tx1"/>
                </a:solidFill>
              </a:rPr>
              <a:t>多元函数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u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达到最小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即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的最小二乘解。</a:t>
            </a:r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i="1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3723" name="Object 11"/>
          <p:cNvGraphicFramePr/>
          <p:nvPr/>
        </p:nvGraphicFramePr>
        <p:xfrm>
          <a:off x="2662238" y="2459038"/>
          <a:ext cx="2862262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1180465" imgH="444500" progId="Equation.3">
                  <p:embed/>
                </p:oleObj>
              </mc:Choice>
              <mc:Fallback>
                <p:oleObj name="" r:id="rId1" imgW="1180465" imgH="4445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2238" y="2459038"/>
                        <a:ext cx="2862262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/>
          <p:nvPr/>
        </p:nvGrpSpPr>
        <p:grpSpPr>
          <a:xfrm>
            <a:off x="508000" y="1479550"/>
            <a:ext cx="8118475" cy="1128713"/>
            <a:chOff x="320" y="1122"/>
            <a:chExt cx="5114" cy="711"/>
          </a:xfrm>
        </p:grpSpPr>
        <p:sp>
          <p:nvSpPr>
            <p:cNvPr id="42001" name="Text Box 14"/>
            <p:cNvSpPr txBox="1"/>
            <p:nvPr/>
          </p:nvSpPr>
          <p:spPr>
            <a:xfrm>
              <a:off x="320" y="1125"/>
              <a:ext cx="5114" cy="7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Times New Roman" panose="02020603050405020304" pitchFamily="18" charset="0"/>
                </a:rPr>
                <a:t>定理7.6.</a:t>
              </a:r>
              <a:r>
                <a:rPr lang="en-US" altLang="zh-CN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dirty="0">
                  <a:latin typeface="Times New Roman" panose="02020603050405020304" pitchFamily="18" charset="0"/>
                </a:rPr>
                <a:t> 设               线性无关，                         为 (7.6.8) 的解，则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1989" name="Object 15"/>
            <p:cNvGraphicFramePr/>
            <p:nvPr/>
          </p:nvGraphicFramePr>
          <p:xfrm>
            <a:off x="1575" y="1147"/>
            <a:ext cx="72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3" imgW="469265" imgH="254000" progId="Equation.3">
                    <p:embed/>
                  </p:oleObj>
                </mc:Choice>
                <mc:Fallback>
                  <p:oleObj name="" r:id="rId3" imgW="469265" imgH="2540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75" y="1147"/>
                          <a:ext cx="72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0" name="Object 17"/>
            <p:cNvGraphicFramePr/>
            <p:nvPr/>
          </p:nvGraphicFramePr>
          <p:xfrm>
            <a:off x="3426" y="1122"/>
            <a:ext cx="141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name="" r:id="rId5" imgW="939165" imgH="241300" progId="Equation.3">
                    <p:embed/>
                  </p:oleObj>
                </mc:Choice>
                <mc:Fallback>
                  <p:oleObj name="" r:id="rId5" imgW="939165" imgH="2413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26" y="1122"/>
                          <a:ext cx="1415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8"/>
          <p:cNvGrpSpPr/>
          <p:nvPr/>
        </p:nvGrpSpPr>
        <p:grpSpPr>
          <a:xfrm>
            <a:off x="433388" y="3225800"/>
            <a:ext cx="6278562" cy="1081088"/>
            <a:chOff x="273" y="2032"/>
            <a:chExt cx="3955" cy="681"/>
          </a:xfrm>
        </p:grpSpPr>
        <p:sp>
          <p:nvSpPr>
            <p:cNvPr id="42000" name="Text Box 19"/>
            <p:cNvSpPr txBox="1"/>
            <p:nvPr/>
          </p:nvSpPr>
          <p:spPr>
            <a:xfrm>
              <a:off x="273" y="2032"/>
              <a:ext cx="6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满足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1988" name="Object 20"/>
            <p:cNvGraphicFramePr/>
            <p:nvPr/>
          </p:nvGraphicFramePr>
          <p:xfrm>
            <a:off x="1283" y="2367"/>
            <a:ext cx="2945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7" imgW="1943100" imgH="228600" progId="Equation.3">
                    <p:embed/>
                  </p:oleObj>
                </mc:Choice>
                <mc:Fallback>
                  <p:oleObj name="" r:id="rId7" imgW="1943100" imgH="2286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83" y="2367"/>
                          <a:ext cx="2945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9"/>
          <p:cNvGrpSpPr/>
          <p:nvPr/>
        </p:nvGrpSpPr>
        <p:grpSpPr>
          <a:xfrm>
            <a:off x="417513" y="4464050"/>
            <a:ext cx="8194675" cy="1573213"/>
            <a:chOff x="263" y="2812"/>
            <a:chExt cx="5162" cy="991"/>
          </a:xfrm>
        </p:grpSpPr>
        <p:sp>
          <p:nvSpPr>
            <p:cNvPr id="41997" name="Text Box 22"/>
            <p:cNvSpPr txBox="1"/>
            <p:nvPr/>
          </p:nvSpPr>
          <p:spPr>
            <a:xfrm>
              <a:off x="263" y="2812"/>
              <a:ext cx="17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并且平方误差为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1998" name="Group 27"/>
            <p:cNvGrpSpPr/>
            <p:nvPr/>
          </p:nvGrpSpPr>
          <p:grpSpPr>
            <a:xfrm>
              <a:off x="653" y="3151"/>
              <a:ext cx="4772" cy="652"/>
              <a:chOff x="653" y="3151"/>
              <a:chExt cx="4772" cy="652"/>
            </a:xfrm>
          </p:grpSpPr>
          <p:graphicFrame>
            <p:nvGraphicFramePr>
              <p:cNvPr id="41987" name="Object 23"/>
              <p:cNvGraphicFramePr/>
              <p:nvPr/>
            </p:nvGraphicFramePr>
            <p:xfrm>
              <a:off x="653" y="3151"/>
              <a:ext cx="3679" cy="6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4" name="" r:id="rId9" imgW="2451100" imgH="431800" progId="Equation.3">
                      <p:embed/>
                    </p:oleObj>
                  </mc:Choice>
                  <mc:Fallback>
                    <p:oleObj name="" r:id="rId9" imgW="2451100" imgH="431800" progId="Equation.3">
                      <p:embed/>
                      <p:pic>
                        <p:nvPicPr>
                          <p:cNvPr id="0" name="图片 3213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53" y="3151"/>
                            <a:ext cx="3679" cy="6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99" name="Text Box 26"/>
              <p:cNvSpPr txBox="1"/>
              <p:nvPr/>
            </p:nvSpPr>
            <p:spPr>
              <a:xfrm>
                <a:off x="4321" y="3308"/>
                <a:ext cx="110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。(7.6.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16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) 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4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3015" name="Rectangle 2"/>
          <p:cNvSpPr>
            <a:spLocks noGrp="1"/>
          </p:cNvSpPr>
          <p:nvPr>
            <p:ph type="title"/>
          </p:nvPr>
        </p:nvSpPr>
        <p:spPr>
          <a:xfrm>
            <a:off x="687388" y="71438"/>
            <a:ext cx="77724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zh-CN" altLang="en-US" sz="3200" b="1" u="none" dirty="0">
                <a:latin typeface="Times New Roman" panose="02020603050405020304" pitchFamily="18" charset="0"/>
              </a:rPr>
              <a:t>计算曲线拟合问题最小二乘解的步骤：</a:t>
            </a:r>
            <a:endParaRPr lang="zh-CN" altLang="en-US" sz="3200" b="1" u="none" dirty="0">
              <a:latin typeface="Times New Roman" panose="02020603050405020304" pitchFamily="18" charset="0"/>
            </a:endParaRPr>
          </a:p>
        </p:txBody>
      </p:sp>
      <p:sp>
        <p:nvSpPr>
          <p:cNvPr id="246787" name="Rectangle 3"/>
          <p:cNvSpPr>
            <a:spLocks noGrp="1"/>
          </p:cNvSpPr>
          <p:nvPr>
            <p:ph idx="1"/>
          </p:nvPr>
        </p:nvSpPr>
        <p:spPr>
          <a:xfrm>
            <a:off x="347663" y="1155700"/>
            <a:ext cx="8610600" cy="1131888"/>
          </a:xfrm>
        </p:spPr>
        <p:txBody>
          <a:bodyPr vert="horz" wrap="square" lIns="91440" tIns="45720" rIns="91440" bIns="45720" anchor="t"/>
          <a:p>
            <a:pPr marL="533400" indent="-533400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首先需确定函数类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3200" dirty="0"/>
              <a:t>，</a:t>
            </a:r>
            <a:r>
              <a:rPr lang="zh-CN" altLang="en-US" sz="3200" dirty="0">
                <a:ea typeface="黑体" panose="02010609060101010101" pitchFamily="49" charset="-122"/>
              </a:rPr>
              <a:t>即确定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ea typeface="黑体" panose="02010609060101010101" pitchFamily="49" charset="-122"/>
              </a:rPr>
              <a:t>的形式。</a:t>
            </a:r>
            <a:endParaRPr lang="zh-CN" altLang="en-US" sz="3200" dirty="0">
              <a:ea typeface="黑体" panose="02010609060101010101" pitchFamily="49" charset="-122"/>
            </a:endParaRPr>
          </a:p>
          <a:p>
            <a:pPr marL="533400" indent="-533400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2.</a:t>
            </a:r>
            <a:r>
              <a:rPr lang="zh-CN" altLang="en-US" sz="3200" dirty="0">
                <a:ea typeface="黑体" panose="02010609060101010101" pitchFamily="49" charset="-122"/>
              </a:rPr>
              <a:t>解以</a:t>
            </a:r>
            <a:r>
              <a:rPr lang="zh-CN" altLang="en-US" sz="3200" dirty="0"/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baseline="16000" dirty="0">
                <a:latin typeface="Times New Roman" panose="02020603050405020304" pitchFamily="18" charset="0"/>
              </a:rPr>
              <a:t>. . . 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为未知元的线性法方程组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23850" y="5230813"/>
            <a:ext cx="8777288" cy="1035050"/>
            <a:chOff x="204" y="3367"/>
            <a:chExt cx="5529" cy="652"/>
          </a:xfrm>
        </p:grpSpPr>
        <p:sp>
          <p:nvSpPr>
            <p:cNvPr id="43020" name="Text Box 8"/>
            <p:cNvSpPr txBox="1"/>
            <p:nvPr/>
          </p:nvSpPr>
          <p:spPr>
            <a:xfrm>
              <a:off x="204" y="3489"/>
              <a:ext cx="19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3.</a:t>
              </a:r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计算平方误差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3021" name="Group 0"/>
            <p:cNvGrpSpPr/>
            <p:nvPr/>
          </p:nvGrpSpPr>
          <p:grpSpPr>
            <a:xfrm>
              <a:off x="2095" y="3367"/>
              <a:ext cx="3638" cy="652"/>
              <a:chOff x="1951" y="3349"/>
              <a:chExt cx="3638" cy="652"/>
            </a:xfrm>
          </p:grpSpPr>
          <p:graphicFrame>
            <p:nvGraphicFramePr>
              <p:cNvPr id="43012" name="Object 4"/>
              <p:cNvGraphicFramePr/>
              <p:nvPr/>
            </p:nvGraphicFramePr>
            <p:xfrm>
              <a:off x="1951" y="3349"/>
              <a:ext cx="3279" cy="6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1" imgW="2183765" imgH="431800" progId="Equation.3">
                      <p:embed/>
                    </p:oleObj>
                  </mc:Choice>
                  <mc:Fallback>
                    <p:oleObj name="" r:id="rId1" imgW="2183765" imgH="4318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951" y="3349"/>
                            <a:ext cx="3279" cy="6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22" name="Text Box 11"/>
              <p:cNvSpPr txBox="1"/>
              <p:nvPr/>
            </p:nvSpPr>
            <p:spPr>
              <a:xfrm>
                <a:off x="5249" y="3492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17"/>
          <p:cNvGrpSpPr/>
          <p:nvPr/>
        </p:nvGrpSpPr>
        <p:grpSpPr>
          <a:xfrm>
            <a:off x="327025" y="4446588"/>
            <a:ext cx="4464050" cy="1068387"/>
            <a:chOff x="811" y="2709"/>
            <a:chExt cx="2812" cy="673"/>
          </a:xfrm>
        </p:grpSpPr>
        <p:graphicFrame>
          <p:nvGraphicFramePr>
            <p:cNvPr id="43011" name="Object 3"/>
            <p:cNvGraphicFramePr/>
            <p:nvPr/>
          </p:nvGraphicFramePr>
          <p:xfrm>
            <a:off x="1406" y="2709"/>
            <a:ext cx="1860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218565" imgH="444500" progId="Equation.3">
                    <p:embed/>
                  </p:oleObj>
                </mc:Choice>
                <mc:Fallback>
                  <p:oleObj name="" r:id="rId3" imgW="1218565" imgH="4445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6" y="2709"/>
                          <a:ext cx="1860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9" name="Text Box 16"/>
            <p:cNvSpPr txBox="1"/>
            <p:nvPr/>
          </p:nvSpPr>
          <p:spPr>
            <a:xfrm>
              <a:off x="811" y="2804"/>
              <a:ext cx="28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求得</a:t>
              </a:r>
              <a:r>
                <a:rPr lang="zh-CN" altLang="en-US" dirty="0">
                  <a:latin typeface="Times New Roman" panose="02020603050405020304" pitchFamily="18" charset="0"/>
                </a:rPr>
                <a:t>        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87746" name="Object 2"/>
          <p:cNvGraphicFramePr/>
          <p:nvPr/>
        </p:nvGraphicFramePr>
        <p:xfrm>
          <a:off x="585788" y="2292350"/>
          <a:ext cx="7808912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3251200" imgH="939800" progId="Equation.DSMT4">
                  <p:embed/>
                </p:oleObj>
              </mc:Choice>
              <mc:Fallback>
                <p:oleObj name="" r:id="rId5" imgW="3251200" imgH="939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788" y="2292350"/>
                        <a:ext cx="7808912" cy="224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26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6787">
                                            <p:txEl>
                                              <p:charRg st="26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8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4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3015" name="Rectangle 2"/>
          <p:cNvSpPr>
            <a:spLocks noGrp="1"/>
          </p:cNvSpPr>
          <p:nvPr>
            <p:ph type="title"/>
          </p:nvPr>
        </p:nvSpPr>
        <p:spPr>
          <a:xfrm>
            <a:off x="687388" y="71438"/>
            <a:ext cx="7772400" cy="1143000"/>
          </a:xfrm>
        </p:spPr>
        <p:txBody>
          <a:bodyPr vert="horz" wrap="square" lIns="91440" tIns="45720" rIns="91440" bIns="45720" anchor="ctr"/>
          <a:p>
            <a:pPr algn="ctr"/>
            <a:r>
              <a:rPr lang="zh-CN" altLang="en-US" sz="3200" b="1" u="none" dirty="0">
                <a:latin typeface="Times New Roman" panose="02020603050405020304" pitchFamily="18" charset="0"/>
              </a:rPr>
              <a:t>计算曲线拟合问题最小二乘解的步骤：</a:t>
            </a:r>
            <a:endParaRPr lang="zh-CN" altLang="en-US" sz="3200" b="1" u="none" dirty="0">
              <a:latin typeface="Times New Roman" panose="02020603050405020304" pitchFamily="18" charset="0"/>
            </a:endParaRPr>
          </a:p>
        </p:txBody>
      </p:sp>
      <p:sp>
        <p:nvSpPr>
          <p:cNvPr id="246787" name="Rectangle 3"/>
          <p:cNvSpPr>
            <a:spLocks noGrp="1"/>
          </p:cNvSpPr>
          <p:nvPr>
            <p:ph idx="1"/>
          </p:nvPr>
        </p:nvSpPr>
        <p:spPr>
          <a:xfrm>
            <a:off x="347663" y="1155700"/>
            <a:ext cx="8610600" cy="1131888"/>
          </a:xfrm>
        </p:spPr>
        <p:txBody>
          <a:bodyPr vert="horz" wrap="square" lIns="91440" tIns="45720" rIns="91440" bIns="45720" anchor="t"/>
          <a:p>
            <a:pPr marL="533400" indent="-533400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首先需确定函数类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3200" dirty="0"/>
              <a:t>，</a:t>
            </a:r>
            <a:r>
              <a:rPr lang="zh-CN" altLang="en-US" sz="3200" dirty="0">
                <a:ea typeface="黑体" panose="02010609060101010101" pitchFamily="49" charset="-122"/>
              </a:rPr>
              <a:t>即确定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ea typeface="黑体" panose="02010609060101010101" pitchFamily="49" charset="-122"/>
              </a:rPr>
              <a:t>的形式。</a:t>
            </a:r>
            <a:endParaRPr lang="zh-CN" altLang="en-US" sz="3200" dirty="0">
              <a:ea typeface="黑体" panose="02010609060101010101" pitchFamily="49" charset="-122"/>
            </a:endParaRPr>
          </a:p>
          <a:p>
            <a:pPr marL="533400" indent="-533400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2.</a:t>
            </a:r>
            <a:r>
              <a:rPr lang="zh-CN" altLang="en-US" sz="3200" dirty="0">
                <a:ea typeface="黑体" panose="02010609060101010101" pitchFamily="49" charset="-122"/>
              </a:rPr>
              <a:t>解以</a:t>
            </a:r>
            <a:r>
              <a:rPr lang="zh-CN" altLang="en-US" sz="3200" dirty="0"/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en-US" altLang="zh-CN" sz="3200" baseline="16000" dirty="0">
                <a:latin typeface="Times New Roman" panose="02020603050405020304" pitchFamily="18" charset="0"/>
              </a:rPr>
              <a:t>. . . 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为未知元的线性法方程组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23850" y="5230813"/>
            <a:ext cx="8777288" cy="1035050"/>
            <a:chOff x="204" y="3367"/>
            <a:chExt cx="5529" cy="652"/>
          </a:xfrm>
        </p:grpSpPr>
        <p:sp>
          <p:nvSpPr>
            <p:cNvPr id="43020" name="Text Box 8"/>
            <p:cNvSpPr txBox="1"/>
            <p:nvPr/>
          </p:nvSpPr>
          <p:spPr>
            <a:xfrm>
              <a:off x="204" y="3489"/>
              <a:ext cx="19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3.</a:t>
              </a:r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计算平方误差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3021" name="Group 0"/>
            <p:cNvGrpSpPr/>
            <p:nvPr/>
          </p:nvGrpSpPr>
          <p:grpSpPr>
            <a:xfrm>
              <a:off x="2095" y="3367"/>
              <a:ext cx="3638" cy="652"/>
              <a:chOff x="1951" y="3349"/>
              <a:chExt cx="3638" cy="652"/>
            </a:xfrm>
          </p:grpSpPr>
          <p:graphicFrame>
            <p:nvGraphicFramePr>
              <p:cNvPr id="43012" name="Object 4"/>
              <p:cNvGraphicFramePr/>
              <p:nvPr/>
            </p:nvGraphicFramePr>
            <p:xfrm>
              <a:off x="1951" y="3349"/>
              <a:ext cx="3279" cy="6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1" imgW="2183765" imgH="431800" progId="Equation.3">
                      <p:embed/>
                    </p:oleObj>
                  </mc:Choice>
                  <mc:Fallback>
                    <p:oleObj name="" r:id="rId1" imgW="2183765" imgH="4318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951" y="3349"/>
                            <a:ext cx="3279" cy="6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22" name="Text Box 11"/>
              <p:cNvSpPr txBox="1"/>
              <p:nvPr/>
            </p:nvSpPr>
            <p:spPr>
              <a:xfrm>
                <a:off x="5249" y="3492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17"/>
          <p:cNvGrpSpPr/>
          <p:nvPr/>
        </p:nvGrpSpPr>
        <p:grpSpPr>
          <a:xfrm>
            <a:off x="327025" y="4446588"/>
            <a:ext cx="4464050" cy="1068387"/>
            <a:chOff x="811" y="2709"/>
            <a:chExt cx="2812" cy="673"/>
          </a:xfrm>
        </p:grpSpPr>
        <p:graphicFrame>
          <p:nvGraphicFramePr>
            <p:cNvPr id="43011" name="Object 3"/>
            <p:cNvGraphicFramePr/>
            <p:nvPr/>
          </p:nvGraphicFramePr>
          <p:xfrm>
            <a:off x="1406" y="2709"/>
            <a:ext cx="1860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218565" imgH="444500" progId="Equation.3">
                    <p:embed/>
                  </p:oleObj>
                </mc:Choice>
                <mc:Fallback>
                  <p:oleObj name="" r:id="rId3" imgW="1218565" imgH="4445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6" y="2709"/>
                          <a:ext cx="1860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9" name="Text Box 16"/>
            <p:cNvSpPr txBox="1"/>
            <p:nvPr/>
          </p:nvSpPr>
          <p:spPr>
            <a:xfrm>
              <a:off x="811" y="2804"/>
              <a:ext cx="28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求得</a:t>
              </a:r>
              <a:r>
                <a:rPr lang="zh-CN" altLang="en-US" dirty="0">
                  <a:latin typeface="Times New Roman" panose="02020603050405020304" pitchFamily="18" charset="0"/>
                </a:rPr>
                <a:t>        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87746" name="Object 2"/>
          <p:cNvGraphicFramePr/>
          <p:nvPr/>
        </p:nvGraphicFramePr>
        <p:xfrm>
          <a:off x="585788" y="2292350"/>
          <a:ext cx="7808912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3251200" imgH="939800" progId="Equation.DSMT4">
                  <p:embed/>
                </p:oleObj>
              </mc:Choice>
              <mc:Fallback>
                <p:oleObj name="" r:id="rId5" imgW="3251200" imgH="939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788" y="2292350"/>
                        <a:ext cx="7808912" cy="224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26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6787">
                                            <p:txEl>
                                              <p:charRg st="26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8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200025" y="212725"/>
            <a:ext cx="7772400" cy="817563"/>
          </a:xfrm>
        </p:spPr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7.6.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已知一组数据如下：</a:t>
            </a:r>
            <a:endParaRPr lang="zh-CN" altLang="en-US" sz="4400" dirty="0"/>
          </a:p>
        </p:txBody>
      </p:sp>
      <p:grpSp>
        <p:nvGrpSpPr>
          <p:cNvPr id="73733" name="Group 81"/>
          <p:cNvGrpSpPr>
            <a:grpSpLocks noChangeAspect="1"/>
          </p:cNvGrpSpPr>
          <p:nvPr/>
        </p:nvGrpSpPr>
        <p:grpSpPr>
          <a:xfrm>
            <a:off x="0" y="1308100"/>
            <a:ext cx="9144000" cy="1247775"/>
            <a:chOff x="-3" y="-3"/>
            <a:chExt cx="2891" cy="812"/>
          </a:xfrm>
        </p:grpSpPr>
        <p:grpSp>
          <p:nvGrpSpPr>
            <p:cNvPr id="73736" name="Group 79"/>
            <p:cNvGrpSpPr>
              <a:grpSpLocks noChangeAspect="1"/>
            </p:cNvGrpSpPr>
            <p:nvPr/>
          </p:nvGrpSpPr>
          <p:grpSpPr>
            <a:xfrm>
              <a:off x="0" y="0"/>
              <a:ext cx="2885" cy="806"/>
              <a:chOff x="0" y="0"/>
              <a:chExt cx="2885" cy="806"/>
            </a:xfrm>
          </p:grpSpPr>
          <p:grpSp>
            <p:nvGrpSpPr>
              <p:cNvPr id="73738" name="Group 56"/>
              <p:cNvGrpSpPr>
                <a:grpSpLocks noChangeAspect="1"/>
              </p:cNvGrpSpPr>
              <p:nvPr/>
            </p:nvGrpSpPr>
            <p:grpSpPr>
              <a:xfrm>
                <a:off x="0" y="0"/>
                <a:ext cx="555" cy="403"/>
                <a:chOff x="0" y="0"/>
                <a:chExt cx="555" cy="403"/>
              </a:xfrm>
            </p:grpSpPr>
            <p:sp>
              <p:nvSpPr>
                <p:cNvPr id="73772" name="Rectangle 43"/>
                <p:cNvSpPr>
                  <a:spLocks noChangeAspect="1"/>
                </p:cNvSpPr>
                <p:nvPr/>
              </p:nvSpPr>
              <p:spPr>
                <a:xfrm>
                  <a:off x="43" y="0"/>
                  <a:ext cx="469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endParaRPr lang="en-US" altLang="zh-CN" sz="2400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73" name="Rectangle 55"/>
                <p:cNvSpPr>
                  <a:spLocks noChangeAspect="1"/>
                </p:cNvSpPr>
                <p:nvPr/>
              </p:nvSpPr>
              <p:spPr>
                <a:xfrm>
                  <a:off x="0" y="0"/>
                  <a:ext cx="555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39" name="Group 58"/>
              <p:cNvGrpSpPr>
                <a:grpSpLocks noChangeAspect="1"/>
              </p:cNvGrpSpPr>
              <p:nvPr/>
            </p:nvGrpSpPr>
            <p:grpSpPr>
              <a:xfrm>
                <a:off x="555" y="0"/>
                <a:ext cx="466" cy="403"/>
                <a:chOff x="555" y="0"/>
                <a:chExt cx="466" cy="403"/>
              </a:xfrm>
            </p:grpSpPr>
            <p:sp>
              <p:nvSpPr>
                <p:cNvPr id="73770" name="Rectangle 44"/>
                <p:cNvSpPr>
                  <a:spLocks noChangeAspect="1"/>
                </p:cNvSpPr>
                <p:nvPr/>
              </p:nvSpPr>
              <p:spPr>
                <a:xfrm>
                  <a:off x="598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71" name="Rectangle 57"/>
                <p:cNvSpPr>
                  <a:spLocks noChangeAspect="1"/>
                </p:cNvSpPr>
                <p:nvPr/>
              </p:nvSpPr>
              <p:spPr>
                <a:xfrm>
                  <a:off x="555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0" name="Group 60"/>
              <p:cNvGrpSpPr>
                <a:grpSpLocks noChangeAspect="1"/>
              </p:cNvGrpSpPr>
              <p:nvPr/>
            </p:nvGrpSpPr>
            <p:grpSpPr>
              <a:xfrm>
                <a:off x="1021" y="0"/>
                <a:ext cx="466" cy="403"/>
                <a:chOff x="1021" y="0"/>
                <a:chExt cx="466" cy="403"/>
              </a:xfrm>
            </p:grpSpPr>
            <p:sp>
              <p:nvSpPr>
                <p:cNvPr id="73768" name="Rectangle 45"/>
                <p:cNvSpPr>
                  <a:spLocks noChangeAspect="1"/>
                </p:cNvSpPr>
                <p:nvPr/>
              </p:nvSpPr>
              <p:spPr>
                <a:xfrm>
                  <a:off x="1064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0.25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69" name="Rectangle 59"/>
                <p:cNvSpPr>
                  <a:spLocks noChangeAspect="1"/>
                </p:cNvSpPr>
                <p:nvPr/>
              </p:nvSpPr>
              <p:spPr>
                <a:xfrm>
                  <a:off x="1021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1" name="Group 62"/>
              <p:cNvGrpSpPr>
                <a:grpSpLocks noChangeAspect="1"/>
              </p:cNvGrpSpPr>
              <p:nvPr/>
            </p:nvGrpSpPr>
            <p:grpSpPr>
              <a:xfrm>
                <a:off x="1487" y="0"/>
                <a:ext cx="466" cy="403"/>
                <a:chOff x="1487" y="0"/>
                <a:chExt cx="466" cy="403"/>
              </a:xfrm>
            </p:grpSpPr>
            <p:sp>
              <p:nvSpPr>
                <p:cNvPr id="73766" name="Rectangle 46"/>
                <p:cNvSpPr>
                  <a:spLocks noChangeAspect="1"/>
                </p:cNvSpPr>
                <p:nvPr/>
              </p:nvSpPr>
              <p:spPr>
                <a:xfrm>
                  <a:off x="1530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0.50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67" name="Rectangle 61"/>
                <p:cNvSpPr>
                  <a:spLocks noChangeAspect="1"/>
                </p:cNvSpPr>
                <p:nvPr/>
              </p:nvSpPr>
              <p:spPr>
                <a:xfrm>
                  <a:off x="1487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2" name="Group 64"/>
              <p:cNvGrpSpPr>
                <a:grpSpLocks noChangeAspect="1"/>
              </p:cNvGrpSpPr>
              <p:nvPr/>
            </p:nvGrpSpPr>
            <p:grpSpPr>
              <a:xfrm>
                <a:off x="1953" y="0"/>
                <a:ext cx="466" cy="403"/>
                <a:chOff x="1953" y="0"/>
                <a:chExt cx="466" cy="403"/>
              </a:xfrm>
            </p:grpSpPr>
            <p:sp>
              <p:nvSpPr>
                <p:cNvPr id="73764" name="Rectangle 47"/>
                <p:cNvSpPr>
                  <a:spLocks noChangeAspect="1"/>
                </p:cNvSpPr>
                <p:nvPr/>
              </p:nvSpPr>
              <p:spPr>
                <a:xfrm>
                  <a:off x="1996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0.75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65" name="Rectangle 63"/>
                <p:cNvSpPr>
                  <a:spLocks noChangeAspect="1"/>
                </p:cNvSpPr>
                <p:nvPr/>
              </p:nvSpPr>
              <p:spPr>
                <a:xfrm>
                  <a:off x="1953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3" name="Group 66"/>
              <p:cNvGrpSpPr>
                <a:grpSpLocks noChangeAspect="1"/>
              </p:cNvGrpSpPr>
              <p:nvPr/>
            </p:nvGrpSpPr>
            <p:grpSpPr>
              <a:xfrm>
                <a:off x="2419" y="0"/>
                <a:ext cx="466" cy="403"/>
                <a:chOff x="2419" y="0"/>
                <a:chExt cx="466" cy="403"/>
              </a:xfrm>
            </p:grpSpPr>
            <p:sp>
              <p:nvSpPr>
                <p:cNvPr id="73762" name="Rectangle 48"/>
                <p:cNvSpPr>
                  <a:spLocks noChangeAspect="1"/>
                </p:cNvSpPr>
                <p:nvPr/>
              </p:nvSpPr>
              <p:spPr>
                <a:xfrm>
                  <a:off x="2462" y="0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1.00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63" name="Rectangle 65"/>
                <p:cNvSpPr>
                  <a:spLocks noChangeAspect="1"/>
                </p:cNvSpPr>
                <p:nvPr/>
              </p:nvSpPr>
              <p:spPr>
                <a:xfrm>
                  <a:off x="2419" y="0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4" name="Group 68"/>
              <p:cNvGrpSpPr>
                <a:grpSpLocks noChangeAspect="1"/>
              </p:cNvGrpSpPr>
              <p:nvPr/>
            </p:nvGrpSpPr>
            <p:grpSpPr>
              <a:xfrm>
                <a:off x="0" y="403"/>
                <a:ext cx="555" cy="403"/>
                <a:chOff x="0" y="403"/>
                <a:chExt cx="555" cy="403"/>
              </a:xfrm>
            </p:grpSpPr>
            <p:sp>
              <p:nvSpPr>
                <p:cNvPr id="73760" name="Rectangle 49"/>
                <p:cNvSpPr>
                  <a:spLocks noChangeAspect="1"/>
                </p:cNvSpPr>
                <p:nvPr/>
              </p:nvSpPr>
              <p:spPr>
                <a:xfrm>
                  <a:off x="43" y="403"/>
                  <a:ext cx="469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i="1" baseline="-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61" name="Rectangle 67"/>
                <p:cNvSpPr>
                  <a:spLocks noChangeAspect="1"/>
                </p:cNvSpPr>
                <p:nvPr/>
              </p:nvSpPr>
              <p:spPr>
                <a:xfrm>
                  <a:off x="0" y="403"/>
                  <a:ext cx="555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5" name="Group 70"/>
              <p:cNvGrpSpPr>
                <a:grpSpLocks noChangeAspect="1"/>
              </p:cNvGrpSpPr>
              <p:nvPr/>
            </p:nvGrpSpPr>
            <p:grpSpPr>
              <a:xfrm>
                <a:off x="555" y="403"/>
                <a:ext cx="466" cy="403"/>
                <a:chOff x="555" y="403"/>
                <a:chExt cx="466" cy="403"/>
              </a:xfrm>
            </p:grpSpPr>
            <p:sp>
              <p:nvSpPr>
                <p:cNvPr id="73758" name="Rectangle 50"/>
                <p:cNvSpPr>
                  <a:spLocks noChangeAspect="1"/>
                </p:cNvSpPr>
                <p:nvPr/>
              </p:nvSpPr>
              <p:spPr>
                <a:xfrm>
                  <a:off x="598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1.0000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9" name="Rectangle 69"/>
                <p:cNvSpPr>
                  <a:spLocks noChangeAspect="1"/>
                </p:cNvSpPr>
                <p:nvPr/>
              </p:nvSpPr>
              <p:spPr>
                <a:xfrm>
                  <a:off x="555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6" name="Group 72"/>
              <p:cNvGrpSpPr>
                <a:grpSpLocks noChangeAspect="1"/>
              </p:cNvGrpSpPr>
              <p:nvPr/>
            </p:nvGrpSpPr>
            <p:grpSpPr>
              <a:xfrm>
                <a:off x="1021" y="403"/>
                <a:ext cx="466" cy="403"/>
                <a:chOff x="1021" y="403"/>
                <a:chExt cx="466" cy="403"/>
              </a:xfrm>
            </p:grpSpPr>
            <p:sp>
              <p:nvSpPr>
                <p:cNvPr id="73756" name="Rectangle 51"/>
                <p:cNvSpPr>
                  <a:spLocks noChangeAspect="1"/>
                </p:cNvSpPr>
                <p:nvPr/>
              </p:nvSpPr>
              <p:spPr>
                <a:xfrm>
                  <a:off x="1064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1.2840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7" name="Rectangle 71"/>
                <p:cNvSpPr>
                  <a:spLocks noChangeAspect="1"/>
                </p:cNvSpPr>
                <p:nvPr/>
              </p:nvSpPr>
              <p:spPr>
                <a:xfrm>
                  <a:off x="1021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7" name="Group 74"/>
              <p:cNvGrpSpPr>
                <a:grpSpLocks noChangeAspect="1"/>
              </p:cNvGrpSpPr>
              <p:nvPr/>
            </p:nvGrpSpPr>
            <p:grpSpPr>
              <a:xfrm>
                <a:off x="1487" y="403"/>
                <a:ext cx="466" cy="403"/>
                <a:chOff x="1487" y="403"/>
                <a:chExt cx="466" cy="403"/>
              </a:xfrm>
            </p:grpSpPr>
            <p:sp>
              <p:nvSpPr>
                <p:cNvPr id="73754" name="Rectangle 52"/>
                <p:cNvSpPr>
                  <a:spLocks noChangeAspect="1"/>
                </p:cNvSpPr>
                <p:nvPr/>
              </p:nvSpPr>
              <p:spPr>
                <a:xfrm>
                  <a:off x="1530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1.6487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5" name="Rectangle 73"/>
                <p:cNvSpPr>
                  <a:spLocks noChangeAspect="1"/>
                </p:cNvSpPr>
                <p:nvPr/>
              </p:nvSpPr>
              <p:spPr>
                <a:xfrm>
                  <a:off x="1487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8" name="Group 76"/>
              <p:cNvGrpSpPr>
                <a:grpSpLocks noChangeAspect="1"/>
              </p:cNvGrpSpPr>
              <p:nvPr/>
            </p:nvGrpSpPr>
            <p:grpSpPr>
              <a:xfrm>
                <a:off x="1953" y="403"/>
                <a:ext cx="466" cy="403"/>
                <a:chOff x="1953" y="403"/>
                <a:chExt cx="466" cy="403"/>
              </a:xfrm>
            </p:grpSpPr>
            <p:sp>
              <p:nvSpPr>
                <p:cNvPr id="73752" name="Rectangle 53"/>
                <p:cNvSpPr>
                  <a:spLocks noChangeAspect="1"/>
                </p:cNvSpPr>
                <p:nvPr/>
              </p:nvSpPr>
              <p:spPr>
                <a:xfrm>
                  <a:off x="1996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2.1170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3" name="Rectangle 75"/>
                <p:cNvSpPr>
                  <a:spLocks noChangeAspect="1"/>
                </p:cNvSpPr>
                <p:nvPr/>
              </p:nvSpPr>
              <p:spPr>
                <a:xfrm>
                  <a:off x="1953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749" name="Group 78"/>
              <p:cNvGrpSpPr>
                <a:grpSpLocks noChangeAspect="1"/>
              </p:cNvGrpSpPr>
              <p:nvPr/>
            </p:nvGrpSpPr>
            <p:grpSpPr>
              <a:xfrm>
                <a:off x="2419" y="403"/>
                <a:ext cx="466" cy="403"/>
                <a:chOff x="2419" y="403"/>
                <a:chExt cx="466" cy="403"/>
              </a:xfrm>
            </p:grpSpPr>
            <p:sp>
              <p:nvSpPr>
                <p:cNvPr id="73750" name="Rectangle 54"/>
                <p:cNvSpPr>
                  <a:spLocks noChangeAspect="1"/>
                </p:cNvSpPr>
                <p:nvPr/>
              </p:nvSpPr>
              <p:spPr>
                <a:xfrm>
                  <a:off x="2462" y="403"/>
                  <a:ext cx="38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2.7183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751" name="Rectangle 77"/>
                <p:cNvSpPr>
                  <a:spLocks noChangeAspect="1"/>
                </p:cNvSpPr>
                <p:nvPr/>
              </p:nvSpPr>
              <p:spPr>
                <a:xfrm>
                  <a:off x="2419" y="403"/>
                  <a:ext cx="46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3737" name="Rectangle 80"/>
            <p:cNvSpPr>
              <a:spLocks noChangeAspect="1"/>
            </p:cNvSpPr>
            <p:nvPr/>
          </p:nvSpPr>
          <p:spPr>
            <a:xfrm>
              <a:off x="-3" y="-3"/>
              <a:ext cx="2891" cy="812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3734" name="Text Box 82"/>
          <p:cNvSpPr txBox="1"/>
          <p:nvPr/>
        </p:nvSpPr>
        <p:spPr>
          <a:xfrm>
            <a:off x="49213" y="2767013"/>
            <a:ext cx="41973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求问题的最小二乘解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13075" name="Text Box 83"/>
          <p:cNvSpPr txBox="1"/>
          <p:nvPr/>
        </p:nvSpPr>
        <p:spPr>
          <a:xfrm>
            <a:off x="136525" y="3535363"/>
            <a:ext cx="8821738" cy="2041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解：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3200" dirty="0">
                <a:latin typeface="Times New Roman" panose="02020603050405020304" pitchFamily="18" charset="0"/>
              </a:rPr>
              <a:t>首先确定拟合函数类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</a:rPr>
              <a:t>将上述数据描绘在坐标纸上，发现这些点近似一直线，由近似一条抛物线，故可用一次或二次多项式来拟合。</a:t>
            </a:r>
            <a:endParaRPr lang="zh-CN" altLang="en-US" sz="32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7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5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pic>
        <p:nvPicPr>
          <p:cNvPr id="215042" name="Picture 2"/>
          <p:cNvPicPr>
            <a:picLocks noChangeAspect="1"/>
          </p:cNvPicPr>
          <p:nvPr/>
        </p:nvPicPr>
        <p:blipFill>
          <a:blip r:embed="rId1"/>
          <a:srcRect l="5624" t="3749" r="5624"/>
          <a:stretch>
            <a:fillRect/>
          </a:stretch>
        </p:blipFill>
        <p:spPr>
          <a:xfrm>
            <a:off x="471488" y="111125"/>
            <a:ext cx="8137525" cy="6627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pSp>
        <p:nvGrpSpPr>
          <p:cNvPr id="2" name="Group 25"/>
          <p:cNvGrpSpPr/>
          <p:nvPr/>
        </p:nvGrpSpPr>
        <p:grpSpPr>
          <a:xfrm>
            <a:off x="333375" y="460375"/>
            <a:ext cx="8569325" cy="620713"/>
            <a:chOff x="140" y="290"/>
            <a:chExt cx="5398" cy="391"/>
          </a:xfrm>
        </p:grpSpPr>
        <p:sp>
          <p:nvSpPr>
            <p:cNvPr id="44043" name="Text Box 2"/>
            <p:cNvSpPr txBox="1"/>
            <p:nvPr/>
          </p:nvSpPr>
          <p:spPr>
            <a:xfrm>
              <a:off x="140" y="290"/>
              <a:ext cx="539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(2) 利用直线                            来拟合上述数据。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36" name="Object 3"/>
            <p:cNvGraphicFramePr/>
            <p:nvPr/>
          </p:nvGraphicFramePr>
          <p:xfrm>
            <a:off x="1683" y="302"/>
            <a:ext cx="1578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1" imgW="1015365" imgH="241300" progId="Equation.3">
                    <p:embed/>
                  </p:oleObj>
                </mc:Choice>
                <mc:Fallback>
                  <p:oleObj name="" r:id="rId1" imgW="1015365" imgH="2413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83" y="302"/>
                          <a:ext cx="1578" cy="3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6"/>
          <p:cNvGrpSpPr/>
          <p:nvPr/>
        </p:nvGrpSpPr>
        <p:grpSpPr>
          <a:xfrm>
            <a:off x="396875" y="1112838"/>
            <a:ext cx="8029575" cy="601662"/>
            <a:chOff x="140" y="701"/>
            <a:chExt cx="5058" cy="379"/>
          </a:xfrm>
        </p:grpSpPr>
        <p:sp>
          <p:nvSpPr>
            <p:cNvPr id="44042" name="Text Box 6"/>
            <p:cNvSpPr txBox="1"/>
            <p:nvPr/>
          </p:nvSpPr>
          <p:spPr>
            <a:xfrm>
              <a:off x="140" y="701"/>
              <a:ext cx="505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即在函数空间 </a:t>
              </a:r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= span {1,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}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中寻找           。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35" name="Object 7"/>
            <p:cNvGraphicFramePr/>
            <p:nvPr/>
          </p:nvGraphicFramePr>
          <p:xfrm>
            <a:off x="4165" y="721"/>
            <a:ext cx="60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3" imgW="381000" imgH="228600" progId="Equation.3">
                    <p:embed/>
                  </p:oleObj>
                </mc:Choice>
                <mc:Fallback>
                  <p:oleObj name="" r:id="rId3" imgW="381000" imgH="2286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65" y="721"/>
                          <a:ext cx="603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7337" name="Text Box 9"/>
          <p:cNvSpPr txBox="1"/>
          <p:nvPr/>
        </p:nvSpPr>
        <p:spPr>
          <a:xfrm>
            <a:off x="341313" y="1827213"/>
            <a:ext cx="8547100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此问题中，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=1，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=4， 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3200" baseline="-30000" dirty="0">
                <a:latin typeface="Times New Roman" panose="02020603050405020304" pitchFamily="18" charset="0"/>
              </a:rPr>
              <a:t>0</a:t>
            </a: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=1，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没有给出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则认为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1。</a:t>
            </a:r>
            <a:r>
              <a:rPr lang="zh-CN" altLang="en-US" sz="3200" dirty="0">
                <a:latin typeface="Times New Roman" panose="02020603050405020304" pitchFamily="18" charset="0"/>
              </a:rPr>
              <a:t>从而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和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3200" dirty="0">
                <a:latin typeface="Times New Roman" panose="02020603050405020304" pitchFamily="18" charset="0"/>
              </a:rPr>
              <a:t>满足法方程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7338" name="Object 10"/>
          <p:cNvGraphicFramePr/>
          <p:nvPr/>
        </p:nvGraphicFramePr>
        <p:xfrm>
          <a:off x="1527175" y="3886200"/>
          <a:ext cx="5729288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5" imgW="2284730" imgH="482600" progId="Equation.3">
                  <p:embed/>
                </p:oleObj>
              </mc:Choice>
              <mc:Fallback>
                <p:oleObj name="" r:id="rId5" imgW="2284730" imgH="4826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7175" y="3886200"/>
                        <a:ext cx="5729288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>
                                            <p:txEl>
                                              <p:charRg st="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7337">
                                            <p:txEl>
                                              <p:charRg st="0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50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通过计算，有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585788" y="1193800"/>
            <a:ext cx="3302000" cy="1035050"/>
            <a:chOff x="1928" y="872"/>
            <a:chExt cx="2080" cy="652"/>
          </a:xfrm>
        </p:grpSpPr>
        <p:graphicFrame>
          <p:nvGraphicFramePr>
            <p:cNvPr id="45063" name="Object 7"/>
            <p:cNvGraphicFramePr/>
            <p:nvPr/>
          </p:nvGraphicFramePr>
          <p:xfrm>
            <a:off x="1928" y="872"/>
            <a:ext cx="1802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1" imgW="1206500" imgH="431800" progId="Equation.3">
                    <p:embed/>
                  </p:oleObj>
                </mc:Choice>
                <mc:Fallback>
                  <p:oleObj name="" r:id="rId1" imgW="1206500" imgH="4318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8" y="872"/>
                          <a:ext cx="1802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Rectangle 9"/>
            <p:cNvSpPr/>
            <p:nvPr/>
          </p:nvSpPr>
          <p:spPr>
            <a:xfrm>
              <a:off x="3668" y="1040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625475" y="2341563"/>
            <a:ext cx="3814763" cy="1036637"/>
            <a:chOff x="394" y="1515"/>
            <a:chExt cx="2403" cy="653"/>
          </a:xfrm>
        </p:grpSpPr>
        <p:graphicFrame>
          <p:nvGraphicFramePr>
            <p:cNvPr id="45062" name="Object 6"/>
            <p:cNvGraphicFramePr/>
            <p:nvPr/>
          </p:nvGraphicFramePr>
          <p:xfrm>
            <a:off x="394" y="1515"/>
            <a:ext cx="2115" cy="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3" imgW="1409065" imgH="431800" progId="Equation.3">
                    <p:embed/>
                  </p:oleObj>
                </mc:Choice>
                <mc:Fallback>
                  <p:oleObj name="" r:id="rId3" imgW="1409065" imgH="4318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4" y="1515"/>
                          <a:ext cx="2115" cy="6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5" name="Rectangle 10"/>
            <p:cNvSpPr/>
            <p:nvPr/>
          </p:nvSpPr>
          <p:spPr>
            <a:xfrm>
              <a:off x="2457" y="1683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4240213" y="2357438"/>
            <a:ext cx="4116387" cy="1035050"/>
            <a:chOff x="2771" y="1525"/>
            <a:chExt cx="2593" cy="652"/>
          </a:xfrm>
        </p:grpSpPr>
        <p:graphicFrame>
          <p:nvGraphicFramePr>
            <p:cNvPr id="45061" name="Object 5"/>
            <p:cNvGraphicFramePr/>
            <p:nvPr/>
          </p:nvGraphicFramePr>
          <p:xfrm>
            <a:off x="2771" y="1525"/>
            <a:ext cx="2319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5" imgW="1548765" imgH="431800" progId="Equation.3">
                    <p:embed/>
                  </p:oleObj>
                </mc:Choice>
                <mc:Fallback>
                  <p:oleObj name="" r:id="rId5" imgW="1548765" imgH="4318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71" y="1525"/>
                          <a:ext cx="2319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4" name="Rectangle 11"/>
            <p:cNvSpPr/>
            <p:nvPr/>
          </p:nvSpPr>
          <p:spPr>
            <a:xfrm>
              <a:off x="5024" y="1704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642938" y="3560763"/>
            <a:ext cx="4229100" cy="1035050"/>
            <a:chOff x="405" y="2353"/>
            <a:chExt cx="2664" cy="652"/>
          </a:xfrm>
        </p:grpSpPr>
        <p:graphicFrame>
          <p:nvGraphicFramePr>
            <p:cNvPr id="45060" name="Object 4"/>
            <p:cNvGraphicFramePr/>
            <p:nvPr/>
          </p:nvGraphicFramePr>
          <p:xfrm>
            <a:off x="405" y="2353"/>
            <a:ext cx="2374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7" imgW="1587500" imgH="431800" progId="Equation.3">
                    <p:embed/>
                  </p:oleObj>
                </mc:Choice>
                <mc:Fallback>
                  <p:oleObj name="" r:id="rId7" imgW="1587500" imgH="4318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5" y="2353"/>
                          <a:ext cx="2374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Rectangle 12"/>
            <p:cNvSpPr/>
            <p:nvPr/>
          </p:nvSpPr>
          <p:spPr>
            <a:xfrm>
              <a:off x="2729" y="2504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8"/>
          <p:cNvGrpSpPr/>
          <p:nvPr/>
        </p:nvGrpSpPr>
        <p:grpSpPr>
          <a:xfrm>
            <a:off x="708025" y="4737100"/>
            <a:ext cx="4505325" cy="1035050"/>
            <a:chOff x="496" y="3124"/>
            <a:chExt cx="2838" cy="652"/>
          </a:xfrm>
        </p:grpSpPr>
        <p:graphicFrame>
          <p:nvGraphicFramePr>
            <p:cNvPr id="45059" name="Object 3"/>
            <p:cNvGraphicFramePr/>
            <p:nvPr/>
          </p:nvGraphicFramePr>
          <p:xfrm>
            <a:off x="496" y="3124"/>
            <a:ext cx="2569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9" imgW="1714500" imgH="431800" progId="Equation.3">
                    <p:embed/>
                  </p:oleObj>
                </mc:Choice>
                <mc:Fallback>
                  <p:oleObj name="" r:id="rId9" imgW="1714500" imgH="43180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6" y="3124"/>
                          <a:ext cx="2569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2" name="Rectangle 13"/>
            <p:cNvSpPr/>
            <p:nvPr/>
          </p:nvSpPr>
          <p:spPr>
            <a:xfrm>
              <a:off x="2994" y="328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79554" name="Object 2"/>
          <p:cNvGraphicFramePr/>
          <p:nvPr/>
        </p:nvGraphicFramePr>
        <p:xfrm>
          <a:off x="4098925" y="527050"/>
          <a:ext cx="42354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1" imgW="1764665" imgH="431800" progId="Equation.DSMT4">
                  <p:embed/>
                </p:oleObj>
              </mc:Choice>
              <mc:Fallback>
                <p:oleObj name="" r:id="rId11" imgW="1764665" imgH="4318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98925" y="527050"/>
                        <a:ext cx="4235450" cy="10366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8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60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得法方程组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0816" name="Object 0"/>
          <p:cNvGraphicFramePr/>
          <p:nvPr/>
        </p:nvGraphicFramePr>
        <p:xfrm>
          <a:off x="2043113" y="1365250"/>
          <a:ext cx="45339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1803400" imgH="482600" progId="Equation.3">
                  <p:embed/>
                </p:oleObj>
              </mc:Choice>
              <mc:Fallback>
                <p:oleObj name="" r:id="rId1" imgW="1803400" imgH="4826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43113" y="1365250"/>
                        <a:ext cx="4533900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/>
          <p:nvPr/>
        </p:nvGrpSpPr>
        <p:grpSpPr>
          <a:xfrm>
            <a:off x="492125" y="2795588"/>
            <a:ext cx="5238750" cy="604837"/>
            <a:chOff x="450" y="2341"/>
            <a:chExt cx="3300" cy="381"/>
          </a:xfrm>
        </p:grpSpPr>
        <p:sp>
          <p:nvSpPr>
            <p:cNvPr id="46095" name="Text Box 6"/>
            <p:cNvSpPr txBox="1"/>
            <p:nvPr/>
          </p:nvSpPr>
          <p:spPr>
            <a:xfrm>
              <a:off x="450" y="2361"/>
              <a:ext cx="33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解得                     ，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85" name="Object 3"/>
            <p:cNvGraphicFramePr/>
            <p:nvPr/>
          </p:nvGraphicFramePr>
          <p:xfrm>
            <a:off x="994" y="2355"/>
            <a:ext cx="1168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3" imgW="774065" imgH="241300" progId="Equation.3">
                    <p:embed/>
                  </p:oleObj>
                </mc:Choice>
                <mc:Fallback>
                  <p:oleObj name="" r:id="rId3" imgW="774065" imgH="241300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94" y="2355"/>
                          <a:ext cx="1168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6" name="Object 4"/>
            <p:cNvGraphicFramePr/>
            <p:nvPr/>
          </p:nvGraphicFramePr>
          <p:xfrm>
            <a:off x="2314" y="2341"/>
            <a:ext cx="111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" name="" r:id="rId5" imgW="736600" imgH="228600" progId="Equation.3">
                    <p:embed/>
                  </p:oleObj>
                </mc:Choice>
                <mc:Fallback>
                  <p:oleObj name="" r:id="rId5" imgW="736600" imgH="228600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4" y="2341"/>
                          <a:ext cx="1118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/>
          <p:nvPr/>
        </p:nvGrpSpPr>
        <p:grpSpPr>
          <a:xfrm>
            <a:off x="539750" y="3567113"/>
            <a:ext cx="4978400" cy="563562"/>
            <a:chOff x="340" y="2217"/>
            <a:chExt cx="3136" cy="355"/>
          </a:xfrm>
        </p:grpSpPr>
        <p:graphicFrame>
          <p:nvGraphicFramePr>
            <p:cNvPr id="46084" name="Object 2"/>
            <p:cNvGraphicFramePr/>
            <p:nvPr/>
          </p:nvGraphicFramePr>
          <p:xfrm>
            <a:off x="652" y="2226"/>
            <a:ext cx="2448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7" imgW="1612900" imgH="228600" progId="Equation.3">
                    <p:embed/>
                  </p:oleObj>
                </mc:Choice>
                <mc:Fallback>
                  <p:oleObj name="" r:id="rId7" imgW="1612900" imgH="2286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2" y="2226"/>
                          <a:ext cx="2448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4" name="Text Box 14"/>
            <p:cNvSpPr txBox="1"/>
            <p:nvPr/>
          </p:nvSpPr>
          <p:spPr>
            <a:xfrm>
              <a:off x="340" y="2217"/>
              <a:ext cx="31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故                                             。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541338" y="4360863"/>
            <a:ext cx="8172450" cy="1035050"/>
            <a:chOff x="311" y="2547"/>
            <a:chExt cx="5148" cy="652"/>
          </a:xfrm>
        </p:grpSpPr>
        <p:sp>
          <p:nvSpPr>
            <p:cNvPr id="46093" name="Text Box 16"/>
            <p:cNvSpPr txBox="1"/>
            <p:nvPr/>
          </p:nvSpPr>
          <p:spPr>
            <a:xfrm>
              <a:off x="311" y="2701"/>
              <a:ext cx="51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其平方误差                                                                 。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83" name="Object 1"/>
            <p:cNvGraphicFramePr/>
            <p:nvPr/>
          </p:nvGraphicFramePr>
          <p:xfrm>
            <a:off x="1532" y="2547"/>
            <a:ext cx="3620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9" imgW="2413000" imgH="431800" progId="Equation.3">
                    <p:embed/>
                  </p:oleObj>
                </mc:Choice>
                <mc:Fallback>
                  <p:oleObj name="" r:id="rId9" imgW="2413000" imgH="4318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32" y="2547"/>
                          <a:ext cx="3620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47111" name="Rectangle 2"/>
          <p:cNvSpPr>
            <a:spLocks noGrp="1"/>
          </p:cNvSpPr>
          <p:nvPr>
            <p:ph type="title"/>
          </p:nvPr>
        </p:nvSpPr>
        <p:spPr>
          <a:xfrm>
            <a:off x="333375" y="228600"/>
            <a:ext cx="8570913" cy="1143000"/>
          </a:xfrm>
        </p:spPr>
        <p:txBody>
          <a:bodyPr vert="horz" wrap="square" lIns="91440" tIns="45720" rIns="91440" bIns="45720" anchor="ctr"/>
          <a:p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用抛物线                                      拟合上述数据。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47106" name="Object 0"/>
          <p:cNvGraphicFramePr/>
          <p:nvPr/>
        </p:nvGraphicFramePr>
        <p:xfrm>
          <a:off x="2408238" y="569913"/>
          <a:ext cx="32543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1433830" imgH="254000" progId="Equation.3">
                  <p:embed/>
                </p:oleObj>
              </mc:Choice>
              <mc:Fallback>
                <p:oleObj name="" r:id="rId1" imgW="1433830" imgH="2540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8238" y="569913"/>
                        <a:ext cx="3254375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350838" y="1252538"/>
            <a:ext cx="7418387" cy="549275"/>
            <a:chOff x="221" y="789"/>
            <a:chExt cx="4673" cy="346"/>
          </a:xfrm>
        </p:grpSpPr>
        <p:sp>
          <p:nvSpPr>
            <p:cNvPr id="47115" name="Text Box 6"/>
            <p:cNvSpPr txBox="1"/>
            <p:nvPr/>
          </p:nvSpPr>
          <p:spPr>
            <a:xfrm>
              <a:off x="221" y="795"/>
              <a:ext cx="46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即在函数空间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span</a:t>
              </a:r>
              <a:r>
                <a:rPr lang="en-US" altLang="zh-CN" dirty="0">
                  <a:latin typeface="Times New Roman" panose="02020603050405020304" pitchFamily="18" charset="0"/>
                </a:rPr>
                <a:t>{1,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}</a:t>
              </a:r>
              <a:r>
                <a:rPr lang="zh-CN" altLang="en-US" dirty="0">
                  <a:latin typeface="Times New Roman" panose="02020603050405020304" pitchFamily="18" charset="0"/>
                </a:rPr>
                <a:t>中寻找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7108" name="Object 2"/>
            <p:cNvGraphicFramePr/>
            <p:nvPr/>
          </p:nvGraphicFramePr>
          <p:xfrm>
            <a:off x="3972" y="789"/>
            <a:ext cx="6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3" imgW="393700" imgH="228600" progId="Equation.3">
                    <p:embed/>
                  </p:oleObj>
                </mc:Choice>
                <mc:Fallback>
                  <p:oleObj name="" r:id="rId3" imgW="393700" imgH="22860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72" y="789"/>
                          <a:ext cx="6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08" name="Text Box 8"/>
          <p:cNvSpPr txBox="1"/>
          <p:nvPr/>
        </p:nvSpPr>
        <p:spPr>
          <a:xfrm>
            <a:off x="354013" y="1803400"/>
            <a:ext cx="7589837" cy="1031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在此问题中，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= 2，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=4，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>
                <a:latin typeface="Symbol" panose="05050102010706020507" pitchFamily="18" charset="2"/>
                <a:sym typeface="Symbol" panose="05050102010706020507" pitchFamily="18" charset="2"/>
              </a:rPr>
              <a:t>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1 。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1 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其法方程为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1841" name="Object 1"/>
          <p:cNvGraphicFramePr/>
          <p:nvPr/>
        </p:nvGraphicFramePr>
        <p:xfrm>
          <a:off x="971550" y="3024188"/>
          <a:ext cx="6896100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5" imgW="2870200" imgH="711200" progId="Equation.3">
                  <p:embed/>
                </p:oleObj>
              </mc:Choice>
              <mc:Fallback>
                <p:oleObj name="" r:id="rId5" imgW="2870200" imgH="7112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3024188"/>
                        <a:ext cx="6896100" cy="170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2" name="Text Box 12"/>
          <p:cNvSpPr txBox="1"/>
          <p:nvPr/>
        </p:nvSpPr>
        <p:spPr>
          <a:xfrm>
            <a:off x="442913" y="4862513"/>
            <a:ext cx="4883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类似上面的讨论，在只需计算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9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8" grpId="0"/>
      <p:bldP spid="2304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aphicFrame>
        <p:nvGraphicFramePr>
          <p:cNvPr id="231426" name="Object 2"/>
          <p:cNvGraphicFramePr/>
          <p:nvPr/>
        </p:nvGraphicFramePr>
        <p:xfrm>
          <a:off x="1466850" y="733425"/>
          <a:ext cx="36099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1" imgW="1510665" imgH="431800" progId="Equation.DSMT4">
                  <p:embed/>
                </p:oleObj>
              </mc:Choice>
              <mc:Fallback>
                <p:oleObj name="" r:id="rId1" imgW="1510665" imgH="4318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6850" y="733425"/>
                        <a:ext cx="3609975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28" name="Object 4"/>
          <p:cNvGraphicFramePr/>
          <p:nvPr/>
        </p:nvGraphicFramePr>
        <p:xfrm>
          <a:off x="1416050" y="1819275"/>
          <a:ext cx="41211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3" imgW="1727200" imgH="431800" progId="Equation.3">
                  <p:embed/>
                </p:oleObj>
              </mc:Choice>
              <mc:Fallback>
                <p:oleObj name="" r:id="rId3" imgW="1727200" imgH="4318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6050" y="1819275"/>
                        <a:ext cx="4121150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0" name="Object 6"/>
          <p:cNvGraphicFramePr/>
          <p:nvPr/>
        </p:nvGraphicFramePr>
        <p:xfrm>
          <a:off x="1417638" y="2971800"/>
          <a:ext cx="41703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5" imgW="1752600" imgH="431800" progId="Equation.3">
                  <p:embed/>
                </p:oleObj>
              </mc:Choice>
              <mc:Fallback>
                <p:oleObj name="" r:id="rId5" imgW="1752600" imgH="4318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7638" y="2971800"/>
                        <a:ext cx="4170362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2" name="Object 8"/>
          <p:cNvGraphicFramePr/>
          <p:nvPr/>
        </p:nvGraphicFramePr>
        <p:xfrm>
          <a:off x="1466850" y="4230688"/>
          <a:ext cx="41211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7" imgW="1727200" imgH="431800" progId="Equation.3">
                  <p:embed/>
                </p:oleObj>
              </mc:Choice>
              <mc:Fallback>
                <p:oleObj name="" r:id="rId7" imgW="1727200" imgH="4318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6850" y="4230688"/>
                        <a:ext cx="4121150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34" name="Text Box 10"/>
          <p:cNvSpPr txBox="1"/>
          <p:nvPr/>
        </p:nvSpPr>
        <p:spPr>
          <a:xfrm>
            <a:off x="801688" y="5499100"/>
            <a:ext cx="2311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从而得方程组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63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aphicFrame>
        <p:nvGraphicFramePr>
          <p:cNvPr id="232450" name="Object 2"/>
          <p:cNvGraphicFramePr/>
          <p:nvPr/>
        </p:nvGraphicFramePr>
        <p:xfrm>
          <a:off x="1176338" y="814388"/>
          <a:ext cx="6169025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2565400" imgH="711200" progId="Equation.3">
                  <p:embed/>
                </p:oleObj>
              </mc:Choice>
              <mc:Fallback>
                <p:oleObj name="" r:id="rId1" imgW="2565400" imgH="7112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76338" y="814388"/>
                        <a:ext cx="6169025" cy="170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452438" y="2790825"/>
            <a:ext cx="7105650" cy="582613"/>
            <a:chOff x="285" y="1758"/>
            <a:chExt cx="4476" cy="367"/>
          </a:xfrm>
        </p:grpSpPr>
        <p:sp>
          <p:nvSpPr>
            <p:cNvPr id="49171" name="Text Box 4"/>
            <p:cNvSpPr txBox="1"/>
            <p:nvPr/>
          </p:nvSpPr>
          <p:spPr>
            <a:xfrm>
              <a:off x="285" y="1766"/>
              <a:ext cx="44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解得                     ，                   ，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59" name="Object 7"/>
            <p:cNvGraphicFramePr/>
            <p:nvPr/>
          </p:nvGraphicFramePr>
          <p:xfrm>
            <a:off x="813" y="1760"/>
            <a:ext cx="113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3" imgW="748665" imgH="241300" progId="Equation.3">
                    <p:embed/>
                  </p:oleObj>
                </mc:Choice>
                <mc:Fallback>
                  <p:oleObj name="" r:id="rId3" imgW="748665" imgH="2413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3" y="1760"/>
                          <a:ext cx="1132" cy="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0" name="Object 6"/>
            <p:cNvGraphicFramePr/>
            <p:nvPr/>
          </p:nvGraphicFramePr>
          <p:xfrm>
            <a:off x="2083" y="1758"/>
            <a:ext cx="117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5" imgW="774065" imgH="228600" progId="Equation.3">
                    <p:embed/>
                  </p:oleObj>
                </mc:Choice>
                <mc:Fallback>
                  <p:oleObj name="" r:id="rId5" imgW="774065" imgH="228600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83" y="1758"/>
                          <a:ext cx="1170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1" name="Object 5"/>
            <p:cNvGraphicFramePr/>
            <p:nvPr/>
          </p:nvGraphicFramePr>
          <p:xfrm>
            <a:off x="3347" y="1758"/>
            <a:ext cx="117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7" imgW="774065" imgH="228600" progId="Equation.3">
                    <p:embed/>
                  </p:oleObj>
                </mc:Choice>
                <mc:Fallback>
                  <p:oleObj name="" r:id="rId7" imgW="774065" imgH="2286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47" y="1758"/>
                          <a:ext cx="1170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/>
          <p:nvPr/>
        </p:nvGrpSpPr>
        <p:grpSpPr>
          <a:xfrm>
            <a:off x="442913" y="3416300"/>
            <a:ext cx="6489700" cy="549275"/>
            <a:chOff x="279" y="2152"/>
            <a:chExt cx="4088" cy="346"/>
          </a:xfrm>
        </p:grpSpPr>
        <p:sp>
          <p:nvSpPr>
            <p:cNvPr id="49170" name="Text Box 10"/>
            <p:cNvSpPr txBox="1"/>
            <p:nvPr/>
          </p:nvSpPr>
          <p:spPr>
            <a:xfrm>
              <a:off x="279" y="2152"/>
              <a:ext cx="40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故                                    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58" name="Object 11"/>
            <p:cNvGraphicFramePr/>
            <p:nvPr/>
          </p:nvGraphicFramePr>
          <p:xfrm>
            <a:off x="593" y="2152"/>
            <a:ext cx="349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9" imgW="2311400" imgH="228600" progId="Equation.3">
                    <p:embed/>
                  </p:oleObj>
                </mc:Choice>
                <mc:Fallback>
                  <p:oleObj name="" r:id="rId9" imgW="2311400" imgH="2286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93" y="2152"/>
                          <a:ext cx="3496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/>
          <p:nvPr/>
        </p:nvGrpSpPr>
        <p:grpSpPr>
          <a:xfrm>
            <a:off x="411163" y="3970338"/>
            <a:ext cx="8172450" cy="1035050"/>
            <a:chOff x="259" y="2501"/>
            <a:chExt cx="5148" cy="652"/>
          </a:xfrm>
        </p:grpSpPr>
        <p:sp>
          <p:nvSpPr>
            <p:cNvPr id="49169" name="Text Box 14"/>
            <p:cNvSpPr txBox="1"/>
            <p:nvPr/>
          </p:nvSpPr>
          <p:spPr>
            <a:xfrm>
              <a:off x="259" y="2645"/>
              <a:ext cx="51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平方误差为                                                                 。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57" name="Object 15"/>
            <p:cNvGraphicFramePr/>
            <p:nvPr/>
          </p:nvGraphicFramePr>
          <p:xfrm>
            <a:off x="1442" y="2501"/>
            <a:ext cx="3632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1" imgW="2425700" imgH="431800" progId="Equation.3">
                    <p:embed/>
                  </p:oleObj>
                </mc:Choice>
                <mc:Fallback>
                  <p:oleObj name="" r:id="rId11" imgW="2425700" imgH="4318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42" y="2501"/>
                          <a:ext cx="3632" cy="6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1"/>
          <p:cNvGrpSpPr/>
          <p:nvPr/>
        </p:nvGrpSpPr>
        <p:grpSpPr>
          <a:xfrm>
            <a:off x="414338" y="5041900"/>
            <a:ext cx="8059737" cy="950913"/>
            <a:chOff x="261" y="3176"/>
            <a:chExt cx="5077" cy="599"/>
          </a:xfrm>
        </p:grpSpPr>
        <p:sp>
          <p:nvSpPr>
            <p:cNvPr id="49168" name="Rectangle 20"/>
            <p:cNvSpPr/>
            <p:nvPr/>
          </p:nvSpPr>
          <p:spPr>
            <a:xfrm>
              <a:off x="261" y="3179"/>
              <a:ext cx="507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/>
              <a:r>
                <a:rPr lang="zh-CN" altLang="en-US" dirty="0">
                  <a:latin typeface="Times New Roman" panose="02020603050405020304" pitchFamily="18" charset="0"/>
                </a:rPr>
                <a:t>由于          的平方误差较小，所以用           拟合上述数据较好。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55" name="Object 19"/>
            <p:cNvGraphicFramePr/>
            <p:nvPr/>
          </p:nvGraphicFramePr>
          <p:xfrm>
            <a:off x="828" y="3186"/>
            <a:ext cx="6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13" imgW="393700" imgH="228600" progId="Equation.3">
                    <p:embed/>
                  </p:oleObj>
                </mc:Choice>
                <mc:Fallback>
                  <p:oleObj name="" r:id="rId13" imgW="393700" imgH="228600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8" y="3186"/>
                          <a:ext cx="6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6" name="Object 18"/>
            <p:cNvGraphicFramePr/>
            <p:nvPr/>
          </p:nvGraphicFramePr>
          <p:xfrm>
            <a:off x="3890" y="3176"/>
            <a:ext cx="6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" r:id="rId15" imgW="393700" imgH="228600" progId="Equation.3">
                    <p:embed/>
                  </p:oleObj>
                </mc:Choice>
                <mc:Fallback>
                  <p:oleObj name="" r:id="rId15" imgW="393700" imgH="22860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90" y="3176"/>
                          <a:ext cx="6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501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7.6.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已知一组实验数据如下：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183" name="表格 50182"/>
          <p:cNvGraphicFramePr/>
          <p:nvPr>
            <p:custDataLst>
              <p:tags r:id="rId1"/>
            </p:custDataLst>
          </p:nvPr>
        </p:nvGraphicFramePr>
        <p:xfrm>
          <a:off x="671513" y="1232853"/>
          <a:ext cx="6932930" cy="1267142"/>
        </p:xfrm>
        <a:graphic>
          <a:graphicData uri="http://schemas.openxmlformats.org/drawingml/2006/table">
            <a:tbl>
              <a:tblPr/>
              <a:tblGrid>
                <a:gridCol w="1385888"/>
                <a:gridCol w="1387475"/>
                <a:gridCol w="1406525"/>
                <a:gridCol w="1366837"/>
                <a:gridCol w="1385888"/>
              </a:tblGrid>
              <a:tr h="6369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en-US" altLang="zh-CN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i="1" baseline="-25000" dirty="0">
                          <a:latin typeface="Times New Roman" panose="02020603050405020304" pitchFamily="18" charset="0"/>
                        </a:rPr>
                        <a:t>k</a:t>
                      </a:r>
                      <a:endParaRPr lang="en-US" altLang="zh-CN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02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en-US" altLang="zh-CN" i="1" dirty="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=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i="1" baseline="-25000" dirty="0">
                          <a:latin typeface="Times New Roman" panose="02020603050405020304" pitchFamily="18" charset="0"/>
                        </a:rPr>
                        <a:t>k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)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1.95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3.05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3.55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ZapfDingbats" pitchFamily="82" charset="2"/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3.85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6127" name="Text Box 63"/>
          <p:cNvSpPr txBox="1"/>
          <p:nvPr/>
        </p:nvSpPr>
        <p:spPr>
          <a:xfrm>
            <a:off x="468313" y="2782888"/>
            <a:ext cx="435451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求问题的最小二乘解。</a:t>
            </a:r>
            <a:r>
              <a:rPr lang="zh-CN" altLang="en-US" dirty="0">
                <a:latin typeface="Comic Sans MS" panose="030F0702030302020204" pitchFamily="66" charset="0"/>
              </a:rPr>
              <a:t>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16128" name="Text Box 64"/>
          <p:cNvSpPr txBox="1"/>
          <p:nvPr/>
        </p:nvSpPr>
        <p:spPr>
          <a:xfrm>
            <a:off x="503238" y="3435350"/>
            <a:ext cx="8161337" cy="2332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解：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3200" dirty="0">
                <a:latin typeface="Times New Roman" panose="02020603050405020304" pitchFamily="18" charset="0"/>
              </a:rPr>
              <a:t>首先确定拟合函数类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将上述数据描绘在坐标纸上，发现这些点近似一指数曲线，其图形如下。故选择要拟合的曲线为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7"/>
          <p:cNvGrpSpPr/>
          <p:nvPr/>
        </p:nvGrpSpPr>
        <p:grpSpPr>
          <a:xfrm>
            <a:off x="3578225" y="5235575"/>
            <a:ext cx="1831975" cy="822325"/>
            <a:chOff x="2112" y="3341"/>
            <a:chExt cx="1154" cy="518"/>
          </a:xfrm>
        </p:grpSpPr>
        <p:graphicFrame>
          <p:nvGraphicFramePr>
            <p:cNvPr id="50178" name="Object 3"/>
            <p:cNvGraphicFramePr/>
            <p:nvPr/>
          </p:nvGraphicFramePr>
          <p:xfrm>
            <a:off x="2112" y="3341"/>
            <a:ext cx="830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2" imgW="546100" imgH="342900" progId="Equation.3">
                    <p:embed/>
                  </p:oleObj>
                </mc:Choice>
                <mc:Fallback>
                  <p:oleObj name="" r:id="rId2" imgW="546100" imgH="342900" progId="Equation.3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112" y="3341"/>
                          <a:ext cx="830" cy="5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8" name="Rectangle 66"/>
            <p:cNvSpPr/>
            <p:nvPr/>
          </p:nvSpPr>
          <p:spPr>
            <a:xfrm>
              <a:off x="2926" y="3501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27" grpId="0"/>
      <p:bldP spid="2161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pic>
        <p:nvPicPr>
          <p:cNvPr id="51205" name="Picture 2"/>
          <p:cNvPicPr>
            <a:picLocks noChangeAspect="1"/>
          </p:cNvPicPr>
          <p:nvPr/>
        </p:nvPicPr>
        <p:blipFill>
          <a:blip r:embed="rId1"/>
          <a:srcRect l="8437" r="5624" b="4500"/>
          <a:stretch>
            <a:fillRect/>
          </a:stretch>
        </p:blipFill>
        <p:spPr>
          <a:xfrm>
            <a:off x="512763" y="63500"/>
            <a:ext cx="7924800" cy="66055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1202" name="Object 4"/>
          <p:cNvGraphicFramePr/>
          <p:nvPr/>
        </p:nvGraphicFramePr>
        <p:xfrm>
          <a:off x="4854575" y="2203450"/>
          <a:ext cx="13176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2" imgW="546100" imgH="342900" progId="Equation.3">
                  <p:embed/>
                </p:oleObj>
              </mc:Choice>
              <mc:Fallback>
                <p:oleObj name="" r:id="rId2" imgW="546100" imgH="3429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54575" y="2203450"/>
                        <a:ext cx="1317625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32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522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sz="28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i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为待定常数。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2" name="Group 7"/>
          <p:cNvGrpSpPr/>
          <p:nvPr/>
        </p:nvGrpSpPr>
        <p:grpSpPr>
          <a:xfrm>
            <a:off x="2994025" y="2528888"/>
            <a:ext cx="2790825" cy="939800"/>
            <a:chOff x="1886" y="1543"/>
            <a:chExt cx="1758" cy="592"/>
          </a:xfrm>
        </p:grpSpPr>
        <p:graphicFrame>
          <p:nvGraphicFramePr>
            <p:cNvPr id="52230" name="Object 4"/>
            <p:cNvGraphicFramePr/>
            <p:nvPr/>
          </p:nvGraphicFramePr>
          <p:xfrm>
            <a:off x="1886" y="1543"/>
            <a:ext cx="1387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" r:id="rId1" imgW="926465" imgH="393700" progId="Equation.3">
                    <p:embed/>
                  </p:oleObj>
                </mc:Choice>
                <mc:Fallback>
                  <p:oleObj name="" r:id="rId1" imgW="926465" imgH="393700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6" y="1543"/>
                          <a:ext cx="1387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2" name="Rectangle 6"/>
            <p:cNvSpPr/>
            <p:nvPr/>
          </p:nvSpPr>
          <p:spPr>
            <a:xfrm>
              <a:off x="3308" y="1654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622300" y="3279775"/>
            <a:ext cx="7734300" cy="939800"/>
            <a:chOff x="392" y="2066"/>
            <a:chExt cx="4872" cy="592"/>
          </a:xfrm>
        </p:grpSpPr>
        <p:sp>
          <p:nvSpPr>
            <p:cNvPr id="52241" name="Text Box 8"/>
            <p:cNvSpPr txBox="1"/>
            <p:nvPr/>
          </p:nvSpPr>
          <p:spPr>
            <a:xfrm>
              <a:off x="392" y="2184"/>
              <a:ext cx="48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令                                           ，则有                     ，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2228" name="Object 2"/>
            <p:cNvGraphicFramePr/>
            <p:nvPr/>
          </p:nvGraphicFramePr>
          <p:xfrm>
            <a:off x="730" y="2066"/>
            <a:ext cx="2355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3" imgW="1574800" imgH="393700" progId="Equation.3">
                    <p:embed/>
                  </p:oleObj>
                </mc:Choice>
                <mc:Fallback>
                  <p:oleObj name="" r:id="rId3" imgW="1574800" imgH="393700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30" y="2066"/>
                          <a:ext cx="2355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29" name="Object 3"/>
            <p:cNvGraphicFramePr/>
            <p:nvPr/>
          </p:nvGraphicFramePr>
          <p:xfrm>
            <a:off x="3716" y="2197"/>
            <a:ext cx="115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5" imgW="761365" imgH="228600" progId="Equation.3">
                    <p:embed/>
                  </p:oleObj>
                </mc:Choice>
                <mc:Fallback>
                  <p:oleObj name="" r:id="rId5" imgW="761365" imgH="228600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16" y="2197"/>
                          <a:ext cx="1156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4509" name="Text Box 13"/>
          <p:cNvSpPr txBox="1"/>
          <p:nvPr/>
        </p:nvSpPr>
        <p:spPr>
          <a:xfrm>
            <a:off x="642938" y="4322763"/>
            <a:ext cx="5238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此即为要拟合的新的线性函数。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676275" y="5010150"/>
            <a:ext cx="7680325" cy="941388"/>
            <a:chOff x="346" y="3196"/>
            <a:chExt cx="4838" cy="593"/>
          </a:xfrm>
        </p:grpSpPr>
        <p:sp>
          <p:nvSpPr>
            <p:cNvPr id="52240" name="Rectangle 16"/>
            <p:cNvSpPr/>
            <p:nvPr/>
          </p:nvSpPr>
          <p:spPr>
            <a:xfrm>
              <a:off x="346" y="3312"/>
              <a:ext cx="48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由变换                           可得到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的数据表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2227" name="Object 1"/>
            <p:cNvGraphicFramePr/>
            <p:nvPr/>
          </p:nvGraphicFramePr>
          <p:xfrm>
            <a:off x="1126" y="3196"/>
            <a:ext cx="1446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7" imgW="964565" imgH="393700" progId="Equation.3">
                    <p:embed/>
                  </p:oleObj>
                </mc:Choice>
                <mc:Fallback>
                  <p:oleObj name="" r:id="rId7" imgW="964565" imgH="3937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26" y="3196"/>
                          <a:ext cx="1446" cy="5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/>
          <p:cNvGrpSpPr/>
          <p:nvPr/>
        </p:nvGrpSpPr>
        <p:grpSpPr>
          <a:xfrm>
            <a:off x="523875" y="1014413"/>
            <a:ext cx="7748588" cy="1628775"/>
            <a:chOff x="330" y="639"/>
            <a:chExt cx="4881" cy="1026"/>
          </a:xfrm>
        </p:grpSpPr>
        <p:sp>
          <p:nvSpPr>
            <p:cNvPr id="52239" name="Rectangle 3"/>
            <p:cNvSpPr/>
            <p:nvPr/>
          </p:nvSpPr>
          <p:spPr>
            <a:xfrm>
              <a:off x="330" y="639"/>
              <a:ext cx="4881" cy="10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>
                <a:lnSpc>
                  <a:spcPct val="18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由于在拟合函数中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，</a:t>
              </a:r>
              <a:r>
                <a:rPr lang="en-US" altLang="zh-CN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为非线性关系，需要线性化。所以对函数              两边取对数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2226" name="Object 0"/>
            <p:cNvGraphicFramePr/>
            <p:nvPr/>
          </p:nvGraphicFramePr>
          <p:xfrm>
            <a:off x="1928" y="1103"/>
            <a:ext cx="830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9" imgW="546100" imgH="342900" progId="Equation.3">
                    <p:embed/>
                  </p:oleObj>
                </mc:Choice>
                <mc:Fallback>
                  <p:oleObj name="" r:id="rId9" imgW="546100" imgH="3429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28" y="1103"/>
                          <a:ext cx="830" cy="5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3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pSp>
        <p:nvGrpSpPr>
          <p:cNvPr id="2" name="Group 34"/>
          <p:cNvGrpSpPr/>
          <p:nvPr/>
        </p:nvGrpSpPr>
        <p:grpSpPr>
          <a:xfrm>
            <a:off x="760413" y="720725"/>
            <a:ext cx="7540625" cy="1289050"/>
            <a:chOff x="-3" y="-3"/>
            <a:chExt cx="2368" cy="812"/>
          </a:xfrm>
        </p:grpSpPr>
        <p:grpSp>
          <p:nvGrpSpPr>
            <p:cNvPr id="53260" name="Group 32"/>
            <p:cNvGrpSpPr/>
            <p:nvPr/>
          </p:nvGrpSpPr>
          <p:grpSpPr>
            <a:xfrm>
              <a:off x="0" y="0"/>
              <a:ext cx="2362" cy="806"/>
              <a:chOff x="0" y="0"/>
              <a:chExt cx="2362" cy="806"/>
            </a:xfrm>
          </p:grpSpPr>
          <p:grpSp>
            <p:nvGrpSpPr>
              <p:cNvPr id="53262" name="Group 13"/>
              <p:cNvGrpSpPr/>
              <p:nvPr/>
            </p:nvGrpSpPr>
            <p:grpSpPr>
              <a:xfrm>
                <a:off x="0" y="0"/>
                <a:ext cx="306" cy="403"/>
                <a:chOff x="0" y="0"/>
                <a:chExt cx="306" cy="403"/>
              </a:xfrm>
            </p:grpSpPr>
            <p:sp>
              <p:nvSpPr>
                <p:cNvPr id="53290" name="Rectangle 2"/>
                <p:cNvSpPr/>
                <p:nvPr/>
              </p:nvSpPr>
              <p:spPr>
                <a:xfrm>
                  <a:off x="43" y="0"/>
                  <a:ext cx="22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baseline="-30000" dirty="0">
                      <a:latin typeface="Times New Roman" panose="02020603050405020304" pitchFamily="18" charset="0"/>
                    </a:rPr>
                    <a:t>k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91" name="Rectangle 12"/>
                <p:cNvSpPr/>
                <p:nvPr/>
              </p:nvSpPr>
              <p:spPr>
                <a:xfrm>
                  <a:off x="0" y="0"/>
                  <a:ext cx="30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3" name="Group 15"/>
              <p:cNvGrpSpPr/>
              <p:nvPr/>
            </p:nvGrpSpPr>
            <p:grpSpPr>
              <a:xfrm>
                <a:off x="306" y="0"/>
                <a:ext cx="514" cy="403"/>
                <a:chOff x="306" y="0"/>
                <a:chExt cx="514" cy="403"/>
              </a:xfrm>
            </p:grpSpPr>
            <p:sp>
              <p:nvSpPr>
                <p:cNvPr id="53288" name="Rectangle 3"/>
                <p:cNvSpPr/>
                <p:nvPr/>
              </p:nvSpPr>
              <p:spPr>
                <a:xfrm>
                  <a:off x="349" y="0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1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89" name="Rectangle 14"/>
                <p:cNvSpPr/>
                <p:nvPr/>
              </p:nvSpPr>
              <p:spPr>
                <a:xfrm>
                  <a:off x="306" y="0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4" name="Group 17"/>
              <p:cNvGrpSpPr/>
              <p:nvPr/>
            </p:nvGrpSpPr>
            <p:grpSpPr>
              <a:xfrm>
                <a:off x="820" y="0"/>
                <a:ext cx="514" cy="403"/>
                <a:chOff x="820" y="0"/>
                <a:chExt cx="514" cy="403"/>
              </a:xfrm>
            </p:grpSpPr>
            <p:sp>
              <p:nvSpPr>
                <p:cNvPr id="53286" name="Rectangle 4"/>
                <p:cNvSpPr/>
                <p:nvPr/>
              </p:nvSpPr>
              <p:spPr>
                <a:xfrm>
                  <a:off x="863" y="0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0.5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87" name="Rectangle 16"/>
                <p:cNvSpPr/>
                <p:nvPr/>
              </p:nvSpPr>
              <p:spPr>
                <a:xfrm>
                  <a:off x="820" y="0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5" name="Group 19"/>
              <p:cNvGrpSpPr/>
              <p:nvPr/>
            </p:nvGrpSpPr>
            <p:grpSpPr>
              <a:xfrm>
                <a:off x="1334" y="0"/>
                <a:ext cx="514" cy="403"/>
                <a:chOff x="1334" y="0"/>
                <a:chExt cx="514" cy="403"/>
              </a:xfrm>
            </p:grpSpPr>
            <p:sp>
              <p:nvSpPr>
                <p:cNvPr id="53284" name="Rectangle 5"/>
                <p:cNvSpPr/>
                <p:nvPr/>
              </p:nvSpPr>
              <p:spPr>
                <a:xfrm>
                  <a:off x="1377" y="0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0.33333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85" name="Rectangle 18"/>
                <p:cNvSpPr/>
                <p:nvPr/>
              </p:nvSpPr>
              <p:spPr>
                <a:xfrm>
                  <a:off x="1334" y="0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6" name="Group 21"/>
              <p:cNvGrpSpPr/>
              <p:nvPr/>
            </p:nvGrpSpPr>
            <p:grpSpPr>
              <a:xfrm>
                <a:off x="1848" y="0"/>
                <a:ext cx="514" cy="403"/>
                <a:chOff x="1848" y="0"/>
                <a:chExt cx="514" cy="403"/>
              </a:xfrm>
            </p:grpSpPr>
            <p:sp>
              <p:nvSpPr>
                <p:cNvPr id="53282" name="Rectangle 6"/>
                <p:cNvSpPr/>
                <p:nvPr/>
              </p:nvSpPr>
              <p:spPr>
                <a:xfrm>
                  <a:off x="1891" y="0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0.25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83" name="Rectangle 20"/>
                <p:cNvSpPr/>
                <p:nvPr/>
              </p:nvSpPr>
              <p:spPr>
                <a:xfrm>
                  <a:off x="1848" y="0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7" name="Group 23"/>
              <p:cNvGrpSpPr/>
              <p:nvPr/>
            </p:nvGrpSpPr>
            <p:grpSpPr>
              <a:xfrm>
                <a:off x="0" y="403"/>
                <a:ext cx="306" cy="403"/>
                <a:chOff x="0" y="403"/>
                <a:chExt cx="306" cy="403"/>
              </a:xfrm>
            </p:grpSpPr>
            <p:sp>
              <p:nvSpPr>
                <p:cNvPr id="53280" name="Rectangle 7"/>
                <p:cNvSpPr/>
                <p:nvPr/>
              </p:nvSpPr>
              <p:spPr>
                <a:xfrm>
                  <a:off x="43" y="403"/>
                  <a:ext cx="22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en-US" altLang="zh-CN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baseline="-30000" dirty="0">
                      <a:latin typeface="Times New Roman" panose="02020603050405020304" pitchFamily="18" charset="0"/>
                    </a:rPr>
                    <a:t>k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 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81" name="Rectangle 22"/>
                <p:cNvSpPr/>
                <p:nvPr/>
              </p:nvSpPr>
              <p:spPr>
                <a:xfrm>
                  <a:off x="0" y="403"/>
                  <a:ext cx="30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8" name="Group 25"/>
              <p:cNvGrpSpPr/>
              <p:nvPr/>
            </p:nvGrpSpPr>
            <p:grpSpPr>
              <a:xfrm>
                <a:off x="306" y="403"/>
                <a:ext cx="514" cy="403"/>
                <a:chOff x="306" y="403"/>
                <a:chExt cx="514" cy="403"/>
              </a:xfrm>
            </p:grpSpPr>
            <p:sp>
              <p:nvSpPr>
                <p:cNvPr id="53278" name="Rectangle 8"/>
                <p:cNvSpPr/>
                <p:nvPr/>
              </p:nvSpPr>
              <p:spPr>
                <a:xfrm>
                  <a:off x="349" y="403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0.66783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9" name="Rectangle 24"/>
                <p:cNvSpPr/>
                <p:nvPr/>
              </p:nvSpPr>
              <p:spPr>
                <a:xfrm>
                  <a:off x="306" y="403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69" name="Group 27"/>
              <p:cNvGrpSpPr/>
              <p:nvPr/>
            </p:nvGrpSpPr>
            <p:grpSpPr>
              <a:xfrm>
                <a:off x="820" y="403"/>
                <a:ext cx="514" cy="403"/>
                <a:chOff x="820" y="403"/>
                <a:chExt cx="514" cy="403"/>
              </a:xfrm>
            </p:grpSpPr>
            <p:sp>
              <p:nvSpPr>
                <p:cNvPr id="53276" name="Rectangle 9"/>
                <p:cNvSpPr/>
                <p:nvPr/>
              </p:nvSpPr>
              <p:spPr>
                <a:xfrm>
                  <a:off x="863" y="403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1.11514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7" name="Rectangle 26"/>
                <p:cNvSpPr/>
                <p:nvPr/>
              </p:nvSpPr>
              <p:spPr>
                <a:xfrm>
                  <a:off x="820" y="403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70" name="Group 29"/>
              <p:cNvGrpSpPr/>
              <p:nvPr/>
            </p:nvGrpSpPr>
            <p:grpSpPr>
              <a:xfrm>
                <a:off x="1334" y="403"/>
                <a:ext cx="514" cy="403"/>
                <a:chOff x="1334" y="403"/>
                <a:chExt cx="514" cy="403"/>
              </a:xfrm>
            </p:grpSpPr>
            <p:sp>
              <p:nvSpPr>
                <p:cNvPr id="53274" name="Rectangle 10"/>
                <p:cNvSpPr/>
                <p:nvPr/>
              </p:nvSpPr>
              <p:spPr>
                <a:xfrm>
                  <a:off x="1377" y="403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1.26695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5" name="Rectangle 28"/>
                <p:cNvSpPr/>
                <p:nvPr/>
              </p:nvSpPr>
              <p:spPr>
                <a:xfrm>
                  <a:off x="1334" y="403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271" name="Group 31"/>
              <p:cNvGrpSpPr/>
              <p:nvPr/>
            </p:nvGrpSpPr>
            <p:grpSpPr>
              <a:xfrm>
                <a:off x="1848" y="403"/>
                <a:ext cx="514" cy="403"/>
                <a:chOff x="1848" y="403"/>
                <a:chExt cx="514" cy="403"/>
              </a:xfrm>
            </p:grpSpPr>
            <p:sp>
              <p:nvSpPr>
                <p:cNvPr id="53272" name="Rectangle 11"/>
                <p:cNvSpPr/>
                <p:nvPr/>
              </p:nvSpPr>
              <p:spPr>
                <a:xfrm>
                  <a:off x="1891" y="403"/>
                  <a:ext cx="428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</a:rPr>
                    <a:t>1.34807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3" name="Rectangle 30"/>
                <p:cNvSpPr/>
                <p:nvPr/>
              </p:nvSpPr>
              <p:spPr>
                <a:xfrm>
                  <a:off x="1848" y="403"/>
                  <a:ext cx="514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3261" name="Rectangle 33"/>
            <p:cNvSpPr/>
            <p:nvPr/>
          </p:nvSpPr>
          <p:spPr>
            <a:xfrm>
              <a:off x="-3" y="-3"/>
              <a:ext cx="2368" cy="812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50"/>
          <p:cNvGrpSpPr/>
          <p:nvPr/>
        </p:nvGrpSpPr>
        <p:grpSpPr>
          <a:xfrm>
            <a:off x="273050" y="2265363"/>
            <a:ext cx="8247063" cy="579437"/>
            <a:chOff x="172" y="1637"/>
            <a:chExt cx="5195" cy="365"/>
          </a:xfrm>
        </p:grpSpPr>
        <p:sp>
          <p:nvSpPr>
            <p:cNvPr id="53259" name="Rectangle 49"/>
            <p:cNvSpPr/>
            <p:nvPr/>
          </p:nvSpPr>
          <p:spPr>
            <a:xfrm>
              <a:off x="172" y="1637"/>
              <a:ext cx="519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/>
              <a:r>
                <a:rPr lang="zh-CN" altLang="en-US" sz="3200" dirty="0">
                  <a:latin typeface="Times New Roman" panose="02020603050405020304" pitchFamily="18" charset="0"/>
                </a:rPr>
                <a:t>(2) 用                     来拟合上述数据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3251" name="Object 48"/>
            <p:cNvGraphicFramePr/>
            <p:nvPr/>
          </p:nvGraphicFramePr>
          <p:xfrm>
            <a:off x="932" y="1640"/>
            <a:ext cx="115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1" imgW="761365" imgH="228600" progId="Equation.3">
                    <p:embed/>
                  </p:oleObj>
                </mc:Choice>
                <mc:Fallback>
                  <p:oleObj name="" r:id="rId1" imgW="761365" imgH="228600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32" y="1640"/>
                          <a:ext cx="1156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3524" name="Rectangle 52"/>
          <p:cNvSpPr/>
          <p:nvPr/>
        </p:nvSpPr>
        <p:spPr>
          <a:xfrm>
            <a:off x="419100" y="2946400"/>
            <a:ext cx="827405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sz="3200" dirty="0">
                <a:latin typeface="Times New Roman" panose="02020603050405020304" pitchFamily="18" charset="0"/>
              </a:rPr>
              <a:t>即在函数空间 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zh-CN" altLang="en-US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dirty="0">
                <a:latin typeface="Times New Roman" panose="02020603050405020304" pitchFamily="18" charset="0"/>
              </a:rPr>
              <a:t>span {1,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中寻找函数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此问题中，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=1，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=3，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)=1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)=1,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法方程组为</a:t>
            </a:r>
            <a:endParaRPr lang="zh-CN" altLang="en-US" sz="32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15" name="Group 56"/>
          <p:cNvGrpSpPr/>
          <p:nvPr/>
        </p:nvGrpSpPr>
        <p:grpSpPr>
          <a:xfrm>
            <a:off x="1812925" y="4714875"/>
            <a:ext cx="6107113" cy="1160463"/>
            <a:chOff x="1142" y="2910"/>
            <a:chExt cx="3847" cy="731"/>
          </a:xfrm>
        </p:grpSpPr>
        <p:graphicFrame>
          <p:nvGraphicFramePr>
            <p:cNvPr id="53250" name="Object 53"/>
            <p:cNvGraphicFramePr/>
            <p:nvPr/>
          </p:nvGraphicFramePr>
          <p:xfrm>
            <a:off x="1142" y="2910"/>
            <a:ext cx="3496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" r:id="rId3" imgW="2297430" imgH="482600" progId="Equation.3">
                    <p:embed/>
                  </p:oleObj>
                </mc:Choice>
                <mc:Fallback>
                  <p:oleObj name="" r:id="rId3" imgW="2297430" imgH="482600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42" y="2910"/>
                          <a:ext cx="3496" cy="7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8" name="Rectangle 55"/>
            <p:cNvSpPr/>
            <p:nvPr/>
          </p:nvSpPr>
          <p:spPr>
            <a:xfrm>
              <a:off x="4649" y="3128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2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81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graphicFrame>
        <p:nvGraphicFramePr>
          <p:cNvPr id="235526" name="Object 6"/>
          <p:cNvGraphicFramePr/>
          <p:nvPr/>
        </p:nvGraphicFramePr>
        <p:xfrm>
          <a:off x="1423988" y="528638"/>
          <a:ext cx="292417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" imgW="1218565" imgH="431800" progId="Equation.3">
                  <p:embed/>
                </p:oleObj>
              </mc:Choice>
              <mc:Fallback>
                <p:oleObj name="" r:id="rId1" imgW="1218565" imgH="4318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3988" y="528638"/>
                        <a:ext cx="2924175" cy="103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5" name="Object 5"/>
          <p:cNvGraphicFramePr/>
          <p:nvPr/>
        </p:nvGraphicFramePr>
        <p:xfrm>
          <a:off x="1406525" y="1660525"/>
          <a:ext cx="569753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2374900" imgH="431800" progId="Equation.3">
                  <p:embed/>
                </p:oleObj>
              </mc:Choice>
              <mc:Fallback>
                <p:oleObj name="" r:id="rId3" imgW="2374900" imgH="4318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6525" y="1660525"/>
                        <a:ext cx="5697538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4" name="Object 4"/>
          <p:cNvGraphicFramePr/>
          <p:nvPr/>
        </p:nvGraphicFramePr>
        <p:xfrm>
          <a:off x="1423988" y="2825750"/>
          <a:ext cx="40513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5" imgW="1688465" imgH="431800" progId="Equation.3">
                  <p:embed/>
                </p:oleObj>
              </mc:Choice>
              <mc:Fallback>
                <p:oleObj name="" r:id="rId5" imgW="1688465" imgH="4318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3988" y="2825750"/>
                        <a:ext cx="4051300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3" name="Object 3"/>
          <p:cNvGraphicFramePr/>
          <p:nvPr/>
        </p:nvGraphicFramePr>
        <p:xfrm>
          <a:off x="1470025" y="4095750"/>
          <a:ext cx="39290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7" imgW="1637665" imgH="431800" progId="Equation.3">
                  <p:embed/>
                </p:oleObj>
              </mc:Choice>
              <mc:Fallback>
                <p:oleObj name="" r:id="rId7" imgW="1637665" imgH="43180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0025" y="4095750"/>
                        <a:ext cx="3929063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2" name="Object 2"/>
          <p:cNvGraphicFramePr/>
          <p:nvPr/>
        </p:nvGraphicFramePr>
        <p:xfrm>
          <a:off x="1454150" y="5259388"/>
          <a:ext cx="41751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9" imgW="1739900" imgH="431800" progId="Equation.3">
                  <p:embed/>
                </p:oleObj>
              </mc:Choice>
              <mc:Fallback>
                <p:oleObj name="" r:id="rId9" imgW="1739900" imgH="4318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4150" y="5259388"/>
                        <a:ext cx="4175125" cy="103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Text Box 8"/>
          <p:cNvSpPr txBox="1"/>
          <p:nvPr/>
        </p:nvSpPr>
        <p:spPr>
          <a:xfrm>
            <a:off x="744538" y="771525"/>
            <a:ext cx="6286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29" name="Object 9"/>
          <p:cNvGraphicFramePr/>
          <p:nvPr/>
        </p:nvGraphicFramePr>
        <p:xfrm>
          <a:off x="4491038" y="495300"/>
          <a:ext cx="42354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11" imgW="1764665" imgH="431800" progId="Equation.DSMT4">
                  <p:embed/>
                </p:oleObj>
              </mc:Choice>
              <mc:Fallback>
                <p:oleObj name="" r:id="rId11" imgW="1764665" imgH="431800" progId="Equation.DSMT4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91038" y="495300"/>
                        <a:ext cx="4235450" cy="10366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页脚占位符 2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7: 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5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zh-CN" sz="1400" dirty="0"/>
            </a:fld>
            <a:endParaRPr lang="zh-CN" altLang="zh-CN" sz="1400" dirty="0"/>
          </a:p>
        </p:txBody>
      </p:sp>
      <p:sp>
        <p:nvSpPr>
          <p:cNvPr id="236546" name="Text Box 2"/>
          <p:cNvSpPr txBox="1"/>
          <p:nvPr/>
        </p:nvSpPr>
        <p:spPr>
          <a:xfrm>
            <a:off x="465138" y="406400"/>
            <a:ext cx="27114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得正规方程组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547" name="Object 3"/>
          <p:cNvGraphicFramePr/>
          <p:nvPr/>
        </p:nvGraphicFramePr>
        <p:xfrm>
          <a:off x="1693863" y="966788"/>
          <a:ext cx="5445125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" imgW="2133600" imgH="482600" progId="Equation.3">
                  <p:embed/>
                </p:oleObj>
              </mc:Choice>
              <mc:Fallback>
                <p:oleObj name="" r:id="rId1" imgW="2133600" imgH="4826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3863" y="966788"/>
                        <a:ext cx="5445125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400050" y="2884488"/>
            <a:ext cx="5657850" cy="595312"/>
            <a:chOff x="252" y="1817"/>
            <a:chExt cx="3564" cy="375"/>
          </a:xfrm>
        </p:grpSpPr>
        <p:sp>
          <p:nvSpPr>
            <p:cNvPr id="55314" name="Text Box 12"/>
            <p:cNvSpPr txBox="1"/>
            <p:nvPr/>
          </p:nvSpPr>
          <p:spPr>
            <a:xfrm>
              <a:off x="252" y="1827"/>
              <a:ext cx="35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故                                             。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03" name="Object 10"/>
            <p:cNvGraphicFramePr/>
            <p:nvPr/>
          </p:nvGraphicFramePr>
          <p:xfrm>
            <a:off x="742" y="1817"/>
            <a:ext cx="2673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3" imgW="1663700" imgH="203200" progId="Equation.3">
                    <p:embed/>
                  </p:oleObj>
                </mc:Choice>
                <mc:Fallback>
                  <p:oleObj name="" r:id="rId3" imgW="1663700" imgH="2032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42" y="1817"/>
                          <a:ext cx="2673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8"/>
          <p:cNvGrpSpPr/>
          <p:nvPr/>
        </p:nvGrpSpPr>
        <p:grpSpPr>
          <a:xfrm>
            <a:off x="385763" y="3316288"/>
            <a:ext cx="8502650" cy="874712"/>
            <a:chOff x="243" y="2201"/>
            <a:chExt cx="5356" cy="551"/>
          </a:xfrm>
        </p:grpSpPr>
        <p:sp>
          <p:nvSpPr>
            <p:cNvPr id="55313" name="Text Box 15"/>
            <p:cNvSpPr txBox="1"/>
            <p:nvPr/>
          </p:nvSpPr>
          <p:spPr>
            <a:xfrm>
              <a:off x="243" y="2373"/>
              <a:ext cx="53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所以，最小二乘解                                             。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02" name="Object 16"/>
            <p:cNvGraphicFramePr/>
            <p:nvPr/>
          </p:nvGraphicFramePr>
          <p:xfrm>
            <a:off x="2391" y="2201"/>
            <a:ext cx="2813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" r:id="rId5" imgW="1752600" imgH="342900" progId="Equation.3">
                    <p:embed/>
                  </p:oleObj>
                </mc:Choice>
                <mc:Fallback>
                  <p:oleObj name="" r:id="rId5" imgW="1752600" imgH="34290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91" y="2201"/>
                          <a:ext cx="2813" cy="5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9"/>
          <p:cNvGrpSpPr/>
          <p:nvPr/>
        </p:nvGrpSpPr>
        <p:grpSpPr>
          <a:xfrm>
            <a:off x="385763" y="4310063"/>
            <a:ext cx="6688137" cy="1555750"/>
            <a:chOff x="243" y="2715"/>
            <a:chExt cx="4213" cy="980"/>
          </a:xfrm>
        </p:grpSpPr>
        <p:sp>
          <p:nvSpPr>
            <p:cNvPr id="55312" name="Text Box 18"/>
            <p:cNvSpPr txBox="1"/>
            <p:nvPr/>
          </p:nvSpPr>
          <p:spPr>
            <a:xfrm>
              <a:off x="243" y="2715"/>
              <a:ext cx="16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其平方误差。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01" name="Object 19"/>
            <p:cNvGraphicFramePr/>
            <p:nvPr/>
          </p:nvGraphicFramePr>
          <p:xfrm>
            <a:off x="973" y="3001"/>
            <a:ext cx="3483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7" imgW="2183765" imgH="431800" progId="Equation.3">
                    <p:embed/>
                  </p:oleObj>
                </mc:Choice>
                <mc:Fallback>
                  <p:oleObj name="" r:id="rId7" imgW="2183765" imgH="4318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3" y="3001"/>
                          <a:ext cx="3483" cy="6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1"/>
          <p:cNvGrpSpPr/>
          <p:nvPr/>
        </p:nvGrpSpPr>
        <p:grpSpPr>
          <a:xfrm>
            <a:off x="442913" y="2174875"/>
            <a:ext cx="6178550" cy="582613"/>
            <a:chOff x="201" y="1402"/>
            <a:chExt cx="3892" cy="367"/>
          </a:xfrm>
        </p:grpSpPr>
        <p:sp>
          <p:nvSpPr>
            <p:cNvPr id="55311" name="Text Box 23"/>
            <p:cNvSpPr txBox="1"/>
            <p:nvPr/>
          </p:nvSpPr>
          <p:spPr>
            <a:xfrm>
              <a:off x="201" y="1402"/>
              <a:ext cx="38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latin typeface="Times New Roman" panose="02020603050405020304" pitchFamily="18" charset="0"/>
                </a:rPr>
                <a:t>解得                      ，                     ，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299" name="Object 45"/>
            <p:cNvGraphicFramePr/>
            <p:nvPr/>
          </p:nvGraphicFramePr>
          <p:xfrm>
            <a:off x="805" y="1402"/>
            <a:ext cx="134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5" name="" r:id="rId9" imgW="838200" imgH="228600" progId="Equation.3">
                    <p:embed/>
                  </p:oleObj>
                </mc:Choice>
                <mc:Fallback>
                  <p:oleObj name="" r:id="rId9" imgW="838200" imgH="228600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05" y="1402"/>
                          <a:ext cx="1349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0" name="Object 46"/>
            <p:cNvGraphicFramePr/>
            <p:nvPr/>
          </p:nvGraphicFramePr>
          <p:xfrm>
            <a:off x="2322" y="1434"/>
            <a:ext cx="138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11" imgW="862965" imgH="177800" progId="Equation.3">
                    <p:embed/>
                  </p:oleObj>
                </mc:Choice>
                <mc:Fallback>
                  <p:oleObj name="" r:id="rId11" imgW="862965" imgH="17780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22" y="1434"/>
                          <a:ext cx="1385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/>
    </p:bldLst>
  </p:timing>
</p:sld>
</file>

<file path=ppt/tags/tag1.xml><?xml version="1.0" encoding="utf-8"?>
<p:tagLst xmlns:p="http://schemas.openxmlformats.org/presentationml/2006/main">
  <p:tag name="KSO_WM_UNIT_TABLE_BEAUTIFY" val="smartTable{69a4c07e-44f6-45bd-bd4a-58313e53af6c}"/>
</p:tagLst>
</file>

<file path=ppt/tags/tag2.xml><?xml version="1.0" encoding="utf-8"?>
<p:tagLst xmlns:p="http://schemas.openxmlformats.org/presentationml/2006/main">
  <p:tag name="KSO_WPP_MARK_KEY" val="9e6e3d47-966a-4865-897a-3cb0ada4b738"/>
  <p:tag name="COMMONDATA" val="eyJoZGlkIjoiN2I4NDViNGMzYzEyZjQ3NjA4YTIzYjE4ZDQ4YzJkZGE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5574</Words>
  <Application>WPS 演示</Application>
  <PresentationFormat>全屏显示(4:3)</PresentationFormat>
  <Paragraphs>702</Paragraphs>
  <Slides>52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185</vt:i4>
      </vt:variant>
      <vt:variant>
        <vt:lpstr>幻灯片标题</vt:lpstr>
      </vt:variant>
      <vt:variant>
        <vt:i4>52</vt:i4>
      </vt:variant>
    </vt:vector>
  </HeadingPairs>
  <TitlesOfParts>
    <vt:vector size="250" baseType="lpstr">
      <vt:lpstr>Arial</vt:lpstr>
      <vt:lpstr>宋体</vt:lpstr>
      <vt:lpstr>Wingdings</vt:lpstr>
      <vt:lpstr>Times New Roman</vt:lpstr>
      <vt:lpstr>Comic Sans MS</vt:lpstr>
      <vt:lpstr>ZapfDingbats</vt:lpstr>
      <vt:lpstr>华文行楷</vt:lpstr>
      <vt:lpstr>Symbol</vt:lpstr>
      <vt:lpstr>黑体</vt:lpstr>
      <vt:lpstr>微软雅黑</vt:lpstr>
      <vt:lpstr>Arial Unicode MS</vt:lpstr>
      <vt:lpstr>隶书</vt:lpstr>
      <vt:lpstr>Default Design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第7章 插值法与数值逼近</vt:lpstr>
      <vt:lpstr>7.6 最佳平方逼近</vt:lpstr>
      <vt:lpstr>PowerPoint 演示文稿</vt:lpstr>
      <vt:lpstr>PowerPoint 演示文稿</vt:lpstr>
      <vt:lpstr>1.最佳平方逼近函数的概念</vt:lpstr>
      <vt:lpstr>2.最佳平方逼近的求法</vt:lpstr>
      <vt:lpstr>PowerPoint 演示文稿</vt:lpstr>
      <vt:lpstr>PowerPoint 演示文稿</vt:lpstr>
      <vt:lpstr>PowerPoint 演示文稿</vt:lpstr>
      <vt:lpstr>PowerPoint 演示文稿</vt:lpstr>
      <vt:lpstr>2.2 最佳平方逼近的几何意义</vt:lpstr>
      <vt:lpstr>2.3 最佳平方逼近函数的平方误差</vt:lpstr>
      <vt:lpstr>2.4 最佳平方逼近的求法</vt:lpstr>
      <vt:lpstr>例7.6.1 求函数 f (x) = ex 在区间 [0, 1] 上的一次最佳平方逼近多项式, 并计算平方误差.</vt:lpstr>
      <vt:lpstr>通过计算得：</vt:lpstr>
      <vt:lpstr>所以由</vt:lpstr>
      <vt:lpstr>平方误差为：</vt:lpstr>
      <vt:lpstr>3. 用正交多项式作函数的最佳平方逼近</vt:lpstr>
      <vt:lpstr>由正交性可将上式化为</vt:lpstr>
      <vt:lpstr>回顾. Legendre 多项式  </vt:lpstr>
      <vt:lpstr>PowerPoint 演示文稿</vt:lpstr>
      <vt:lpstr> 用 Legendre多项式作 f (x)的最佳平方逼近</vt:lpstr>
      <vt:lpstr>平方误差为：</vt:lpstr>
      <vt:lpstr>PowerPoint 演示文稿</vt:lpstr>
      <vt:lpstr>PowerPoint 演示文稿</vt:lpstr>
      <vt:lpstr>PowerPoint 演示文稿</vt:lpstr>
      <vt:lpstr>PowerPoint 演示文稿</vt:lpstr>
      <vt:lpstr>7.6.4.曲线拟合的最小二乘法</vt:lpstr>
      <vt:lpstr>基于函数最佳平方逼近的原理，提出如下问题 </vt:lpstr>
      <vt:lpstr>PowerPoint 演示文稿</vt:lpstr>
      <vt:lpstr>PowerPoint 演示文稿</vt:lpstr>
      <vt:lpstr>7.6.4.2 最小二乘解的求法 </vt:lpstr>
      <vt:lpstr>由极值存在的必要条件，ak( k = 0,1,…,n ) 应满足 </vt:lpstr>
      <vt:lpstr>为了方便，规定离散形式的“内积”和“范数” ：</vt:lpstr>
      <vt:lpstr>线性方程组矩阵形式为</vt:lpstr>
      <vt:lpstr>可以证明：S *(x) 确实使多元函数 u 达到最小，即S *(x) 为 f (x)的最小二乘解。  </vt:lpstr>
      <vt:lpstr>计算曲线拟合问题最小二乘解的步骤：</vt:lpstr>
      <vt:lpstr>计算曲线拟合问题最小二乘解的步骤：</vt:lpstr>
      <vt:lpstr>例7.6.3 已知一组数据如下：</vt:lpstr>
      <vt:lpstr>PowerPoint 演示文稿</vt:lpstr>
      <vt:lpstr>PowerPoint 演示文稿</vt:lpstr>
      <vt:lpstr>通过计算，有</vt:lpstr>
      <vt:lpstr>得法方程组</vt:lpstr>
      <vt:lpstr>(3) 用抛物线                                      拟合上述数据。 </vt:lpstr>
      <vt:lpstr>PowerPoint 演示文稿</vt:lpstr>
      <vt:lpstr>PowerPoint 演示文稿</vt:lpstr>
      <vt:lpstr>例7.6.4 已知一组实验数据如下：</vt:lpstr>
      <vt:lpstr>PowerPoint 演示文稿</vt:lpstr>
      <vt:lpstr>其中a，b为待定常数。 </vt:lpstr>
      <vt:lpstr>PowerPoint 演示文稿</vt:lpstr>
      <vt:lpstr>PowerPoint 演示文稿</vt:lpstr>
      <vt:lpstr>PowerPoint 演示文稿</vt:lpstr>
    </vt:vector>
  </TitlesOfParts>
  <Company>Tianjin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  函数的数值逼近</dc:title>
  <dc:creator/>
  <cp:lastModifiedBy>xws</cp:lastModifiedBy>
  <cp:revision>333</cp:revision>
  <cp:lastPrinted>2000-10-23T11:49:00Z</cp:lastPrinted>
  <dcterms:created xsi:type="dcterms:W3CDTF">1999-10-08T19:08:00Z</dcterms:created>
  <dcterms:modified xsi:type="dcterms:W3CDTF">2024-11-18T10:29:41Z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B1FA704FBC2446A48D5757BDBD862F9D</vt:lpwstr>
  </property>
</Properties>
</file>