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3"/>
  </p:sldMasterIdLst>
  <p:notesMasterIdLst>
    <p:notesMasterId r:id="rId26"/>
  </p:notesMasterIdLst>
  <p:handoutMasterIdLst>
    <p:handoutMasterId r:id="rId162"/>
  </p:handoutMasterIdLst>
  <p:sldIdLst>
    <p:sldId id="463" r:id="rId4"/>
    <p:sldId id="464" r:id="rId5"/>
    <p:sldId id="530" r:id="rId6"/>
    <p:sldId id="291" r:id="rId7"/>
    <p:sldId id="554" r:id="rId8"/>
    <p:sldId id="555" r:id="rId9"/>
    <p:sldId id="556" r:id="rId10"/>
    <p:sldId id="257" r:id="rId11"/>
    <p:sldId id="551" r:id="rId12"/>
    <p:sldId id="259" r:id="rId13"/>
    <p:sldId id="260" r:id="rId14"/>
    <p:sldId id="460" r:id="rId15"/>
    <p:sldId id="465" r:id="rId16"/>
    <p:sldId id="261" r:id="rId17"/>
    <p:sldId id="262" r:id="rId18"/>
    <p:sldId id="552" r:id="rId19"/>
    <p:sldId id="528" r:id="rId20"/>
    <p:sldId id="529" r:id="rId21"/>
    <p:sldId id="331" r:id="rId22"/>
    <p:sldId id="277" r:id="rId23"/>
    <p:sldId id="508" r:id="rId24"/>
    <p:sldId id="510" r:id="rId25"/>
    <p:sldId id="540" r:id="rId27"/>
    <p:sldId id="509" r:id="rId28"/>
    <p:sldId id="329" r:id="rId29"/>
    <p:sldId id="542" r:id="rId30"/>
    <p:sldId id="543" r:id="rId31"/>
    <p:sldId id="462" r:id="rId32"/>
    <p:sldId id="333" r:id="rId33"/>
    <p:sldId id="334" r:id="rId34"/>
    <p:sldId id="693" r:id="rId35"/>
    <p:sldId id="694" r:id="rId36"/>
    <p:sldId id="695" r:id="rId37"/>
    <p:sldId id="696" r:id="rId38"/>
    <p:sldId id="697" r:id="rId39"/>
    <p:sldId id="698" r:id="rId40"/>
    <p:sldId id="699" r:id="rId41"/>
    <p:sldId id="700" r:id="rId42"/>
    <p:sldId id="701" r:id="rId43"/>
    <p:sldId id="702" r:id="rId44"/>
    <p:sldId id="703" r:id="rId45"/>
    <p:sldId id="704" r:id="rId46"/>
    <p:sldId id="705" r:id="rId47"/>
    <p:sldId id="706" r:id="rId48"/>
    <p:sldId id="707" r:id="rId49"/>
    <p:sldId id="708" r:id="rId50"/>
    <p:sldId id="709" r:id="rId51"/>
    <p:sldId id="710" r:id="rId52"/>
    <p:sldId id="711" r:id="rId53"/>
    <p:sldId id="712" r:id="rId54"/>
    <p:sldId id="713" r:id="rId55"/>
    <p:sldId id="714" r:id="rId56"/>
    <p:sldId id="715" r:id="rId57"/>
    <p:sldId id="716" r:id="rId58"/>
    <p:sldId id="717" r:id="rId59"/>
    <p:sldId id="292" r:id="rId60"/>
    <p:sldId id="455" r:id="rId61"/>
    <p:sldId id="335" r:id="rId62"/>
    <p:sldId id="336" r:id="rId63"/>
    <p:sldId id="337" r:id="rId64"/>
    <p:sldId id="340" r:id="rId65"/>
    <p:sldId id="338" r:id="rId66"/>
    <p:sldId id="341" r:id="rId67"/>
    <p:sldId id="544" r:id="rId68"/>
    <p:sldId id="342" r:id="rId69"/>
    <p:sldId id="339" r:id="rId70"/>
    <p:sldId id="343" r:id="rId71"/>
    <p:sldId id="345" r:id="rId72"/>
    <p:sldId id="803" r:id="rId73"/>
    <p:sldId id="346" r:id="rId74"/>
    <p:sldId id="347" r:id="rId75"/>
    <p:sldId id="348" r:id="rId76"/>
    <p:sldId id="263" r:id="rId77"/>
    <p:sldId id="264" r:id="rId78"/>
    <p:sldId id="349" r:id="rId79"/>
    <p:sldId id="344" r:id="rId80"/>
    <p:sldId id="533" r:id="rId81"/>
    <p:sldId id="532" r:id="rId82"/>
    <p:sldId id="800" r:id="rId83"/>
    <p:sldId id="801" r:id="rId84"/>
    <p:sldId id="802" r:id="rId85"/>
    <p:sldId id="804" r:id="rId86"/>
    <p:sldId id="350" r:id="rId87"/>
    <p:sldId id="351" r:id="rId88"/>
    <p:sldId id="357" r:id="rId89"/>
    <p:sldId id="352" r:id="rId90"/>
    <p:sldId id="354" r:id="rId91"/>
    <p:sldId id="545" r:id="rId92"/>
    <p:sldId id="546" r:id="rId93"/>
    <p:sldId id="547" r:id="rId94"/>
    <p:sldId id="355" r:id="rId95"/>
    <p:sldId id="356" r:id="rId96"/>
    <p:sldId id="536" r:id="rId97"/>
    <p:sldId id="537" r:id="rId98"/>
    <p:sldId id="538" r:id="rId99"/>
    <p:sldId id="468" r:id="rId100"/>
    <p:sldId id="805" r:id="rId101"/>
    <p:sldId id="806" r:id="rId102"/>
    <p:sldId id="807" r:id="rId103"/>
    <p:sldId id="808" r:id="rId104"/>
    <p:sldId id="809" r:id="rId105"/>
    <p:sldId id="810" r:id="rId106"/>
    <p:sldId id="815" r:id="rId107"/>
    <p:sldId id="811" r:id="rId108"/>
    <p:sldId id="812" r:id="rId109"/>
    <p:sldId id="813" r:id="rId110"/>
    <p:sldId id="814" r:id="rId111"/>
    <p:sldId id="469" r:id="rId112"/>
    <p:sldId id="470" r:id="rId113"/>
    <p:sldId id="471" r:id="rId114"/>
    <p:sldId id="472" r:id="rId115"/>
    <p:sldId id="473" r:id="rId116"/>
    <p:sldId id="474" r:id="rId117"/>
    <p:sldId id="475" r:id="rId118"/>
    <p:sldId id="476" r:id="rId119"/>
    <p:sldId id="477" r:id="rId120"/>
    <p:sldId id="478" r:id="rId121"/>
    <p:sldId id="479" r:id="rId122"/>
    <p:sldId id="480" r:id="rId123"/>
    <p:sldId id="481" r:id="rId124"/>
    <p:sldId id="482" r:id="rId125"/>
    <p:sldId id="483" r:id="rId126"/>
    <p:sldId id="881" r:id="rId127"/>
    <p:sldId id="882" r:id="rId128"/>
    <p:sldId id="484" r:id="rId129"/>
    <p:sldId id="485" r:id="rId130"/>
    <p:sldId id="515" r:id="rId131"/>
    <p:sldId id="486" r:id="rId132"/>
    <p:sldId id="487" r:id="rId133"/>
    <p:sldId id="488" r:id="rId134"/>
    <p:sldId id="489" r:id="rId135"/>
    <p:sldId id="490" r:id="rId136"/>
    <p:sldId id="491" r:id="rId137"/>
    <p:sldId id="883" r:id="rId138"/>
    <p:sldId id="888" r:id="rId139"/>
    <p:sldId id="887" r:id="rId140"/>
    <p:sldId id="889" r:id="rId141"/>
    <p:sldId id="913" r:id="rId142"/>
    <p:sldId id="914" r:id="rId143"/>
    <p:sldId id="915" r:id="rId144"/>
    <p:sldId id="519" r:id="rId145"/>
    <p:sldId id="492" r:id="rId146"/>
    <p:sldId id="493" r:id="rId147"/>
    <p:sldId id="539" r:id="rId148"/>
    <p:sldId id="494" r:id="rId149"/>
    <p:sldId id="513" r:id="rId150"/>
    <p:sldId id="514" r:id="rId151"/>
    <p:sldId id="495" r:id="rId152"/>
    <p:sldId id="541" r:id="rId153"/>
    <p:sldId id="520" r:id="rId154"/>
    <p:sldId id="496" r:id="rId155"/>
    <p:sldId id="505" r:id="rId156"/>
    <p:sldId id="884" r:id="rId157"/>
    <p:sldId id="885" r:id="rId158"/>
    <p:sldId id="506" r:id="rId159"/>
    <p:sldId id="549" r:id="rId160"/>
    <p:sldId id="507" r:id="rId161"/>
  </p:sldIdLst>
  <p:sldSz cx="9144000" cy="6858000" type="screen4x3"/>
  <p:notesSz cx="6858000" cy="9144000"/>
  <p:custDataLst>
    <p:tags r:id="rId16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FF99CC"/>
    <a:srgbClr val="CCFFFF"/>
    <a:srgbClr val="33CCCC"/>
    <a:srgbClr val="FF0000"/>
    <a:srgbClr val="F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2"/>
    <p:restoredTop sz="86363"/>
  </p:normalViewPr>
  <p:slideViewPr>
    <p:cSldViewPr showGuides="1">
      <p:cViewPr varScale="1">
        <p:scale>
          <a:sx n="60" d="100"/>
          <a:sy n="60" d="100"/>
        </p:scale>
        <p:origin x="-588" y="-90"/>
      </p:cViewPr>
      <p:guideLst>
        <p:guide orient="horz" pos="2114"/>
        <p:guide pos="2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6" Type="http://schemas.openxmlformats.org/officeDocument/2006/relationships/tags" Target="tags/tag1.xml"/><Relationship Id="rId165" Type="http://schemas.openxmlformats.org/officeDocument/2006/relationships/tableStyles" Target="tableStyles.xml"/><Relationship Id="rId164" Type="http://schemas.openxmlformats.org/officeDocument/2006/relationships/viewProps" Target="viewProps.xml"/><Relationship Id="rId163" Type="http://schemas.openxmlformats.org/officeDocument/2006/relationships/presProps" Target="presProps.xml"/><Relationship Id="rId162" Type="http://schemas.openxmlformats.org/officeDocument/2006/relationships/handoutMaster" Target="handoutMasters/handoutMaster1.xml"/><Relationship Id="rId161" Type="http://schemas.openxmlformats.org/officeDocument/2006/relationships/slide" Target="slides/slide157.xml"/><Relationship Id="rId160" Type="http://schemas.openxmlformats.org/officeDocument/2006/relationships/slide" Target="slides/slide156.xml"/><Relationship Id="rId16" Type="http://schemas.openxmlformats.org/officeDocument/2006/relationships/slide" Target="slides/slide13.xml"/><Relationship Id="rId159" Type="http://schemas.openxmlformats.org/officeDocument/2006/relationships/slide" Target="slides/slide155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2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1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10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9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8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9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.wmf"/><Relationship Id="rId4" Type="http://schemas.openxmlformats.org/officeDocument/2006/relationships/image" Target="../media/image12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wmf"/><Relationship Id="rId4" Type="http://schemas.openxmlformats.org/officeDocument/2006/relationships/image" Target="../media/image20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5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.wmf"/><Relationship Id="rId3" Type="http://schemas.openxmlformats.org/officeDocument/2006/relationships/image" Target="../media/image44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36.wmf"/><Relationship Id="rId1" Type="http://schemas.openxmlformats.org/officeDocument/2006/relationships/image" Target="../media/image4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53.wmf"/><Relationship Id="rId4" Type="http://schemas.openxmlformats.org/officeDocument/2006/relationships/image" Target="../media/image55.wmf"/><Relationship Id="rId3" Type="http://schemas.openxmlformats.org/officeDocument/2006/relationships/image" Target="../media/image48.wmf"/><Relationship Id="rId2" Type="http://schemas.openxmlformats.org/officeDocument/2006/relationships/image" Target="../media/image46.wmf"/><Relationship Id="rId1" Type="http://schemas.openxmlformats.org/officeDocument/2006/relationships/image" Target="../media/image2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4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1.wmf"/><Relationship Id="rId4" Type="http://schemas.openxmlformats.org/officeDocument/2006/relationships/image" Target="../media/image110.wmf"/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4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4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5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0.wmf"/><Relationship Id="rId3" Type="http://schemas.openxmlformats.org/officeDocument/2006/relationships/image" Target="../media/image118.wmf"/><Relationship Id="rId2" Type="http://schemas.openxmlformats.org/officeDocument/2006/relationships/image" Target="../media/image124.wmf"/><Relationship Id="rId1" Type="http://schemas.openxmlformats.org/officeDocument/2006/relationships/image" Target="../media/image117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5.wmf"/><Relationship Id="rId1" Type="http://schemas.openxmlformats.org/officeDocument/2006/relationships/image" Target="../media/image139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5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5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59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wmf"/></Relationships>
</file>

<file path=ppt/drawings/_rels/vmlDrawing6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5.wmf"/><Relationship Id="rId3" Type="http://schemas.openxmlformats.org/officeDocument/2006/relationships/image" Target="../media/image168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9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w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3.w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w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w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w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0.wmf"/></Relationships>
</file>

<file path=ppt/drawings/_rels/vmlDrawing8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7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8.w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9.w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w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w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2.w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3.w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9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9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9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9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wmf"/><Relationship Id="rId1" Type="http://schemas.openxmlformats.org/officeDocument/2006/relationships/image" Target="../media/image206.wmf"/></Relationships>
</file>

<file path=ppt/drawings/_rels/vmlDrawing9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9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3.wmf"/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DC69C-72AA-42A4-9393-8FC759D2C61F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3A234-7D00-4F2D-9C03-6CC632F2CC70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8484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950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9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05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第二次消元后，第一个方程中各参数严格为</a:t>
            </a:r>
            <a:r>
              <a:rPr lang="en-US" altLang="zh-CN" dirty="0"/>
              <a:t>0.100 -12.04  -23.98, </a:t>
            </a:r>
            <a:endParaRPr lang="en-US" altLang="zh-CN" dirty="0"/>
          </a:p>
          <a:p>
            <a:pPr lvl="0"/>
            <a:r>
              <a:rPr lang="en-US" altLang="zh-CN" dirty="0"/>
              <a:t>-10.04  -24.5  -59.04</a:t>
            </a:r>
            <a:r>
              <a:rPr lang="zh-CN" altLang="en-US" dirty="0"/>
              <a:t>。这是舍入误差和其传播过快，造成的结果不精确。</a:t>
            </a:r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15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Research in the period 1955 to</a:t>
            </a:r>
            <a:endParaRPr lang="en-US" altLang="zh-CN" dirty="0"/>
          </a:p>
          <a:p>
            <a:pPr lvl="0"/>
            <a:r>
              <a:rPr lang="en-US" altLang="zh-CN" dirty="0"/>
              <a:t>1965 revealed the importance of two aspects of Gaussian elimination that were not</a:t>
            </a:r>
            <a:endParaRPr lang="en-US" altLang="zh-CN" dirty="0"/>
          </a:p>
          <a:p>
            <a:pPr lvl="0"/>
            <a:r>
              <a:rPr lang="en-US" altLang="zh-CN" dirty="0"/>
              <a:t>emphasized in earlier work: the search for pivots and the proper interpretation of</a:t>
            </a:r>
            <a:endParaRPr lang="en-US" altLang="zh-CN" dirty="0"/>
          </a:p>
          <a:p>
            <a:pPr lvl="0"/>
            <a:r>
              <a:rPr lang="en-US" altLang="zh-CN" dirty="0"/>
              <a:t>the effect of rounding errors.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25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Research in the period 1955 to</a:t>
            </a:r>
            <a:endParaRPr lang="en-US" altLang="zh-CN" dirty="0"/>
          </a:p>
          <a:p>
            <a:pPr lvl="0"/>
            <a:r>
              <a:rPr lang="en-US" altLang="zh-CN" dirty="0"/>
              <a:t>1965 revealed the importance of two aspects of Gaussian elimination that were not</a:t>
            </a:r>
            <a:endParaRPr lang="en-US" altLang="zh-CN" dirty="0"/>
          </a:p>
          <a:p>
            <a:pPr lvl="0"/>
            <a:r>
              <a:rPr lang="en-US" altLang="zh-CN" dirty="0"/>
              <a:t>emphasized in earlier work: the search for pivots and the proper interpretation of</a:t>
            </a:r>
            <a:endParaRPr lang="en-US" altLang="zh-CN" dirty="0"/>
          </a:p>
          <a:p>
            <a:pPr lvl="0"/>
            <a:r>
              <a:rPr lang="en-US" altLang="zh-CN" dirty="0"/>
              <a:t>the effect of rounding errors.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17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sz="1400" dirty="0"/>
              <a:t>方法不合理：如顺序</a:t>
            </a:r>
            <a:r>
              <a:rPr lang="en-US" altLang="zh-CN" sz="1400" dirty="0"/>
              <a:t>Gauss</a:t>
            </a:r>
            <a:r>
              <a:rPr lang="zh-CN" altLang="en-US" sz="1400" dirty="0"/>
              <a:t>法和列主元</a:t>
            </a:r>
            <a:r>
              <a:rPr lang="en-US" altLang="zh-CN" sz="1400" dirty="0"/>
              <a:t>Gauss</a:t>
            </a:r>
            <a:r>
              <a:rPr lang="zh-CN" altLang="en-US" sz="1400" dirty="0"/>
              <a:t>法）</a:t>
            </a:r>
            <a:endParaRPr lang="zh-CN" altLang="en-US" sz="14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281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在证明定理</a:t>
            </a:r>
            <a:r>
              <a:rPr lang="en-US" altLang="zh-CN" dirty="0"/>
              <a:t>2.4.2</a:t>
            </a:r>
            <a:r>
              <a:rPr lang="zh-CN" altLang="en-US" dirty="0"/>
              <a:t>时，再引入矩阵的摄动定理，可能效果更好些。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4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其中</a:t>
            </a:r>
            <a:r>
              <a:rPr lang="en-US" altLang="zh-CN" dirty="0"/>
              <a:t>$\lambda_{\max}$</a:t>
            </a:r>
            <a:r>
              <a:rPr lang="zh-CN" altLang="en-US" dirty="0"/>
              <a:t>和</a:t>
            </a:r>
            <a:r>
              <a:rPr lang="en-US" altLang="zh-CN" dirty="0"/>
              <a:t>$\lambda_{\min}$</a:t>
            </a:r>
            <a:r>
              <a:rPr lang="zh-CN" altLang="en-US" dirty="0"/>
              <a:t>分别是矩阵</a:t>
            </a:r>
            <a:r>
              <a:rPr lang="en-US" altLang="zh-CN" dirty="0"/>
              <a:t>$A$</a:t>
            </a:r>
            <a:r>
              <a:rPr lang="zh-CN" altLang="en-US" dirty="0"/>
              <a:t>的绝对值最大与最小的特征值</a:t>
            </a:r>
            <a:r>
              <a:rPr lang="en-US" altLang="zh-CN" dirty="0"/>
              <a:t>.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63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回顾一下</a:t>
            </a:r>
            <a:r>
              <a:rPr lang="en-US" altLang="zh-CN" dirty="0"/>
              <a:t>Gauss</a:t>
            </a:r>
            <a:r>
              <a:rPr lang="zh-CN" altLang="en-US" dirty="0"/>
              <a:t>消去法，先消元，得到一个上三角形方程组。然后就可以很容易的进行回代求解，类似地，下三角形方程组也很容易求解。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46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记</a:t>
            </a:r>
            <a:r>
              <a:rPr lang="en-US" altLang="zh-CN" i="1" dirty="0"/>
              <a:t>I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阶单位矩阵，</a:t>
            </a:r>
            <a:r>
              <a:rPr lang="en-US" altLang="zh-CN" b="1" i="1" dirty="0"/>
              <a:t>m</a:t>
            </a:r>
            <a:r>
              <a:rPr lang="en-US" altLang="zh-CN" baseline="-30000" dirty="0"/>
              <a:t>1 </a:t>
            </a:r>
            <a:r>
              <a:rPr lang="en-US" altLang="zh-CN" dirty="0"/>
              <a:t>=(0,</a:t>
            </a:r>
            <a:r>
              <a:rPr lang="en-US" altLang="zh-CN" i="1" dirty="0"/>
              <a:t> l</a:t>
            </a:r>
            <a:r>
              <a:rPr lang="en-US" altLang="zh-CN" baseline="-30000" dirty="0"/>
              <a:t>2 1</a:t>
            </a:r>
            <a:r>
              <a:rPr lang="en-US" altLang="zh-CN" dirty="0"/>
              <a:t>,</a:t>
            </a:r>
            <a:r>
              <a:rPr lang="en-US" altLang="zh-CN" i="1" dirty="0"/>
              <a:t> l</a:t>
            </a:r>
            <a:r>
              <a:rPr lang="en-US" altLang="zh-CN" baseline="-30000" dirty="0"/>
              <a:t>31</a:t>
            </a:r>
            <a:r>
              <a:rPr lang="en-US" altLang="zh-CN" dirty="0"/>
              <a:t>, … ，</a:t>
            </a:r>
            <a:r>
              <a:rPr lang="en-US" altLang="zh-CN" i="1" dirty="0"/>
              <a:t>l</a:t>
            </a:r>
            <a:r>
              <a:rPr lang="en-US" altLang="zh-CN" baseline="-30000" dirty="0"/>
              <a:t>n, 1</a:t>
            </a:r>
            <a:r>
              <a:rPr lang="en-US" altLang="zh-CN" dirty="0"/>
              <a:t>)</a:t>
            </a:r>
            <a:r>
              <a:rPr lang="en-US" altLang="zh-CN" baseline="30000" dirty="0"/>
              <a:t>T</a:t>
            </a:r>
            <a:r>
              <a:rPr lang="en-US" altLang="zh-CN" dirty="0"/>
              <a:t>，</a:t>
            </a:r>
            <a:r>
              <a:rPr lang="en-US" altLang="zh-CN" b="1" i="1" dirty="0"/>
              <a:t>e</a:t>
            </a:r>
            <a:r>
              <a:rPr lang="en-US" altLang="zh-CN" baseline="-30000" dirty="0"/>
              <a:t>1</a:t>
            </a:r>
            <a:r>
              <a:rPr lang="zh-CN" altLang="en-US" dirty="0"/>
              <a:t>为</a:t>
            </a:r>
            <a:r>
              <a:rPr lang="en-US" altLang="zh-CN" b="1" i="1" dirty="0"/>
              <a:t>I</a:t>
            </a:r>
            <a:r>
              <a:rPr lang="zh-CN" altLang="en-US" dirty="0"/>
              <a:t>的第一列元素构成的</a:t>
            </a:r>
            <a:r>
              <a:rPr lang="en-US" altLang="zh-CN" i="1" dirty="0"/>
              <a:t>n</a:t>
            </a:r>
            <a:r>
              <a:rPr lang="zh-CN" altLang="en-US" dirty="0"/>
              <a:t>维向量，则</a:t>
            </a:r>
            <a:endParaRPr lang="zh-CN" altLang="en-US" dirty="0"/>
          </a:p>
          <a:p>
            <a:pPr lvl="0" algn="ctr">
              <a:lnSpc>
                <a:spcPct val="120000"/>
              </a:lnSpc>
              <a:spcBef>
                <a:spcPct val="0"/>
              </a:spcBef>
            </a:pPr>
            <a:r>
              <a:rPr lang="en-US" altLang="zh-CN" b="1" i="1" dirty="0"/>
              <a:t>F</a:t>
            </a:r>
            <a:r>
              <a:rPr lang="en-US" altLang="zh-CN" b="1" baseline="-30000" dirty="0"/>
              <a:t>1 </a:t>
            </a:r>
            <a:r>
              <a:rPr lang="en-US" altLang="zh-CN" b="1" dirty="0"/>
              <a:t>= </a:t>
            </a:r>
            <a:r>
              <a:rPr lang="en-US" altLang="zh-CN" b="1" i="1" dirty="0"/>
              <a:t>I</a:t>
            </a:r>
            <a:r>
              <a:rPr lang="en-US" altLang="zh-CN" dirty="0"/>
              <a:t>－</a:t>
            </a:r>
            <a:r>
              <a:rPr lang="en-US" altLang="zh-CN" b="1" i="1" dirty="0"/>
              <a:t>m</a:t>
            </a:r>
            <a:r>
              <a:rPr lang="en-US" altLang="zh-CN" baseline="-30000" dirty="0"/>
              <a:t>1</a:t>
            </a:r>
            <a:r>
              <a:rPr lang="en-US" altLang="zh-CN" b="1" i="1" dirty="0"/>
              <a:t> e</a:t>
            </a:r>
            <a:r>
              <a:rPr lang="en-US" altLang="zh-CN" baseline="-30000" dirty="0"/>
              <a:t>1</a:t>
            </a:r>
            <a:r>
              <a:rPr lang="en-US" altLang="zh-CN" baseline="30000" dirty="0"/>
              <a:t>T</a:t>
            </a:r>
            <a:r>
              <a:rPr lang="en-US" altLang="zh-CN" dirty="0"/>
              <a:t>。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154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565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algn="just">
              <a:lnSpc>
                <a:spcPct val="120000"/>
              </a:lnSpc>
              <a:buFont typeface="ZapfDingbats" pitchFamily="82" charset="2"/>
              <a:buChar char="•"/>
            </a:pPr>
            <a:r>
              <a:rPr lang="zh-CN" altLang="en-US" dirty="0"/>
              <a:t>记</a:t>
            </a:r>
            <a:r>
              <a:rPr lang="en-US" altLang="zh-CN" b="1" i="1" dirty="0"/>
              <a:t>m</a:t>
            </a:r>
            <a:r>
              <a:rPr lang="en-US" altLang="zh-CN" i="1" baseline="-30000" dirty="0"/>
              <a:t>k</a:t>
            </a:r>
            <a:r>
              <a:rPr lang="en-US" altLang="zh-CN" baseline="-30000" dirty="0"/>
              <a:t> </a:t>
            </a:r>
            <a:r>
              <a:rPr lang="en-US" altLang="zh-CN" dirty="0"/>
              <a:t>=(0,…,0,</a:t>
            </a:r>
            <a:r>
              <a:rPr lang="en-US" altLang="zh-CN" i="1" dirty="0"/>
              <a:t> l</a:t>
            </a:r>
            <a:r>
              <a:rPr lang="en-US" altLang="zh-CN" i="1" baseline="-30000" dirty="0"/>
              <a:t>k+</a:t>
            </a:r>
            <a:r>
              <a:rPr lang="en-US" altLang="zh-CN" baseline="-30000" dirty="0"/>
              <a:t>1</a:t>
            </a:r>
            <a:r>
              <a:rPr lang="en-US" altLang="zh-CN" i="1" baseline="-30000" dirty="0"/>
              <a:t>,k</a:t>
            </a:r>
            <a:r>
              <a:rPr lang="en-US" altLang="zh-CN" dirty="0"/>
              <a:t>,</a:t>
            </a:r>
            <a:r>
              <a:rPr lang="en-US" altLang="zh-CN" i="1" dirty="0"/>
              <a:t> l</a:t>
            </a:r>
            <a:r>
              <a:rPr lang="en-US" altLang="zh-CN" i="1" baseline="-30000" dirty="0"/>
              <a:t>k+</a:t>
            </a:r>
            <a:r>
              <a:rPr lang="en-US" altLang="zh-CN" baseline="-30000" dirty="0"/>
              <a:t>2</a:t>
            </a:r>
            <a:r>
              <a:rPr lang="en-US" altLang="zh-CN" i="1" baseline="-30000" dirty="0"/>
              <a:t>,k</a:t>
            </a:r>
            <a:r>
              <a:rPr lang="en-US" altLang="zh-CN" dirty="0"/>
              <a:t>, … ，</a:t>
            </a:r>
            <a:r>
              <a:rPr lang="en-US" altLang="zh-CN" i="1" dirty="0"/>
              <a:t>l</a:t>
            </a:r>
            <a:r>
              <a:rPr lang="en-US" altLang="zh-CN" i="1" baseline="-30000" dirty="0"/>
              <a:t>n k</a:t>
            </a:r>
            <a:r>
              <a:rPr lang="en-US" altLang="zh-CN" dirty="0"/>
              <a:t>)</a:t>
            </a:r>
            <a:r>
              <a:rPr lang="en-US" altLang="zh-CN" baseline="30000" dirty="0"/>
              <a:t>T</a:t>
            </a:r>
            <a:r>
              <a:rPr lang="en-US" altLang="zh-CN" dirty="0"/>
              <a:t>，</a:t>
            </a:r>
            <a:r>
              <a:rPr lang="en-US" altLang="zh-CN" b="1" i="1" dirty="0"/>
              <a:t>e</a:t>
            </a:r>
            <a:r>
              <a:rPr lang="en-US" altLang="zh-CN" i="1" baseline="-30000" dirty="0"/>
              <a:t>k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阶单位矩阵</a:t>
            </a:r>
            <a:r>
              <a:rPr lang="en-US" altLang="zh-CN" b="1" i="1" dirty="0"/>
              <a:t>I </a:t>
            </a:r>
            <a:r>
              <a:rPr lang="zh-CN" altLang="en-US" dirty="0"/>
              <a:t>的 第</a:t>
            </a:r>
            <a:r>
              <a:rPr lang="en-US" altLang="zh-CN" i="1" dirty="0"/>
              <a:t>k</a:t>
            </a:r>
            <a:r>
              <a:rPr lang="zh-CN" altLang="en-US" dirty="0"/>
              <a:t>列元素构成的</a:t>
            </a:r>
            <a:r>
              <a:rPr lang="en-US" altLang="zh-CN" i="1" dirty="0"/>
              <a:t>n</a:t>
            </a:r>
            <a:r>
              <a:rPr lang="zh-CN" altLang="en-US" dirty="0"/>
              <a:t>维向量，则</a:t>
            </a:r>
            <a:endParaRPr lang="zh-CN" altLang="en-US" dirty="0"/>
          </a:p>
          <a:p>
            <a:pPr lvl="0" algn="ctr">
              <a:lnSpc>
                <a:spcPct val="90000"/>
              </a:lnSpc>
              <a:buFont typeface="ZapfDingbats" pitchFamily="82" charset="2"/>
              <a:buChar char="•"/>
            </a:pPr>
            <a:r>
              <a:rPr lang="en-US" altLang="zh-CN" b="1" i="1" dirty="0"/>
              <a:t>F</a:t>
            </a:r>
            <a:r>
              <a:rPr lang="en-US" altLang="zh-CN" i="1" baseline="-30000" dirty="0"/>
              <a:t>k</a:t>
            </a:r>
            <a:r>
              <a:rPr lang="en-US" altLang="zh-CN" b="1" baseline="-30000" dirty="0"/>
              <a:t> </a:t>
            </a:r>
            <a:r>
              <a:rPr lang="en-US" altLang="zh-CN" b="1" dirty="0"/>
              <a:t>= </a:t>
            </a:r>
            <a:r>
              <a:rPr lang="en-US" altLang="zh-CN" b="1" i="1" dirty="0"/>
              <a:t>I</a:t>
            </a:r>
            <a:r>
              <a:rPr lang="en-US" altLang="zh-CN" dirty="0"/>
              <a:t>－</a:t>
            </a:r>
            <a:r>
              <a:rPr lang="en-US" altLang="zh-CN" b="1" i="1" dirty="0"/>
              <a:t>m</a:t>
            </a:r>
            <a:r>
              <a:rPr lang="en-US" altLang="zh-CN" i="1" baseline="-30000" dirty="0"/>
              <a:t>k</a:t>
            </a:r>
            <a:r>
              <a:rPr lang="en-US" altLang="zh-CN" b="1" i="1" dirty="0"/>
              <a:t> e</a:t>
            </a:r>
            <a:r>
              <a:rPr lang="en-US" altLang="zh-CN" i="1" baseline="-30000" dirty="0"/>
              <a:t>k</a:t>
            </a:r>
            <a:r>
              <a:rPr lang="en-US" altLang="zh-CN" baseline="30000" dirty="0"/>
              <a:t>T</a:t>
            </a:r>
            <a:r>
              <a:rPr lang="en-US" altLang="zh-CN" baseline="-30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k </a:t>
            </a:r>
            <a:r>
              <a:rPr lang="en-US" altLang="zh-CN" dirty="0"/>
              <a:t>= 2, 3, …, </a:t>
            </a:r>
            <a:r>
              <a:rPr lang="en-US" altLang="zh-CN" i="1" dirty="0"/>
              <a:t>n</a:t>
            </a:r>
            <a:r>
              <a:rPr lang="en-US" altLang="zh-CN" dirty="0"/>
              <a:t>-1。</a:t>
            </a:r>
            <a:endParaRPr lang="zh-CN" altLang="en-US" dirty="0"/>
          </a:p>
          <a:p>
            <a:pPr lvl="0">
              <a:buChar char="•"/>
            </a:pPr>
            <a:endParaRPr lang="zh-CN" altLang="en-US" dirty="0"/>
          </a:p>
        </p:txBody>
      </p:sp>
      <p:sp>
        <p:nvSpPr>
          <p:cNvPr id="155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667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F1=[1,0,0,0;-2,1,0,0;3,0,1,0;-4,0,0,1];F2=[1,0,0,0;0,1,0,0;0,-5,1,0;0,-8,0,1]; F3=[1,0,0,0;0,1,0,0;0,0,1,0;0,0,-6,1]</a:t>
            </a:r>
            <a:endParaRPr lang="en-US" altLang="zh-CN" dirty="0"/>
          </a:p>
          <a:p>
            <a:pPr lvl="0"/>
            <a:r>
              <a:rPr lang="en-US" altLang="zh-CN" dirty="0"/>
              <a:t>L=inv(F1)*inv(F2)*inv(F3)</a:t>
            </a:r>
            <a:endParaRPr lang="en-US" altLang="zh-CN" dirty="0"/>
          </a:p>
          <a:p>
            <a:pPr lvl="0"/>
            <a:r>
              <a:rPr lang="en-US" altLang="zh-CN" dirty="0"/>
              <a:t>L =</a:t>
            </a:r>
            <a:endParaRPr lang="en-US" altLang="zh-CN" dirty="0"/>
          </a:p>
          <a:p>
            <a:pPr lvl="0"/>
            <a:r>
              <a:rPr lang="en-US" altLang="zh-CN" dirty="0"/>
              <a:t>     1     0     0     0</a:t>
            </a:r>
            <a:endParaRPr lang="en-US" altLang="zh-CN" dirty="0"/>
          </a:p>
          <a:p>
            <a:pPr lvl="0"/>
            <a:r>
              <a:rPr lang="en-US" altLang="zh-CN" dirty="0"/>
              <a:t>     2     1     0     0</a:t>
            </a:r>
            <a:endParaRPr lang="en-US" altLang="zh-CN" dirty="0"/>
          </a:p>
          <a:p>
            <a:pPr lvl="0"/>
            <a:r>
              <a:rPr lang="en-US" altLang="zh-CN" dirty="0"/>
              <a:t>    -3     5     1     0</a:t>
            </a:r>
            <a:endParaRPr lang="en-US" altLang="zh-CN" dirty="0"/>
          </a:p>
          <a:p>
            <a:pPr lvl="0"/>
            <a:r>
              <a:rPr lang="en-US" altLang="zh-CN" dirty="0"/>
              <a:t>     4     8     6     1</a:t>
            </a:r>
            <a:endParaRPr lang="zh-CN" altLang="en-US" dirty="0"/>
          </a:p>
        </p:txBody>
      </p:sp>
      <p:sp>
        <p:nvSpPr>
          <p:cNvPr id="156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F1=[1,0,0,0;-2,1,0,0;3,0,1,0;-4,0,0,1];F2=[1,0,0,0;0,1,0,0;0,-5,1,0;0,-8,0,1]; F3=[1,0,0,0;0,1,0,0;0,0,1,0;0,0,-6,1]</a:t>
            </a:r>
            <a:endParaRPr lang="en-US" altLang="zh-CN" dirty="0"/>
          </a:p>
          <a:p>
            <a:pPr lvl="0"/>
            <a:r>
              <a:rPr lang="en-US" altLang="zh-CN" dirty="0"/>
              <a:t>L=inv(F1)*inv(F2)*inv(F3)</a:t>
            </a:r>
            <a:endParaRPr lang="en-US" altLang="zh-CN" dirty="0"/>
          </a:p>
          <a:p>
            <a:pPr lvl="0"/>
            <a:r>
              <a:rPr lang="en-US" altLang="zh-CN" dirty="0"/>
              <a:t>L =</a:t>
            </a:r>
            <a:endParaRPr lang="en-US" altLang="zh-CN" dirty="0"/>
          </a:p>
          <a:p>
            <a:pPr lvl="0"/>
            <a:r>
              <a:rPr lang="en-US" altLang="zh-CN" dirty="0"/>
              <a:t>     1     0     0     0</a:t>
            </a:r>
            <a:endParaRPr lang="en-US" altLang="zh-CN" dirty="0"/>
          </a:p>
          <a:p>
            <a:pPr lvl="0"/>
            <a:r>
              <a:rPr lang="en-US" altLang="zh-CN" dirty="0"/>
              <a:t>     2     1     0     0</a:t>
            </a:r>
            <a:endParaRPr lang="en-US" altLang="zh-CN" dirty="0"/>
          </a:p>
          <a:p>
            <a:pPr lvl="0"/>
            <a:r>
              <a:rPr lang="en-US" altLang="zh-CN" dirty="0"/>
              <a:t>    -3     5     1     0</a:t>
            </a:r>
            <a:endParaRPr lang="en-US" altLang="zh-CN" dirty="0"/>
          </a:p>
          <a:p>
            <a:pPr lvl="0"/>
            <a:r>
              <a:rPr lang="en-US" altLang="zh-CN" dirty="0"/>
              <a:t>     4     8     6     1</a:t>
            </a:r>
            <a:endParaRPr lang="zh-CN" altLang="en-US" dirty="0"/>
          </a:p>
        </p:txBody>
      </p:sp>
      <p:sp>
        <p:nvSpPr>
          <p:cNvPr id="157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87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The diagonal elements of </a:t>
            </a:r>
            <a:r>
              <a:rPr lang="en-US" altLang="zh-CN" i="1" dirty="0"/>
              <a:t>U </a:t>
            </a:r>
            <a:r>
              <a:rPr lang="en-US" altLang="zh-CN" dirty="0"/>
              <a:t>are called </a:t>
            </a:r>
            <a:r>
              <a:rPr lang="en-US" altLang="zh-CN" i="1" dirty="0"/>
              <a:t>pivots</a:t>
            </a:r>
            <a:r>
              <a:rPr lang="en-US" altLang="zh-CN" dirty="0"/>
              <a:t>. The </a:t>
            </a:r>
            <a:r>
              <a:rPr lang="en-US" altLang="zh-CN" i="1" dirty="0"/>
              <a:t>k</a:t>
            </a:r>
            <a:r>
              <a:rPr lang="en-US" altLang="zh-CN" dirty="0"/>
              <a:t>th pivot is the coefficient of the</a:t>
            </a:r>
            <a:endParaRPr lang="en-US" altLang="zh-CN" dirty="0"/>
          </a:p>
          <a:p>
            <a:pPr lvl="0"/>
            <a:r>
              <a:rPr lang="en-US" altLang="zh-CN" i="1" dirty="0"/>
              <a:t>k</a:t>
            </a:r>
            <a:r>
              <a:rPr lang="en-US" altLang="zh-CN" dirty="0"/>
              <a:t>th variable in the </a:t>
            </a:r>
            <a:r>
              <a:rPr lang="en-US" altLang="zh-CN" i="1" dirty="0"/>
              <a:t>k</a:t>
            </a:r>
            <a:r>
              <a:rPr lang="en-US" altLang="zh-CN" dirty="0"/>
              <a:t>th equation at the </a:t>
            </a:r>
            <a:r>
              <a:rPr lang="en-US" altLang="zh-CN" i="1" dirty="0"/>
              <a:t>k</a:t>
            </a:r>
            <a:r>
              <a:rPr lang="en-US" altLang="zh-CN" dirty="0"/>
              <a:t>th step of the elimination.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97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sz="2800" b="1" dirty="0">
                <a:solidFill>
                  <a:srgbClr val="FF0000"/>
                </a:solidFill>
              </a:rPr>
              <a:t>计算过程要说明一下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en-US" altLang="zh-CN" sz="2800" b="1" i="1" dirty="0"/>
              <a:t>k </a:t>
            </a:r>
            <a:r>
              <a:rPr lang="en-US" altLang="zh-CN" sz="2800" b="1" dirty="0"/>
              <a:t>= 1,2,…,</a:t>
            </a:r>
            <a:r>
              <a:rPr lang="en-US" altLang="zh-CN" sz="2800" b="1" i="1" dirty="0"/>
              <a:t>n，u</a:t>
            </a:r>
            <a:r>
              <a:rPr lang="en-US" altLang="zh-CN" sz="2800" b="1" i="1" baseline="-25000" dirty="0"/>
              <a:t>k,j </a:t>
            </a:r>
            <a:r>
              <a:rPr lang="zh-CN" altLang="en-US" sz="2800" dirty="0"/>
              <a:t>计算第</a:t>
            </a:r>
            <a:r>
              <a:rPr lang="en-US" altLang="zh-CN" sz="2800" dirty="0"/>
              <a:t>k</a:t>
            </a:r>
            <a:r>
              <a:rPr lang="zh-CN" altLang="en-US" sz="2800" dirty="0"/>
              <a:t>行; </a:t>
            </a:r>
            <a:r>
              <a:rPr lang="en-US" altLang="zh-CN" sz="2800" i="1" dirty="0"/>
              <a:t>l</a:t>
            </a:r>
            <a:r>
              <a:rPr lang="en-US" altLang="zh-CN" sz="2800" i="1" baseline="-25000" dirty="0"/>
              <a:t>i,k</a:t>
            </a:r>
            <a:r>
              <a:rPr lang="en-US" altLang="zh-CN" sz="2800" dirty="0"/>
              <a:t> </a:t>
            </a:r>
            <a:r>
              <a:rPr lang="zh-CN" altLang="en-US" sz="2800" dirty="0"/>
              <a:t>计算第</a:t>
            </a:r>
            <a:r>
              <a:rPr lang="en-US" altLang="zh-CN" sz="2800" dirty="0"/>
              <a:t>k</a:t>
            </a:r>
            <a:r>
              <a:rPr lang="zh-CN" altLang="en-US" sz="2800" dirty="0"/>
              <a:t>列。</a:t>
            </a:r>
            <a:endParaRPr lang="zh-CN" altLang="en-US" sz="2800" dirty="0"/>
          </a:p>
          <a:p>
            <a:pPr lvl="0"/>
            <a:r>
              <a:rPr lang="zh-CN" altLang="en-US" sz="2800" dirty="0"/>
              <a:t>利用矩阵乘法计算</a:t>
            </a:r>
            <a:r>
              <a:rPr lang="en-US" altLang="zh-CN" sz="2800" dirty="0"/>
              <a:t>LU</a:t>
            </a:r>
            <a:r>
              <a:rPr lang="zh-CN" altLang="en-US" sz="2800" dirty="0"/>
              <a:t>分解大约需要</a:t>
            </a:r>
            <a:r>
              <a:rPr lang="en-US" altLang="zh-CN" sz="2800" dirty="0"/>
              <a:t>O(n</a:t>
            </a:r>
            <a:r>
              <a:rPr lang="en-US" altLang="zh-CN" sz="2800" baseline="30000" dirty="0"/>
              <a:t>3</a:t>
            </a:r>
            <a:r>
              <a:rPr lang="en-US" altLang="zh-CN" sz="2800" dirty="0"/>
              <a:t>)</a:t>
            </a:r>
            <a:r>
              <a:rPr lang="zh-CN" altLang="en-US" sz="2800" dirty="0"/>
              <a:t>次的乘除法。</a:t>
            </a:r>
            <a:endParaRPr lang="zh-CN" altLang="en-US" sz="28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07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sz="1000" b="1" dirty="0"/>
              <a:t>追赶法</a:t>
            </a:r>
            <a:r>
              <a:rPr lang="en-US" altLang="zh-CN" sz="1000" b="1" dirty="0"/>
              <a:t>-Thomas algorithm</a:t>
            </a:r>
            <a:r>
              <a:rPr lang="zh-CN" altLang="en-US" sz="1000" b="1" dirty="0"/>
              <a:t>（</a:t>
            </a:r>
            <a:r>
              <a:rPr lang="en-US" altLang="zh-CN" dirty="0"/>
              <a:t>solverThomas</a:t>
            </a:r>
            <a:r>
              <a:rPr lang="zh-CN" altLang="en-US" sz="1000" b="1" dirty="0"/>
              <a:t>）</a:t>
            </a:r>
            <a:endParaRPr lang="zh-CN" altLang="en-US" sz="1000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486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迭代法的基本思想是通过构造一个迭代公式来生成一个向量序列。如果这个向量序列的极限是方程组的真解，那么这序列中的每个向量称为一个近似解</a:t>
            </a:r>
            <a:r>
              <a:rPr lang="en-US" altLang="zh-CN" dirty="0"/>
              <a:t>(</a:t>
            </a:r>
            <a:r>
              <a:rPr lang="zh-CN" altLang="en-US" dirty="0"/>
              <a:t>向量</a:t>
            </a:r>
            <a:r>
              <a:rPr lang="en-US" altLang="zh-CN" dirty="0"/>
              <a:t>)</a:t>
            </a:r>
            <a:r>
              <a:rPr lang="zh-CN" altLang="en-US" dirty="0"/>
              <a:t>，从而获得满足一定精度要求的方程组的近似解。</a:t>
            </a:r>
            <a:endParaRPr lang="zh-CN" altLang="en-US" dirty="0"/>
          </a:p>
        </p:txBody>
      </p:sp>
      <p:sp>
        <p:nvSpPr>
          <p:cNvPr id="164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In principle, given the spectral radius </a:t>
            </a:r>
            <a:r>
              <a:rPr lang="el-GR" altLang="zh-CN" dirty="0"/>
              <a:t>ρ</a:t>
            </a:r>
            <a:r>
              <a:rPr lang="en-US" altLang="zh-CN" dirty="0"/>
              <a:t> of the Jacobi iteration matrix, one can determine</a:t>
            </a:r>
            <a:endParaRPr lang="en-US" altLang="zh-CN" dirty="0"/>
          </a:p>
          <a:p>
            <a:pPr lvl="0"/>
            <a:r>
              <a:rPr lang="en-US" altLang="zh-CN" dirty="0"/>
              <a:t>a priori the theoretically optimal value of </a:t>
            </a:r>
            <a:r>
              <a:rPr lang="el-GR" altLang="zh-CN" dirty="0"/>
              <a:t>ω</a:t>
            </a:r>
            <a:r>
              <a:rPr lang="en-US" altLang="zh-CN" dirty="0"/>
              <a:t> for SOR: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69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In principle, given the spectral radius </a:t>
            </a:r>
            <a:r>
              <a:rPr lang="el-GR" altLang="zh-CN" dirty="0"/>
              <a:t>ρ</a:t>
            </a:r>
            <a:r>
              <a:rPr lang="en-US" altLang="zh-CN" dirty="0"/>
              <a:t> of the Jacobi iteration matrix, one can determine</a:t>
            </a:r>
            <a:endParaRPr lang="en-US" altLang="zh-CN" dirty="0"/>
          </a:p>
          <a:p>
            <a:pPr lvl="0"/>
            <a:r>
              <a:rPr lang="en-US" altLang="zh-CN" dirty="0"/>
              <a:t>a priori the theoretically optimal value of </a:t>
            </a:r>
            <a:r>
              <a:rPr lang="el-GR" altLang="zh-CN" dirty="0"/>
              <a:t>ω</a:t>
            </a:r>
            <a:r>
              <a:rPr lang="en-US" altLang="zh-CN" dirty="0"/>
              <a:t> for SOR: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793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b="1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是最大迭代次数</a:t>
            </a:r>
            <a:r>
              <a:rPr lang="en-US" altLang="zh-CN" dirty="0"/>
              <a:t>, </a:t>
            </a:r>
            <a:r>
              <a:rPr lang="zh-CN" altLang="en-US" dirty="0"/>
              <a:t>限定迭代次数，控制计算成本。迭代次数超过它，则在计算上，认为此迭代法是“发散的”。</a:t>
            </a:r>
            <a:endParaRPr lang="zh-CN" altLang="en-US" dirty="0"/>
          </a:p>
        </p:txBody>
      </p:sp>
      <p:sp>
        <p:nvSpPr>
          <p:cNvPr id="167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59436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5240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" y="39243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3400" y="39243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59436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5240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" y="39243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3400" y="3924300"/>
            <a:ext cx="7772400" cy="2247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451" name="Rectangle 3"/>
          <p:cNvSpPr>
            <a:spLocks noGrp="1"/>
          </p:cNvSpPr>
          <p:nvPr>
            <p:ph type="body"/>
          </p:nvPr>
        </p:nvSpPr>
        <p:spPr>
          <a:xfrm>
            <a:off x="533400" y="15240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248400"/>
            <a:ext cx="28956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5800" y="6248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451" name="Rectangle 3"/>
          <p:cNvSpPr>
            <a:spLocks noGrp="1"/>
          </p:cNvSpPr>
          <p:nvPr>
            <p:ph type="body"/>
          </p:nvPr>
        </p:nvSpPr>
        <p:spPr>
          <a:xfrm>
            <a:off x="533400" y="15240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99FCF4-4A4F-4A9C-B79E-82BB513C78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248400"/>
            <a:ext cx="28956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线性方程组的解法</a:t>
            </a: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5800" y="62484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0.wmf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4.xml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7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6.xml"/><Relationship Id="rId3" Type="http://schemas.openxmlformats.org/officeDocument/2006/relationships/slide" Target="slide25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8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3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32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3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37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1.w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36.wmf"/><Relationship Id="rId13" Type="http://schemas.openxmlformats.org/officeDocument/2006/relationships/notesSlide" Target="../notesSlides/notesSlide1.xml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47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40.wmf"/><Relationship Id="rId11" Type="http://schemas.openxmlformats.org/officeDocument/2006/relationships/notesSlide" Target="../notesSlides/notesSlide2.xml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5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57.bin"/><Relationship Id="rId3" Type="http://schemas.openxmlformats.org/officeDocument/2006/relationships/image" Target="../media/image44.wmf"/><Relationship Id="rId2" Type="http://schemas.openxmlformats.org/officeDocument/2006/relationships/oleObject" Target="../embeddings/oleObject56.bin"/><Relationship Id="rId1" Type="http://schemas.openxmlformats.org/officeDocument/2006/relationships/slide" Target="slide1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8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46.wmf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58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62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49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63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4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68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22.wmf"/><Relationship Id="rId13" Type="http://schemas.openxmlformats.org/officeDocument/2006/relationships/notesSlide" Target="../notesSlides/notesSlide4.xml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70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76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75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image" Target="../media/image61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58.w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7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2.wmf"/><Relationship Id="rId1" Type="http://schemas.openxmlformats.org/officeDocument/2006/relationships/oleObject" Target="../embeddings/oleObject8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82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6.wmf"/><Relationship Id="rId1" Type="http://schemas.openxmlformats.org/officeDocument/2006/relationships/oleObject" Target="../embeddings/oleObject85.bin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86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87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69.w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17.xml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88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75.wmf"/><Relationship Id="rId3" Type="http://schemas.openxmlformats.org/officeDocument/2006/relationships/oleObject" Target="../embeddings/oleObject94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93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6.v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77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76.wmf"/><Relationship Id="rId1" Type="http://schemas.openxmlformats.org/officeDocument/2006/relationships/oleObject" Target="../embeddings/oleObject95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78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97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0.wmf"/><Relationship Id="rId1" Type="http://schemas.openxmlformats.org/officeDocument/2006/relationships/oleObject" Target="../embeddings/oleObject101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1.wmf"/><Relationship Id="rId1" Type="http://schemas.openxmlformats.org/officeDocument/2006/relationships/oleObject" Target="../embeddings/oleObject102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2.wmf"/><Relationship Id="rId1" Type="http://schemas.openxmlformats.org/officeDocument/2006/relationships/oleObject" Target="../embeddings/oleObject103.bin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4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4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93.wmf"/><Relationship Id="rId1" Type="http://schemas.openxmlformats.org/officeDocument/2006/relationships/oleObject" Target="../embeddings/oleObject104.bin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wmf"/><Relationship Id="rId1" Type="http://schemas.openxmlformats.org/officeDocument/2006/relationships/oleObject" Target="../embeddings/oleObject106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99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96.wmf"/><Relationship Id="rId12" Type="http://schemas.openxmlformats.org/officeDocument/2006/relationships/vmlDrawing" Target="../drawings/vmlDrawing4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0.wmf"/><Relationship Id="rId1" Type="http://schemas.openxmlformats.org/officeDocument/2006/relationships/oleObject" Target="../embeddings/oleObject107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01.wmf"/><Relationship Id="rId12" Type="http://schemas.openxmlformats.org/officeDocument/2006/relationships/vmlDrawing" Target="../drawings/vmlDrawing4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12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10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08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07.wmf"/><Relationship Id="rId13" Type="http://schemas.openxmlformats.org/officeDocument/2006/relationships/notesSlide" Target="../notesSlides/notesSlide14.xml"/><Relationship Id="rId12" Type="http://schemas.openxmlformats.org/officeDocument/2006/relationships/vmlDrawing" Target="../drawings/vmlDrawing45.vml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111.wmf"/><Relationship Id="rId1" Type="http://schemas.openxmlformats.org/officeDocument/2006/relationships/oleObject" Target="../embeddings/oleObject117.bin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oleObject" Target="../embeddings/oleObject126.bin"/><Relationship Id="rId7" Type="http://schemas.openxmlformats.org/officeDocument/2006/relationships/image" Target="../media/image114.wmf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24.bin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12.wmf"/><Relationship Id="rId11" Type="http://schemas.openxmlformats.org/officeDocument/2006/relationships/vmlDrawing" Target="../drawings/vmlDrawing46.vml"/><Relationship Id="rId10" Type="http://schemas.openxmlformats.org/officeDocument/2006/relationships/slideLayout" Target="../slideLayouts/slideLayout4.xml"/><Relationship Id="rId1" Type="http://schemas.openxmlformats.org/officeDocument/2006/relationships/oleObject" Target="../embeddings/oleObject122.bin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27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17.wmf"/><Relationship Id="rId1" Type="http://schemas.openxmlformats.org/officeDocument/2006/relationships/oleObject" Target="../embeddings/oleObject128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21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20.wmf"/><Relationship Id="rId10" Type="http://schemas.openxmlformats.org/officeDocument/2006/relationships/vmlDrawing" Target="../drawings/vmlDrawing49.vml"/><Relationship Id="rId1" Type="http://schemas.openxmlformats.org/officeDocument/2006/relationships/oleObject" Target="../embeddings/oleObject131.bin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17.wmf"/><Relationship Id="rId10" Type="http://schemas.openxmlformats.org/officeDocument/2006/relationships/vmlDrawing" Target="../drawings/vmlDrawing50.vml"/><Relationship Id="rId1" Type="http://schemas.openxmlformats.org/officeDocument/2006/relationships/oleObject" Target="../embeddings/oleObject135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7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8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9.wmf"/><Relationship Id="rId1" Type="http://schemas.openxmlformats.org/officeDocument/2006/relationships/oleObject" Target="../embeddings/oleObject139.bin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92.xml"/></Relationships>
</file>

<file path=ppt/slides/_rels/slide8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41.bin"/><Relationship Id="rId2" Type="http://schemas.openxmlformats.org/officeDocument/2006/relationships/image" Target="../media/image130.wmf"/><Relationship Id="rId1" Type="http://schemas.openxmlformats.org/officeDocument/2006/relationships/oleObject" Target="../embeddings/oleObject140.bin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2.wmf"/><Relationship Id="rId1" Type="http://schemas.openxmlformats.org/officeDocument/2006/relationships/oleObject" Target="../embeddings/oleObject142.bin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43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36.wmf"/><Relationship Id="rId1" Type="http://schemas.openxmlformats.org/officeDocument/2006/relationships/oleObject" Target="../embeddings/oleObject146.bin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39.wmf"/><Relationship Id="rId1" Type="http://schemas.openxmlformats.org/officeDocument/2006/relationships/oleObject" Target="../embeddings/oleObject149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slide" Target="slide84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40.wmf"/><Relationship Id="rId1" Type="http://schemas.openxmlformats.org/officeDocument/2006/relationships/oleObject" Target="../embeddings/oleObject152.bin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42.wmf"/><Relationship Id="rId12" Type="http://schemas.openxmlformats.org/officeDocument/2006/relationships/vmlDrawing" Target="../drawings/vmlDrawing58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154.bin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47.wmf"/><Relationship Id="rId12" Type="http://schemas.openxmlformats.org/officeDocument/2006/relationships/vmlDrawing" Target="../drawings/vmlDrawing5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59.bin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2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4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0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5.wmf"/><Relationship Id="rId1" Type="http://schemas.openxmlformats.org/officeDocument/2006/relationships/oleObject" Target="../embeddings/oleObject164.bin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6.wmf"/><Relationship Id="rId1" Type="http://schemas.openxmlformats.org/officeDocument/2006/relationships/oleObject" Target="../embeddings/oleObject165.bin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57.wmf"/><Relationship Id="rId1" Type="http://schemas.openxmlformats.org/officeDocument/2006/relationships/oleObject" Target="../embeddings/oleObject166.bin"/></Relationships>
</file>

<file path=ppt/slides/_rels/slide10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3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0.wmf"/><Relationship Id="rId3" Type="http://schemas.openxmlformats.org/officeDocument/2006/relationships/oleObject" Target="../embeddings/oleObject169.bin"/><Relationship Id="rId2" Type="http://schemas.openxmlformats.org/officeDocument/2006/relationships/image" Target="../media/image159.wmf"/><Relationship Id="rId1" Type="http://schemas.openxmlformats.org/officeDocument/2006/relationships/oleObject" Target="../embeddings/oleObject168.bin"/></Relationships>
</file>

<file path=ppt/slides/_rels/slide10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4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61.wmf"/><Relationship Id="rId1" Type="http://schemas.openxmlformats.org/officeDocument/2006/relationships/oleObject" Target="../embeddings/oleObject170.bin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5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3.wmf"/><Relationship Id="rId1" Type="http://schemas.openxmlformats.org/officeDocument/2006/relationships/oleObject" Target="../embeddings/oleObject172.bin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6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4.wmf"/><Relationship Id="rId1" Type="http://schemas.openxmlformats.org/officeDocument/2006/relationships/oleObject" Target="../embeddings/oleObject173.bin"/></Relationships>
</file>

<file path=ppt/slides/_rels/slide1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7.vml"/><Relationship Id="rId4" Type="http://schemas.openxmlformats.org/officeDocument/2006/relationships/slideLayout" Target="../slideLayouts/slideLayout12.xml"/><Relationship Id="rId3" Type="http://schemas.openxmlformats.org/officeDocument/2006/relationships/slide" Target="slide121.xml"/><Relationship Id="rId2" Type="http://schemas.openxmlformats.org/officeDocument/2006/relationships/image" Target="../media/image165.wmf"/><Relationship Id="rId1" Type="http://schemas.openxmlformats.org/officeDocument/2006/relationships/oleObject" Target="../embeddings/oleObject174.bin"/></Relationships>
</file>

<file path=ppt/slides/_rels/slide1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67.wmf"/><Relationship Id="rId3" Type="http://schemas.openxmlformats.org/officeDocument/2006/relationships/oleObject" Target="../embeddings/oleObject176.bin"/><Relationship Id="rId2" Type="http://schemas.openxmlformats.org/officeDocument/2006/relationships/image" Target="../media/image166.wmf"/><Relationship Id="rId10" Type="http://schemas.openxmlformats.org/officeDocument/2006/relationships/vmlDrawing" Target="../drawings/vmlDrawing68.vml"/><Relationship Id="rId1" Type="http://schemas.openxmlformats.org/officeDocument/2006/relationships/oleObject" Target="../embeddings/oleObject175.bin"/></Relationships>
</file>

<file path=ppt/slides/_rels/slide1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9.wmf"/><Relationship Id="rId1" Type="http://schemas.openxmlformats.org/officeDocument/2006/relationships/oleObject" Target="../embeddings/oleObject179.bin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0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0.wmf"/><Relationship Id="rId1" Type="http://schemas.openxmlformats.org/officeDocument/2006/relationships/oleObject" Target="../embeddings/oleObject180.bin"/></Relationships>
</file>

<file path=ppt/slides/_rels/slide1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1.wmf"/><Relationship Id="rId1" Type="http://schemas.openxmlformats.org/officeDocument/2006/relationships/oleObject" Target="../embeddings/oleObject181.bin"/></Relationships>
</file>

<file path=ppt/slides/_rels/slide1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2.wmf"/><Relationship Id="rId1" Type="http://schemas.openxmlformats.org/officeDocument/2006/relationships/oleObject" Target="../embeddings/oleObject182.bin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3.wmf"/><Relationship Id="rId1" Type="http://schemas.openxmlformats.org/officeDocument/2006/relationships/oleObject" Target="../embeddings/oleObject183.bin"/></Relationships>
</file>

<file path=ppt/slides/_rels/slide1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4.wmf"/><Relationship Id="rId1" Type="http://schemas.openxmlformats.org/officeDocument/2006/relationships/oleObject" Target="../embeddings/oleObject184.bin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5.wmf"/><Relationship Id="rId1" Type="http://schemas.openxmlformats.org/officeDocument/2006/relationships/oleObject" Target="../embeddings/oleObject185.bin"/></Relationships>
</file>

<file path=ppt/slides/_rels/slide1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6.wmf"/><Relationship Id="rId1" Type="http://schemas.openxmlformats.org/officeDocument/2006/relationships/oleObject" Target="../embeddings/oleObject186.bin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10.xml"/></Relationships>
</file>

<file path=ppt/slides/_rels/slide1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5.wmf"/><Relationship Id="rId1" Type="http://schemas.openxmlformats.org/officeDocument/2006/relationships/oleObject" Target="../embeddings/oleObject187.bin"/></Relationships>
</file>

<file path=ppt/slides/_rels/slide1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7.wmf"/><Relationship Id="rId1" Type="http://schemas.openxmlformats.org/officeDocument/2006/relationships/oleObject" Target="../embeddings/oleObject188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1" Type="http://schemas.openxmlformats.org/officeDocument/2006/relationships/image" Target="../media/image178.png"/></Relationships>
</file>

<file path=ppt/slides/_rels/slide1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0.wmf"/><Relationship Id="rId1" Type="http://schemas.openxmlformats.org/officeDocument/2006/relationships/oleObject" Target="../embeddings/oleObject189.bin"/></Relationships>
</file>

<file path=ppt/slides/_rels/slide1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184.w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82.wmf"/><Relationship Id="rId3" Type="http://schemas.openxmlformats.org/officeDocument/2006/relationships/oleObject" Target="../embeddings/oleObject191.bin"/><Relationship Id="rId2" Type="http://schemas.openxmlformats.org/officeDocument/2006/relationships/image" Target="../media/image181.wmf"/><Relationship Id="rId16" Type="http://schemas.openxmlformats.org/officeDocument/2006/relationships/vmlDrawing" Target="../drawings/vmlDrawing80.v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87.wmf"/><Relationship Id="rId13" Type="http://schemas.openxmlformats.org/officeDocument/2006/relationships/oleObject" Target="../embeddings/oleObject196.bin"/><Relationship Id="rId12" Type="http://schemas.openxmlformats.org/officeDocument/2006/relationships/image" Target="../media/image186.w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185.wmf"/><Relationship Id="rId1" Type="http://schemas.openxmlformats.org/officeDocument/2006/relationships/oleObject" Target="../embeddings/oleObject190.bin"/></Relationships>
</file>

<file path=ppt/slides/_rels/slide1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1.vml"/><Relationship Id="rId4" Type="http://schemas.openxmlformats.org/officeDocument/2006/relationships/slideLayout" Target="../slideLayouts/slideLayout6.xml"/><Relationship Id="rId3" Type="http://schemas.openxmlformats.org/officeDocument/2006/relationships/slide" Target="slide132.xml"/><Relationship Id="rId2" Type="http://schemas.openxmlformats.org/officeDocument/2006/relationships/image" Target="../media/image188.wmf"/><Relationship Id="rId1" Type="http://schemas.openxmlformats.org/officeDocument/2006/relationships/oleObject" Target="../embeddings/oleObject197.bin"/></Relationships>
</file>

<file path=ppt/slides/_rels/slide1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2.vml"/><Relationship Id="rId4" Type="http://schemas.openxmlformats.org/officeDocument/2006/relationships/slideLayout" Target="../slideLayouts/slideLayout2.xml"/><Relationship Id="rId3" Type="http://schemas.openxmlformats.org/officeDocument/2006/relationships/slide" Target="slide132.xml"/><Relationship Id="rId2" Type="http://schemas.openxmlformats.org/officeDocument/2006/relationships/image" Target="../media/image189.wmf"/><Relationship Id="rId1" Type="http://schemas.openxmlformats.org/officeDocument/2006/relationships/oleObject" Target="../embeddings/oleObject198.bin"/></Relationships>
</file>

<file path=ppt/slides/_rels/slide1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0.wmf"/><Relationship Id="rId1" Type="http://schemas.openxmlformats.org/officeDocument/2006/relationships/oleObject" Target="../embeddings/oleObject199.bin"/></Relationships>
</file>

<file path=ppt/slides/_rels/slide1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0.wmf"/><Relationship Id="rId1" Type="http://schemas.openxmlformats.org/officeDocument/2006/relationships/oleObject" Target="../embeddings/oleObject200.bin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0.wmf"/><Relationship Id="rId1" Type="http://schemas.openxmlformats.org/officeDocument/2006/relationships/oleObject" Target="../embeddings/oleObject201.bin"/></Relationships>
</file>

<file path=ppt/slides/_rels/slide1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1.wmf"/><Relationship Id="rId3" Type="http://schemas.openxmlformats.org/officeDocument/2006/relationships/oleObject" Target="../embeddings/oleObject202.bin"/><Relationship Id="rId2" Type="http://schemas.openxmlformats.org/officeDocument/2006/relationships/slide" Target="slide128.xml"/><Relationship Id="rId1" Type="http://schemas.openxmlformats.org/officeDocument/2006/relationships/slide" Target="slide12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2.wmf"/><Relationship Id="rId1" Type="http://schemas.openxmlformats.org/officeDocument/2006/relationships/oleObject" Target="../embeddings/oleObject203.bin"/></Relationships>
</file>

<file path=ppt/slides/_rels/slide1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3.wmf"/><Relationship Id="rId1" Type="http://schemas.openxmlformats.org/officeDocument/2006/relationships/oleObject" Target="../embeddings/oleObject204.bin"/></Relationships>
</file>

<file path=ppt/slides/_rels/slide1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4.wmf"/><Relationship Id="rId1" Type="http://schemas.openxmlformats.org/officeDocument/2006/relationships/oleObject" Target="../embeddings/oleObject205.bin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208.bin"/><Relationship Id="rId4" Type="http://schemas.openxmlformats.org/officeDocument/2006/relationships/image" Target="../media/image196.wmf"/><Relationship Id="rId3" Type="http://schemas.openxmlformats.org/officeDocument/2006/relationships/oleObject" Target="../embeddings/oleObject207.bin"/><Relationship Id="rId2" Type="http://schemas.openxmlformats.org/officeDocument/2006/relationships/image" Target="../media/image195.wmf"/><Relationship Id="rId1" Type="http://schemas.openxmlformats.org/officeDocument/2006/relationships/oleObject" Target="../embeddings/oleObject206.bin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9.wmf"/><Relationship Id="rId3" Type="http://schemas.openxmlformats.org/officeDocument/2006/relationships/oleObject" Target="../embeddings/oleObject210.bin"/><Relationship Id="rId2" Type="http://schemas.openxmlformats.org/officeDocument/2006/relationships/image" Target="../media/image198.wmf"/><Relationship Id="rId1" Type="http://schemas.openxmlformats.org/officeDocument/2006/relationships/oleObject" Target="../embeddings/oleObject209.bin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213.bin"/><Relationship Id="rId4" Type="http://schemas.openxmlformats.org/officeDocument/2006/relationships/image" Target="../media/image201.wmf"/><Relationship Id="rId3" Type="http://schemas.openxmlformats.org/officeDocument/2006/relationships/oleObject" Target="../embeddings/oleObject212.bin"/><Relationship Id="rId2" Type="http://schemas.openxmlformats.org/officeDocument/2006/relationships/image" Target="../media/image200.wmf"/><Relationship Id="rId1" Type="http://schemas.openxmlformats.org/officeDocument/2006/relationships/oleObject" Target="../embeddings/oleObject211.bin"/></Relationships>
</file>

<file path=ppt/slides/_rels/slide1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9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3.wmf"/><Relationship Id="rId1" Type="http://schemas.openxmlformats.org/officeDocument/2006/relationships/oleObject" Target="../embeddings/oleObject214.bin"/></Relationships>
</file>

<file path=ppt/slides/_rels/slide1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vmlDrawing" Target="../drawings/vmlDrawing94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05.wmf"/><Relationship Id="rId3" Type="http://schemas.openxmlformats.org/officeDocument/2006/relationships/oleObject" Target="../embeddings/oleObject216.bin"/><Relationship Id="rId2" Type="http://schemas.openxmlformats.org/officeDocument/2006/relationships/image" Target="../media/image204.wmf"/><Relationship Id="rId1" Type="http://schemas.openxmlformats.org/officeDocument/2006/relationships/oleObject" Target="../embeddings/oleObject215.bin"/></Relationships>
</file>

<file path=ppt/slides/_rels/slide1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07.wmf"/><Relationship Id="rId3" Type="http://schemas.openxmlformats.org/officeDocument/2006/relationships/oleObject" Target="../embeddings/oleObject218.bin"/><Relationship Id="rId2" Type="http://schemas.openxmlformats.org/officeDocument/2006/relationships/image" Target="../media/image206.wmf"/><Relationship Id="rId1" Type="http://schemas.openxmlformats.org/officeDocument/2006/relationships/oleObject" Target="../embeddings/oleObject217.bin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220.bin"/><Relationship Id="rId2" Type="http://schemas.openxmlformats.org/officeDocument/2006/relationships/image" Target="../media/image208.wmf"/><Relationship Id="rId1" Type="http://schemas.openxmlformats.org/officeDocument/2006/relationships/oleObject" Target="../embeddings/oleObject219.bin"/></Relationships>
</file>

<file path=ppt/slides/_rels/slide1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3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11.wmf"/><Relationship Id="rId3" Type="http://schemas.openxmlformats.org/officeDocument/2006/relationships/oleObject" Target="../embeddings/oleObject222.bin"/><Relationship Id="rId2" Type="http://schemas.openxmlformats.org/officeDocument/2006/relationships/image" Target="../media/image210.wmf"/><Relationship Id="rId10" Type="http://schemas.openxmlformats.org/officeDocument/2006/relationships/vmlDrawing" Target="../drawings/vmlDrawing97.vml"/><Relationship Id="rId1" Type="http://schemas.openxmlformats.org/officeDocument/2006/relationships/oleObject" Target="../embeddings/oleObject221.bin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4.wmf"/><Relationship Id="rId1" Type="http://schemas.openxmlformats.org/officeDocument/2006/relationships/oleObject" Target="../embeddings/oleObject225.bin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5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6.png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1026"/>
          <p:cNvSpPr>
            <a:spLocks noGrp="1"/>
          </p:cNvSpPr>
          <p:nvPr>
            <p:ph type="ctrTitle"/>
          </p:nvPr>
        </p:nvSpPr>
        <p:spPr>
          <a:xfrm>
            <a:off x="357188" y="1196975"/>
            <a:ext cx="8183562" cy="198120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Tx/>
            </a:pPr>
            <a:r>
              <a:rPr lang="zh-CN" altLang="en-US" sz="5400" b="1" u="none" dirty="0"/>
              <a:t>第</a:t>
            </a:r>
            <a:r>
              <a:rPr lang="en-US" altLang="zh-CN" sz="5400" b="1" u="none" dirty="0"/>
              <a:t>6</a:t>
            </a:r>
            <a:r>
              <a:rPr lang="zh-CN" altLang="en-US" sz="5400" b="1" u="none" dirty="0"/>
              <a:t>章 线性方程组</a:t>
            </a:r>
            <a:br>
              <a:rPr lang="zh-CN" altLang="en-US" sz="5400" b="1" u="none" dirty="0"/>
            </a:br>
            <a:r>
              <a:rPr lang="zh-CN" altLang="en-US" sz="5400" b="1" u="none" dirty="0"/>
              <a:t>的解法</a:t>
            </a:r>
            <a:endParaRPr lang="zh-CN" altLang="en-US" sz="5400" b="1" u="none" dirty="0"/>
          </a:p>
        </p:txBody>
      </p:sp>
      <p:sp>
        <p:nvSpPr>
          <p:cNvPr id="105475" name="Rectangle 1027"/>
          <p:cNvSpPr>
            <a:spLocks noGrp="1"/>
          </p:cNvSpPr>
          <p:nvPr>
            <p:ph type="subTitle" idx="1"/>
          </p:nvPr>
        </p:nvSpPr>
        <p:spPr>
          <a:xfrm>
            <a:off x="1476375" y="3573463"/>
            <a:ext cx="6400800" cy="2057400"/>
          </a:xfrm>
        </p:spPr>
        <p:txBody>
          <a:bodyPr vert="horz" wrap="square" lIns="91440" tIns="45720" rIns="91440" bIns="45720" anchor="ctr" anchorCtr="1"/>
          <a:p>
            <a:pPr>
              <a:buSzPct val="85000"/>
            </a:pPr>
            <a:r>
              <a:rPr lang="zh-CN" altLang="en-US" sz="4000" b="1" dirty="0">
                <a:latin typeface="+mn-lt"/>
                <a:ea typeface="华文行楷" panose="02010800040101010101" pitchFamily="2" charset="-122"/>
                <a:cs typeface="+mn-cs"/>
              </a:rPr>
              <a:t>天津大学数学学院</a:t>
            </a:r>
            <a:endParaRPr lang="zh-CN" altLang="en-US" sz="4000" b="1" dirty="0">
              <a:latin typeface="+mn-lt"/>
              <a:ea typeface="华文行楷" panose="02010800040101010101" pitchFamily="2" charset="-122"/>
              <a:cs typeface="+mn-cs"/>
            </a:endParaRPr>
          </a:p>
          <a:p>
            <a:pPr>
              <a:buSzPct val="85000"/>
            </a:pPr>
            <a:endParaRPr lang="zh-CN" altLang="en-US" sz="4000" b="1" dirty="0">
              <a:latin typeface="+mn-lt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28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4400" b="1" u="none" dirty="0"/>
              <a:t>第</a:t>
            </a:r>
            <a:r>
              <a:rPr lang="en-US" altLang="zh-CN" sz="4400" b="1" u="none" dirty="0"/>
              <a:t>6</a:t>
            </a:r>
            <a:r>
              <a:rPr lang="zh-CN" altLang="en-US" sz="4400" b="1" u="none" dirty="0"/>
              <a:t>章 线性方程组的解法</a:t>
            </a:r>
            <a:endParaRPr lang="zh-CN" altLang="en-US" sz="4400" b="1" u="none" dirty="0"/>
          </a:p>
        </p:txBody>
      </p:sp>
      <p:sp>
        <p:nvSpPr>
          <p:cNvPr id="290819" name="Rectangle 1027"/>
          <p:cNvSpPr>
            <a:spLocks noGrp="1"/>
          </p:cNvSpPr>
          <p:nvPr>
            <p:ph idx="1"/>
          </p:nvPr>
        </p:nvSpPr>
        <p:spPr>
          <a:xfrm>
            <a:off x="533400" y="1449388"/>
            <a:ext cx="7772400" cy="693737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b="1" dirty="0"/>
              <a:t>主要目的：</a:t>
            </a:r>
            <a:r>
              <a:rPr lang="zh-CN" altLang="en-US" sz="3200" dirty="0"/>
              <a:t>掌握线性方程组的数值解法</a:t>
            </a:r>
            <a:endParaRPr lang="zh-CN" altLang="en-US" sz="3200" dirty="0"/>
          </a:p>
        </p:txBody>
      </p:sp>
      <p:graphicFrame>
        <p:nvGraphicFramePr>
          <p:cNvPr id="290820" name="Object 1028"/>
          <p:cNvGraphicFramePr/>
          <p:nvPr/>
        </p:nvGraphicFramePr>
        <p:xfrm>
          <a:off x="1619250" y="2205038"/>
          <a:ext cx="5443538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866900" imgH="939800" progId="Equation.3">
                  <p:embed/>
                </p:oleObj>
              </mc:Choice>
              <mc:Fallback>
                <p:oleObj name="" r:id="rId1" imgW="1866900" imgH="9398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2205038"/>
                        <a:ext cx="5443538" cy="2727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08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ldLvl="3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zh-CN" sz="1400" dirty="0"/>
              <a:t>线性方程组的解法</a:t>
            </a:r>
            <a:endParaRPr lang="zh-CN" altLang="zh-CN" sz="1400" dirty="0"/>
          </a:p>
        </p:txBody>
      </p:sp>
      <p:sp>
        <p:nvSpPr>
          <p:cNvPr id="1064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chemeClr val="tx1"/>
                </a:solidFill>
              </a:rPr>
              <a:t>主要内容：</a:t>
            </a:r>
            <a:endParaRPr lang="zh-CN" altLang="en-US" sz="3200" b="1" u="none" dirty="0">
              <a:solidFill>
                <a:schemeClr val="tx1"/>
              </a:solidFill>
            </a:endParaRPr>
          </a:p>
        </p:txBody>
      </p:sp>
      <p:sp>
        <p:nvSpPr>
          <p:cNvPr id="429059" name="Rectangle 3"/>
          <p:cNvSpPr>
            <a:spLocks noGrp="1"/>
          </p:cNvSpPr>
          <p:nvPr>
            <p:ph idx="1"/>
          </p:nvPr>
        </p:nvSpPr>
        <p:spPr>
          <a:xfrm>
            <a:off x="533400" y="1295400"/>
            <a:ext cx="8215313" cy="4953000"/>
          </a:xfrm>
        </p:spPr>
        <p:txBody>
          <a:bodyPr vert="horz" wrap="square" lIns="91440" tIns="45720" rIns="91440" bIns="45720" anchor="t" anchorCtr="0"/>
          <a:p>
            <a:r>
              <a:rPr lang="zh-CN" altLang="en-US" sz="3200" dirty="0"/>
              <a:t>直接法</a:t>
            </a:r>
            <a:endParaRPr lang="zh-CN" altLang="en-US" sz="3200" dirty="0"/>
          </a:p>
          <a:p>
            <a:pPr lvl="1"/>
            <a:r>
              <a:rPr lang="en-US" altLang="zh-CN" sz="3200" dirty="0">
                <a:latin typeface="Times New Roman" panose="02020603050405020304" pitchFamily="18" charset="0"/>
              </a:rPr>
              <a:t>Gauss</a:t>
            </a:r>
            <a:r>
              <a:rPr lang="zh-CN" altLang="zh-CN" sz="3200" dirty="0"/>
              <a:t>消去法</a:t>
            </a:r>
            <a:endParaRPr lang="zh-CN" altLang="en-US" sz="3200" dirty="0"/>
          </a:p>
          <a:p>
            <a:pPr lvl="1"/>
            <a:r>
              <a:rPr lang="zh-CN" altLang="en-US" sz="3200" dirty="0"/>
              <a:t>直接三角分解法：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追赶法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3200" dirty="0"/>
              <a:t>方程组的性态与误差分析</a:t>
            </a:r>
            <a:endParaRPr lang="zh-CN" altLang="en-US" sz="3200" dirty="0"/>
          </a:p>
          <a:p>
            <a:r>
              <a:rPr lang="zh-CN" altLang="en-US" sz="3200" dirty="0"/>
              <a:t>迭代法</a:t>
            </a:r>
            <a:endParaRPr lang="zh-CN" altLang="en-US" sz="3200" dirty="0"/>
          </a:p>
          <a:p>
            <a:pPr lvl="1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Jacobi</a:t>
            </a:r>
            <a:r>
              <a:rPr lang="zh-CN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Gauss-Seidel</a:t>
            </a:r>
            <a:r>
              <a:rPr lang="zh-CN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zh-CN" sz="3200" dirty="0">
                <a:solidFill>
                  <a:srgbClr val="FF0000"/>
                </a:solidFill>
              </a:rPr>
              <a:t>迭代法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lvl="1"/>
            <a:r>
              <a:rPr lang="zh-CN" altLang="en-US" sz="3200" dirty="0"/>
              <a:t>迭</a:t>
            </a:r>
            <a:r>
              <a:rPr lang="zh-CN" altLang="zh-CN" sz="3200" dirty="0"/>
              <a:t>代</a:t>
            </a:r>
            <a:r>
              <a:rPr lang="zh-CN" altLang="en-US" sz="3200" dirty="0"/>
              <a:t>法的收敛性分析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9059">
                                            <p:txEl>
                                              <p:charRg st="4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9059">
                                            <p:txEl>
                                              <p:charRg st="13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9059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3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9059">
                                            <p:txEl>
                                              <p:charRg st="3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9059">
                                            <p:txEl>
                                              <p:charRg st="41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charRg st="6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9059">
                                            <p:txEl>
                                              <p:charRg st="6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bldLvl="3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7523" name="Rectangle 1026"/>
          <p:cNvSpPr>
            <a:spLocks noGrp="1"/>
          </p:cNvSpPr>
          <p:nvPr>
            <p:ph type="title"/>
          </p:nvPr>
        </p:nvSpPr>
        <p:spPr>
          <a:xfrm>
            <a:off x="695325" y="228600"/>
            <a:ext cx="8162925" cy="1143000"/>
          </a:xfrm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b="1" u="none" dirty="0">
                <a:latin typeface="Times New Roman" panose="02020603050405020304" pitchFamily="18" charset="0"/>
              </a:rPr>
              <a:t>6</a:t>
            </a:r>
            <a:r>
              <a:rPr lang="zh-CN" altLang="zh-CN" b="1" u="none" dirty="0">
                <a:latin typeface="Times New Roman" panose="02020603050405020304" pitchFamily="18" charset="0"/>
              </a:rPr>
              <a:t>.</a:t>
            </a:r>
            <a:r>
              <a:rPr lang="en-US" altLang="zh-CN" b="1" u="none" dirty="0">
                <a:latin typeface="Times New Roman" panose="02020603050405020304" pitchFamily="18" charset="0"/>
              </a:rPr>
              <a:t>2</a:t>
            </a:r>
            <a:r>
              <a:rPr lang="zh-CN" altLang="zh-CN" b="1" u="none" dirty="0">
                <a:latin typeface="Times New Roman" panose="02020603050405020304" pitchFamily="18" charset="0"/>
              </a:rPr>
              <a:t>  </a:t>
            </a:r>
            <a:r>
              <a:rPr lang="zh-CN" altLang="en-US" b="1" u="none" dirty="0">
                <a:latin typeface="Times New Roman" panose="02020603050405020304" pitchFamily="18" charset="0"/>
              </a:rPr>
              <a:t>解线性方程组的</a:t>
            </a:r>
            <a:r>
              <a:rPr lang="zh-CN" altLang="zh-CN" b="1" u="none" dirty="0">
                <a:latin typeface="Times New Roman" panose="02020603050405020304" pitchFamily="18" charset="0"/>
              </a:rPr>
              <a:t> </a:t>
            </a:r>
            <a:r>
              <a:rPr lang="en-US" altLang="zh-CN" b="1" u="none" dirty="0">
                <a:latin typeface="Times New Roman" panose="02020603050405020304" pitchFamily="18" charset="0"/>
              </a:rPr>
              <a:t>Gauss</a:t>
            </a:r>
            <a:r>
              <a:rPr lang="en-US" altLang="zh-CN" b="1" u="none" dirty="0"/>
              <a:t> </a:t>
            </a:r>
            <a:r>
              <a:rPr lang="zh-CN" altLang="zh-CN" b="1" u="none" dirty="0"/>
              <a:t>消去法</a:t>
            </a:r>
            <a:endParaRPr lang="zh-CN" altLang="en-US" sz="5400" b="1" u="none" dirty="0"/>
          </a:p>
        </p:txBody>
      </p:sp>
      <p:sp>
        <p:nvSpPr>
          <p:cNvPr id="69635" name="Rectangle 1027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4191000" cy="4876800"/>
          </a:xfrm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  <a:buSzPct val="85000"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Gauss </a:t>
            </a:r>
            <a:r>
              <a:rPr lang="zh-CN" altLang="zh-CN" sz="3200" dirty="0">
                <a:latin typeface="+mn-lt"/>
                <a:ea typeface="+mn-ea"/>
                <a:cs typeface="+mn-cs"/>
              </a:rPr>
              <a:t>消去法是计算机上常用的解线性方程组的有效方法。</a:t>
            </a:r>
            <a:endParaRPr lang="zh-CN" altLang="zh-CN" sz="3200" dirty="0">
              <a:latin typeface="+mn-lt"/>
              <a:ea typeface="+mn-ea"/>
              <a:cs typeface="+mn-cs"/>
            </a:endParaRPr>
          </a:p>
          <a:p>
            <a:pPr>
              <a:spcAft>
                <a:spcPct val="20000"/>
              </a:spcAft>
              <a:buSzPct val="85000"/>
            </a:pPr>
            <a:r>
              <a:rPr lang="zh-CN" altLang="en-US" sz="3200" dirty="0">
                <a:latin typeface="+mn-lt"/>
                <a:ea typeface="+mn-ea"/>
                <a:cs typeface="+mn-cs"/>
              </a:rPr>
              <a:t>此方法分为</a:t>
            </a:r>
            <a:endParaRPr lang="zh-CN" altLang="en-US" sz="3200" dirty="0">
              <a:latin typeface="+mn-lt"/>
              <a:ea typeface="+mn-ea"/>
              <a:cs typeface="+mn-cs"/>
            </a:endParaRPr>
          </a:p>
          <a:p>
            <a:pPr lvl="1">
              <a:spcAft>
                <a:spcPct val="20000"/>
              </a:spcAft>
              <a:buSzPct val="75000"/>
            </a:pPr>
            <a:r>
              <a:rPr lang="zh-CN" altLang="en-US" sz="2800" b="1" dirty="0">
                <a:latin typeface="+mn-lt"/>
                <a:ea typeface="+mn-ea"/>
              </a:rPr>
              <a:t>消元过程-</a:t>
            </a:r>
            <a:r>
              <a:rPr lang="zh-CN" altLang="en-US" sz="2800" dirty="0">
                <a:latin typeface="+mn-lt"/>
                <a:ea typeface="+mn-ea"/>
              </a:rPr>
              <a:t>把原方程组化为上三角形方程组的过程。</a:t>
            </a:r>
            <a:endParaRPr lang="zh-CN" altLang="en-US" sz="2800" dirty="0">
              <a:latin typeface="+mn-lt"/>
              <a:ea typeface="+mn-ea"/>
            </a:endParaRPr>
          </a:p>
          <a:p>
            <a:pPr lvl="1">
              <a:spcAft>
                <a:spcPct val="20000"/>
              </a:spcAft>
              <a:buSzPct val="75000"/>
            </a:pPr>
            <a:r>
              <a:rPr lang="zh-CN" altLang="en-US" sz="2800" b="1" dirty="0">
                <a:latin typeface="+mn-lt"/>
                <a:ea typeface="+mn-ea"/>
              </a:rPr>
              <a:t>回代过程-</a:t>
            </a:r>
            <a:r>
              <a:rPr lang="zh-CN" altLang="en-US" sz="2800" dirty="0">
                <a:latin typeface="+mn-lt"/>
                <a:ea typeface="+mn-ea"/>
              </a:rPr>
              <a:t>求解上三角形方程组的过程。</a:t>
            </a:r>
            <a:r>
              <a:rPr lang="zh-CN" altLang="en-US" sz="2000" dirty="0">
                <a:solidFill>
                  <a:schemeClr val="accent2"/>
                </a:solidFill>
                <a:latin typeface="+mn-lt"/>
                <a:ea typeface="+mn-ea"/>
              </a:rPr>
              <a:t>     </a:t>
            </a:r>
            <a:endParaRPr lang="zh-CN" altLang="en-US" sz="2000" dirty="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69636" name="Rectangle 1028"/>
          <p:cNvSpPr>
            <a:spLocks noGrp="1"/>
          </p:cNvSpPr>
          <p:nvPr>
            <p:ph sz="half" idx="2"/>
          </p:nvPr>
        </p:nvSpPr>
        <p:spPr>
          <a:xfrm>
            <a:off x="4876800" y="1295400"/>
            <a:ext cx="3429000" cy="4648200"/>
          </a:xfrm>
        </p:spPr>
        <p:txBody>
          <a:bodyPr vert="horz" wrap="square" lIns="91440" tIns="45720" rIns="91440" bIns="45720" anchor="t" anchorCtr="0"/>
          <a:p>
            <a:pPr>
              <a:buSzPct val="85000"/>
            </a:pPr>
            <a:r>
              <a:rPr lang="zh-CN" altLang="en-US" sz="3200" dirty="0">
                <a:latin typeface="+mn-lt"/>
                <a:ea typeface="+mn-ea"/>
                <a:cs typeface="+mn-cs"/>
              </a:rPr>
              <a:t>其他的衍生方法</a:t>
            </a:r>
            <a:endParaRPr lang="zh-CN" altLang="en-US" sz="3200" dirty="0">
              <a:latin typeface="+mn-lt"/>
              <a:ea typeface="+mn-ea"/>
              <a:cs typeface="+mn-cs"/>
            </a:endParaRPr>
          </a:p>
          <a:p>
            <a:pPr lvl="1">
              <a:buSzPct val="75000"/>
            </a:pPr>
            <a:r>
              <a:rPr lang="en-US" altLang="zh-CN" sz="2800" dirty="0">
                <a:latin typeface="Times New Roman" panose="02020603050405020304" pitchFamily="18" charset="0"/>
                <a:ea typeface="+mn-ea"/>
              </a:rPr>
              <a:t>Gauss-Jordan</a:t>
            </a:r>
            <a:r>
              <a:rPr lang="zh-CN" altLang="zh-CN" sz="2800" dirty="0">
                <a:latin typeface="+mn-lt"/>
                <a:ea typeface="+mn-ea"/>
              </a:rPr>
              <a:t>消去法</a:t>
            </a:r>
            <a:endParaRPr lang="zh-CN" altLang="en-US" sz="2800" dirty="0">
              <a:latin typeface="+mn-lt"/>
              <a:ea typeface="+mn-ea"/>
            </a:endParaRPr>
          </a:p>
          <a:p>
            <a:pPr lvl="1">
              <a:buSzPct val="75000"/>
            </a:pPr>
            <a:r>
              <a:rPr lang="en-US" altLang="zh-CN" sz="2800" dirty="0">
                <a:latin typeface="Times New Roman" panose="02020603050405020304" pitchFamily="18" charset="0"/>
                <a:ea typeface="+mn-ea"/>
              </a:rPr>
              <a:t>Gauss</a:t>
            </a:r>
            <a:r>
              <a:rPr lang="zh-CN" altLang="zh-CN" sz="2800" dirty="0">
                <a:latin typeface="+mn-lt"/>
                <a:ea typeface="+mn-ea"/>
              </a:rPr>
              <a:t>主元素法</a:t>
            </a:r>
            <a:endParaRPr lang="zh-CN" altLang="en-US" sz="2800" dirty="0">
              <a:latin typeface="+mn-lt"/>
              <a:ea typeface="+mn-ea"/>
            </a:endParaRPr>
          </a:p>
          <a:p>
            <a:pPr lvl="2">
              <a:buClrTx/>
              <a:buSzTx/>
              <a:buFontTx/>
            </a:pPr>
            <a:r>
              <a:rPr lang="zh-CN" altLang="zh-CN" sz="2400" b="1" dirty="0">
                <a:latin typeface="+mn-lt"/>
                <a:ea typeface="+mn-ea"/>
              </a:rPr>
              <a:t>列主元素法</a:t>
            </a:r>
            <a:endParaRPr lang="zh-CN" altLang="en-US" sz="2400" b="1" dirty="0">
              <a:latin typeface="+mn-lt"/>
              <a:ea typeface="+mn-ea"/>
            </a:endParaRPr>
          </a:p>
          <a:p>
            <a:pPr lvl="2">
              <a:buClrTx/>
              <a:buSzTx/>
              <a:buFontTx/>
            </a:pPr>
            <a:r>
              <a:rPr lang="zh-CN" altLang="zh-CN" sz="2400" b="1" dirty="0">
                <a:latin typeface="+mn-lt"/>
                <a:ea typeface="+mn-ea"/>
              </a:rPr>
              <a:t>全主元素法</a:t>
            </a:r>
            <a:endParaRPr lang="zh-CN" altLang="en-US" sz="2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charRg st="3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36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2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36">
                                            <p:txEl>
                                              <p:charRg st="2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636">
                                            <p:txEl>
                                              <p:charRg st="34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6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ldLvl="2" build="p"/>
      <p:bldP spid="69636" grpId="0" bldLvl="3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0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例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u="none" dirty="0">
                <a:solidFill>
                  <a:schemeClr val="tx1"/>
                </a:solidFill>
              </a:rPr>
              <a:t>.</a:t>
            </a:r>
            <a:r>
              <a:rPr lang="zh-CN" altLang="en-US" sz="3200" u="none" dirty="0">
                <a:solidFill>
                  <a:schemeClr val="tx1"/>
                </a:solidFill>
              </a:rPr>
              <a:t>用</a:t>
            </a:r>
            <a:r>
              <a:rPr lang="en-US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Guass</a:t>
            </a:r>
            <a:r>
              <a:rPr lang="en-US" altLang="zh-CN" sz="3200" u="none" dirty="0">
                <a:solidFill>
                  <a:schemeClr val="tx1"/>
                </a:solidFill>
              </a:rPr>
              <a:t>消去</a:t>
            </a:r>
            <a:r>
              <a:rPr lang="zh-CN" altLang="en-US" sz="3200" u="none" dirty="0">
                <a:solidFill>
                  <a:schemeClr val="tx1"/>
                </a:solidFill>
              </a:rPr>
              <a:t>法解线性方程组：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sp>
        <p:nvSpPr>
          <p:cNvPr id="365571" name="Rectangle 3"/>
          <p:cNvSpPr>
            <a:spLocks noGrp="1"/>
          </p:cNvSpPr>
          <p:nvPr>
            <p:ph idx="1"/>
          </p:nvPr>
        </p:nvSpPr>
        <p:spPr>
          <a:xfrm>
            <a:off x="468313" y="2924175"/>
            <a:ext cx="8424862" cy="11525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3200" dirty="0"/>
              <a:t>解：回忆线性代数知识，写出此方程组的增广矩阵，并用矩阵变换来求解。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65572" name="Object 4"/>
          <p:cNvGraphicFramePr/>
          <p:nvPr/>
        </p:nvGraphicFramePr>
        <p:xfrm>
          <a:off x="2268538" y="1052513"/>
          <a:ext cx="3275012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82065" imgH="711200" progId="Equation.DSMT4">
                  <p:embed/>
                </p:oleObj>
              </mc:Choice>
              <mc:Fallback>
                <p:oleObj name="" r:id="rId1" imgW="1282065" imgH="711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1052513"/>
                        <a:ext cx="3275012" cy="181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3" name="Object 5"/>
          <p:cNvGraphicFramePr/>
          <p:nvPr/>
        </p:nvGraphicFramePr>
        <p:xfrm>
          <a:off x="1920558" y="4149567"/>
          <a:ext cx="3985260" cy="181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562100" imgH="711200" progId="Equation.3">
                  <p:embed/>
                </p:oleObj>
              </mc:Choice>
              <mc:Fallback>
                <p:oleObj name="" r:id="rId3" imgW="15621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0558" y="4149567"/>
                        <a:ext cx="3985260" cy="1814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6557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7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078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过程如下：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366597" name="Object 5"/>
          <p:cNvGraphicFramePr/>
          <p:nvPr/>
        </p:nvGraphicFramePr>
        <p:xfrm>
          <a:off x="343059" y="1196817"/>
          <a:ext cx="3827145" cy="174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62100" imgH="711200" progId="Equation.3">
                  <p:embed/>
                </p:oleObj>
              </mc:Choice>
              <mc:Fallback>
                <p:oleObj name="" r:id="rId1" imgW="1562100" imgH="7112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059" y="1196817"/>
                        <a:ext cx="3827145" cy="1741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Line 7"/>
          <p:cNvSpPr/>
          <p:nvPr/>
        </p:nvSpPr>
        <p:spPr>
          <a:xfrm>
            <a:off x="4067175" y="2132013"/>
            <a:ext cx="13160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66601" name="Object 9"/>
          <p:cNvGraphicFramePr/>
          <p:nvPr/>
        </p:nvGraphicFramePr>
        <p:xfrm>
          <a:off x="5364163" y="1196975"/>
          <a:ext cx="2957512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05865" imgH="711200" progId="Equation.3">
                  <p:embed/>
                </p:oleObj>
              </mc:Choice>
              <mc:Fallback>
                <p:oleObj name="" r:id="rId3" imgW="1205865" imgH="711200" progId="Equation.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163" y="1196975"/>
                        <a:ext cx="2957512" cy="174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Line 12"/>
          <p:cNvSpPr/>
          <p:nvPr/>
        </p:nvSpPr>
        <p:spPr>
          <a:xfrm>
            <a:off x="900113" y="4076700"/>
            <a:ext cx="157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66606" name="Object 14"/>
          <p:cNvGraphicFramePr/>
          <p:nvPr/>
        </p:nvGraphicFramePr>
        <p:xfrm>
          <a:off x="2627313" y="3141663"/>
          <a:ext cx="3392487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383665" imgH="711200" progId="Equation.3">
                  <p:embed/>
                </p:oleObj>
              </mc:Choice>
              <mc:Fallback>
                <p:oleObj name="" r:id="rId5" imgW="1383665" imgH="7112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313" y="3141663"/>
                        <a:ext cx="3392487" cy="174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6608" name="Text Box 16"/>
          <p:cNvSpPr txBox="1"/>
          <p:nvPr/>
        </p:nvSpPr>
        <p:spPr>
          <a:xfrm>
            <a:off x="539750" y="5084763"/>
            <a:ext cx="6686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写成与原方程组等价的线性方程组为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10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等价的线性方程组为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sp>
        <p:nvSpPr>
          <p:cNvPr id="4102" name="Rectangle 7"/>
          <p:cNvSpPr/>
          <p:nvPr/>
        </p:nvSpPr>
        <p:spPr>
          <a:xfrm>
            <a:off x="0" y="2795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46" name="Object 6"/>
          <p:cNvGraphicFramePr/>
          <p:nvPr/>
        </p:nvGraphicFramePr>
        <p:xfrm>
          <a:off x="2700338" y="1268413"/>
          <a:ext cx="2774950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129665" imgH="964565" progId="Equation.3">
                  <p:embed/>
                </p:oleObj>
              </mc:Choice>
              <mc:Fallback>
                <p:oleObj name="" r:id="rId1" imgW="1129665" imgH="96456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1268413"/>
                        <a:ext cx="2774950" cy="235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8" name="Text Box 8"/>
          <p:cNvSpPr txBox="1"/>
          <p:nvPr/>
        </p:nvSpPr>
        <p:spPr>
          <a:xfrm>
            <a:off x="611188" y="4116388"/>
            <a:ext cx="3878262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求得原方程组的解为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4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49" name="Object 9"/>
          <p:cNvGraphicFramePr/>
          <p:nvPr/>
        </p:nvGraphicFramePr>
        <p:xfrm>
          <a:off x="5219700" y="4149725"/>
          <a:ext cx="195738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787400" imgH="228600" progId="Equation.3">
                  <p:embed/>
                </p:oleObj>
              </mc:Choice>
              <mc:Fallback>
                <p:oleObj name="" r:id="rId3" imgW="787400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19700" y="4149725"/>
                        <a:ext cx="1957388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571500" y="5143500"/>
            <a:ext cx="63404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以上求解方程组的思想可以归纳为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3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5124" name="Rectangle 2"/>
          <p:cNvSpPr>
            <a:spLocks noGrp="1"/>
          </p:cNvSpPr>
          <p:nvPr>
            <p:ph type="title"/>
          </p:nvPr>
        </p:nvSpPr>
        <p:spPr>
          <a:xfrm>
            <a:off x="412750" y="228600"/>
            <a:ext cx="8382000" cy="9144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6.2.1 Gauss </a:t>
            </a:r>
            <a:r>
              <a:rPr lang="zh-CN" altLang="zh-CN" sz="3600" b="1" u="none" dirty="0"/>
              <a:t>消去法</a:t>
            </a:r>
            <a:endParaRPr lang="zh-CN" altLang="en-US" sz="3600" b="1" u="none" dirty="0"/>
          </a:p>
        </p:txBody>
      </p:sp>
      <p:sp>
        <p:nvSpPr>
          <p:cNvPr id="4427" name="Text Box 331"/>
          <p:cNvSpPr txBox="1"/>
          <p:nvPr/>
        </p:nvSpPr>
        <p:spPr>
          <a:xfrm>
            <a:off x="381000" y="944563"/>
            <a:ext cx="8305800" cy="233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        设有线性方程组      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Ax = b</a:t>
            </a:r>
            <a:r>
              <a:rPr lang="en-US" altLang="zh-CN" dirty="0">
                <a:latin typeface="Times New Roman" panose="02020603050405020304" pitchFamily="18" charset="0"/>
              </a:rPr>
              <a:t> ,           (6.1)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en-US" i="1" dirty="0">
                <a:latin typeface="Times New Roman" panose="02020603050405020304" pitchFamily="18" charset="0"/>
              </a:rPr>
              <a:t>A </a:t>
            </a:r>
            <a:r>
              <a:rPr lang="en-US" altLang="en-US" dirty="0">
                <a:latin typeface="Times New Roman" panose="02020603050405020304" pitchFamily="18" charset="0"/>
              </a:rPr>
              <a:t>= (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i,j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n×n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非奇异，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aseline="16000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aseline="16000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为方便起见，将 (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.1) 记为                      	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baseline="30000" dirty="0">
                <a:latin typeface="Times New Roman" panose="02020603050405020304" pitchFamily="18" charset="0"/>
              </a:rPr>
              <a:t>(1)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= </a:t>
            </a: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  <a:r>
              <a:rPr lang="en-US" altLang="en-US" baseline="30000" dirty="0">
                <a:latin typeface="Times New Roman" panose="02020603050405020304" pitchFamily="18" charset="0"/>
              </a:rPr>
              <a:t>(1)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48"/>
          <p:cNvGrpSpPr/>
          <p:nvPr/>
        </p:nvGrpSpPr>
        <p:grpSpPr>
          <a:xfrm>
            <a:off x="381000" y="3429000"/>
            <a:ext cx="7204075" cy="2495550"/>
            <a:chOff x="240" y="2352"/>
            <a:chExt cx="4538" cy="1572"/>
          </a:xfrm>
        </p:grpSpPr>
        <p:graphicFrame>
          <p:nvGraphicFramePr>
            <p:cNvPr id="5122" name="Object 12"/>
            <p:cNvGraphicFramePr/>
            <p:nvPr/>
          </p:nvGraphicFramePr>
          <p:xfrm>
            <a:off x="672" y="2352"/>
            <a:ext cx="3997" cy="1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778000" imgH="939800" progId="Equation.DSMT4">
                    <p:embed/>
                  </p:oleObj>
                </mc:Choice>
                <mc:Fallback>
                  <p:oleObj name="" r:id="rId1" imgW="1778000" imgH="9398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72" y="2352"/>
                          <a:ext cx="3997" cy="15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7" name="Text Box 344"/>
            <p:cNvSpPr txBox="1"/>
            <p:nvPr/>
          </p:nvSpPr>
          <p:spPr>
            <a:xfrm>
              <a:off x="4662" y="2850"/>
              <a:ext cx="11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8" name="Text Box 347"/>
            <p:cNvSpPr txBox="1"/>
            <p:nvPr/>
          </p:nvSpPr>
          <p:spPr>
            <a:xfrm>
              <a:off x="240" y="2856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即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2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27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27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412750" y="228600"/>
            <a:ext cx="8382000" cy="9144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6.2.1 Gauss </a:t>
            </a:r>
            <a:r>
              <a:rPr lang="zh-CN" altLang="zh-CN" sz="3600" b="1" u="none" dirty="0"/>
              <a:t>消去法</a:t>
            </a:r>
            <a:endParaRPr lang="zh-CN" altLang="en-US" sz="3600" b="1" u="none" dirty="0"/>
          </a:p>
        </p:txBody>
      </p:sp>
      <p:sp>
        <p:nvSpPr>
          <p:cNvPr id="4427" name="Text Box 331"/>
          <p:cNvSpPr txBox="1"/>
          <p:nvPr/>
        </p:nvSpPr>
        <p:spPr>
          <a:xfrm>
            <a:off x="381000" y="944563"/>
            <a:ext cx="8305800" cy="233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        设有线性方程组      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Ax = b</a:t>
            </a:r>
            <a:r>
              <a:rPr lang="en-US" altLang="zh-CN" dirty="0">
                <a:latin typeface="Times New Roman" panose="02020603050405020304" pitchFamily="18" charset="0"/>
              </a:rPr>
              <a:t> ,           (6.1)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en-US" i="1" dirty="0">
                <a:latin typeface="Times New Roman" panose="02020603050405020304" pitchFamily="18" charset="0"/>
              </a:rPr>
              <a:t>A </a:t>
            </a:r>
            <a:r>
              <a:rPr lang="en-US" altLang="en-US" dirty="0">
                <a:latin typeface="Times New Roman" panose="02020603050405020304" pitchFamily="18" charset="0"/>
              </a:rPr>
              <a:t>= (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i,j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n×n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latin typeface="Times New Roman" panose="02020603050405020304" pitchFamily="18" charset="0"/>
              </a:rPr>
              <a:t>非奇异，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aseline="16000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aseline="16000" dirty="0">
                <a:latin typeface="Times New Roman" panose="02020603050405020304" pitchFamily="18" charset="0"/>
              </a:rPr>
              <a:t>…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为方便起见，将 (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.1) 记为                      	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baseline="30000" dirty="0">
                <a:latin typeface="Times New Roman" panose="02020603050405020304" pitchFamily="18" charset="0"/>
              </a:rPr>
              <a:t>(1)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baseline="30000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= </a:t>
            </a: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  <a:r>
              <a:rPr lang="en-US" altLang="en-US" baseline="30000" dirty="0">
                <a:latin typeface="Times New Roman" panose="02020603050405020304" pitchFamily="18" charset="0"/>
              </a:rPr>
              <a:t>(1)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48"/>
          <p:cNvGrpSpPr/>
          <p:nvPr/>
        </p:nvGrpSpPr>
        <p:grpSpPr>
          <a:xfrm>
            <a:off x="381000" y="3429000"/>
            <a:ext cx="7204075" cy="2495550"/>
            <a:chOff x="240" y="2352"/>
            <a:chExt cx="4538" cy="1572"/>
          </a:xfrm>
        </p:grpSpPr>
        <p:graphicFrame>
          <p:nvGraphicFramePr>
            <p:cNvPr id="6146" name="Object 12"/>
            <p:cNvGraphicFramePr/>
            <p:nvPr/>
          </p:nvGraphicFramePr>
          <p:xfrm>
            <a:off x="672" y="2352"/>
            <a:ext cx="3997" cy="1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1778000" imgH="939800" progId="Equation.DSMT4">
                    <p:embed/>
                  </p:oleObj>
                </mc:Choice>
                <mc:Fallback>
                  <p:oleObj name="" r:id="rId1" imgW="1778000" imgH="9398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72" y="2352"/>
                          <a:ext cx="3997" cy="15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1" name="Text Box 344"/>
            <p:cNvSpPr txBox="1"/>
            <p:nvPr/>
          </p:nvSpPr>
          <p:spPr>
            <a:xfrm>
              <a:off x="4662" y="2850"/>
              <a:ext cx="11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52" name="Text Box 347"/>
            <p:cNvSpPr txBox="1"/>
            <p:nvPr/>
          </p:nvSpPr>
          <p:spPr>
            <a:xfrm>
              <a:off x="240" y="2856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即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2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27">
                                            <p:txEl>
                                              <p:charRg st="47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27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32"/>
          <p:cNvGrpSpPr/>
          <p:nvPr/>
        </p:nvGrpSpPr>
        <p:grpSpPr>
          <a:xfrm>
            <a:off x="381000" y="381000"/>
            <a:ext cx="8534400" cy="2284413"/>
            <a:chOff x="240" y="240"/>
            <a:chExt cx="5376" cy="1439"/>
          </a:xfrm>
        </p:grpSpPr>
        <p:sp>
          <p:nvSpPr>
            <p:cNvPr id="7182" name="Text Box 9"/>
            <p:cNvSpPr txBox="1"/>
            <p:nvPr/>
          </p:nvSpPr>
          <p:spPr>
            <a:xfrm>
              <a:off x="240" y="240"/>
              <a:ext cx="5376" cy="1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       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设               记乘数	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35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以</a:t>
              </a:r>
              <a:r>
                <a:rPr lang="zh-CN" altLang="en-US" i="1" dirty="0">
                  <a:latin typeface="Times New Roman" panose="02020603050405020304" pitchFamily="18" charset="0"/>
                </a:rPr>
                <a:t>-</a:t>
              </a:r>
              <a:r>
                <a:rPr lang="en-US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zh-CN" dirty="0">
                  <a:latin typeface="Times New Roman" panose="02020603050405020304" pitchFamily="18" charset="0"/>
                </a:rPr>
                <a:t>乘</a:t>
              </a:r>
              <a:r>
                <a:rPr lang="zh-CN" altLang="en-US" dirty="0">
                  <a:latin typeface="Times New Roman" panose="02020603050405020304" pitchFamily="18" charset="0"/>
                </a:rPr>
                <a:t>上式 的第一个方程, 加到第 </a:t>
              </a:r>
              <a:r>
                <a:rPr lang="en-US" altLang="en-US" i="1" dirty="0">
                  <a:latin typeface="Times New Roman" panose="02020603050405020304" pitchFamily="18" charset="0"/>
                </a:rPr>
                <a:t>i 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i </a:t>
              </a:r>
              <a:r>
                <a:rPr lang="en-US" altLang="zh-CN" dirty="0">
                  <a:latin typeface="Times New Roman" panose="02020603050405020304" pitchFamily="18" charset="0"/>
                </a:rPr>
                <a:t>= 2 , 3 ,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baseline="16000" dirty="0">
                  <a:latin typeface="Times New Roman" panose="02020603050405020304" pitchFamily="18" charset="0"/>
                </a:rPr>
                <a:t>… 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zh-CN" dirty="0">
                  <a:latin typeface="Times New Roman" panose="02020603050405020304" pitchFamily="18" charset="0"/>
                </a:rPr>
                <a:t>个方程上去</a:t>
              </a:r>
              <a:r>
                <a:rPr lang="zh-CN" altLang="en-US" dirty="0">
                  <a:latin typeface="Times New Roman" panose="02020603050405020304" pitchFamily="18" charset="0"/>
                </a:rPr>
                <a:t>,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3" name="Object 10"/>
            <p:cNvGraphicFramePr/>
            <p:nvPr/>
          </p:nvGraphicFramePr>
          <p:xfrm>
            <a:off x="2023" y="247"/>
            <a:ext cx="857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508000" imgH="241300" progId="Equation.DSMT4">
                    <p:embed/>
                  </p:oleObj>
                </mc:Choice>
                <mc:Fallback>
                  <p:oleObj name="" r:id="rId1" imgW="508000" imgH="2413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23" y="247"/>
                          <a:ext cx="857" cy="3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11"/>
            <p:cNvGraphicFramePr/>
            <p:nvPr/>
          </p:nvGraphicFramePr>
          <p:xfrm>
            <a:off x="1440" y="579"/>
            <a:ext cx="3042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1663065" imgH="241300" progId="Equation.DSMT4">
                    <p:embed/>
                  </p:oleObj>
                </mc:Choice>
                <mc:Fallback>
                  <p:oleObj name="" r:id="rId3" imgW="1663065" imgH="2413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40" y="579"/>
                          <a:ext cx="3042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2" name="Object 13"/>
          <p:cNvGraphicFramePr/>
          <p:nvPr/>
        </p:nvGraphicFramePr>
        <p:xfrm>
          <a:off x="914400" y="2743200"/>
          <a:ext cx="5484813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828800" imgH="939800" progId="Equation.DSMT4">
                  <p:embed/>
                </p:oleObj>
              </mc:Choice>
              <mc:Fallback>
                <p:oleObj name="" r:id="rId5" imgW="1828800" imgH="939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2743200"/>
                        <a:ext cx="5484813" cy="2332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4"/>
          <p:cNvGrpSpPr/>
          <p:nvPr/>
        </p:nvGrpSpPr>
        <p:grpSpPr>
          <a:xfrm>
            <a:off x="304800" y="5029200"/>
            <a:ext cx="6638925" cy="1325563"/>
            <a:chOff x="192" y="3168"/>
            <a:chExt cx="4182" cy="835"/>
          </a:xfrm>
        </p:grpSpPr>
        <p:sp>
          <p:nvSpPr>
            <p:cNvPr id="9228" name="Text Box 16"/>
            <p:cNvSpPr txBox="1">
              <a:spLocks noChangeArrowheads="1"/>
            </p:cNvSpPr>
            <p:nvPr/>
          </p:nvSpPr>
          <p:spPr bwMode="auto">
            <a:xfrm>
              <a:off x="192" y="3360"/>
              <a:ext cx="879" cy="36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algn="ctr" defTabSz="914400" eaLnBrk="0" hangingPunct="0"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 smtClean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其中：</a:t>
              </a:r>
              <a:endParaRPr kumimoji="0" lang="zh-CN" altLang="en-US" kern="1200" cap="none" spc="0" normalizeH="0" baseline="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7171" name="Object 22"/>
            <p:cNvGraphicFramePr/>
            <p:nvPr/>
          </p:nvGraphicFramePr>
          <p:xfrm>
            <a:off x="960" y="3168"/>
            <a:ext cx="3414" cy="8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7" imgW="2183765" imgH="533400" progId="Equation.3">
                    <p:embed/>
                  </p:oleObj>
                </mc:Choice>
                <mc:Fallback>
                  <p:oleObj name="" r:id="rId7" imgW="2183765" imgH="5334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60" y="3168"/>
                          <a:ext cx="3414" cy="83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bg1"/>
                            </a:gs>
                            <a:gs pos="50000">
                              <a:schemeClr val="accent1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9" name="Text Box 25"/>
          <p:cNvSpPr txBox="1"/>
          <p:nvPr/>
        </p:nvSpPr>
        <p:spPr>
          <a:xfrm>
            <a:off x="304800" y="328613"/>
            <a:ext cx="2633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第一次消元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70" name="Object 27"/>
          <p:cNvGraphicFramePr/>
          <p:nvPr/>
        </p:nvGraphicFramePr>
        <p:xfrm>
          <a:off x="838200" y="2609850"/>
          <a:ext cx="634523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9" imgW="1778000" imgH="939800" progId="Equation.DSMT4">
                  <p:embed/>
                </p:oleObj>
              </mc:Choice>
              <mc:Fallback>
                <p:oleObj name="" r:id="rId9" imgW="1778000" imgH="939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8200" y="2609850"/>
                        <a:ext cx="6345238" cy="24955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1" name="Text Box 31"/>
          <p:cNvSpPr txBox="1"/>
          <p:nvPr/>
        </p:nvSpPr>
        <p:spPr>
          <a:xfrm>
            <a:off x="3733800" y="1843088"/>
            <a:ext cx="3201988" cy="8239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zh-CN" dirty="0">
                <a:latin typeface="Times New Roman" panose="02020603050405020304" pitchFamily="18" charset="0"/>
              </a:rPr>
              <a:t>得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(2)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35" name="Object 1032"/>
          <p:cNvGraphicFramePr/>
          <p:nvPr/>
        </p:nvGraphicFramePr>
        <p:xfrm>
          <a:off x="990600" y="2667000"/>
          <a:ext cx="5441950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1828800" imgH="939800" progId="Equation.DSMT4">
                  <p:embed/>
                </p:oleObj>
              </mc:Choice>
              <mc:Fallback>
                <p:oleObj name="" r:id="rId11" imgW="1828800" imgH="939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0600" y="2667000"/>
                        <a:ext cx="5441950" cy="23145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9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29"/>
          <p:cNvGrpSpPr/>
          <p:nvPr/>
        </p:nvGrpSpPr>
        <p:grpSpPr>
          <a:xfrm>
            <a:off x="304800" y="327025"/>
            <a:ext cx="8229600" cy="2235200"/>
            <a:chOff x="192" y="206"/>
            <a:chExt cx="5184" cy="1408"/>
          </a:xfrm>
        </p:grpSpPr>
        <p:sp>
          <p:nvSpPr>
            <p:cNvPr id="8205" name="Text Box 11"/>
            <p:cNvSpPr txBox="1"/>
            <p:nvPr/>
          </p:nvSpPr>
          <p:spPr>
            <a:xfrm>
              <a:off x="192" y="206"/>
              <a:ext cx="5184" cy="14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       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设                 记乘数	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以-</a:t>
              </a:r>
              <a:r>
                <a:rPr lang="en-US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zh-CN" altLang="zh-CN" dirty="0">
                  <a:latin typeface="Times New Roman" panose="02020603050405020304" pitchFamily="18" charset="0"/>
                </a:rPr>
                <a:t>乘 </a:t>
              </a:r>
              <a:r>
                <a:rPr lang="zh-CN" altLang="en-US" dirty="0">
                  <a:latin typeface="Times New Roman" panose="02020603050405020304" pitchFamily="18" charset="0"/>
                </a:rPr>
                <a:t>上式 的第二个方程, 然后加到第 </a:t>
              </a:r>
              <a:r>
                <a:rPr lang="en-US" altLang="en-US" i="1" dirty="0">
                  <a:latin typeface="Times New Roman" panose="02020603050405020304" pitchFamily="18" charset="0"/>
                </a:rPr>
                <a:t>i</a:t>
              </a:r>
              <a:r>
                <a:rPr lang="zh-CN" altLang="zh-CN" dirty="0">
                  <a:latin typeface="Times New Roman" panose="02020603050405020304" pitchFamily="18" charset="0"/>
                </a:rPr>
                <a:t>个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i </a:t>
              </a:r>
              <a:r>
                <a:rPr lang="en-US" altLang="zh-CN" dirty="0">
                  <a:latin typeface="Times New Roman" panose="02020603050405020304" pitchFamily="18" charset="0"/>
                </a:rPr>
                <a:t>= 3 , 4 , </a:t>
              </a:r>
              <a:r>
                <a:rPr lang="en-US" altLang="zh-CN" baseline="16000" dirty="0">
                  <a:latin typeface="Times New Roman" panose="02020603050405020304" pitchFamily="18" charset="0"/>
                </a:rPr>
                <a:t>… 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zh-CN" dirty="0">
                  <a:latin typeface="Times New Roman" panose="02020603050405020304" pitchFamily="18" charset="0"/>
                </a:rPr>
                <a:t>方程上去</a:t>
              </a:r>
              <a:r>
                <a:rPr lang="zh-CN" altLang="en-US" dirty="0">
                  <a:latin typeface="Times New Roman" panose="02020603050405020304" pitchFamily="18" charset="0"/>
                </a:rPr>
                <a:t>,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6" name="Object 1034"/>
            <p:cNvGraphicFramePr/>
            <p:nvPr/>
          </p:nvGraphicFramePr>
          <p:xfrm>
            <a:off x="2016" y="211"/>
            <a:ext cx="95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533400" imgH="241300" progId="Equation.DSMT4">
                    <p:embed/>
                  </p:oleObj>
                </mc:Choice>
                <mc:Fallback>
                  <p:oleObj name="" r:id="rId1" imgW="533400" imgH="241300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6" y="211"/>
                          <a:ext cx="954" cy="3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7" name="Object 1035"/>
            <p:cNvGraphicFramePr/>
            <p:nvPr/>
          </p:nvGraphicFramePr>
          <p:xfrm>
            <a:off x="1200" y="535"/>
            <a:ext cx="3335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3" imgW="1713865" imgH="241300" progId="Equation.DSMT4">
                    <p:embed/>
                  </p:oleObj>
                </mc:Choice>
                <mc:Fallback>
                  <p:oleObj name="" r:id="rId3" imgW="1713865" imgH="241300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00" y="535"/>
                          <a:ext cx="3335" cy="37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bg1"/>
                            </a:gs>
                            <a:gs pos="50000">
                              <a:schemeClr val="accent1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0"/>
          <p:cNvGrpSpPr/>
          <p:nvPr/>
        </p:nvGrpSpPr>
        <p:grpSpPr>
          <a:xfrm>
            <a:off x="381000" y="5181600"/>
            <a:ext cx="7443788" cy="1325563"/>
            <a:chOff x="240" y="3264"/>
            <a:chExt cx="4689" cy="835"/>
          </a:xfrm>
        </p:grpSpPr>
        <p:sp>
          <p:nvSpPr>
            <p:cNvPr id="8204" name="Text Box 18"/>
            <p:cNvSpPr txBox="1"/>
            <p:nvPr/>
          </p:nvSpPr>
          <p:spPr>
            <a:xfrm>
              <a:off x="240" y="3360"/>
              <a:ext cx="87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</a:rPr>
                <a:t>其中：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5" name="Object 1033"/>
            <p:cNvGraphicFramePr/>
            <p:nvPr/>
          </p:nvGraphicFramePr>
          <p:xfrm>
            <a:off x="912" y="3264"/>
            <a:ext cx="4017" cy="8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5" imgW="2322830" imgH="533400" progId="Equation.3">
                    <p:embed/>
                  </p:oleObj>
                </mc:Choice>
                <mc:Fallback>
                  <p:oleObj name="" r:id="rId5" imgW="2322830" imgH="5334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12" y="3264"/>
                          <a:ext cx="4017" cy="8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2" name="Text Box 24"/>
          <p:cNvSpPr txBox="1"/>
          <p:nvPr/>
        </p:nvSpPr>
        <p:spPr>
          <a:xfrm>
            <a:off x="304800" y="304800"/>
            <a:ext cx="26336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第二次消元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6892" name="Text Box 28"/>
          <p:cNvSpPr txBox="1"/>
          <p:nvPr/>
        </p:nvSpPr>
        <p:spPr>
          <a:xfrm>
            <a:off x="5029200" y="1816100"/>
            <a:ext cx="3236913" cy="774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40000"/>
              </a:lnSpc>
            </a:pPr>
            <a:r>
              <a:rPr lang="zh-CN" altLang="zh-CN" dirty="0">
                <a:latin typeface="Times New Roman" panose="02020603050405020304" pitchFamily="18" charset="0"/>
              </a:rPr>
              <a:t>得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(3)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</a:rPr>
              <a:t>(3)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98" name="Object 1032"/>
          <p:cNvGraphicFramePr/>
          <p:nvPr/>
        </p:nvGraphicFramePr>
        <p:xfrm>
          <a:off x="990600" y="2667000"/>
          <a:ext cx="5441950" cy="231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1828800" imgH="939800" progId="Equation.DSMT4">
                  <p:embed/>
                </p:oleObj>
              </mc:Choice>
              <mc:Fallback>
                <p:oleObj name="" r:id="rId7" imgW="1828800" imgH="939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0600" y="2667000"/>
                        <a:ext cx="5441950" cy="23145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3" name="Object 1031"/>
          <p:cNvGraphicFramePr/>
          <p:nvPr/>
        </p:nvGraphicFramePr>
        <p:xfrm>
          <a:off x="685800" y="2441575"/>
          <a:ext cx="7467600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9" imgW="2565400" imgH="1168400" progId="Equation.DSMT4">
                  <p:embed/>
                </p:oleObj>
              </mc:Choice>
              <mc:Fallback>
                <p:oleObj name="" r:id="rId9" imgW="2565400" imgH="11684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5800" y="2441575"/>
                        <a:ext cx="7467600" cy="28162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9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220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设第</a:t>
            </a:r>
            <a:r>
              <a:rPr lang="en-US" altLang="zh-CN" sz="3200" b="1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sz="3200" u="none" dirty="0">
                <a:solidFill>
                  <a:schemeClr val="tx1"/>
                </a:solidFill>
              </a:rPr>
              <a:t>次消元后的等价方程组</a:t>
            </a:r>
            <a:r>
              <a:rPr lang="en-US" altLang="en-US" sz="3200" b="1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zh-CN" altLang="en-US" sz="3200" u="none" baseline="30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18" name="Object 34"/>
          <p:cNvGraphicFramePr/>
          <p:nvPr/>
        </p:nvGraphicFramePr>
        <p:xfrm>
          <a:off x="214313" y="1219200"/>
          <a:ext cx="8680450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619500" imgH="1879600" progId="Equation.3">
                  <p:embed/>
                </p:oleObj>
              </mc:Choice>
              <mc:Fallback>
                <p:oleObj name="" r:id="rId1" imgW="3619500" imgH="1879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313" y="1219200"/>
                        <a:ext cx="8680450" cy="45037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1028"/>
          <p:cNvSpPr txBox="1"/>
          <p:nvPr/>
        </p:nvSpPr>
        <p:spPr>
          <a:xfrm>
            <a:off x="6172200" y="5943600"/>
            <a:ext cx="2393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en-US" altLang="zh-CN" sz="2400" dirty="0">
                <a:latin typeface="Times New Roman" panose="02020603050405020304" pitchFamily="18" charset="0"/>
                <a:ea typeface="华文隶书" panose="02010800040101010101" pitchFamily="2" charset="-122"/>
                <a:hlinkClick r:id="rId3" action="ppaction://hlinksldjump"/>
              </a:rPr>
              <a:t>Goto </a:t>
            </a:r>
            <a:r>
              <a:rPr lang="zh-CN" altLang="en-US" sz="2400" dirty="0">
                <a:latin typeface="Times New Roman" panose="02020603050405020304" pitchFamily="18" charset="0"/>
                <a:ea typeface="华文隶书" panose="02010800040101010101" pitchFamily="2" charset="-122"/>
                <a:hlinkClick r:id="rId3" action="ppaction://hlinksldjump"/>
              </a:rPr>
              <a:t>列主元素法</a:t>
            </a:r>
            <a:endParaRPr lang="zh-CN" altLang="en-US" sz="2400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246" name="Rectangle 2"/>
          <p:cNvSpPr>
            <a:spLocks noGrp="1"/>
          </p:cNvSpPr>
          <p:nvPr>
            <p:ph type="title"/>
          </p:nvPr>
        </p:nvSpPr>
        <p:spPr>
          <a:xfrm>
            <a:off x="228600" y="762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200" b="1" i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3200" b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次消元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：</a:t>
            </a:r>
            <a:endParaRPr lang="zh-CN" altLang="en-US" sz="3200" b="1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228600" y="381000"/>
            <a:ext cx="8686800" cy="2530475"/>
            <a:chOff x="144" y="326"/>
            <a:chExt cx="5472" cy="1594"/>
          </a:xfrm>
        </p:grpSpPr>
        <p:sp>
          <p:nvSpPr>
            <p:cNvPr id="10250" name="Text Box 4"/>
            <p:cNvSpPr txBox="1"/>
            <p:nvPr/>
          </p:nvSpPr>
          <p:spPr>
            <a:xfrm>
              <a:off x="144" y="326"/>
              <a:ext cx="5472" cy="15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      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设                 记乘数	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以-</a:t>
              </a:r>
              <a:r>
                <a:rPr lang="en-US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 k</a:t>
              </a:r>
              <a:r>
                <a:rPr lang="zh-CN" altLang="zh-CN" dirty="0">
                  <a:latin typeface="Times New Roman" panose="02020603050405020304" pitchFamily="18" charset="0"/>
                </a:rPr>
                <a:t>乘 </a:t>
              </a:r>
              <a:r>
                <a:rPr lang="zh-CN" altLang="en-US" dirty="0">
                  <a:latin typeface="Times New Roman" panose="02020603050405020304" pitchFamily="18" charset="0"/>
                </a:rPr>
                <a:t>上式 的第</a:t>
              </a: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Times New Roman" panose="02020603050405020304" pitchFamily="18" charset="0"/>
                </a:rPr>
                <a:t>个方程,然后加到第 </a:t>
              </a:r>
              <a:r>
                <a:rPr lang="en-US" altLang="en-US" i="1" dirty="0">
                  <a:latin typeface="Times New Roman" panose="02020603050405020304" pitchFamily="18" charset="0"/>
                </a:rPr>
                <a:t>i 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i </a:t>
              </a:r>
              <a:r>
                <a:rPr lang="en-US" altLang="zh-CN" dirty="0">
                  <a:latin typeface="Times New Roman" panose="02020603050405020304" pitchFamily="18" charset="0"/>
                </a:rPr>
                <a:t>= </a:t>
              </a: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latin typeface="Times New Roman" panose="02020603050405020304" pitchFamily="18" charset="0"/>
                </a:rPr>
                <a:t>+1 , </a:t>
              </a:r>
              <a:r>
                <a:rPr lang="en-US" altLang="zh-CN" baseline="16000" dirty="0">
                  <a:latin typeface="Times New Roman" panose="02020603050405020304" pitchFamily="18" charset="0"/>
                </a:rPr>
                <a:t>… 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zh-CN" dirty="0">
                  <a:latin typeface="Times New Roman" panose="02020603050405020304" pitchFamily="18" charset="0"/>
                </a:rPr>
                <a:t>个方程上</a:t>
              </a:r>
              <a:r>
                <a:rPr lang="zh-CN" altLang="en-US" dirty="0">
                  <a:latin typeface="Times New Roman" panose="02020603050405020304" pitchFamily="18" charset="0"/>
                </a:rPr>
                <a:t>,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43" name="Object 3"/>
            <p:cNvGraphicFramePr/>
            <p:nvPr/>
          </p:nvGraphicFramePr>
          <p:xfrm>
            <a:off x="1872" y="336"/>
            <a:ext cx="99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" imgW="545465" imgH="254000" progId="Equation.DSMT4">
                    <p:embed/>
                  </p:oleObj>
                </mc:Choice>
                <mc:Fallback>
                  <p:oleObj name="" r:id="rId1" imgW="545465" imgH="254000" progId="Equation.DSMT4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72" y="336"/>
                          <a:ext cx="998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4" name="Object 4"/>
            <p:cNvGraphicFramePr/>
            <p:nvPr/>
          </p:nvGraphicFramePr>
          <p:xfrm>
            <a:off x="650" y="621"/>
            <a:ext cx="4450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3" imgW="2233295" imgH="254000" progId="Equation.DSMT4">
                    <p:embed/>
                  </p:oleObj>
                </mc:Choice>
                <mc:Fallback>
                  <p:oleObj name="" r:id="rId3" imgW="2233295" imgH="2540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0" y="621"/>
                          <a:ext cx="4450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1848" name="Text Box 8"/>
          <p:cNvSpPr txBox="1"/>
          <p:nvPr/>
        </p:nvSpPr>
        <p:spPr>
          <a:xfrm>
            <a:off x="3927475" y="2057400"/>
            <a:ext cx="4343400" cy="830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zh-CN" dirty="0">
                <a:latin typeface="Times New Roman" panose="02020603050405020304" pitchFamily="18" charset="0"/>
              </a:rPr>
              <a:t>得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zh-CN" altLang="zh-CN" dirty="0">
                <a:latin typeface="Times New Roman" panose="02020603050405020304" pitchFamily="18" charset="0"/>
              </a:rPr>
              <a:t>与</a:t>
            </a:r>
            <a:r>
              <a:rPr lang="zh-CN" altLang="en-US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.1)</a:t>
            </a:r>
            <a:r>
              <a:rPr lang="zh-CN" altLang="en-US" dirty="0">
                <a:latin typeface="Comic Sans MS" panose="030F0702030302020204" pitchFamily="66" charset="0"/>
              </a:rPr>
              <a:t>等价方程组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7426" name="Object 2"/>
          <p:cNvGraphicFramePr/>
          <p:nvPr/>
        </p:nvGraphicFramePr>
        <p:xfrm>
          <a:off x="188913" y="2825750"/>
          <a:ext cx="8650287" cy="395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5" imgW="3606800" imgH="1651000" progId="Equation.3">
                  <p:embed/>
                </p:oleObj>
              </mc:Choice>
              <mc:Fallback>
                <p:oleObj name="" r:id="rId5" imgW="3606800" imgH="16510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913" y="2825750"/>
                        <a:ext cx="8650287" cy="39560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0" name="Text Box 10"/>
          <p:cNvSpPr txBox="1"/>
          <p:nvPr/>
        </p:nvSpPr>
        <p:spPr>
          <a:xfrm>
            <a:off x="304800" y="3168650"/>
            <a:ext cx="5791200" cy="1555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+1 )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7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8" grpId="0"/>
      <p:bldP spid="2918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269" name="Rectangle 16"/>
          <p:cNvSpPr>
            <a:spLocks noGrp="1"/>
          </p:cNvSpPr>
          <p:nvPr>
            <p:ph type="title"/>
          </p:nvPr>
        </p:nvSpPr>
        <p:spPr>
          <a:xfrm>
            <a:off x="546100" y="271463"/>
            <a:ext cx="7772400" cy="660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rgbClr val="FF0000"/>
                </a:solidFill>
              </a:rPr>
              <a:t>第</a:t>
            </a:r>
            <a:r>
              <a:rPr lang="en-US" altLang="zh-CN" sz="3200" i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3200" u="none" dirty="0">
                <a:solidFill>
                  <a:srgbClr val="FF0000"/>
                </a:solidFill>
              </a:rPr>
              <a:t>次消元后的等价方程组</a:t>
            </a:r>
            <a:r>
              <a:rPr lang="en-US" altLang="en-US" sz="3200" b="1" i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3200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3200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en-US" sz="3200" b="1" i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3200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en-US" sz="3200" b="1" i="1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3200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3200" u="none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86402" name="Object 2"/>
          <p:cNvGraphicFramePr/>
          <p:nvPr/>
        </p:nvGraphicFramePr>
        <p:xfrm>
          <a:off x="304800" y="762000"/>
          <a:ext cx="8393113" cy="362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3543300" imgH="1651000" progId="Equation.DSMT4">
                  <p:embed/>
                </p:oleObj>
              </mc:Choice>
              <mc:Fallback>
                <p:oleObj name="" r:id="rId1" imgW="3543300" imgH="16510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762000"/>
                        <a:ext cx="8393113" cy="362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6" name="Text Box 18"/>
          <p:cNvSpPr txBox="1"/>
          <p:nvPr/>
        </p:nvSpPr>
        <p:spPr>
          <a:xfrm>
            <a:off x="454025" y="4457700"/>
            <a:ext cx="70897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800" dirty="0">
                <a:latin typeface="Times New Roman" panose="02020603050405020304" pitchFamily="18" charset="0"/>
              </a:rPr>
              <a:t>其中</a:t>
            </a:r>
            <a:r>
              <a:rPr lang="en-US" altLang="en-US" sz="2800" i="1" dirty="0">
                <a:latin typeface="Times New Roman" panose="02020603050405020304" pitchFamily="18" charset="0"/>
              </a:rPr>
              <a:t>A</a:t>
            </a:r>
            <a:r>
              <a:rPr lang="en-US" altLang="en-US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en-US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en-US" sz="2800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sz="2800" dirty="0">
                <a:latin typeface="Times New Roman" panose="02020603050405020304" pitchFamily="18" charset="0"/>
              </a:rPr>
              <a:t>与</a:t>
            </a:r>
            <a:r>
              <a:rPr lang="zh-CN" altLang="en-US" sz="2800" i="1" dirty="0">
                <a:latin typeface="Times New Roman" panose="02020603050405020304" pitchFamily="18" charset="0"/>
              </a:rPr>
              <a:t> </a:t>
            </a:r>
            <a:r>
              <a:rPr lang="en-US" altLang="en-US" sz="2800" i="1" dirty="0">
                <a:latin typeface="Times New Roman" panose="02020603050405020304" pitchFamily="18" charset="0"/>
              </a:rPr>
              <a:t>b</a:t>
            </a:r>
            <a:r>
              <a:rPr lang="en-US" altLang="en-US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en-US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en-US" sz="2800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sz="2800" dirty="0">
                <a:latin typeface="Times New Roman" panose="02020603050405020304" pitchFamily="18" charset="0"/>
              </a:rPr>
              <a:t>中的元素的计算公式为：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6403" name="Object 3"/>
          <p:cNvGraphicFramePr/>
          <p:nvPr/>
        </p:nvGraphicFramePr>
        <p:xfrm>
          <a:off x="457200" y="4410075"/>
          <a:ext cx="55022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1930400" imgH="939800" progId="Equation.DSMT4">
                  <p:embed/>
                </p:oleObj>
              </mc:Choice>
              <mc:Fallback>
                <p:oleObj name="" r:id="rId3" imgW="1930400" imgH="939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4410075"/>
                        <a:ext cx="5502275" cy="206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>
          <a:xfrm>
            <a:off x="0" y="200025"/>
            <a:ext cx="9144000" cy="714375"/>
          </a:xfrm>
        </p:spPr>
        <p:txBody>
          <a:bodyPr vert="horz" wrap="square" lIns="91440" tIns="45720" rIns="91440" bIns="45720" anchor="ctr" anchorCtr="0"/>
          <a:p>
            <a:r>
              <a:rPr lang="zh-CN" altLang="zh-CN" sz="3200" u="none" dirty="0">
                <a:solidFill>
                  <a:schemeClr val="tx1"/>
                </a:solidFill>
              </a:rPr>
              <a:t>第</a:t>
            </a:r>
            <a:r>
              <a:rPr lang="zh-CN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n-</a:t>
            </a:r>
            <a:r>
              <a:rPr lang="zh-CN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3200" u="none" dirty="0">
                <a:solidFill>
                  <a:schemeClr val="tx1"/>
                </a:solidFill>
              </a:rPr>
              <a:t>次消元得到的等价上三角形方程组</a:t>
            </a:r>
            <a:r>
              <a:rPr lang="en-US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3200" i="1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zh-CN" altLang="zh-CN" sz="3200" u="none" baseline="30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85378" name="Object 2"/>
          <p:cNvGraphicFramePr/>
          <p:nvPr/>
        </p:nvGraphicFramePr>
        <p:xfrm>
          <a:off x="1319371" y="761841"/>
          <a:ext cx="6910070" cy="2345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2768600" imgH="939800" progId="Equation.DSMT4">
                  <p:embed/>
                </p:oleObj>
              </mc:Choice>
              <mc:Fallback>
                <p:oleObj name="" r:id="rId1" imgW="2768600" imgH="9398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19371" y="761841"/>
                        <a:ext cx="6910070" cy="23450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Text Box 8"/>
          <p:cNvSpPr txBox="1"/>
          <p:nvPr/>
        </p:nvSpPr>
        <p:spPr>
          <a:xfrm>
            <a:off x="212725" y="3200400"/>
            <a:ext cx="8397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分别求得 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en-US" baseline="-25000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i="1" baseline="-25000" dirty="0">
                <a:latin typeface="Times New Roman" panose="02020603050405020304" pitchFamily="18" charset="0"/>
              </a:rPr>
              <a:t>n-</a:t>
            </a:r>
            <a:r>
              <a:rPr lang="en-US" altLang="en-US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dirty="0">
                <a:latin typeface="Times New Roman" panose="02020603050405020304" pitchFamily="18" charset="0"/>
              </a:rPr>
              <a:t> , </a:t>
            </a:r>
            <a:r>
              <a:rPr lang="en-US" altLang="en-US" baseline="16000" dirty="0">
                <a:latin typeface="Times New Roman" panose="02020603050405020304" pitchFamily="18" charset="0"/>
              </a:rPr>
              <a:t>… 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baseline="-25000" dirty="0">
                <a:latin typeface="Times New Roman" panose="02020603050405020304" pitchFamily="18" charset="0"/>
              </a:rPr>
              <a:t>2 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x</a:t>
            </a:r>
            <a:r>
              <a:rPr lang="en-US" altLang="en-US" baseline="-25000" dirty="0">
                <a:latin typeface="Times New Roman" panose="02020603050405020304" pitchFamily="18" charset="0"/>
              </a:rPr>
              <a:t>1 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其计算公式如下：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5379" name="Object 3"/>
          <p:cNvGraphicFramePr/>
          <p:nvPr/>
        </p:nvGraphicFramePr>
        <p:xfrm>
          <a:off x="1933575" y="3843338"/>
          <a:ext cx="4379913" cy="24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751965" imgH="989965" progId="Equation.DSMT4">
                  <p:embed/>
                </p:oleObj>
              </mc:Choice>
              <mc:Fallback>
                <p:oleObj name="" r:id="rId3" imgW="1751965" imgH="98996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3575" y="3843338"/>
                        <a:ext cx="4379913" cy="247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2" name="AutoShape 10"/>
          <p:cNvSpPr/>
          <p:nvPr/>
        </p:nvSpPr>
        <p:spPr>
          <a:xfrm>
            <a:off x="609600" y="4038600"/>
            <a:ext cx="609600" cy="1981200"/>
          </a:xfrm>
          <a:prstGeom prst="wedgeRoundRectCallout">
            <a:avLst>
              <a:gd name="adj1" fmla="val 163542"/>
              <a:gd name="adj2" fmla="val 208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回代过程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8923" name="AutoShape 11"/>
          <p:cNvSpPr/>
          <p:nvPr/>
        </p:nvSpPr>
        <p:spPr>
          <a:xfrm>
            <a:off x="6553200" y="2438400"/>
            <a:ext cx="2209800" cy="3581400"/>
          </a:xfrm>
          <a:prstGeom prst="wedgeRoundRectCallout">
            <a:avLst>
              <a:gd name="adj1" fmla="val -116667"/>
              <a:gd name="adj2" fmla="val -2894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0" hangingPunct="0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消元与回代过程合起来称为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Gauss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消去法的全过程,它大概需要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/3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次乘除法.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/>
      <p:bldP spid="38922" grpId="0" animBg="1"/>
      <p:bldP spid="389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例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u="none" dirty="0">
                <a:solidFill>
                  <a:schemeClr val="tx1"/>
                </a:solidFill>
              </a:rPr>
              <a:t>.</a:t>
            </a:r>
            <a:r>
              <a:rPr lang="zh-CN" altLang="en-US" sz="3200" u="none" dirty="0">
                <a:solidFill>
                  <a:schemeClr val="tx1"/>
                </a:solidFill>
              </a:rPr>
              <a:t>用</a:t>
            </a:r>
            <a:r>
              <a:rPr lang="en-US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Guass</a:t>
            </a:r>
            <a:r>
              <a:rPr lang="en-US" altLang="zh-CN" sz="3200" u="none" dirty="0">
                <a:solidFill>
                  <a:schemeClr val="tx1"/>
                </a:solidFill>
              </a:rPr>
              <a:t>消去</a:t>
            </a:r>
            <a:r>
              <a:rPr lang="zh-CN" altLang="en-US" sz="3200" u="none" dirty="0">
                <a:solidFill>
                  <a:schemeClr val="tx1"/>
                </a:solidFill>
              </a:rPr>
              <a:t>法解线性方程组：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sp>
        <p:nvSpPr>
          <p:cNvPr id="365571" name="Rectangle 3"/>
          <p:cNvSpPr>
            <a:spLocks noGrp="1"/>
          </p:cNvSpPr>
          <p:nvPr>
            <p:ph idx="1"/>
          </p:nvPr>
        </p:nvSpPr>
        <p:spPr>
          <a:xfrm>
            <a:off x="468313" y="2924175"/>
            <a:ext cx="8424862" cy="11525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3200" dirty="0"/>
              <a:t>解：为了书写方便，写出此方程组的增广矩阵，并用矩阵变换来描述消元过程。</a:t>
            </a:r>
            <a:endParaRPr lang="en-US" altLang="zh-CN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65572" name="Object 4"/>
          <p:cNvGraphicFramePr/>
          <p:nvPr/>
        </p:nvGraphicFramePr>
        <p:xfrm>
          <a:off x="2268538" y="1052513"/>
          <a:ext cx="3275012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282065" imgH="711200" progId="Equation.DSMT4">
                  <p:embed/>
                </p:oleObj>
              </mc:Choice>
              <mc:Fallback>
                <p:oleObj name="" r:id="rId1" imgW="1282065" imgH="7112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1052513"/>
                        <a:ext cx="3275012" cy="181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3" name="Object 5"/>
          <p:cNvGraphicFramePr/>
          <p:nvPr/>
        </p:nvGraphicFramePr>
        <p:xfrm>
          <a:off x="1920558" y="4149567"/>
          <a:ext cx="3985260" cy="181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1562100" imgH="711200" progId="Equation.3">
                  <p:embed/>
                </p:oleObj>
              </mc:Choice>
              <mc:Fallback>
                <p:oleObj name="" r:id="rId3" imgW="1562100" imgH="711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0558" y="4149567"/>
                        <a:ext cx="3985260" cy="1814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65571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1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34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消元过程如下：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366597" name="Object 5"/>
          <p:cNvGraphicFramePr/>
          <p:nvPr/>
        </p:nvGraphicFramePr>
        <p:xfrm>
          <a:off x="343059" y="1196817"/>
          <a:ext cx="3827145" cy="174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562100" imgH="711200" progId="Equation.3">
                  <p:embed/>
                </p:oleObj>
              </mc:Choice>
              <mc:Fallback>
                <p:oleObj name="" r:id="rId1" imgW="1562100" imgH="7112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059" y="1196817"/>
                        <a:ext cx="3827145" cy="1741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/>
          <p:nvPr/>
        </p:nvGrpSpPr>
        <p:grpSpPr>
          <a:xfrm>
            <a:off x="4067175" y="1484313"/>
            <a:ext cx="1316038" cy="1117600"/>
            <a:chOff x="2517" y="1117"/>
            <a:chExt cx="829" cy="704"/>
          </a:xfrm>
        </p:grpSpPr>
        <p:sp>
          <p:nvSpPr>
            <p:cNvPr id="14348" name="Line 7"/>
            <p:cNvSpPr/>
            <p:nvPr/>
          </p:nvSpPr>
          <p:spPr>
            <a:xfrm>
              <a:off x="2517" y="1525"/>
              <a:ext cx="8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9" name="Text Box 8"/>
            <p:cNvSpPr txBox="1"/>
            <p:nvPr/>
          </p:nvSpPr>
          <p:spPr>
            <a:xfrm>
              <a:off x="2562" y="1117"/>
              <a:ext cx="748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21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2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31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-1</a:t>
              </a:r>
              <a:endParaRPr lang="en-US" altLang="zh-CN" sz="36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66601" name="Object 9"/>
          <p:cNvGraphicFramePr/>
          <p:nvPr/>
        </p:nvGraphicFramePr>
        <p:xfrm>
          <a:off x="5364163" y="1196975"/>
          <a:ext cx="2957512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3" imgW="1205865" imgH="711200" progId="Equation.3">
                  <p:embed/>
                </p:oleObj>
              </mc:Choice>
              <mc:Fallback>
                <p:oleObj name="" r:id="rId3" imgW="1205865" imgH="7112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163" y="1196975"/>
                        <a:ext cx="2957512" cy="174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/>
          <p:nvPr/>
        </p:nvGrpSpPr>
        <p:grpSpPr>
          <a:xfrm>
            <a:off x="900113" y="3284538"/>
            <a:ext cx="1574800" cy="792162"/>
            <a:chOff x="567" y="2341"/>
            <a:chExt cx="992" cy="499"/>
          </a:xfrm>
        </p:grpSpPr>
        <p:sp>
          <p:nvSpPr>
            <p:cNvPr id="14346" name="Line 12"/>
            <p:cNvSpPr/>
            <p:nvPr/>
          </p:nvSpPr>
          <p:spPr>
            <a:xfrm>
              <a:off x="567" y="2840"/>
              <a:ext cx="9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47" name="Text Box 13"/>
            <p:cNvSpPr txBox="1"/>
            <p:nvPr/>
          </p:nvSpPr>
          <p:spPr>
            <a:xfrm>
              <a:off x="612" y="2341"/>
              <a:ext cx="902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20000"/>
                </a:lnSpc>
                <a:spcBef>
                  <a:spcPct val="10000"/>
                </a:spcBef>
                <a:spcAft>
                  <a:spcPct val="10000"/>
                </a:spcAft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32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1/3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366606" name="Object 14"/>
          <p:cNvGraphicFramePr/>
          <p:nvPr/>
        </p:nvGraphicFramePr>
        <p:xfrm>
          <a:off x="2627313" y="3141663"/>
          <a:ext cx="3392487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5" imgW="1383665" imgH="711200" progId="Equation.3">
                  <p:embed/>
                </p:oleObj>
              </mc:Choice>
              <mc:Fallback>
                <p:oleObj name="" r:id="rId5" imgW="1383665" imgH="7112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313" y="3141663"/>
                        <a:ext cx="3392487" cy="174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6608" name="Text Box 16"/>
          <p:cNvSpPr txBox="1"/>
          <p:nvPr/>
        </p:nvSpPr>
        <p:spPr>
          <a:xfrm>
            <a:off x="539750" y="5084763"/>
            <a:ext cx="6686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写成与原方程组等价的线性方程组为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66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66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536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等价的线性方程组为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sp>
        <p:nvSpPr>
          <p:cNvPr id="15366" name="Rectangle 7"/>
          <p:cNvSpPr/>
          <p:nvPr/>
        </p:nvSpPr>
        <p:spPr>
          <a:xfrm>
            <a:off x="0" y="27955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46" name="Object 6"/>
          <p:cNvGraphicFramePr/>
          <p:nvPr/>
        </p:nvGraphicFramePr>
        <p:xfrm>
          <a:off x="2700338" y="1268413"/>
          <a:ext cx="2774950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1129665" imgH="964565" progId="Equation.3">
                  <p:embed/>
                </p:oleObj>
              </mc:Choice>
              <mc:Fallback>
                <p:oleObj name="" r:id="rId1" imgW="1129665" imgH="9645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1268413"/>
                        <a:ext cx="2774950" cy="235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8" name="Text Box 8"/>
          <p:cNvSpPr txBox="1"/>
          <p:nvPr/>
        </p:nvSpPr>
        <p:spPr>
          <a:xfrm>
            <a:off x="611188" y="4116388"/>
            <a:ext cx="4654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回代求得原方程组的解为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68" name="Rectangle 10"/>
          <p:cNvSpPr/>
          <p:nvPr/>
        </p:nvSpPr>
        <p:spPr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49" name="Object 9"/>
          <p:cNvGraphicFramePr/>
          <p:nvPr/>
        </p:nvGraphicFramePr>
        <p:xfrm>
          <a:off x="5219700" y="4149725"/>
          <a:ext cx="195738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787400" imgH="228600" progId="Equation.3">
                  <p:embed/>
                </p:oleObj>
              </mc:Choice>
              <mc:Fallback>
                <p:oleObj name="" r:id="rId3" imgW="787400" imgH="2286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19700" y="4149725"/>
                        <a:ext cx="1957388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3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6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4692" name="Text Box 4"/>
          <p:cNvSpPr txBox="1"/>
          <p:nvPr/>
        </p:nvSpPr>
        <p:spPr>
          <a:xfrm>
            <a:off x="304800" y="2667000"/>
            <a:ext cx="85344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阶矩阵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 =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baseline="30000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的第一阶至第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阶顺序主子式均不为零，即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14690" name="Rectangle 2"/>
          <p:cNvSpPr/>
          <p:nvPr/>
        </p:nvSpPr>
        <p:spPr>
          <a:xfrm>
            <a:off x="228600" y="2641600"/>
            <a:ext cx="2286000" cy="787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p>
            <a:pPr eaLnBrk="0" hangingPunct="0"/>
            <a:r>
              <a:rPr lang="zh-CN" altLang="en-US" b="1" dirty="0">
                <a:latin typeface="Comic Sans MS" panose="030F0702030302020204" pitchFamily="66" charset="0"/>
              </a:rPr>
              <a:t>定理</a:t>
            </a:r>
            <a:r>
              <a:rPr lang="zh-CN" altLang="en-US" b="1" dirty="0">
                <a:latin typeface="Times New Roman" panose="02020603050405020304" pitchFamily="18" charset="0"/>
              </a:rPr>
              <a:t>1</a:t>
            </a:r>
            <a:endParaRPr lang="zh-CN" altLang="en-US" b="1" u="sng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4694" name="Object 6"/>
          <p:cNvGraphicFramePr/>
          <p:nvPr/>
        </p:nvGraphicFramePr>
        <p:xfrm>
          <a:off x="457200" y="3594100"/>
          <a:ext cx="836136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3289300" imgH="736600" progId="Equation.DSMT4">
                  <p:embed/>
                </p:oleObj>
              </mc:Choice>
              <mc:Fallback>
                <p:oleObj name="" r:id="rId1" imgW="3289300" imgH="7366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3594100"/>
                        <a:ext cx="8361363" cy="173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/>
          <p:cNvGrpSpPr/>
          <p:nvPr/>
        </p:nvGrpSpPr>
        <p:grpSpPr>
          <a:xfrm>
            <a:off x="431800" y="5129213"/>
            <a:ext cx="7270750" cy="585787"/>
            <a:chOff x="272" y="3375"/>
            <a:chExt cx="4580" cy="369"/>
          </a:xfrm>
        </p:grpSpPr>
        <p:sp>
          <p:nvSpPr>
            <p:cNvPr id="16397" name="Text Box 7"/>
            <p:cNvSpPr txBox="1"/>
            <p:nvPr/>
          </p:nvSpPr>
          <p:spPr>
            <a:xfrm>
              <a:off x="272" y="3375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/>
              <a:r>
                <a:rPr lang="zh-CN" altLang="en-US" dirty="0">
                  <a:latin typeface="Times New Roman" panose="02020603050405020304" pitchFamily="18" charset="0"/>
                </a:rPr>
                <a:t>则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388" name="Object 8"/>
            <p:cNvGraphicFramePr/>
            <p:nvPr/>
          </p:nvGraphicFramePr>
          <p:xfrm>
            <a:off x="672" y="3379"/>
            <a:ext cx="2777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3" imgW="1891665" imgH="241300" progId="Equation.DSMT4">
                    <p:embed/>
                  </p:oleObj>
                </mc:Choice>
                <mc:Fallback>
                  <p:oleObj name="" r:id="rId3" imgW="1891665" imgH="2413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2" y="3379"/>
                          <a:ext cx="2777" cy="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8" name="Text Box 9"/>
            <p:cNvSpPr txBox="1"/>
            <p:nvPr/>
          </p:nvSpPr>
          <p:spPr>
            <a:xfrm>
              <a:off x="3456" y="3375"/>
              <a:ext cx="139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反之亦真。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14700" name="Object 12"/>
          <p:cNvGraphicFramePr/>
          <p:nvPr/>
        </p:nvGraphicFramePr>
        <p:xfrm>
          <a:off x="2590800" y="906463"/>
          <a:ext cx="34766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5" imgW="1358265" imgH="241300" progId="Equation.DSMT4">
                  <p:embed/>
                </p:oleObj>
              </mc:Choice>
              <mc:Fallback>
                <p:oleObj name="" r:id="rId5" imgW="1358265" imgH="2413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906463"/>
                        <a:ext cx="3476625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2" name="Text Box 14"/>
          <p:cNvSpPr txBox="1"/>
          <p:nvPr/>
        </p:nvSpPr>
        <p:spPr>
          <a:xfrm>
            <a:off x="304800" y="1524000"/>
            <a:ext cx="83820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否则将溢出停机.那么系数矩阵</a:t>
            </a:r>
            <a:r>
              <a:rPr lang="en-US" altLang="en-US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满足什么条件才会使这些元素全不为零呢？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4704" name="Rectangle 16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</p:spPr>
        <p:txBody>
          <a:bodyPr vert="horz" wrap="square" lIns="91440" tIns="45720" rIns="91440" bIns="45720" anchor="ctr" anchorCtr="0"/>
          <a:p>
            <a:r>
              <a:rPr lang="zh-CN" altLang="en-US" sz="28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通过前面的讨论可知，</a:t>
            </a:r>
            <a:r>
              <a:rPr lang="en-US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Gauss</a:t>
            </a:r>
            <a:r>
              <a:rPr lang="zh-CN" altLang="en-US" sz="3200" u="none" dirty="0">
                <a:solidFill>
                  <a:schemeClr val="tx1"/>
                </a:solidFill>
              </a:rPr>
              <a:t>消去法要求</a:t>
            </a:r>
            <a:r>
              <a:rPr lang="zh-CN" altLang="en-US" sz="3200" b="1" u="none" dirty="0">
                <a:solidFill>
                  <a:srgbClr val="000000"/>
                </a:solidFill>
                <a:ea typeface="黑体" panose="02010609060101010101" pitchFamily="49" charset="-122"/>
              </a:rPr>
              <a:t>主元素</a:t>
            </a:r>
            <a:r>
              <a:rPr lang="zh-CN" altLang="en-US" sz="2800" u="none" dirty="0">
                <a:solidFill>
                  <a:schemeClr val="tx1"/>
                </a:solidFill>
              </a:rPr>
              <a:t> </a:t>
            </a:r>
            <a:endParaRPr lang="zh-CN" altLang="en-US" sz="2800" u="none" dirty="0">
              <a:solidFill>
                <a:schemeClr val="tx1"/>
              </a:solidFill>
            </a:endParaRPr>
          </a:p>
        </p:txBody>
      </p:sp>
      <p:sp>
        <p:nvSpPr>
          <p:cNvPr id="114705" name="AutoShape 17"/>
          <p:cNvSpPr/>
          <p:nvPr/>
        </p:nvSpPr>
        <p:spPr>
          <a:xfrm>
            <a:off x="1143000" y="5638800"/>
            <a:ext cx="7162800" cy="609600"/>
          </a:xfrm>
          <a:prstGeom prst="wedgeRoundRectCallout">
            <a:avLst>
              <a:gd name="adj1" fmla="val -28546"/>
              <a:gd name="adj2" fmla="val -5573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此定理利用归纳法很容易证明。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3357563" y="1428750"/>
            <a:ext cx="5348287" cy="1071563"/>
          </a:xfrm>
          <a:prstGeom prst="wedgeRoundRectCallout">
            <a:avLst>
              <a:gd name="adj1" fmla="val -82565"/>
              <a:gd name="adj2" fmla="val 9267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但是定理的条件太强，其实只要系数矩阵可逆方程组就有解。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690" grpId="0"/>
      <p:bldP spid="114702" grpId="0"/>
      <p:bldP spid="114704" grpId="0"/>
      <p:bldP spid="11470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28"/>
          <p:cNvGrpSpPr/>
          <p:nvPr/>
        </p:nvGrpSpPr>
        <p:grpSpPr>
          <a:xfrm>
            <a:off x="460375" y="228600"/>
            <a:ext cx="8455025" cy="3573463"/>
            <a:chOff x="290" y="591"/>
            <a:chExt cx="5326" cy="2251"/>
          </a:xfrm>
        </p:grpSpPr>
        <p:sp>
          <p:nvSpPr>
            <p:cNvPr id="17419" name="Text Box 17"/>
            <p:cNvSpPr txBox="1"/>
            <p:nvPr/>
          </p:nvSpPr>
          <p:spPr>
            <a:xfrm>
              <a:off x="290" y="591"/>
              <a:ext cx="5326" cy="2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en-US" dirty="0">
                  <a:latin typeface="Times New Roman" panose="02020603050405020304" pitchFamily="18" charset="0"/>
                </a:rPr>
                <a:t>Gauss</a:t>
              </a:r>
              <a:r>
                <a:rPr lang="zh-CN" altLang="en-US" dirty="0">
                  <a:latin typeface="Times New Roman" panose="02020603050405020304" pitchFamily="18" charset="0"/>
                </a:rPr>
                <a:t>消去法的缺点：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35000"/>
                </a:lnSpc>
              </a:pPr>
              <a:r>
                <a:rPr lang="zh-CN" altLang="en-US" sz="2400" dirty="0">
                  <a:latin typeface="Times New Roman" panose="02020603050405020304" pitchFamily="18" charset="0"/>
                </a:rPr>
                <a:t>	</a:t>
              </a:r>
              <a:r>
                <a:rPr lang="zh-CN" altLang="en-US" dirty="0">
                  <a:latin typeface="Times New Roman" panose="02020603050405020304" pitchFamily="18" charset="0"/>
                </a:rPr>
                <a:t>(1)              则消元不能进行。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	(2) 若              但与      	                比较, 其绝对值甚小（小主元）, 此时消元乘数</a:t>
              </a:r>
              <a:r>
                <a:rPr lang="en-US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b="1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i="1" baseline="-25000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Times New Roman" panose="02020603050405020304" pitchFamily="18" charset="0"/>
                </a:rPr>
                <a:t>的绝对值很大，势必造成误差的严重扩散，使得计算结果失真。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20" name="Group 27"/>
            <p:cNvGrpSpPr/>
            <p:nvPr/>
          </p:nvGrpSpPr>
          <p:grpSpPr>
            <a:xfrm>
              <a:off x="1296" y="1008"/>
              <a:ext cx="3456" cy="717"/>
              <a:chOff x="1296" y="1008"/>
              <a:chExt cx="3456" cy="717"/>
            </a:xfrm>
          </p:grpSpPr>
          <p:graphicFrame>
            <p:nvGraphicFramePr>
              <p:cNvPr id="17412" name="Object 8"/>
              <p:cNvGraphicFramePr/>
              <p:nvPr/>
            </p:nvGraphicFramePr>
            <p:xfrm>
              <a:off x="1296" y="1008"/>
              <a:ext cx="839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0" name="" r:id="rId1" imgW="533400" imgH="241300" progId="Equation.DSMT4">
                      <p:embed/>
                    </p:oleObj>
                  </mc:Choice>
                  <mc:Fallback>
                    <p:oleObj name="" r:id="rId1" imgW="533400" imgH="241300" progId="Equation.DSMT4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296" y="1008"/>
                            <a:ext cx="839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3" name="Object 9"/>
              <p:cNvGraphicFramePr/>
              <p:nvPr/>
            </p:nvGraphicFramePr>
            <p:xfrm>
              <a:off x="1513" y="1344"/>
              <a:ext cx="839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1" name="" r:id="rId3" imgW="533400" imgH="241300" progId="Equation.DSMT4">
                      <p:embed/>
                    </p:oleObj>
                  </mc:Choice>
                  <mc:Fallback>
                    <p:oleObj name="" r:id="rId3" imgW="533400" imgH="241300" progId="Equation.DSMT4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13" y="1344"/>
                            <a:ext cx="839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14" name="Object 10"/>
              <p:cNvGraphicFramePr/>
              <p:nvPr/>
            </p:nvGraphicFramePr>
            <p:xfrm>
              <a:off x="2913" y="1326"/>
              <a:ext cx="1839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2" name="" r:id="rId5" imgW="1167765" imgH="241300" progId="Equation.DSMT4">
                      <p:embed/>
                    </p:oleObj>
                  </mc:Choice>
                  <mc:Fallback>
                    <p:oleObj name="" r:id="rId5" imgW="1167765" imgH="241300" progId="Equation.DSMT4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13" y="1326"/>
                            <a:ext cx="1839" cy="3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33"/>
          <p:cNvGrpSpPr/>
          <p:nvPr/>
        </p:nvGrpSpPr>
        <p:grpSpPr>
          <a:xfrm>
            <a:off x="1187450" y="3789363"/>
            <a:ext cx="6711950" cy="2678112"/>
            <a:chOff x="1046" y="2303"/>
            <a:chExt cx="4228" cy="1687"/>
          </a:xfrm>
        </p:grpSpPr>
        <p:graphicFrame>
          <p:nvGraphicFramePr>
            <p:cNvPr id="17410" name="Object 6"/>
            <p:cNvGraphicFramePr/>
            <p:nvPr/>
          </p:nvGraphicFramePr>
          <p:xfrm>
            <a:off x="1056" y="2303"/>
            <a:ext cx="4218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7" imgW="2233295" imgH="254000" progId="Equation.DSMT4">
                    <p:embed/>
                  </p:oleObj>
                </mc:Choice>
                <mc:Fallback>
                  <p:oleObj name="" r:id="rId7" imgW="2233295" imgH="254000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56" y="2303"/>
                          <a:ext cx="4218" cy="38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50000">
                              <a:schemeClr val="accent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1" name="Object 7"/>
            <p:cNvGraphicFramePr/>
            <p:nvPr/>
          </p:nvGraphicFramePr>
          <p:xfrm>
            <a:off x="1046" y="2688"/>
            <a:ext cx="3466" cy="1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9" imgW="1930400" imgH="939800" progId="Equation.DSMT4">
                    <p:embed/>
                  </p:oleObj>
                </mc:Choice>
                <mc:Fallback>
                  <p:oleObj name="" r:id="rId9" imgW="1930400" imgH="9398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6" y="2688"/>
                          <a:ext cx="3466" cy="1302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50000">
                              <a:schemeClr val="accent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圆角矩形标注 14"/>
          <p:cNvSpPr/>
          <p:nvPr/>
        </p:nvSpPr>
        <p:spPr>
          <a:xfrm>
            <a:off x="5357813" y="3143250"/>
            <a:ext cx="3429000" cy="1643063"/>
          </a:xfrm>
          <a:prstGeom prst="wedgeRoundRectCallout">
            <a:avLst>
              <a:gd name="adj1" fmla="val -67657"/>
              <a:gd name="adj2" fmla="val 4397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kj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有误差</a:t>
            </a:r>
            <a:r>
              <a:rPr lang="el-GR" altLang="zh-CN" i="1" dirty="0">
                <a:latin typeface="Times New Roman" panose="02020603050405020304" pitchFamily="18" charset="0"/>
              </a:rPr>
              <a:t>ε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则在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kj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k+</a:t>
            </a:r>
            <a:r>
              <a:rPr lang="en-US" altLang="zh-CN" baseline="30000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中被放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大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ik</a:t>
            </a:r>
            <a:r>
              <a:rPr lang="zh-CN" altLang="en-US" dirty="0">
                <a:latin typeface="Times New Roman" panose="02020603050405020304" pitchFamily="18" charset="0"/>
              </a:rPr>
              <a:t>倍，为</a:t>
            </a:r>
            <a:r>
              <a:rPr lang="el-GR" altLang="zh-CN" i="1" dirty="0">
                <a:latin typeface="Times New Roman" panose="02020603050405020304" pitchFamily="18" charset="0"/>
              </a:rPr>
              <a:t>ε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ik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>
          <a:xfrm>
            <a:off x="533400" y="5334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32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32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 sz="32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Guass</a:t>
            </a:r>
            <a:r>
              <a:rPr lang="zh-CN" altLang="en-US" sz="32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消去法解下列方程组（</a:t>
            </a:r>
            <a:r>
              <a:rPr lang="zh-CN" altLang="en-US" sz="32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采用三位十进制浮点运算</a:t>
            </a:r>
            <a:r>
              <a:rPr lang="zh-CN" altLang="en-US" sz="32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40995" name="Rectangle 3"/>
          <p:cNvSpPr>
            <a:spLocks noGrp="1"/>
          </p:cNvSpPr>
          <p:nvPr>
            <p:ph idx="1"/>
          </p:nvPr>
        </p:nvSpPr>
        <p:spPr>
          <a:xfrm>
            <a:off x="533400" y="4648200"/>
            <a:ext cx="7924800" cy="1219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r>
              <a:rPr lang="zh-CN" altLang="en-US" sz="3200" dirty="0">
                <a:latin typeface="Times New Roman" panose="02020603050405020304" pitchFamily="18" charset="0"/>
              </a:rPr>
              <a:t>记增广矩阵为，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采用三位十进制浮点运算，消元过程用矩阵变换表示如下：</a:t>
            </a:r>
            <a:endParaRPr lang="zh-CN" altLang="en-US" sz="3200" dirty="0"/>
          </a:p>
        </p:txBody>
      </p:sp>
      <p:graphicFrame>
        <p:nvGraphicFramePr>
          <p:cNvPr id="340996" name="Object 4"/>
          <p:cNvGraphicFramePr/>
          <p:nvPr/>
        </p:nvGraphicFramePr>
        <p:xfrm>
          <a:off x="1600200" y="1962150"/>
          <a:ext cx="5589588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2146300" imgH="711200" progId="Equation.DSMT4">
                  <p:embed/>
                </p:oleObj>
              </mc:Choice>
              <mc:Fallback>
                <p:oleObj name="" r:id="rId1" imgW="2146300" imgH="7112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962150"/>
                        <a:ext cx="5589588" cy="184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527050" y="3962400"/>
            <a:ext cx="7797800" cy="609600"/>
            <a:chOff x="332" y="2496"/>
            <a:chExt cx="4912" cy="384"/>
          </a:xfrm>
        </p:grpSpPr>
        <p:sp>
          <p:nvSpPr>
            <p:cNvPr id="18440" name="Text Box 6"/>
            <p:cNvSpPr txBox="1"/>
            <p:nvPr/>
          </p:nvSpPr>
          <p:spPr>
            <a:xfrm>
              <a:off x="332" y="2515"/>
              <a:ext cx="2740" cy="36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该方程组的精确解为：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35" name="Object 7"/>
            <p:cNvGraphicFramePr/>
            <p:nvPr/>
          </p:nvGraphicFramePr>
          <p:xfrm>
            <a:off x="2880" y="2496"/>
            <a:ext cx="236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3" imgW="1498600" imgH="228600" progId="Equation.DSMT4">
                    <p:embed/>
                  </p:oleObj>
                </mc:Choice>
                <mc:Fallback>
                  <p:oleObj name="" r:id="rId3" imgW="1498600" imgH="2286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0" y="2496"/>
                          <a:ext cx="2364" cy="36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099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6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43042" name="Rectangle 2"/>
          <p:cNvSpPr>
            <a:spLocks noGrp="1"/>
          </p:cNvSpPr>
          <p:nvPr>
            <p:ph type="title"/>
          </p:nvPr>
        </p:nvSpPr>
        <p:spPr>
          <a:xfrm>
            <a:off x="304800" y="5486400"/>
            <a:ext cx="2438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回代后求得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343043" name="Object 3"/>
          <p:cNvGraphicFramePr/>
          <p:nvPr/>
        </p:nvGraphicFramePr>
        <p:xfrm>
          <a:off x="685800" y="147638"/>
          <a:ext cx="4357688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1816100" imgH="711200" progId="Equation.DSMT4">
                  <p:embed/>
                </p:oleObj>
              </mc:Choice>
              <mc:Fallback>
                <p:oleObj name="" r:id="rId1" imgW="1816100" imgH="711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147638"/>
                        <a:ext cx="4357688" cy="170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9" name="Object 9"/>
          <p:cNvGraphicFramePr/>
          <p:nvPr/>
        </p:nvGraphicFramePr>
        <p:xfrm>
          <a:off x="2484438" y="5516563"/>
          <a:ext cx="361473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1498600" imgH="228600" progId="Equation.DSMT4">
                  <p:embed/>
                </p:oleObj>
              </mc:Choice>
              <mc:Fallback>
                <p:oleObj name="" r:id="rId3" imgW="1498600" imgH="2286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5516563"/>
                        <a:ext cx="3614737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51" name="AutoShape 11"/>
          <p:cNvSpPr/>
          <p:nvPr/>
        </p:nvSpPr>
        <p:spPr>
          <a:xfrm>
            <a:off x="6553200" y="1447800"/>
            <a:ext cx="2057400" cy="3810000"/>
          </a:xfrm>
          <a:prstGeom prst="wedgeRoundRectCallout">
            <a:avLst>
              <a:gd name="adj1" fmla="val -61574"/>
              <a:gd name="adj2" fmla="val 6654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/>
          <a:p>
            <a:pPr algn="just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与精确解相差较大，原因在于两次消元过程中均使用了小主元的结果。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5105400" y="228600"/>
            <a:ext cx="3752850" cy="1131888"/>
            <a:chOff x="3264" y="175"/>
            <a:chExt cx="2364" cy="713"/>
          </a:xfrm>
        </p:grpSpPr>
        <p:sp>
          <p:nvSpPr>
            <p:cNvPr id="19468" name="Text Box 13"/>
            <p:cNvSpPr txBox="1"/>
            <p:nvPr/>
          </p:nvSpPr>
          <p:spPr>
            <a:xfrm>
              <a:off x="3264" y="175"/>
              <a:ext cx="884" cy="36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精确解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9462" name="Object 14"/>
            <p:cNvGraphicFramePr/>
            <p:nvPr/>
          </p:nvGraphicFramePr>
          <p:xfrm>
            <a:off x="3264" y="528"/>
            <a:ext cx="236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5" imgW="1498600" imgH="228600" progId="Equation.DSMT4">
                    <p:embed/>
                  </p:oleObj>
                </mc:Choice>
                <mc:Fallback>
                  <p:oleObj name="" r:id="rId5" imgW="1498600" imgH="228600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64" y="528"/>
                          <a:ext cx="2364" cy="36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3059" name="AutoShape 19"/>
          <p:cNvSpPr/>
          <p:nvPr/>
        </p:nvSpPr>
        <p:spPr>
          <a:xfrm>
            <a:off x="6588125" y="5373688"/>
            <a:ext cx="2125663" cy="863600"/>
          </a:xfrm>
          <a:prstGeom prst="wedgeRectCallout">
            <a:avLst>
              <a:gd name="adj1" fmla="val -65009"/>
              <a:gd name="adj2" fmla="val -270037"/>
            </a:avLst>
          </a:prstGeom>
          <a:gradFill rotWithShape="1"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just" eaLnBrk="0" hangingPunct="0"/>
            <a:r>
              <a:rPr lang="zh-CN" altLang="en-US" sz="2400" b="1" dirty="0">
                <a:latin typeface="Times New Roman" panose="02020603050405020304" pitchFamily="18" charset="0"/>
              </a:rPr>
              <a:t>下面详细分析第二次消元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43060" name="Object 20"/>
          <p:cNvGraphicFramePr/>
          <p:nvPr/>
        </p:nvGraphicFramePr>
        <p:xfrm>
          <a:off x="214313" y="1928813"/>
          <a:ext cx="6192837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2614930" imgH="723900" progId="Equation.3">
                  <p:embed/>
                </p:oleObj>
              </mc:Choice>
              <mc:Fallback>
                <p:oleObj name="" r:id="rId7" imgW="2614930" imgH="7239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4313" y="1928813"/>
                        <a:ext cx="6192837" cy="171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61" name="Object 21"/>
          <p:cNvGraphicFramePr/>
          <p:nvPr/>
        </p:nvGraphicFramePr>
        <p:xfrm>
          <a:off x="142875" y="3673475"/>
          <a:ext cx="6373813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9" imgW="2691130" imgH="711200" progId="Equation.3">
                  <p:embed/>
                </p:oleObj>
              </mc:Choice>
              <mc:Fallback>
                <p:oleObj name="" r:id="rId9" imgW="2691130" imgH="7112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2875" y="3673475"/>
                        <a:ext cx="6373813" cy="168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4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3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3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3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2" grpId="0"/>
      <p:bldP spid="343051" grpId="0" animBg="1"/>
      <p:bldP spid="34305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0487" name="Rectangle 2"/>
          <p:cNvSpPr>
            <a:spLocks noGrp="1"/>
          </p:cNvSpPr>
          <p:nvPr>
            <p:ph type="title"/>
          </p:nvPr>
        </p:nvSpPr>
        <p:spPr>
          <a:xfrm>
            <a:off x="371475" y="2286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chemeClr val="tx1"/>
                </a:solidFill>
              </a:rPr>
              <a:t>详细分析第二次消元</a:t>
            </a:r>
            <a:endParaRPr lang="zh-CN" altLang="en-US" sz="3200" b="1" u="none" dirty="0">
              <a:solidFill>
                <a:schemeClr val="tx1"/>
              </a:solidFill>
            </a:endParaRPr>
          </a:p>
        </p:txBody>
      </p:sp>
      <p:sp>
        <p:nvSpPr>
          <p:cNvPr id="495619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47063" cy="576262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dirty="0"/>
              <a:t>如果精确计算</a:t>
            </a:r>
            <a:r>
              <a:rPr lang="en-US" altLang="zh-CN" dirty="0"/>
              <a:t>(</a:t>
            </a:r>
            <a:r>
              <a:rPr lang="zh-CN" altLang="en-US" dirty="0"/>
              <a:t>乘子为</a:t>
            </a:r>
            <a:r>
              <a:rPr lang="en-US" altLang="zh-CN" dirty="0"/>
              <a:t>-100.4)</a:t>
            </a:r>
            <a:r>
              <a:rPr lang="zh-CN" altLang="en-US" dirty="0"/>
              <a:t>，消元后方程组变成</a:t>
            </a:r>
            <a:endParaRPr lang="zh-CN" altLang="en-US" dirty="0"/>
          </a:p>
        </p:txBody>
      </p:sp>
      <p:graphicFrame>
        <p:nvGraphicFramePr>
          <p:cNvPr id="495620" name="Object 4"/>
          <p:cNvGraphicFramePr/>
          <p:nvPr/>
        </p:nvGraphicFramePr>
        <p:xfrm>
          <a:off x="4143375" y="265113"/>
          <a:ext cx="4548188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1777365" imgH="482600" progId="Equation.3">
                  <p:embed/>
                </p:oleObj>
              </mc:Choice>
              <mc:Fallback>
                <p:oleObj name="" r:id="rId1" imgW="1777365" imgH="4826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43375" y="265113"/>
                        <a:ext cx="4548188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21" name="Object 5"/>
          <p:cNvGraphicFramePr/>
          <p:nvPr/>
        </p:nvGraphicFramePr>
        <p:xfrm>
          <a:off x="533400" y="2122488"/>
          <a:ext cx="7862888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3072130" imgH="482600" progId="Equation.3">
                  <p:embed/>
                </p:oleObj>
              </mc:Choice>
              <mc:Fallback>
                <p:oleObj name="" r:id="rId3" imgW="3072130" imgH="4826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2122488"/>
                        <a:ext cx="7862888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22" name="Rectangle 6"/>
          <p:cNvSpPr/>
          <p:nvPr/>
        </p:nvSpPr>
        <p:spPr>
          <a:xfrm>
            <a:off x="468313" y="3500438"/>
            <a:ext cx="8461375" cy="2000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0" hangingPunct="0">
              <a:lnSpc>
                <a:spcPct val="110000"/>
              </a:lnSpc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最后一个方程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3 </a:t>
            </a:r>
            <a:r>
              <a:rPr lang="zh-CN" altLang="en-US" sz="2800" dirty="0">
                <a:latin typeface="Times New Roman" panose="02020603050405020304" pitchFamily="18" charset="0"/>
              </a:rPr>
              <a:t>的系数为 </a:t>
            </a:r>
            <a:r>
              <a:rPr lang="en-US" altLang="zh-CN" sz="2800" dirty="0">
                <a:latin typeface="Times New Roman" panose="02020603050405020304" pitchFamily="18" charset="0"/>
              </a:rPr>
              <a:t>-1233.316</a:t>
            </a:r>
            <a:r>
              <a:rPr lang="zh-CN" altLang="en-US" sz="2800" dirty="0">
                <a:latin typeface="Times New Roman" panose="02020603050405020304" pitchFamily="18" charset="0"/>
              </a:rPr>
              <a:t>，常数项为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en-US" altLang="zh-CN" sz="2800" dirty="0">
                <a:latin typeface="Times New Roman" panose="02020603050405020304" pitchFamily="18" charset="0"/>
              </a:rPr>
              <a:t>-2466.632</a:t>
            </a:r>
            <a:r>
              <a:rPr lang="zh-CN" altLang="en-US" sz="2800" dirty="0">
                <a:latin typeface="Times New Roman" panose="02020603050405020304" pitchFamily="18" charset="0"/>
              </a:rPr>
              <a:t>。但由于</a:t>
            </a:r>
            <a:r>
              <a:rPr lang="zh-CN" altLang="en-US" sz="2800" dirty="0">
                <a:latin typeface="Comic Sans MS" panose="030F0702030302020204" pitchFamily="66" charset="0"/>
              </a:rPr>
              <a:t>计算精度的限制，</a:t>
            </a:r>
            <a:r>
              <a:rPr lang="zh-CN" altLang="en-US" sz="2800" dirty="0">
                <a:latin typeface="Times New Roman" panose="02020603050405020304" pitchFamily="18" charset="0"/>
              </a:rPr>
              <a:t>舍入误差及其传播过快，导致</a:t>
            </a:r>
            <a:r>
              <a:rPr lang="zh-CN" altLang="en-US" sz="2800" dirty="0">
                <a:latin typeface="Comic Sans MS" panose="030F0702030302020204" pitchFamily="66" charset="0"/>
              </a:rPr>
              <a:t>消元后</a:t>
            </a:r>
            <a:r>
              <a:rPr lang="zh-CN" altLang="en-US" sz="2800" dirty="0">
                <a:latin typeface="Times New Roman" panose="02020603050405020304" pitchFamily="18" charset="0"/>
              </a:rPr>
              <a:t>最后一个方程</a:t>
            </a:r>
            <a:r>
              <a:rPr lang="zh-CN" altLang="en-US" sz="2800" dirty="0">
                <a:latin typeface="Comic Sans MS" panose="030F0702030302020204" pitchFamily="66" charset="0"/>
              </a:rPr>
              <a:t>变成：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graphicFrame>
        <p:nvGraphicFramePr>
          <p:cNvPr id="495623" name="Object 7"/>
          <p:cNvGraphicFramePr/>
          <p:nvPr/>
        </p:nvGraphicFramePr>
        <p:xfrm>
          <a:off x="3000375" y="4916488"/>
          <a:ext cx="29892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1168400" imgH="228600" progId="Equation.3">
                  <p:embed/>
                </p:oleObj>
              </mc:Choice>
              <mc:Fallback>
                <p:oleObj name="" r:id="rId5" imgW="1168400" imgH="2286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0375" y="4916488"/>
                        <a:ext cx="2989263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468313" y="5627688"/>
            <a:ext cx="7343775" cy="587375"/>
            <a:chOff x="340" y="3502"/>
            <a:chExt cx="4626" cy="370"/>
          </a:xfrm>
        </p:grpSpPr>
        <p:graphicFrame>
          <p:nvGraphicFramePr>
            <p:cNvPr id="20485" name="Object 8"/>
            <p:cNvGraphicFramePr/>
            <p:nvPr/>
          </p:nvGraphicFramePr>
          <p:xfrm>
            <a:off x="900" y="3502"/>
            <a:ext cx="240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7" imgW="1485900" imgH="228600" progId="Equation.3">
                    <p:embed/>
                  </p:oleObj>
                </mc:Choice>
                <mc:Fallback>
                  <p:oleObj name="" r:id="rId7" imgW="1485900" imgH="2286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00" y="3502"/>
                          <a:ext cx="2406" cy="3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1" name="Text Box 9"/>
            <p:cNvSpPr txBox="1"/>
            <p:nvPr/>
          </p:nvSpPr>
          <p:spPr>
            <a:xfrm>
              <a:off x="340" y="3542"/>
              <a:ext cx="569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这样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0492" name="Text Box 10"/>
            <p:cNvSpPr txBox="1"/>
            <p:nvPr/>
          </p:nvSpPr>
          <p:spPr>
            <a:xfrm>
              <a:off x="3379" y="3521"/>
              <a:ext cx="158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不是精确值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9561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19" grpId="0" build="p"/>
      <p:bldP spid="4956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42018" name="Rectangle 2"/>
          <p:cNvSpPr/>
          <p:nvPr/>
        </p:nvSpPr>
        <p:spPr>
          <a:xfrm>
            <a:off x="533400" y="609600"/>
            <a:ext cx="7924800" cy="600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6.2.3 Gauss</a:t>
            </a:r>
            <a:r>
              <a:rPr lang="zh-CN" altLang="en-US" sz="36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主元素</a:t>
            </a:r>
            <a:r>
              <a:rPr lang="zh-CN" altLang="zh-CN" sz="36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法</a:t>
            </a:r>
            <a:endParaRPr lang="zh-CN" altLang="en-US" sz="4800" b="1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sp>
        <p:nvSpPr>
          <p:cNvPr id="342025" name="Text Box 9"/>
          <p:cNvSpPr txBox="1"/>
          <p:nvPr/>
        </p:nvSpPr>
        <p:spPr>
          <a:xfrm>
            <a:off x="2362200" y="1828800"/>
            <a:ext cx="3816350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pPr algn="ctr" eaLnBrk="0" hangingPunct="0"/>
            <a:r>
              <a:rPr lang="en-US" alt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to solve it ??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342026" name="Text Box 10"/>
          <p:cNvSpPr txBox="1"/>
          <p:nvPr/>
        </p:nvSpPr>
        <p:spPr>
          <a:xfrm>
            <a:off x="571500" y="1524000"/>
            <a:ext cx="8143875" cy="2849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</a:rPr>
              <a:t>前面讲述的方法我们称之为</a:t>
            </a:r>
            <a:r>
              <a:rPr lang="zh-CN" altLang="en-US" b="1" dirty="0">
                <a:latin typeface="Times New Roman" panose="02020603050405020304" pitchFamily="18" charset="0"/>
              </a:rPr>
              <a:t>顺序</a:t>
            </a:r>
            <a:r>
              <a:rPr lang="en-US" altLang="zh-CN" b="1" dirty="0">
                <a:latin typeface="Times New Roman" panose="02020603050405020304" pitchFamily="18" charset="0"/>
              </a:rPr>
              <a:t>Gauss</a:t>
            </a:r>
            <a:r>
              <a:rPr lang="zh-CN" altLang="en-US" b="1" dirty="0">
                <a:latin typeface="Times New Roman" panose="02020603050405020304" pitchFamily="18" charset="0"/>
              </a:rPr>
              <a:t>消元法</a:t>
            </a:r>
            <a:r>
              <a:rPr lang="zh-CN" altLang="en-US" dirty="0">
                <a:latin typeface="Times New Roman" panose="02020603050405020304" pitchFamily="18" charset="0"/>
              </a:rPr>
              <a:t>。为了避免此方法的不足，我们引入</a:t>
            </a:r>
            <a:r>
              <a:rPr lang="en-US" altLang="en-US" dirty="0">
                <a:latin typeface="Times New Roman" panose="02020603050405020304" pitchFamily="18" charset="0"/>
              </a:rPr>
              <a:t>Gauss</a:t>
            </a:r>
            <a:r>
              <a:rPr lang="zh-CN" altLang="en-US" dirty="0">
                <a:latin typeface="Times New Roman" panose="02020603050405020304" pitchFamily="18" charset="0"/>
              </a:rPr>
              <a:t>主元素法：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914400" lvl="1" indent="-457200" eaLnBrk="0" hangingPunct="0">
              <a:buAutoNum type="arabicPeriod"/>
            </a:pP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Gauss</a:t>
            </a:r>
            <a:r>
              <a:rPr lang="zh-CN" altLang="en-US" dirty="0">
                <a:latin typeface="Times New Roman" panose="02020603050405020304" pitchFamily="18" charset="0"/>
              </a:rPr>
              <a:t>列主元素法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914400" lvl="1" indent="-457200" eaLnBrk="0" hangingPunct="0">
              <a:buAutoNum type="arabicPeriod"/>
            </a:pPr>
            <a:r>
              <a:rPr lang="zh-CN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Gauss</a:t>
            </a:r>
            <a:r>
              <a:rPr lang="zh-CN" altLang="zh-CN" dirty="0">
                <a:latin typeface="Times New Roman" panose="02020603050405020304" pitchFamily="18" charset="0"/>
              </a:rPr>
              <a:t>全主元素法</a:t>
            </a:r>
            <a:r>
              <a:rPr lang="zh-CN" altLang="en-US" dirty="0">
                <a:latin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2027" name="Text Box 11"/>
          <p:cNvSpPr txBox="1"/>
          <p:nvPr/>
        </p:nvSpPr>
        <p:spPr>
          <a:xfrm>
            <a:off x="457200" y="4429125"/>
            <a:ext cx="7924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所谓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主元素法</a:t>
            </a:r>
            <a:r>
              <a:rPr lang="zh-CN" altLang="en-US" dirty="0">
                <a:latin typeface="Times New Roman" panose="02020603050405020304" pitchFamily="18" charset="0"/>
              </a:rPr>
              <a:t>就是在消元前，首先选取此次消元的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主元素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342026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42026">
                                            <p:txEl>
                                              <p:charRg st="50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>
                                            <p:txEl>
                                              <p:charRg st="6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42026">
                                            <p:txEl>
                                              <p:charRg st="6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8" grpId="0"/>
      <p:bldP spid="342025" grpId="0" animBg="1"/>
      <p:bldP spid="342026" grpId="0" bldLvl="2" build="p"/>
      <p:bldP spid="3420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51"/>
          <p:cNvGrpSpPr/>
          <p:nvPr/>
        </p:nvGrpSpPr>
        <p:grpSpPr>
          <a:xfrm>
            <a:off x="428625" y="933450"/>
            <a:ext cx="8143875" cy="2428875"/>
            <a:chOff x="182" y="588"/>
            <a:chExt cx="5482" cy="1530"/>
          </a:xfrm>
        </p:grpSpPr>
        <p:sp>
          <p:nvSpPr>
            <p:cNvPr id="21512" name="Text Box 4"/>
            <p:cNvSpPr txBox="1"/>
            <p:nvPr/>
          </p:nvSpPr>
          <p:spPr>
            <a:xfrm>
              <a:off x="182" y="588"/>
              <a:ext cx="5482" cy="15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zh-CN" altLang="en-US" sz="2400" dirty="0">
                  <a:latin typeface="Times New Roman" panose="02020603050405020304" pitchFamily="18" charset="0"/>
                </a:rPr>
                <a:t>	</a:t>
              </a:r>
              <a:r>
                <a:rPr lang="zh-CN" altLang="en-US" dirty="0">
                  <a:latin typeface="Times New Roman" panose="02020603050405020304" pitchFamily="18" charset="0"/>
                </a:rPr>
                <a:t>在第</a:t>
              </a:r>
              <a:r>
                <a:rPr lang="en-US" altLang="en-US" i="1" dirty="0">
                  <a:latin typeface="Times New Roman" panose="02020603050405020304" pitchFamily="18" charset="0"/>
                </a:rPr>
                <a:t>k</a:t>
              </a:r>
              <a:r>
                <a:rPr lang="zh-CN" altLang="zh-CN" dirty="0">
                  <a:latin typeface="Times New Roman" panose="02020603050405020304" pitchFamily="18" charset="0"/>
                </a:rPr>
                <a:t>次</a:t>
              </a:r>
              <a:r>
                <a:rPr lang="zh-CN" altLang="en-US" dirty="0">
                  <a:latin typeface="Times New Roman" panose="02020603050405020304" pitchFamily="18" charset="0"/>
                </a:rPr>
                <a:t>消元前，首先选取此次的主元素，若                         则选取     </a:t>
              </a:r>
              <a:r>
                <a:rPr lang="zh-CN" altLang="zh-CN" dirty="0">
                  <a:latin typeface="Times New Roman" panose="02020603050405020304" pitchFamily="18" charset="0"/>
                </a:rPr>
                <a:t>为</a:t>
              </a:r>
              <a:r>
                <a: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  <a:hlinkClick r:id="rId1" action="ppaction://hlinksldjump"/>
                </a:rPr>
                <a:t>列主元素</a:t>
              </a:r>
              <a:r>
                <a:rPr lang="zh-CN" altLang="en-US" dirty="0">
                  <a:latin typeface="Times New Roman" panose="02020603050405020304" pitchFamily="18" charset="0"/>
                </a:rPr>
                <a:t>。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交换增广矩阵[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aseline="30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的第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行和第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行（若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l=k</a:t>
              </a:r>
              <a:r>
                <a:rPr lang="zh-CN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则不必交换），然后进行消元。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1513" name="Group 47"/>
            <p:cNvGrpSpPr/>
            <p:nvPr/>
          </p:nvGrpSpPr>
          <p:grpSpPr>
            <a:xfrm>
              <a:off x="1201" y="973"/>
              <a:ext cx="2732" cy="422"/>
              <a:chOff x="1043" y="829"/>
              <a:chExt cx="2803" cy="422"/>
            </a:xfrm>
          </p:grpSpPr>
          <p:graphicFrame>
            <p:nvGraphicFramePr>
              <p:cNvPr id="21506" name="Object 5"/>
              <p:cNvGraphicFramePr/>
              <p:nvPr/>
            </p:nvGraphicFramePr>
            <p:xfrm>
              <a:off x="1043" y="829"/>
              <a:ext cx="1522" cy="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8" name="" r:id="rId2" imgW="1091565" imgH="304800" progId="Equation.DSMT4">
                      <p:embed/>
                    </p:oleObj>
                  </mc:Choice>
                  <mc:Fallback>
                    <p:oleObj name="" r:id="rId2" imgW="1091565" imgH="304800" progId="Equation.DSMT4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043" y="829"/>
                            <a:ext cx="1522" cy="4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" name="Object 6"/>
              <p:cNvGraphicFramePr/>
              <p:nvPr/>
            </p:nvGraphicFramePr>
            <p:xfrm>
              <a:off x="3495" y="873"/>
              <a:ext cx="351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0" name="" r:id="rId4" imgW="254000" imgH="241300" progId="Equation.DSMT4">
                      <p:embed/>
                    </p:oleObj>
                  </mc:Choice>
                  <mc:Fallback>
                    <p:oleObj name="" r:id="rId4" imgW="254000" imgH="241300" progId="Equation.DSMT4">
                      <p:embed/>
                      <p:pic>
                        <p:nvPicPr>
                          <p:cNvPr id="0" name="图片 3149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495" y="873"/>
                            <a:ext cx="351" cy="33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1510" name="Rectangle 46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latin typeface="Times New Roman" panose="02020603050405020304" pitchFamily="18" charset="0"/>
              </a:rPr>
              <a:t>Guass</a:t>
            </a:r>
            <a:r>
              <a:rPr lang="zh-CN" altLang="zh-CN" sz="3200" b="1" u="none" dirty="0"/>
              <a:t>列主元素法</a:t>
            </a:r>
            <a:endParaRPr lang="zh-CN" altLang="en-US" sz="4400" b="1" u="none" dirty="0"/>
          </a:p>
        </p:txBody>
      </p:sp>
      <p:sp>
        <p:nvSpPr>
          <p:cNvPr id="14" name="Text Box 30"/>
          <p:cNvSpPr txBox="1"/>
          <p:nvPr/>
        </p:nvSpPr>
        <p:spPr>
          <a:xfrm>
            <a:off x="1214438" y="3462338"/>
            <a:ext cx="4892675" cy="8239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下面是第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消元的示意图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25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000" dirty="0"/>
              <a:t>Guass</a:t>
            </a:r>
            <a:r>
              <a:rPr lang="zh-CN" altLang="en-US" sz="2000" dirty="0"/>
              <a:t>列</a:t>
            </a:r>
            <a:r>
              <a:rPr lang="zh-CN" altLang="zh-CN" sz="2000" dirty="0"/>
              <a:t>主元素法（续）</a:t>
            </a:r>
            <a:endParaRPr lang="zh-CN" altLang="en-US" sz="3200" dirty="0"/>
          </a:p>
        </p:txBody>
      </p:sp>
      <p:graphicFrame>
        <p:nvGraphicFramePr>
          <p:cNvPr id="133442" name="Object 322"/>
          <p:cNvGraphicFramePr/>
          <p:nvPr/>
        </p:nvGraphicFramePr>
        <p:xfrm>
          <a:off x="619125" y="1571625"/>
          <a:ext cx="7808913" cy="350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3670300" imgH="1651000" progId="Equation.3">
                  <p:embed/>
                </p:oleObj>
              </mc:Choice>
              <mc:Fallback>
                <p:oleObj name="" r:id="rId1" imgW="3670300" imgH="16510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9125" y="1571625"/>
                        <a:ext cx="7808913" cy="3509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323"/>
          <p:cNvGraphicFramePr/>
          <p:nvPr/>
        </p:nvGraphicFramePr>
        <p:xfrm>
          <a:off x="2928938" y="3071813"/>
          <a:ext cx="876300" cy="197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431800" imgH="939165" progId="Equation.3">
                  <p:embed/>
                </p:oleObj>
              </mc:Choice>
              <mc:Fallback>
                <p:oleObj name="" r:id="rId3" imgW="431800" imgH="939165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8938" y="3071813"/>
                        <a:ext cx="876300" cy="1973262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/>
          <p:nvPr/>
        </p:nvGraphicFramePr>
        <p:xfrm>
          <a:off x="3148013" y="5500688"/>
          <a:ext cx="23526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5" imgW="1091565" imgH="304800" progId="Equation.DSMT4">
                  <p:embed/>
                </p:oleObj>
              </mc:Choice>
              <mc:Fallback>
                <p:oleObj name="" r:id="rId5" imgW="1091565" imgH="3048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8013" y="5500688"/>
                        <a:ext cx="2352675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4" name="Object 324"/>
          <p:cNvGraphicFramePr/>
          <p:nvPr/>
        </p:nvGraphicFramePr>
        <p:xfrm>
          <a:off x="2928938" y="3071813"/>
          <a:ext cx="335280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7" imgW="1536700" imgH="939800" progId="Equation.3">
                  <p:embed/>
                </p:oleObj>
              </mc:Choice>
              <mc:Fallback>
                <p:oleObj name="" r:id="rId7" imgW="1536700" imgH="9398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8938" y="3071813"/>
                        <a:ext cx="3352800" cy="19700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2660" name="Text Box 20"/>
          <p:cNvSpPr txBox="1"/>
          <p:nvPr/>
        </p:nvSpPr>
        <p:spPr>
          <a:xfrm>
            <a:off x="304800" y="1000125"/>
            <a:ext cx="83820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例4：用</a:t>
            </a:r>
            <a:r>
              <a:rPr lang="en-US" altLang="zh-CN" dirty="0">
                <a:latin typeface="Times New Roman" panose="02020603050405020304" pitchFamily="18" charset="0"/>
              </a:rPr>
              <a:t>Guass</a:t>
            </a:r>
            <a:r>
              <a:rPr lang="zh-CN" altLang="en-US" dirty="0">
                <a:latin typeface="Times New Roman" panose="02020603050405020304" pitchFamily="18" charset="0"/>
              </a:rPr>
              <a:t>列主元素法解例3. （采用三位十进制浮点运算）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57" name="Rectangle 46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latin typeface="Times New Roman" panose="02020603050405020304" pitchFamily="18" charset="0"/>
              </a:rPr>
              <a:t>Guass</a:t>
            </a:r>
            <a:r>
              <a:rPr lang="zh-CN" altLang="zh-CN" sz="3200" b="1" u="none" dirty="0"/>
              <a:t>列主元素法</a:t>
            </a:r>
            <a:endParaRPr lang="zh-CN" altLang="en-US" sz="4400" b="1" u="none" dirty="0"/>
          </a:p>
        </p:txBody>
      </p:sp>
      <p:graphicFrame>
        <p:nvGraphicFramePr>
          <p:cNvPr id="112689" name="Object 49"/>
          <p:cNvGraphicFramePr/>
          <p:nvPr/>
        </p:nvGraphicFramePr>
        <p:xfrm>
          <a:off x="1489075" y="2511425"/>
          <a:ext cx="5368925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" imgW="2146300" imgH="711200" progId="Equation.DSMT4">
                  <p:embed/>
                </p:oleObj>
              </mc:Choice>
              <mc:Fallback>
                <p:oleObj name="" r:id="rId1" imgW="2146300" imgH="711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89075" y="2511425"/>
                        <a:ext cx="5368925" cy="177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00063" y="4572000"/>
            <a:ext cx="3467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zh-CN" b="1" dirty="0">
                <a:latin typeface="Times New Roman" panose="02020603050405020304" pitchFamily="18" charset="0"/>
              </a:rPr>
              <a:t>解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写出增广矩阵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0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86735" name="Text Box 15"/>
          <p:cNvSpPr txBox="1"/>
          <p:nvPr/>
        </p:nvSpPr>
        <p:spPr>
          <a:xfrm>
            <a:off x="357188" y="5429250"/>
            <a:ext cx="52260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zh-CN" dirty="0">
                <a:latin typeface="Times New Roman" panose="02020603050405020304" pitchFamily="18" charset="0"/>
              </a:rPr>
              <a:t>解为：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(-2.60, 1.00, 2.00) 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736" name="Object 16"/>
          <p:cNvGraphicFramePr/>
          <p:nvPr/>
        </p:nvGraphicFramePr>
        <p:xfrm>
          <a:off x="4356100" y="785813"/>
          <a:ext cx="4254500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929765" imgH="711200" progId="Equation.DSMT4">
                  <p:embed/>
                </p:oleObj>
              </mc:Choice>
              <mc:Fallback>
                <p:oleObj name="" r:id="rId1" imgW="1929765" imgH="711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56100" y="785813"/>
                        <a:ext cx="4254500" cy="1566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18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u="none" dirty="0">
                <a:latin typeface="Times New Roman" panose="02020603050405020304" pitchFamily="18" charset="0"/>
              </a:rPr>
              <a:t>Guass</a:t>
            </a:r>
            <a:r>
              <a:rPr lang="zh-CN" altLang="zh-CN" sz="2400" u="none" dirty="0"/>
              <a:t>列主元素法</a:t>
            </a:r>
            <a:endParaRPr lang="zh-CN" altLang="en-US" sz="3600" u="none" dirty="0"/>
          </a:p>
        </p:txBody>
      </p:sp>
      <p:graphicFrame>
        <p:nvGraphicFramePr>
          <p:cNvPr id="286739" name="Object 19"/>
          <p:cNvGraphicFramePr/>
          <p:nvPr/>
        </p:nvGraphicFramePr>
        <p:xfrm>
          <a:off x="395288" y="785813"/>
          <a:ext cx="4005262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816100" imgH="711200" progId="Equation.DSMT4">
                  <p:embed/>
                </p:oleObj>
              </mc:Choice>
              <mc:Fallback>
                <p:oleObj name="" r:id="rId3" imgW="1816100" imgH="7112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785813"/>
                        <a:ext cx="4005262" cy="1563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/>
          <p:nvPr/>
        </p:nvGrpSpPr>
        <p:grpSpPr>
          <a:xfrm>
            <a:off x="5724525" y="4887913"/>
            <a:ext cx="2989263" cy="1112837"/>
            <a:chOff x="3360" y="3235"/>
            <a:chExt cx="1883" cy="701"/>
          </a:xfrm>
        </p:grpSpPr>
        <p:sp>
          <p:nvSpPr>
            <p:cNvPr id="24587" name="Text Box 22"/>
            <p:cNvSpPr txBox="1"/>
            <p:nvPr/>
          </p:nvSpPr>
          <p:spPr>
            <a:xfrm>
              <a:off x="4128" y="3235"/>
              <a:ext cx="884" cy="36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精确解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4582" name="Object 23"/>
            <p:cNvGraphicFramePr/>
            <p:nvPr/>
          </p:nvGraphicFramePr>
          <p:xfrm>
            <a:off x="3360" y="3576"/>
            <a:ext cx="188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5" imgW="1193800" imgH="228600" progId="Equation.DSMT4">
                    <p:embed/>
                  </p:oleObj>
                </mc:Choice>
                <mc:Fallback>
                  <p:oleObj name="" r:id="rId5" imgW="1193800" imgH="228600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60" y="3576"/>
                          <a:ext cx="1883" cy="36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15"/>
          <p:cNvGraphicFramePr/>
          <p:nvPr/>
        </p:nvGraphicFramePr>
        <p:xfrm>
          <a:off x="500063" y="3857625"/>
          <a:ext cx="5767387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7" imgW="2564130" imgH="711200" progId="Equation.3">
                  <p:embed/>
                </p:oleObj>
              </mc:Choice>
              <mc:Fallback>
                <p:oleObj name="" r:id="rId7" imgW="2564130" imgH="7112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063" y="3857625"/>
                        <a:ext cx="5767387" cy="159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61" name="Object 21"/>
          <p:cNvGraphicFramePr/>
          <p:nvPr/>
        </p:nvGraphicFramePr>
        <p:xfrm>
          <a:off x="428625" y="2286000"/>
          <a:ext cx="619760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9" imgW="2754630" imgH="711200" progId="Equation.3">
                  <p:embed/>
                </p:oleObj>
              </mc:Choice>
              <mc:Fallback>
                <p:oleObj name="" r:id="rId9" imgW="2754630" imgH="7112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625" y="2286000"/>
                        <a:ext cx="6197600" cy="1598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4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6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5605" name="Rectangle 24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71538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latin typeface="Times New Roman" panose="02020603050405020304" pitchFamily="18" charset="0"/>
              </a:rPr>
              <a:t>Guass</a:t>
            </a:r>
            <a:r>
              <a:rPr lang="zh-CN" altLang="zh-CN" sz="3200" b="1" u="none" dirty="0"/>
              <a:t>全主元素法</a:t>
            </a:r>
            <a:r>
              <a:rPr lang="zh-CN" altLang="en-US" sz="24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	</a:t>
            </a:r>
            <a:endParaRPr lang="zh-CN" altLang="en-US" dirty="0"/>
          </a:p>
        </p:txBody>
      </p:sp>
      <p:grpSp>
        <p:nvGrpSpPr>
          <p:cNvPr id="2" name="Group 26"/>
          <p:cNvGrpSpPr/>
          <p:nvPr/>
        </p:nvGrpSpPr>
        <p:grpSpPr>
          <a:xfrm>
            <a:off x="457200" y="1155700"/>
            <a:ext cx="8288338" cy="4360863"/>
            <a:chOff x="288" y="1248"/>
            <a:chExt cx="5221" cy="2747"/>
          </a:xfrm>
        </p:grpSpPr>
        <p:sp>
          <p:nvSpPr>
            <p:cNvPr id="25608" name="Text Box 27"/>
            <p:cNvSpPr txBox="1"/>
            <p:nvPr/>
          </p:nvSpPr>
          <p:spPr>
            <a:xfrm>
              <a:off x="288" y="1248"/>
              <a:ext cx="5221" cy="2747"/>
            </a:xfrm>
            <a:prstGeom prst="rect">
              <a:avLst/>
            </a:prstGeom>
            <a:solidFill>
              <a:srgbClr val="DDDDDD"/>
            </a:solidFill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25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在第</a:t>
              </a:r>
              <a:r>
                <a:rPr lang="en-US" altLang="en-US" i="1" dirty="0">
                  <a:latin typeface="Times New Roman" panose="02020603050405020304" pitchFamily="18" charset="0"/>
                </a:rPr>
                <a:t>k</a:t>
              </a:r>
              <a:r>
                <a:rPr lang="zh-CN" altLang="zh-CN" dirty="0">
                  <a:latin typeface="Times New Roman" panose="02020603050405020304" pitchFamily="18" charset="0"/>
                </a:rPr>
                <a:t>次</a:t>
              </a:r>
              <a:r>
                <a:rPr lang="zh-CN" altLang="en-US" dirty="0">
                  <a:latin typeface="Times New Roman" panose="02020603050405020304" pitchFamily="18" charset="0"/>
                </a:rPr>
                <a:t>消元前，首先选取此次的主元素，若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                        则选取        为主元素。交换[</a:t>
              </a:r>
              <a:r>
                <a:rPr lang="en-US" altLang="en-US" i="1" dirty="0">
                  <a:latin typeface="Times New Roman" panose="02020603050405020304" pitchFamily="18" charset="0"/>
                </a:rPr>
                <a:t>A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en-US" i="1" baseline="30000" dirty="0">
                  <a:latin typeface="Times New Roman" panose="02020603050405020304" pitchFamily="18" charset="0"/>
                </a:rPr>
                <a:t>k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)</a:t>
              </a:r>
              <a:r>
                <a:rPr lang="en-US" altLang="en-US" dirty="0">
                  <a:latin typeface="Times New Roman" panose="02020603050405020304" pitchFamily="18" charset="0"/>
                </a:rPr>
                <a:t>,</a:t>
              </a:r>
              <a:r>
                <a:rPr lang="en-US" altLang="en-US" i="1" dirty="0">
                  <a:latin typeface="Times New Roman" panose="02020603050405020304" pitchFamily="18" charset="0"/>
                </a:rPr>
                <a:t>b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en-US" i="1" baseline="30000" dirty="0">
                  <a:latin typeface="Times New Roman" panose="02020603050405020304" pitchFamily="18" charset="0"/>
                </a:rPr>
                <a:t>k</a:t>
              </a:r>
              <a:r>
                <a:rPr lang="en-US" altLang="en-US" baseline="30000" dirty="0">
                  <a:latin typeface="Times New Roman" panose="02020603050405020304" pitchFamily="18" charset="0"/>
                </a:rPr>
                <a:t>)</a:t>
              </a:r>
              <a:r>
                <a:rPr lang="en-US" altLang="en-US" dirty="0">
                  <a:latin typeface="Times New Roman" panose="02020603050405020304" pitchFamily="18" charset="0"/>
                </a:rPr>
                <a:t>]</a:t>
              </a:r>
              <a:r>
                <a:rPr lang="zh-CN" altLang="zh-CN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latin typeface="Times New Roman" panose="02020603050405020304" pitchFamily="18" charset="0"/>
                </a:rPr>
                <a:t>第</a:t>
              </a:r>
              <a:r>
                <a:rPr lang="en-US" altLang="en-US" i="1" dirty="0">
                  <a:latin typeface="Times New Roman" panose="02020603050405020304" pitchFamily="18" charset="0"/>
                </a:rPr>
                <a:t>i</a:t>
              </a:r>
              <a:r>
                <a:rPr lang="en-US" altLang="en-US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行和第 </a:t>
              </a:r>
              <a:r>
                <a:rPr lang="en-US" altLang="en-US" i="1" dirty="0">
                  <a:latin typeface="Times New Roman" panose="02020603050405020304" pitchFamily="18" charset="0"/>
                </a:rPr>
                <a:t>j</a:t>
              </a:r>
              <a:r>
                <a:rPr lang="en-US" altLang="en-US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列，同时将自变量的 </a:t>
              </a:r>
              <a:r>
                <a:rPr lang="en-US" altLang="en-US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baseline="-25000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Times New Roman" panose="02020603050405020304" pitchFamily="18" charset="0"/>
                </a:rPr>
                <a:t>和 </a:t>
              </a:r>
              <a:r>
                <a:rPr lang="en-US" altLang="en-US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baseline="-25000" dirty="0">
                  <a:latin typeface="Times New Roman" panose="02020603050405020304" pitchFamily="18" charset="0"/>
                </a:rPr>
                <a:t>j1</a:t>
              </a:r>
              <a:r>
                <a:rPr lang="zh-CN" altLang="en-US" dirty="0">
                  <a:latin typeface="Times New Roman" panose="02020603050405020304" pitchFamily="18" charset="0"/>
                </a:rPr>
                <a:t>的位置交换并记录自变量的排列次序，直到整个消去法完成之后，再按记录恢复自变为自然次序。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02" name="Object 28"/>
            <p:cNvGraphicFramePr/>
            <p:nvPr/>
          </p:nvGraphicFramePr>
          <p:xfrm>
            <a:off x="367" y="1728"/>
            <a:ext cx="1698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1" imgW="1116330" imgH="317500" progId="Equation.DSMT4">
                    <p:embed/>
                  </p:oleObj>
                </mc:Choice>
                <mc:Fallback>
                  <p:oleObj name="" r:id="rId1" imgW="1116330" imgH="3175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7" y="1728"/>
                          <a:ext cx="1698" cy="480"/>
                        </a:xfrm>
                        <a:prstGeom prst="rect">
                          <a:avLst/>
                        </a:prstGeom>
                        <a:solidFill>
                          <a:srgbClr val="DDDDDD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3" name="Object 29"/>
            <p:cNvGraphicFramePr/>
            <p:nvPr/>
          </p:nvGraphicFramePr>
          <p:xfrm>
            <a:off x="2929" y="1777"/>
            <a:ext cx="38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3" imgW="254000" imgH="254000" progId="Equation.DSMT4">
                    <p:embed/>
                  </p:oleObj>
                </mc:Choice>
                <mc:Fallback>
                  <p:oleObj name="" r:id="rId3" imgW="254000" imgH="2540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29" y="1777"/>
                          <a:ext cx="383" cy="383"/>
                        </a:xfrm>
                        <a:prstGeom prst="rect">
                          <a:avLst/>
                        </a:prstGeom>
                        <a:solidFill>
                          <a:srgbClr val="DDDDDD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2126" name="Text Box 30"/>
          <p:cNvSpPr txBox="1"/>
          <p:nvPr/>
        </p:nvSpPr>
        <p:spPr>
          <a:xfrm>
            <a:off x="1127125" y="5486400"/>
            <a:ext cx="4892675" cy="8239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下面是第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消元的示意图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3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66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000" dirty="0"/>
              <a:t>Guass</a:t>
            </a:r>
            <a:r>
              <a:rPr lang="zh-CN" altLang="zh-CN" sz="2000" dirty="0"/>
              <a:t>全主元素法（续）</a:t>
            </a:r>
            <a:endParaRPr lang="zh-CN" altLang="en-US" sz="3200" dirty="0"/>
          </a:p>
        </p:txBody>
      </p:sp>
      <p:graphicFrame>
        <p:nvGraphicFramePr>
          <p:cNvPr id="133231" name="Object 111"/>
          <p:cNvGraphicFramePr>
            <a:graphicFrameLocks noGrp="1"/>
          </p:cNvGraphicFramePr>
          <p:nvPr>
            <p:ph idx="1"/>
          </p:nvPr>
        </p:nvGraphicFramePr>
        <p:xfrm>
          <a:off x="687388" y="1711325"/>
          <a:ext cx="7772400" cy="362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3543300" imgH="1651000" progId="Equation.DSMT4">
                  <p:embed/>
                </p:oleObj>
              </mc:Choice>
              <mc:Fallback>
                <p:oleObj name="" r:id="rId1" imgW="3543300" imgH="16510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7388" y="1711325"/>
                        <a:ext cx="7772400" cy="3621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bg1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2" name="Object 322"/>
          <p:cNvGraphicFramePr/>
          <p:nvPr/>
        </p:nvGraphicFramePr>
        <p:xfrm>
          <a:off x="619125" y="1752600"/>
          <a:ext cx="7808913" cy="350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3" imgW="3670300" imgH="1651000" progId="Equation.3">
                  <p:embed/>
                </p:oleObj>
              </mc:Choice>
              <mc:Fallback>
                <p:oleObj name="" r:id="rId3" imgW="3670300" imgH="16510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9125" y="1752600"/>
                        <a:ext cx="7808913" cy="3509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4" name="Object 324"/>
          <p:cNvGraphicFramePr/>
          <p:nvPr/>
        </p:nvGraphicFramePr>
        <p:xfrm>
          <a:off x="2971800" y="3276600"/>
          <a:ext cx="335280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1536700" imgH="939800" progId="Equation.3">
                  <p:embed/>
                </p:oleObj>
              </mc:Choice>
              <mc:Fallback>
                <p:oleObj name="" r:id="rId5" imgW="1536700" imgH="9398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1800" y="3276600"/>
                        <a:ext cx="3352800" cy="19700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27"/>
          <p:cNvGrpSpPr/>
          <p:nvPr/>
        </p:nvGrpSpPr>
        <p:grpSpPr>
          <a:xfrm>
            <a:off x="3009900" y="3276600"/>
            <a:ext cx="3276600" cy="2909888"/>
            <a:chOff x="1872" y="2064"/>
            <a:chExt cx="2064" cy="1833"/>
          </a:xfrm>
        </p:grpSpPr>
        <p:graphicFrame>
          <p:nvGraphicFramePr>
            <p:cNvPr id="26629" name="Object 323"/>
            <p:cNvGraphicFramePr/>
            <p:nvPr/>
          </p:nvGraphicFramePr>
          <p:xfrm>
            <a:off x="1872" y="2064"/>
            <a:ext cx="2064" cy="1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7" imgW="1612900" imgH="939800" progId="Equation.3">
                    <p:embed/>
                  </p:oleObj>
                </mc:Choice>
                <mc:Fallback>
                  <p:oleObj name="" r:id="rId7" imgW="1612900" imgH="9398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2" y="2064"/>
                          <a:ext cx="2064" cy="1243"/>
                        </a:xfrm>
                        <a:prstGeom prst="rect">
                          <a:avLst/>
                        </a:prstGeom>
                        <a:solidFill>
                          <a:srgbClr val="FF99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0" name="Object 325"/>
            <p:cNvGraphicFramePr/>
            <p:nvPr/>
          </p:nvGraphicFramePr>
          <p:xfrm>
            <a:off x="2160" y="3456"/>
            <a:ext cx="1546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9" imgW="1116330" imgH="317500" progId="">
                    <p:embed/>
                  </p:oleObj>
                </mc:Choice>
                <mc:Fallback>
                  <p:oleObj name="" r:id="rId9" imgW="1116330" imgH="317500" progId="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60" y="3456"/>
                          <a:ext cx="1546" cy="441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DDDDDD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4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6979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01000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b="1" u="none" dirty="0">
                <a:latin typeface="Times New Roman" panose="02020603050405020304" pitchFamily="18" charset="0"/>
              </a:rPr>
              <a:t>6</a:t>
            </a:r>
            <a:r>
              <a:rPr lang="zh-CN" altLang="en-US" b="1" u="none" dirty="0">
                <a:latin typeface="Times New Roman" panose="02020603050405020304" pitchFamily="18" charset="0"/>
              </a:rPr>
              <a:t>.</a:t>
            </a:r>
            <a:r>
              <a:rPr lang="en-US" altLang="zh-CN" b="1" u="none" dirty="0">
                <a:latin typeface="Times New Roman" panose="02020603050405020304" pitchFamily="18" charset="0"/>
              </a:rPr>
              <a:t>1</a:t>
            </a:r>
            <a:r>
              <a:rPr lang="zh-CN" altLang="en-US" b="1" u="none" dirty="0">
                <a:latin typeface="Times New Roman" panose="02020603050405020304" pitchFamily="18" charset="0"/>
              </a:rPr>
              <a:t> </a:t>
            </a:r>
            <a:r>
              <a:rPr lang="zh-CN" altLang="en-US" b="1" u="none" dirty="0">
                <a:latin typeface="宋体" panose="02010600030101010101" pitchFamily="2" charset="-122"/>
              </a:rPr>
              <a:t>方程组的性态与误差分析</a:t>
            </a:r>
            <a:r>
              <a:rPr lang="zh-CN" altLang="en-US" sz="4800" dirty="0"/>
              <a:t> </a:t>
            </a:r>
            <a:endParaRPr lang="zh-CN" altLang="en-US" sz="4800" dirty="0"/>
          </a:p>
        </p:txBody>
      </p:sp>
      <p:sp>
        <p:nvSpPr>
          <p:cNvPr id="197635" name="Rectangle 3"/>
          <p:cNvSpPr>
            <a:spLocks noGrp="1"/>
          </p:cNvSpPr>
          <p:nvPr>
            <p:ph idx="1"/>
          </p:nvPr>
        </p:nvSpPr>
        <p:spPr>
          <a:xfrm>
            <a:off x="533400" y="1371600"/>
            <a:ext cx="8001000" cy="47244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</a:rPr>
              <a:t>前面讨论了解线性方程组的直接法。当我们用某种方法求解一个线性方程组时，求得的解有时是不准确的，其原因可能是：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765175" lvl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方法不合理，使得误差较大；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65175" lvl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方程组本身的性态不够好。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在这节中，我们将讨论方程组的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性态问题</a:t>
            </a:r>
            <a:r>
              <a:rPr lang="zh-CN" altLang="en-US" sz="3200" dirty="0">
                <a:latin typeface="Times New Roman" panose="02020603050405020304" pitchFamily="18" charset="0"/>
              </a:rPr>
              <a:t>。首先给出一个例子。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charRg st="0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63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charRg st="63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7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charRg st="77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9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charRg st="90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ldLvl="2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2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042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0668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99683" name="Rectangle 3"/>
          <p:cNvSpPr/>
          <p:nvPr/>
        </p:nvSpPr>
        <p:spPr>
          <a:xfrm>
            <a:off x="381000" y="1371600"/>
            <a:ext cx="4191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</a:rPr>
              <a:t>例1  </a:t>
            </a:r>
            <a:r>
              <a:rPr lang="zh-CN" altLang="en-US" dirty="0">
                <a:latin typeface="Times New Roman" panose="02020603050405020304" pitchFamily="18" charset="0"/>
              </a:rPr>
              <a:t>设方程组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9684" name="Object 4"/>
          <p:cNvGraphicFramePr/>
          <p:nvPr/>
        </p:nvGraphicFramePr>
        <p:xfrm>
          <a:off x="2174875" y="1981200"/>
          <a:ext cx="5526088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1" imgW="2132965" imgH="482600" progId="Equation.3">
                  <p:embed/>
                </p:oleObj>
              </mc:Choice>
              <mc:Fallback>
                <p:oleObj name="" r:id="rId1" imgW="2132965" imgH="482600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4875" y="1981200"/>
                        <a:ext cx="5526088" cy="1252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6" name="Object 6"/>
          <p:cNvGraphicFramePr/>
          <p:nvPr/>
        </p:nvGraphicFramePr>
        <p:xfrm>
          <a:off x="1865313" y="3810000"/>
          <a:ext cx="6086475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3" imgW="2348230" imgH="482600" progId="Equation.3">
                  <p:embed/>
                </p:oleObj>
              </mc:Choice>
              <mc:Fallback>
                <p:oleObj name="" r:id="rId3" imgW="2348230" imgH="4826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5313" y="3810000"/>
                        <a:ext cx="6086475" cy="1252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8" name="Rectangle 8"/>
          <p:cNvSpPr/>
          <p:nvPr/>
        </p:nvSpPr>
        <p:spPr>
          <a:xfrm>
            <a:off x="381000" y="3124200"/>
            <a:ext cx="1143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9689" name="Rectangle 9"/>
          <p:cNvSpPr/>
          <p:nvPr/>
        </p:nvSpPr>
        <p:spPr>
          <a:xfrm>
            <a:off x="304800" y="5105400"/>
            <a:ext cx="3657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0" hangingPunct="0"/>
            <a:r>
              <a:rPr lang="zh-CN" altLang="en-US" dirty="0">
                <a:latin typeface="Times New Roman" panose="02020603050405020304" pitchFamily="18" charset="0"/>
              </a:rPr>
              <a:t>它们的特征如下：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9691" name="AutoShape 11"/>
          <p:cNvSpPr>
            <a:spLocks noChangeArrowheads="1"/>
          </p:cNvSpPr>
          <p:nvPr/>
        </p:nvSpPr>
        <p:spPr bwMode="auto">
          <a:xfrm>
            <a:off x="5257800" y="228600"/>
            <a:ext cx="3657600" cy="1524000"/>
          </a:xfrm>
          <a:prstGeom prst="wedgeRoundRectCallout">
            <a:avLst>
              <a:gd name="adj1" fmla="val -42620"/>
              <a:gd name="adj2" fmla="val 111981"/>
              <a:gd name="adj3" fmla="val 16667"/>
            </a:avLst>
          </a:prstGeom>
          <a:gradFill rotWithShape="0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系数矩阵相同，右端常数项不同，误差向量为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0.01]</a:t>
            </a:r>
            <a:r>
              <a:rPr kumimoji="0" lang="en-US" altLang="zh-CN" sz="28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9692" name="AutoShape 12"/>
          <p:cNvSpPr>
            <a:spLocks noChangeArrowheads="1"/>
          </p:cNvSpPr>
          <p:nvPr/>
        </p:nvSpPr>
        <p:spPr bwMode="auto">
          <a:xfrm>
            <a:off x="1981200" y="3276600"/>
            <a:ext cx="5638800" cy="457200"/>
          </a:xfrm>
          <a:prstGeom prst="wedgeRectCallout">
            <a:avLst>
              <a:gd name="adj1" fmla="val 44227"/>
              <a:gd name="adj2" fmla="val -160069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的解是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[100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-100]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en-US" sz="2800" b="0" i="0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693" name="AutoShape 13"/>
          <p:cNvSpPr/>
          <p:nvPr/>
        </p:nvSpPr>
        <p:spPr>
          <a:xfrm>
            <a:off x="2057400" y="5638800"/>
            <a:ext cx="6781800" cy="762000"/>
          </a:xfrm>
          <a:prstGeom prst="cloudCallout">
            <a:avLst>
              <a:gd name="adj1" fmla="val 28583"/>
              <a:gd name="adj2" fmla="val -162083"/>
            </a:avLst>
          </a:prstGeom>
          <a:gradFill rotWithShape="0">
            <a:gsLst>
              <a:gs pos="0">
                <a:srgbClr val="FFFFFF"/>
              </a:gs>
              <a:gs pos="100000">
                <a:schemeClr val="accent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</a:rPr>
              <a:t>（2）的解为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= [1，0]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T</a:t>
            </a:r>
            <a:endParaRPr lang="zh-CN" altLang="en-US" sz="2800" baseline="30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9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/>
      <p:bldP spid="199688" grpId="0"/>
      <p:bldP spid="199689" grpId="0"/>
      <p:bldP spid="199691" grpId="0" bldLvl="0" animBg="1"/>
      <p:bldP spid="199692" grpId="0" bldLvl="0" animBg="1"/>
      <p:bldP spid="19969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8003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144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00707" name="Rectangle 3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648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我们假设方程组 (</a:t>
            </a:r>
            <a:r>
              <a:rPr lang="en-US" altLang="zh-CN" sz="3200" dirty="0">
                <a:latin typeface="Times New Roman" panose="02020603050405020304" pitchFamily="18" charset="0"/>
              </a:rPr>
              <a:t>1) </a:t>
            </a:r>
            <a:r>
              <a:rPr lang="zh-CN" altLang="en-US" sz="3200" dirty="0">
                <a:latin typeface="Times New Roman" panose="02020603050405020304" pitchFamily="18" charset="0"/>
              </a:rPr>
              <a:t>的右端常数项是精确的，即（2）可以看作是由 (</a:t>
            </a:r>
            <a:r>
              <a:rPr lang="en-US" altLang="zh-CN" sz="3200" dirty="0">
                <a:latin typeface="Times New Roman" panose="02020603050405020304" pitchFamily="18" charset="0"/>
              </a:rPr>
              <a:t>1) </a:t>
            </a:r>
            <a:r>
              <a:rPr lang="zh-CN" altLang="en-US" sz="3200" dirty="0">
                <a:latin typeface="Times New Roman" panose="02020603050405020304" pitchFamily="18" charset="0"/>
              </a:rPr>
              <a:t>的右端项作微小的扰动（0.01）而得到的方程组。由此我们看出，方程组右端项微小的扰动就使得其解变化很大。对于这样的方程组，用</a:t>
            </a:r>
            <a:r>
              <a:rPr lang="en-US" altLang="zh-CN" sz="3200" dirty="0">
                <a:latin typeface="Times New Roman" panose="02020603050405020304" pitchFamily="18" charset="0"/>
              </a:rPr>
              <a:t>Gauss</a:t>
            </a:r>
            <a:r>
              <a:rPr lang="zh-CN" altLang="en-US" sz="3200" dirty="0">
                <a:latin typeface="Times New Roman" panose="02020603050405020304" pitchFamily="18" charset="0"/>
              </a:rPr>
              <a:t>法很难求得较精确的解。为分析其中原因，用</a:t>
            </a:r>
            <a:r>
              <a:rPr lang="en-US" altLang="zh-CN" sz="3200" dirty="0">
                <a:latin typeface="Times New Roman" panose="02020603050405020304" pitchFamily="18" charset="0"/>
              </a:rPr>
              <a:t>Gauss</a:t>
            </a:r>
            <a:r>
              <a:rPr lang="zh-CN" altLang="en-US" sz="3200" dirty="0">
                <a:latin typeface="Times New Roman" panose="02020603050405020304" pitchFamily="18" charset="0"/>
              </a:rPr>
              <a:t>法求解之。 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charRg st="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7">
                                            <p:txEl>
                                              <p:charRg st="0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144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5334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1746" name="Object 18"/>
          <p:cNvGraphicFramePr>
            <a:graphicFrameLocks noGrp="1"/>
          </p:cNvGraphicFramePr>
          <p:nvPr>
            <p:ph sz="half" idx="1"/>
          </p:nvPr>
        </p:nvGraphicFramePr>
        <p:xfrm>
          <a:off x="76200" y="914400"/>
          <a:ext cx="88566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1" imgW="3619500" imgH="457200" progId="Equation.3">
                  <p:embed/>
                </p:oleObj>
              </mc:Choice>
              <mc:Fallback>
                <p:oleObj name="" r:id="rId1" imgW="3619500" imgH="4572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" y="914400"/>
                        <a:ext cx="8856663" cy="1117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7" name="Rectangle 19"/>
          <p:cNvSpPr>
            <a:spLocks noGrp="1"/>
          </p:cNvSpPr>
          <p:nvPr>
            <p:ph type="body" sz="half" idx="2"/>
          </p:nvPr>
        </p:nvSpPr>
        <p:spPr>
          <a:xfrm>
            <a:off x="152400" y="3924300"/>
            <a:ext cx="8534400" cy="22479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只有当 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latin typeface="Times New Roman" panose="02020603050405020304" pitchFamily="18" charset="0"/>
              </a:rPr>
              <a:t> = 0 时，得到真解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[100，-100]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latin typeface="Times New Roman" panose="02020603050405020304" pitchFamily="18" charset="0"/>
              </a:rPr>
              <a:t>误差向量为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[-9900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latin typeface="Times New Roman" panose="02020603050405020304" pitchFamily="18" charset="0"/>
              </a:rPr>
              <a:t>，10</a:t>
            </a:r>
            <a:r>
              <a:rPr lang="en-US" altLang="zh-CN" baseline="30000" dirty="0">
                <a:latin typeface="Times New Roman" panose="02020603050405020304" pitchFamily="18" charset="0"/>
              </a:rPr>
              <a:t>4</a:t>
            </a:r>
            <a:r>
              <a:rPr lang="en-US" altLang="zh-CN" dirty="0"/>
              <a:t>·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] 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要想使误差 ||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||</a:t>
            </a:r>
            <a:r>
              <a:rPr lang="en-US" altLang="zh-CN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dirty="0">
                <a:latin typeface="Times New Roman" panose="02020603050405020304" pitchFamily="18" charset="0"/>
              </a:rPr>
              <a:t> &lt; 10 </a:t>
            </a:r>
            <a:r>
              <a:rPr lang="en-US" altLang="zh-CN" baseline="30000" dirty="0"/>
              <a:t>–</a:t>
            </a:r>
            <a:r>
              <a:rPr lang="en-US" altLang="zh-CN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必须有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&lt; 10 </a:t>
            </a:r>
            <a:r>
              <a:rPr lang="zh-CN" altLang="en-US" baseline="30000" dirty="0"/>
              <a:t>–</a:t>
            </a:r>
            <a:r>
              <a:rPr lang="zh-CN" altLang="en-US" baseline="30000" dirty="0">
                <a:latin typeface="Times New Roman" panose="02020603050405020304" pitchFamily="18" charset="0"/>
              </a:rPr>
              <a:t>7</a:t>
            </a:r>
            <a:r>
              <a:rPr lang="zh-CN" altLang="en-US" dirty="0">
                <a:latin typeface="Times New Roman" panose="02020603050405020304" pitchFamily="18" charset="0"/>
              </a:rPr>
              <a:t>。这表明该方程组对误差相当敏感，类似这样的方程组，我们称之为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“病态” 方程组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graphicFrame>
        <p:nvGraphicFramePr>
          <p:cNvPr id="201733" name="Object 5"/>
          <p:cNvGraphicFramePr/>
          <p:nvPr/>
        </p:nvGraphicFramePr>
        <p:xfrm>
          <a:off x="76200" y="2057400"/>
          <a:ext cx="4570413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3" imgW="1905000" imgH="457200" progId="Equation.3">
                  <p:embed/>
                </p:oleObj>
              </mc:Choice>
              <mc:Fallback>
                <p:oleObj name="" r:id="rId3" imgW="1905000" imgH="4572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" y="2057400"/>
                        <a:ext cx="4570413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/>
          <p:nvPr/>
        </p:nvGrpSpPr>
        <p:grpSpPr>
          <a:xfrm>
            <a:off x="4648200" y="2286000"/>
            <a:ext cx="4343400" cy="565150"/>
            <a:chOff x="3024" y="1440"/>
            <a:chExt cx="2736" cy="356"/>
          </a:xfrm>
        </p:grpSpPr>
        <p:sp>
          <p:nvSpPr>
            <p:cNvPr id="61452" name="Rectangle 7"/>
            <p:cNvSpPr/>
            <p:nvPr/>
          </p:nvSpPr>
          <p:spPr>
            <a:xfrm>
              <a:off x="3024" y="1449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，得到</a:t>
              </a:r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  <p:graphicFrame>
          <p:nvGraphicFramePr>
            <p:cNvPr id="61445" name="Object 8"/>
            <p:cNvGraphicFramePr/>
            <p:nvPr/>
          </p:nvGraphicFramePr>
          <p:xfrm>
            <a:off x="3792" y="1440"/>
            <a:ext cx="1705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5" imgW="1104900" imgH="228600" progId="Equation.3">
                    <p:embed/>
                  </p:oleObj>
                </mc:Choice>
                <mc:Fallback>
                  <p:oleObj name="" r:id="rId5" imgW="1104900" imgH="228600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92" y="1440"/>
                          <a:ext cx="1705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3" name="Rectangle 12"/>
            <p:cNvSpPr/>
            <p:nvPr/>
          </p:nvSpPr>
          <p:spPr>
            <a:xfrm>
              <a:off x="5420" y="1469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，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152400" y="3244850"/>
            <a:ext cx="8540750" cy="565150"/>
            <a:chOff x="192" y="2352"/>
            <a:chExt cx="5380" cy="356"/>
          </a:xfrm>
        </p:grpSpPr>
        <p:graphicFrame>
          <p:nvGraphicFramePr>
            <p:cNvPr id="61444" name="Object 10"/>
            <p:cNvGraphicFramePr/>
            <p:nvPr/>
          </p:nvGraphicFramePr>
          <p:xfrm>
            <a:off x="192" y="2352"/>
            <a:ext cx="515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7" imgW="3340100" imgH="228600" progId="Equation.3">
                    <p:embed/>
                  </p:oleObj>
                </mc:Choice>
                <mc:Fallback>
                  <p:oleObj name="" r:id="rId7" imgW="3340100" imgH="2286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" y="2352"/>
                          <a:ext cx="5153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1" name="Rectangle 13"/>
            <p:cNvSpPr/>
            <p:nvPr/>
          </p:nvSpPr>
          <p:spPr>
            <a:xfrm>
              <a:off x="5232" y="2361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。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4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9027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800" dirty="0"/>
          </a:p>
        </p:txBody>
      </p:sp>
      <p:sp>
        <p:nvSpPr>
          <p:cNvPr id="207875" name="Rectangle 3"/>
          <p:cNvSpPr>
            <a:spLocks noGrp="1"/>
          </p:cNvSpPr>
          <p:nvPr>
            <p:ph sz="half" idx="1"/>
          </p:nvPr>
        </p:nvSpPr>
        <p:spPr>
          <a:xfrm>
            <a:off x="228600" y="990600"/>
            <a:ext cx="8382000" cy="41148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定义1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若方程组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的系数矩阵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或常数项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有微小变化，会引起方程组解的巨大变化，这样的方程组称为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“病态” 方程组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，矩阵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称为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“病态” 矩阵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；否则称为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“良态” 方程组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称为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“良态” 矩阵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r>
              <a:rPr lang="zh-CN" altLang="en-US" sz="3200" b="1" dirty="0">
                <a:latin typeface="+mn-lt"/>
                <a:ea typeface="+mn-ea"/>
                <a:cs typeface="+mn-cs"/>
              </a:rPr>
              <a:t> 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charRg st="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5">
                                            <p:txEl>
                                              <p:charRg st="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5">
                                            <p:txEl>
                                              <p:charRg st="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2468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800" dirty="0"/>
          </a:p>
        </p:txBody>
      </p:sp>
      <p:sp>
        <p:nvSpPr>
          <p:cNvPr id="362499" name="Rectangle 3"/>
          <p:cNvSpPr>
            <a:spLocks noGrp="1"/>
          </p:cNvSpPr>
          <p:nvPr>
            <p:ph sz="half" idx="1"/>
          </p:nvPr>
        </p:nvSpPr>
        <p:spPr>
          <a:xfrm>
            <a:off x="228600" y="762000"/>
            <a:ext cx="8534400" cy="20574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设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非奇异，仅方程组的右端项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有扰动（或误差）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相应的解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有扰动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即下式成立：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62500" name="Rectangle 4"/>
          <p:cNvSpPr>
            <a:spLocks noGrp="1"/>
          </p:cNvSpPr>
          <p:nvPr>
            <p:ph sz="half" idx="2"/>
          </p:nvPr>
        </p:nvSpPr>
        <p:spPr>
          <a:xfrm>
            <a:off x="381000" y="2667000"/>
            <a:ext cx="8458200" cy="1600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(3)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则有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62501" name="Object 5"/>
          <p:cNvGraphicFramePr/>
          <p:nvPr/>
        </p:nvGraphicFramePr>
        <p:xfrm>
          <a:off x="2400300" y="4037013"/>
          <a:ext cx="53911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1" imgW="2159000" imgH="419100" progId="Equation.3">
                  <p:embed/>
                </p:oleObj>
              </mc:Choice>
              <mc:Fallback>
                <p:oleObj name="" r:id="rId1" imgW="2159000" imgH="4191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0300" y="4037013"/>
                        <a:ext cx="539115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499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499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  <p:bldP spid="36250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34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800" dirty="0"/>
          </a:p>
        </p:txBody>
      </p:sp>
      <p:sp>
        <p:nvSpPr>
          <p:cNvPr id="211971" name="Rectangle 3"/>
          <p:cNvSpPr>
            <a:spLocks noGrp="1"/>
          </p:cNvSpPr>
          <p:nvPr>
            <p:ph idx="1"/>
          </p:nvPr>
        </p:nvSpPr>
        <p:spPr>
          <a:xfrm>
            <a:off x="381000" y="1219200"/>
            <a:ext cx="8153400" cy="24384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证： </a:t>
            </a:r>
            <a:r>
              <a:rPr lang="zh-CN" altLang="en-US" sz="3200" dirty="0">
                <a:latin typeface="Times New Roman" panose="02020603050405020304" pitchFamily="18" charset="0"/>
              </a:rPr>
              <a:t>由（3）有 </a:t>
            </a:r>
            <a:r>
              <a:rPr lang="en-US" altLang="zh-CN" sz="3200" i="1" dirty="0">
                <a:latin typeface="Times New Roman" panose="02020603050405020304" pitchFamily="18" charset="0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由于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所以 </a:t>
            </a:r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从而 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。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两边取范数且利用相容性得 ||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||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||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dirty="0"/>
              <a:t>·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||。</a:t>
            </a:r>
            <a:r>
              <a:rPr lang="zh-CN" altLang="en-US" sz="3200" dirty="0">
                <a:latin typeface="Times New Roman" panose="02020603050405020304" pitchFamily="18" charset="0"/>
              </a:rPr>
              <a:t>另一方面，由|| </a:t>
            </a:r>
            <a:r>
              <a:rPr lang="en-US" altLang="zh-CN" sz="3200" i="1" dirty="0">
                <a:latin typeface="Times New Roman" panose="02020603050405020304" pitchFamily="18" charset="0"/>
              </a:rPr>
              <a:t>Ax </a:t>
            </a:r>
            <a:r>
              <a:rPr lang="en-US" altLang="zh-CN" sz="3200" dirty="0">
                <a:latin typeface="Times New Roman" panose="02020603050405020304" pitchFamily="18" charset="0"/>
              </a:rPr>
              <a:t>||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latin typeface="Times New Roman" panose="02020603050405020304" pitchFamily="18" charset="0"/>
              </a:rPr>
              <a:t> || </a:t>
            </a:r>
            <a:r>
              <a:rPr lang="en-US" altLang="zh-CN" sz="3200" i="1" dirty="0">
                <a:latin typeface="Times New Roman" panose="02020603050405020304" pitchFamily="18" charset="0"/>
              </a:rPr>
              <a:t>A </a:t>
            </a:r>
            <a:r>
              <a:rPr lang="en-US" altLang="zh-CN" sz="3200" dirty="0">
                <a:latin typeface="Times New Roman" panose="02020603050405020304" pitchFamily="18" charset="0"/>
              </a:rPr>
              <a:t>|| || </a:t>
            </a:r>
            <a:r>
              <a:rPr lang="en-US" altLang="zh-CN" sz="3200" i="1" dirty="0">
                <a:latin typeface="Times New Roman" panose="02020603050405020304" pitchFamily="18" charset="0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</a:rPr>
              <a:t>||，</a:t>
            </a:r>
            <a:r>
              <a:rPr lang="zh-CN" altLang="en-US" sz="3200" dirty="0">
                <a:latin typeface="Times New Roman" panose="02020603050405020304" pitchFamily="18" charset="0"/>
              </a:rPr>
              <a:t>有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sp>
        <p:nvSpPr>
          <p:cNvPr id="211974" name="Rectangle 6"/>
          <p:cNvSpPr/>
          <p:nvPr/>
        </p:nvSpPr>
        <p:spPr>
          <a:xfrm>
            <a:off x="228600" y="5135563"/>
            <a:ext cx="1143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2133600" y="3522663"/>
            <a:ext cx="3933825" cy="1125537"/>
            <a:chOff x="1267" y="2208"/>
            <a:chExt cx="2260" cy="646"/>
          </a:xfrm>
        </p:grpSpPr>
        <p:graphicFrame>
          <p:nvGraphicFramePr>
            <p:cNvPr id="63492" name="Object 4"/>
            <p:cNvGraphicFramePr>
              <a:graphicFrameLocks noChangeAspect="1"/>
            </p:cNvGraphicFramePr>
            <p:nvPr/>
          </p:nvGraphicFramePr>
          <p:xfrm>
            <a:off x="1267" y="2208"/>
            <a:ext cx="1963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1" imgW="1269365" imgH="419100" progId="Equation.3">
                    <p:embed/>
                  </p:oleObj>
                </mc:Choice>
                <mc:Fallback>
                  <p:oleObj name="" r:id="rId1" imgW="1269365" imgH="41910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67" y="2208"/>
                          <a:ext cx="1963" cy="6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498" name="Rectangle 9"/>
            <p:cNvSpPr>
              <a:spLocks noChangeAspect="1"/>
            </p:cNvSpPr>
            <p:nvPr/>
          </p:nvSpPr>
          <p:spPr>
            <a:xfrm>
              <a:off x="3216" y="2338"/>
              <a:ext cx="311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，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  <p:graphicFrame>
        <p:nvGraphicFramePr>
          <p:cNvPr id="483330" name="Object 2"/>
          <p:cNvGraphicFramePr>
            <a:graphicFrameLocks noChangeAspect="1"/>
          </p:cNvGraphicFramePr>
          <p:nvPr/>
        </p:nvGraphicFramePr>
        <p:xfrm>
          <a:off x="1204913" y="4730750"/>
          <a:ext cx="3976687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1473200" imgH="647700" progId="Equation.DSMT4">
                  <p:embed/>
                </p:oleObj>
              </mc:Choice>
              <mc:Fallback>
                <p:oleObj name="" r:id="rId3" imgW="1473200" imgH="647700" progId="Equation.DSMT4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4913" y="4730750"/>
                        <a:ext cx="3976687" cy="174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3331" name="Object 3"/>
          <p:cNvGraphicFramePr>
            <a:graphicFrameLocks noChangeAspect="1"/>
          </p:cNvGraphicFramePr>
          <p:nvPr/>
        </p:nvGraphicFramePr>
        <p:xfrm>
          <a:off x="5181600" y="4813300"/>
          <a:ext cx="363378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5" imgW="1346200" imgH="419100" progId="Equation.DSMT4">
                  <p:embed/>
                </p:oleObj>
              </mc:Choice>
              <mc:Fallback>
                <p:oleObj name="" r:id="rId5" imgW="1346200" imgH="419100" progId="Equation.DSMT4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81600" y="4813300"/>
                        <a:ext cx="3633788" cy="1130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7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1971">
                                            <p:txEl>
                                              <p:charRg st="27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charRg st="63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1971">
                                            <p:txEl>
                                              <p:charRg st="63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8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8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1" grpId="0" build="p"/>
      <p:bldP spid="2119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5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762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latin typeface="Times New Roman" panose="02020603050405020304" pitchFamily="18" charset="0"/>
              </a:rPr>
              <a:t>注1：</a:t>
            </a:r>
            <a:endParaRPr lang="zh-CN" altLang="en-US" sz="3200" b="1" u="none" dirty="0">
              <a:latin typeface="Times New Roman" panose="02020603050405020304" pitchFamily="18" charset="0"/>
            </a:endParaRPr>
          </a:p>
        </p:txBody>
      </p:sp>
      <p:sp>
        <p:nvSpPr>
          <p:cNvPr id="208899" name="Rectangle 3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8153400" cy="2438400"/>
          </a:xfrm>
        </p:spPr>
        <p:txBody>
          <a:bodyPr vert="horz" wrap="square" lIns="91440" tIns="45720" rIns="91440" bIns="45720" anchor="t" anchorCtr="0"/>
          <a:p>
            <a:pPr marL="198755" indent="-198755" algn="just">
              <a:lnSpc>
                <a:spcPct val="120000"/>
              </a:lnSpc>
              <a:buSzPct val="85000"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记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cond(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= ||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||，cond(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称为矩阵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的条件数，其中|| 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·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||指的是矩阵的算子范数，于是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 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208900" name="Rectangle 4"/>
          <p:cNvSpPr>
            <a:spLocks noGrp="1"/>
          </p:cNvSpPr>
          <p:nvPr>
            <p:ph sz="half" idx="2"/>
          </p:nvPr>
        </p:nvSpPr>
        <p:spPr>
          <a:xfrm>
            <a:off x="366713" y="3276600"/>
            <a:ext cx="8382000" cy="1828800"/>
          </a:xfrm>
        </p:spPr>
        <p:txBody>
          <a:bodyPr vert="horz" wrap="square" lIns="91440" tIns="45720" rIns="91440" bIns="45720" anchor="t" anchorCtr="0"/>
          <a:p>
            <a:pPr marL="389255" indent="-389255">
              <a:buSzPct val="85000"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cond(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= ||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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||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-1</a:t>
            </a:r>
            <a:r>
              <a:rPr lang="en-US" altLang="zh-CN" sz="3200" dirty="0">
                <a:latin typeface="+mn-lt"/>
                <a:ea typeface="+mn-ea"/>
                <a:cs typeface="+mn-cs"/>
              </a:rPr>
              <a:t>·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= 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=1（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算子范数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）。</a:t>
            </a:r>
            <a:r>
              <a:rPr lang="en-US" altLang="zh-CN" sz="3200" dirty="0">
                <a:latin typeface="+mn-lt"/>
                <a:ea typeface="+mn-ea"/>
                <a:cs typeface="+mn-cs"/>
              </a:rPr>
              <a:t> </a:t>
            </a:r>
            <a:endParaRPr lang="en-US" altLang="zh-CN" sz="3200" dirty="0">
              <a:latin typeface="+mn-lt"/>
              <a:ea typeface="+mn-ea"/>
              <a:cs typeface="+mn-cs"/>
            </a:endParaRPr>
          </a:p>
          <a:p>
            <a:pPr marL="389255" indent="-389255">
              <a:buSzPct val="85000"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cond(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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= cond(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)，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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0。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2447925" y="2133600"/>
            <a:ext cx="4410075" cy="1130300"/>
            <a:chOff x="1335" y="1514"/>
            <a:chExt cx="2521" cy="646"/>
          </a:xfrm>
        </p:grpSpPr>
        <p:graphicFrame>
          <p:nvGraphicFramePr>
            <p:cNvPr id="64514" name="Object 5"/>
            <p:cNvGraphicFramePr>
              <a:graphicFrameLocks noChangeAspect="1"/>
            </p:cNvGraphicFramePr>
            <p:nvPr/>
          </p:nvGraphicFramePr>
          <p:xfrm>
            <a:off x="1335" y="1514"/>
            <a:ext cx="2265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1" imgW="1473200" imgH="419100" progId="Equation.3">
                    <p:embed/>
                  </p:oleObj>
                </mc:Choice>
                <mc:Fallback>
                  <p:oleObj name="" r:id="rId1" imgW="1473200" imgH="4191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35" y="1514"/>
                          <a:ext cx="2265" cy="6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1" name="Rectangle 7"/>
            <p:cNvSpPr>
              <a:spLocks noChangeAspect="1"/>
            </p:cNvSpPr>
            <p:nvPr/>
          </p:nvSpPr>
          <p:spPr>
            <a:xfrm>
              <a:off x="3548" y="1689"/>
              <a:ext cx="308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。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  <p:sp>
        <p:nvSpPr>
          <p:cNvPr id="208905" name="Text Box 9"/>
          <p:cNvSpPr txBox="1"/>
          <p:nvPr/>
        </p:nvSpPr>
        <p:spPr>
          <a:xfrm>
            <a:off x="395288" y="5029200"/>
            <a:ext cx="8139112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	上述定理可以推广到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均有误差的情况，有如下定理：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8900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8900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>
                                            <p:txEl>
                                              <p:charRg st="5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8900">
                                            <p:txEl>
                                              <p:charRg st="5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8900">
                                            <p:txEl>
                                              <p:charRg st="5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/>
      <p:bldP spid="208900" grpId="0" build="p"/>
      <p:bldP spid="20890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554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800" dirty="0"/>
          </a:p>
        </p:txBody>
      </p:sp>
      <p:sp>
        <p:nvSpPr>
          <p:cNvPr id="212995" name="Rectangle 3"/>
          <p:cNvSpPr>
            <a:spLocks noGrp="1"/>
          </p:cNvSpPr>
          <p:nvPr>
            <p:ph idx="1"/>
          </p:nvPr>
        </p:nvSpPr>
        <p:spPr>
          <a:xfrm>
            <a:off x="533400" y="1219200"/>
            <a:ext cx="8153400" cy="3124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定理2</a:t>
            </a:r>
            <a:r>
              <a:rPr lang="zh-CN" altLang="en-US" sz="3200" dirty="0">
                <a:latin typeface="Times New Roman" panose="02020603050405020304" pitchFamily="18" charset="0"/>
              </a:rPr>
              <a:t> 设</a:t>
            </a:r>
            <a:r>
              <a:rPr lang="en-US" altLang="zh-CN" sz="3200" i="1" dirty="0">
                <a:latin typeface="Times New Roman" panose="02020603050405020304" pitchFamily="18" charset="0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0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非奇异，仅方程组的系数矩阵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有扰动（或误差）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相应的解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有扰动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即下式成立：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A+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</a:rPr>
              <a:t>。                   </a:t>
            </a:r>
            <a:r>
              <a:rPr lang="en-US" altLang="zh-CN" sz="3200" dirty="0">
                <a:latin typeface="Times New Roman" panose="02020603050405020304" pitchFamily="18" charset="0"/>
              </a:rPr>
              <a:t>(7)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则当||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dirty="0"/>
              <a:t>·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|| &lt; 1</a:t>
            </a:r>
            <a:r>
              <a:rPr lang="zh-CN" altLang="en-US" sz="3200" dirty="0">
                <a:latin typeface="Times New Roman" panose="02020603050405020304" pitchFamily="18" charset="0"/>
              </a:rPr>
              <a:t>时，有</a:t>
            </a:r>
            <a:endParaRPr lang="zh-CN" altLang="en-US" sz="3200" dirty="0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1417638" y="4283075"/>
          <a:ext cx="6956425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2603500" imgH="609600" progId="Equation.3">
                  <p:embed/>
                </p:oleObj>
              </mc:Choice>
              <mc:Fallback>
                <p:oleObj name="" r:id="rId1" imgW="2603500" imgH="6096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7638" y="4283075"/>
                        <a:ext cx="6956425" cy="1633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charRg st="6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charRg st="6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charRg st="10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charRg st="101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6564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6.1</a:t>
            </a:r>
            <a:r>
              <a:rPr lang="zh-CN" altLang="en-US" sz="2400" dirty="0">
                <a:latin typeface="Times New Roman" panose="02020603050405020304" pitchFamily="18" charset="0"/>
              </a:rPr>
              <a:t>方程组的性态与误差分析</a:t>
            </a:r>
            <a:endParaRPr lang="zh-CN" altLang="en-US" sz="2800" dirty="0"/>
          </a:p>
        </p:txBody>
      </p:sp>
      <p:sp>
        <p:nvSpPr>
          <p:cNvPr id="214019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36576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 设</a:t>
            </a:r>
            <a:r>
              <a:rPr lang="en-US" altLang="zh-CN" sz="3200" i="1" dirty="0">
                <a:latin typeface="Times New Roman" panose="02020603050405020304" pitchFamily="18" charset="0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</a:rPr>
              <a:t> 0，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非奇异，方程组的系数矩阵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有扰动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右端项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</a:rPr>
              <a:t>有扰动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</a:rPr>
              <a:t> 0</a:t>
            </a:r>
            <a:r>
              <a:rPr lang="zh-CN" altLang="en-US" sz="3200" dirty="0">
                <a:latin typeface="Times New Roman" panose="02020603050405020304" pitchFamily="18" charset="0"/>
              </a:rPr>
              <a:t> ，相应的解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有扰动</a:t>
            </a:r>
            <a:r>
              <a:rPr lang="zh-CN" altLang="en-US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即下式成立：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             (</a:t>
            </a:r>
            <a:r>
              <a:rPr lang="en-US" altLang="zh-CN" sz="3200" i="1" dirty="0">
                <a:latin typeface="Times New Roman" panose="02020603050405020304" pitchFamily="18" charset="0"/>
              </a:rPr>
              <a:t>A+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                   (9)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当||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 ||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||&lt;1</a:t>
            </a:r>
            <a:r>
              <a:rPr lang="zh-CN" altLang="en-US" sz="3200" dirty="0">
                <a:latin typeface="Times New Roman" panose="02020603050405020304" pitchFamily="18" charset="0"/>
              </a:rPr>
              <a:t>时，有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grpSp>
        <p:nvGrpSpPr>
          <p:cNvPr id="2" name="Group 13"/>
          <p:cNvGrpSpPr/>
          <p:nvPr/>
        </p:nvGrpSpPr>
        <p:grpSpPr>
          <a:xfrm>
            <a:off x="762000" y="4138613"/>
            <a:ext cx="7245350" cy="1855787"/>
            <a:chOff x="480" y="2607"/>
            <a:chExt cx="4564" cy="1169"/>
          </a:xfrm>
        </p:grpSpPr>
        <p:graphicFrame>
          <p:nvGraphicFramePr>
            <p:cNvPr id="66562" name="Object 2"/>
            <p:cNvGraphicFramePr/>
            <p:nvPr/>
          </p:nvGraphicFramePr>
          <p:xfrm>
            <a:off x="480" y="2607"/>
            <a:ext cx="4498" cy="1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1" imgW="2741930" imgH="635000" progId="Equation.3">
                    <p:embed/>
                  </p:oleObj>
                </mc:Choice>
                <mc:Fallback>
                  <p:oleObj name="" r:id="rId1" imgW="2741930" imgH="6350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0" y="2607"/>
                          <a:ext cx="4498" cy="10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67" name="Text Box 12"/>
            <p:cNvSpPr txBox="1"/>
            <p:nvPr/>
          </p:nvSpPr>
          <p:spPr>
            <a:xfrm>
              <a:off x="4498" y="3408"/>
              <a:ext cx="54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dirty="0">
                  <a:latin typeface="Times New Roman" panose="02020603050405020304" pitchFamily="18" charset="0"/>
                </a:rPr>
                <a:t>(10)</a:t>
              </a: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charRg st="7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charRg st="70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charRg st="12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4019">
                                            <p:txEl>
                                              <p:charRg st="126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9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16"/>
          <p:cNvGrpSpPr/>
          <p:nvPr/>
        </p:nvGrpSpPr>
        <p:grpSpPr>
          <a:xfrm>
            <a:off x="539750" y="2705100"/>
            <a:ext cx="8093075" cy="3581400"/>
            <a:chOff x="336" y="1776"/>
            <a:chExt cx="5098" cy="2256"/>
          </a:xfrm>
        </p:grpSpPr>
        <p:sp>
          <p:nvSpPr>
            <p:cNvPr id="67596" name="Text Box 15"/>
            <p:cNvSpPr txBox="1"/>
            <p:nvPr/>
          </p:nvSpPr>
          <p:spPr>
            <a:xfrm>
              <a:off x="336" y="1776"/>
              <a:ext cx="5098" cy="21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70000"/>
                </a:lnSpc>
                <a:buClr>
                  <a:schemeClr val="tx1"/>
                </a:buClr>
                <a:buSzPct val="85000"/>
              </a:pPr>
              <a:r>
                <a:rPr lang="zh-CN" altLang="en-US" dirty="0">
                  <a:latin typeface="Times New Roman" panose="02020603050405020304" pitchFamily="18" charset="0"/>
                </a:rPr>
                <a:t>(2)  当扰动</a:t>
              </a:r>
              <a:r>
                <a:rPr lang="zh-CN" altLang="en-US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充分小时，                          ，所以解的相对误差        可以很好地由条件数</a:t>
              </a:r>
              <a:r>
                <a:rPr lang="en-US" altLang="zh-CN" dirty="0">
                  <a:latin typeface="Times New Roman" panose="02020603050405020304" pitchFamily="18" charset="0"/>
                </a:rPr>
                <a:t>cond(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latin typeface="Times New Roman" panose="02020603050405020304" pitchFamily="18" charset="0"/>
                </a:rPr>
                <a:t>来描述，即大约不超过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</a:rPr>
                <a:t>与</a:t>
              </a:r>
              <a:r>
                <a:rPr lang="en-US" altLang="zh-CN" i="1" dirty="0"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latin typeface="Times New Roman" panose="02020603050405020304" pitchFamily="18" charset="0"/>
                </a:rPr>
                <a:t>的相对误差                           的</a:t>
              </a:r>
              <a:r>
                <a:rPr lang="en-US" altLang="zh-CN" dirty="0">
                  <a:latin typeface="Times New Roman" panose="02020603050405020304" pitchFamily="18" charset="0"/>
                </a:rPr>
                <a:t>cond(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latin typeface="Times New Roman" panose="02020603050405020304" pitchFamily="18" charset="0"/>
                </a:rPr>
                <a:t>倍，即</a:t>
              </a:r>
              <a:r>
                <a:rPr lang="zh-CN" altLang="en-US" dirty="0">
                  <a:latin typeface="Comic Sans MS" panose="030F0702030302020204" pitchFamily="66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7588" name="Object 5"/>
            <p:cNvGraphicFramePr/>
            <p:nvPr/>
          </p:nvGraphicFramePr>
          <p:xfrm>
            <a:off x="3068" y="1872"/>
            <a:ext cx="1732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1" imgW="1193800" imgH="419100" progId="Equation.3">
                    <p:embed/>
                  </p:oleObj>
                </mc:Choice>
                <mc:Fallback>
                  <p:oleObj name="" r:id="rId1" imgW="1193800" imgH="41910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68" y="1872"/>
                          <a:ext cx="1732" cy="6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89" name="Object 7"/>
            <p:cNvGraphicFramePr/>
            <p:nvPr/>
          </p:nvGraphicFramePr>
          <p:xfrm>
            <a:off x="2208" y="2349"/>
            <a:ext cx="428" cy="6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" r:id="rId3" imgW="419100" imgH="419100" progId="Equation.3">
                    <p:embed/>
                  </p:oleObj>
                </mc:Choice>
                <mc:Fallback>
                  <p:oleObj name="" r:id="rId3" imgW="419100" imgH="419100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08" y="2349"/>
                          <a:ext cx="428" cy="6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0" name="Object 9"/>
            <p:cNvGraphicFramePr/>
            <p:nvPr/>
          </p:nvGraphicFramePr>
          <p:xfrm>
            <a:off x="960" y="3370"/>
            <a:ext cx="1601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5" imgW="1104900" imgH="457200" progId="Equation.3">
                    <p:embed/>
                  </p:oleObj>
                </mc:Choice>
                <mc:Fallback>
                  <p:oleObj name="" r:id="rId5" imgW="1104900" imgH="4572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60" y="3370"/>
                          <a:ext cx="1601" cy="6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593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latin typeface="Times New Roman" panose="02020603050405020304" pitchFamily="18" charset="0"/>
              </a:rPr>
              <a:t>注2：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209931" name="Object 11"/>
          <p:cNvGraphicFramePr/>
          <p:nvPr/>
        </p:nvGraphicFramePr>
        <p:xfrm>
          <a:off x="1295400" y="4176713"/>
          <a:ext cx="636587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7" imgW="2349500" imgH="457200" progId="Equation.3">
                  <p:embed/>
                </p:oleObj>
              </mc:Choice>
              <mc:Fallback>
                <p:oleObj name="" r:id="rId7" imgW="2349500" imgH="4572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95400" y="4176713"/>
                        <a:ext cx="6365875" cy="12334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4"/>
          <p:cNvGrpSpPr/>
          <p:nvPr/>
        </p:nvGrpSpPr>
        <p:grpSpPr>
          <a:xfrm>
            <a:off x="500063" y="785813"/>
            <a:ext cx="8215312" cy="2143125"/>
            <a:chOff x="500034" y="642918"/>
            <a:chExt cx="8215370" cy="2143145"/>
          </a:xfrm>
        </p:grpSpPr>
        <p:graphicFrame>
          <p:nvGraphicFramePr>
            <p:cNvPr id="67587" name="Object 13"/>
            <p:cNvGraphicFramePr/>
            <p:nvPr/>
          </p:nvGraphicFramePr>
          <p:xfrm>
            <a:off x="1500166" y="1755775"/>
            <a:ext cx="3460750" cy="1030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9" imgW="1409700" imgH="419100" progId="Equation.3">
                    <p:embed/>
                  </p:oleObj>
                </mc:Choice>
                <mc:Fallback>
                  <p:oleObj name="" r:id="rId9" imgW="1409700" imgH="419100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00166" y="1755775"/>
                          <a:ext cx="3460750" cy="1030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5" name="矩形 13"/>
            <p:cNvSpPr/>
            <p:nvPr/>
          </p:nvSpPr>
          <p:spPr>
            <a:xfrm>
              <a:off x="500034" y="642918"/>
              <a:ext cx="8215370" cy="18762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(1) </a:t>
              </a:r>
              <a:r>
                <a:rPr lang="zh-CN" altLang="en-US" dirty="0">
                  <a:latin typeface="Times New Roman" panose="02020603050405020304" pitchFamily="18" charset="0"/>
                </a:rPr>
                <a:t>条件 || 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-1</a:t>
              </a:r>
              <a:r>
                <a:rPr lang="en-US" altLang="zh-CN" dirty="0">
                  <a:latin typeface="Times New Roman" panose="02020603050405020304" pitchFamily="18" charset="0"/>
                </a:rPr>
                <a:t>|| ||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|| &lt; 1 </a:t>
              </a:r>
              <a:r>
                <a:rPr lang="zh-CN" altLang="en-US" dirty="0">
                  <a:latin typeface="Times New Roman" panose="02020603050405020304" pitchFamily="18" charset="0"/>
                </a:rPr>
                <a:t>保证 (</a:t>
              </a:r>
              <a:r>
                <a:rPr lang="en-US" altLang="zh-CN" i="1" dirty="0">
                  <a:latin typeface="Times New Roman" panose="02020603050405020304" pitchFamily="18" charset="0"/>
                </a:rPr>
                <a:t>A+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</a:rPr>
                <a:t>) </a:t>
              </a:r>
              <a:r>
                <a:rPr lang="zh-CN" altLang="en-US" dirty="0">
                  <a:latin typeface="Times New Roman" panose="02020603050405020304" pitchFamily="18" charset="0"/>
                </a:rPr>
                <a:t>非奇异，从而也保证了扰动后的方程组仍有解。同时保证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15043" name="Rectangle 3"/>
          <p:cNvSpPr>
            <a:spLocks noGrp="1"/>
          </p:cNvSpPr>
          <p:nvPr>
            <p:ph idx="1"/>
          </p:nvPr>
        </p:nvSpPr>
        <p:spPr>
          <a:xfrm>
            <a:off x="304800" y="609600"/>
            <a:ext cx="8534400" cy="3429000"/>
          </a:xfrm>
        </p:spPr>
        <p:txBody>
          <a:bodyPr vert="horz" wrap="square" lIns="91440" tIns="45720" rIns="91440" bIns="45720" anchor="t" anchorCtr="0"/>
          <a:p>
            <a:pPr marL="579755" indent="-579755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当</a:t>
            </a:r>
            <a:r>
              <a:rPr lang="en-US" altLang="zh-CN" sz="3200" dirty="0">
                <a:latin typeface="Times New Roman" panose="02020603050405020304" pitchFamily="18" charset="0"/>
              </a:rPr>
              <a:t>cond(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 &gt;&gt; 1</a:t>
            </a:r>
            <a:r>
              <a:rPr lang="zh-CN" altLang="en-US" sz="3200" dirty="0">
                <a:latin typeface="Times New Roman" panose="02020603050405020304" pitchFamily="18" charset="0"/>
              </a:rPr>
              <a:t>（或相对较大，根据具体问题的特征来判断）时，解的相对误差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可能</a:t>
            </a:r>
            <a:r>
              <a:rPr lang="zh-CN" altLang="en-US" sz="3200" dirty="0">
                <a:latin typeface="Times New Roman" panose="02020603050405020304" pitchFamily="18" charset="0"/>
              </a:rPr>
              <a:t>很大。所以，当条件数相对大时，称 </a:t>
            </a:r>
            <a:r>
              <a:rPr lang="en-US" altLang="zh-CN" sz="3200" i="1" dirty="0">
                <a:latin typeface="Times New Roman" panose="02020603050405020304" pitchFamily="18" charset="0"/>
              </a:rPr>
              <a:t>Ax </a:t>
            </a:r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病态方程组</a:t>
            </a:r>
            <a:r>
              <a:rPr lang="zh-CN" altLang="en-US" sz="3200" dirty="0">
                <a:latin typeface="Times New Roman" panose="02020603050405020304" pitchFamily="18" charset="0"/>
              </a:rPr>
              <a:t>，系数矩阵</a:t>
            </a:r>
            <a:r>
              <a:rPr lang="en-US" altLang="zh-CN" sz="32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3200" dirty="0">
                <a:latin typeface="宋体" panose="02010600030101010101" pitchFamily="2" charset="-122"/>
              </a:rPr>
              <a:t>称为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病态矩阵</a:t>
            </a:r>
            <a:r>
              <a:rPr lang="zh-CN" altLang="en-US" sz="3200" dirty="0">
                <a:latin typeface="Times New Roman" panose="02020603050405020304" pitchFamily="18" charset="0"/>
              </a:rPr>
              <a:t>，否则称 </a:t>
            </a:r>
            <a:r>
              <a:rPr lang="en-US" altLang="zh-CN" sz="3200" i="1" dirty="0">
                <a:latin typeface="Times New Roman" panose="02020603050405020304" pitchFamily="18" charset="0"/>
              </a:rPr>
              <a:t>Ax=b</a:t>
            </a:r>
            <a:r>
              <a:rPr lang="zh-CN" altLang="en-US" sz="3200" dirty="0">
                <a:latin typeface="Times New Roman" panose="02020603050405020304" pitchFamily="18" charset="0"/>
              </a:rPr>
              <a:t>为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良态方程组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称为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良态矩阵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矩阵的病态性质是矩阵本身的特征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15044" name="AutoShape 4"/>
          <p:cNvSpPr>
            <a:spLocks noChangeArrowheads="1"/>
          </p:cNvSpPr>
          <p:nvPr/>
        </p:nvSpPr>
        <p:spPr bwMode="auto">
          <a:xfrm>
            <a:off x="381000" y="4114800"/>
            <a:ext cx="8382000" cy="2057400"/>
          </a:xfrm>
          <a:prstGeom prst="wedgeRectCallout">
            <a:avLst>
              <a:gd name="adj1" fmla="val -18333"/>
              <a:gd name="adj2" fmla="val -62500"/>
            </a:avLst>
          </a:prstGeom>
          <a:gradFill rotWithShape="0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所谓的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隶书" panose="02010509060101010101" pitchFamily="49" charset="-122"/>
                <a:cs typeface="+mn-cs"/>
              </a:rPr>
              <a:t>“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病态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隶书" panose="020105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现象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在自然界普遍存在，病态问题已经成为一项重要的研究课题，同时也是难题。对此问题，人们业已取得一些成果。这些内容超过了本课程的要求,请同学们参考有关的文献。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30053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charRg st="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charRg st="0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  <p:bldP spid="21504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02755" name="Rectangle 3"/>
          <p:cNvSpPr>
            <a:spLocks noGrp="1"/>
          </p:cNvSpPr>
          <p:nvPr>
            <p:ph idx="1"/>
          </p:nvPr>
        </p:nvSpPr>
        <p:spPr>
          <a:xfrm>
            <a:off x="457200" y="357188"/>
            <a:ext cx="8153400" cy="3124200"/>
          </a:xfrm>
        </p:spPr>
        <p:txBody>
          <a:bodyPr vert="horz" wrap="square" lIns="91440" tIns="45720" rIns="91440" bIns="45720" anchor="t" anchorCtr="0"/>
          <a:p>
            <a:pPr marL="567055" indent="-567055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(4) 条件数的计算依赖于矩阵所取的范数，常用的条件数为：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567055" indent="-567055" algn="just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 (a)  cond</a:t>
            </a:r>
            <a:r>
              <a:rPr lang="en-US" altLang="zh-CN" sz="3200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)=||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</a:rPr>
              <a:t>－</a:t>
            </a:r>
            <a:r>
              <a:rPr lang="zh-CN" altLang="en-US" sz="3200" dirty="0">
                <a:latin typeface="Times New Roman" panose="02020603050405020304" pitchFamily="18" charset="0"/>
              </a:rPr>
              <a:t>条件数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567055" indent="-567055" algn="just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 (b)  cond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 = 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，1－</a:t>
            </a:r>
            <a:r>
              <a:rPr lang="zh-CN" altLang="en-US" sz="3200" dirty="0">
                <a:latin typeface="Times New Roman" panose="02020603050405020304" pitchFamily="18" charset="0"/>
              </a:rPr>
              <a:t>条件数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567055" indent="-567055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       (c)  cond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) = 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2－条件数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sp>
        <p:nvSpPr>
          <p:cNvPr id="202758" name="Rectangle 6"/>
          <p:cNvSpPr/>
          <p:nvPr/>
        </p:nvSpPr>
        <p:spPr>
          <a:xfrm>
            <a:off x="990600" y="4500563"/>
            <a:ext cx="4191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当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为实对称矩阵时，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2759" name="Object 7"/>
          <p:cNvGraphicFramePr/>
          <p:nvPr/>
        </p:nvGraphicFramePr>
        <p:xfrm>
          <a:off x="4929188" y="4279900"/>
          <a:ext cx="28321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142365" imgH="431800" progId="Equation.3">
                  <p:embed/>
                </p:oleObj>
              </mc:Choice>
              <mc:Fallback>
                <p:oleObj name="" r:id="rId1" imgW="1142365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29188" y="4279900"/>
                        <a:ext cx="2832100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6" name="Object 4"/>
          <p:cNvGraphicFramePr/>
          <p:nvPr/>
        </p:nvGraphicFramePr>
        <p:xfrm>
          <a:off x="2586038" y="3071813"/>
          <a:ext cx="4367212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751965" imgH="571500" progId="Equation.3">
                  <p:embed/>
                </p:oleObj>
              </mc:Choice>
              <mc:Fallback>
                <p:oleObj name="" r:id="rId3" imgW="1751965" imgH="571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6038" y="3071813"/>
                        <a:ext cx="4367212" cy="1425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2" name="Text Box 10"/>
          <p:cNvSpPr txBox="1"/>
          <p:nvPr/>
        </p:nvSpPr>
        <p:spPr>
          <a:xfrm>
            <a:off x="1962150" y="3500438"/>
            <a:ext cx="6794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68616" name="Rectangle 1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11" name="Rectangle 6"/>
          <p:cNvSpPr/>
          <p:nvPr/>
        </p:nvSpPr>
        <p:spPr>
          <a:xfrm>
            <a:off x="1000125" y="5357813"/>
            <a:ext cx="7929563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l-GR" altLang="zh-CN" i="1" dirty="0">
                <a:latin typeface="Times New Roman" panose="02020603050405020304" pitchFamily="18" charset="0"/>
              </a:rPr>
              <a:t>λ</a:t>
            </a:r>
            <a:r>
              <a:rPr lang="en-US" altLang="zh-CN" baseline="-25000" dirty="0">
                <a:latin typeface="Times New Roman" panose="02020603050405020304" pitchFamily="18" charset="0"/>
              </a:rPr>
              <a:t>max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l-GR" altLang="zh-CN" i="1" dirty="0">
                <a:latin typeface="Times New Roman" panose="02020603050405020304" pitchFamily="18" charset="0"/>
              </a:rPr>
              <a:t>λ</a:t>
            </a:r>
            <a:r>
              <a:rPr lang="en-US" altLang="zh-CN" baseline="-25000" dirty="0">
                <a:latin typeface="Times New Roman" panose="02020603050405020304" pitchFamily="18" charset="0"/>
              </a:rPr>
              <a:t>min</a:t>
            </a:r>
            <a:r>
              <a:rPr lang="zh-CN" altLang="en-US" dirty="0">
                <a:latin typeface="Times New Roman" panose="02020603050405020304" pitchFamily="18" charset="0"/>
              </a:rPr>
              <a:t>分别是矩阵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的绝对值最大与最小的特征值。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62495" y="3449955"/>
            <a:ext cx="186626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(</a:t>
            </a:r>
            <a:r>
              <a:rPr lang="zh-CN" altLang="en-US" sz="2400">
                <a:solidFill>
                  <a:srgbClr val="FF0000"/>
                </a:solidFill>
              </a:rPr>
              <a:t>证明？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7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2755">
                                            <p:txEl>
                                              <p:charRg st="74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12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755">
                                            <p:txEl>
                                              <p:charRg st="121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  <p:bldP spid="202758" grpId="0"/>
      <p:bldP spid="202762" grpId="0"/>
      <p:bldP spid="11" grpId="0"/>
      <p:bldP spid="2" grpId="0"/>
      <p:bldP spid="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10947" name="Rectangle 3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7981950" cy="1600200"/>
          </a:xfrm>
        </p:spPr>
        <p:txBody>
          <a:bodyPr vert="horz" wrap="square" lIns="91440" tIns="45720" rIns="91440" bIns="45720" anchor="t" anchorCtr="0"/>
          <a:p>
            <a:pPr marL="762000" indent="-762000" algn="just">
              <a:buSzPct val="85000"/>
              <a:buFont typeface="ZapfDingbats" pitchFamily="82" charset="2"/>
              <a:buNone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 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(5) 但由于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i="1" baseline="30000" dirty="0">
                <a:latin typeface="+mn-lt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中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范数的等价性，各种条件数在误差估计中不会引起本质的差别。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210948" name="Rectangle 4"/>
          <p:cNvSpPr>
            <a:spLocks noGrp="1"/>
          </p:cNvSpPr>
          <p:nvPr>
            <p:ph sz="half" idx="2"/>
          </p:nvPr>
        </p:nvSpPr>
        <p:spPr>
          <a:xfrm>
            <a:off x="280988" y="2438400"/>
            <a:ext cx="8077200" cy="2590800"/>
          </a:xfrm>
        </p:spPr>
        <p:txBody>
          <a:bodyPr vert="horz" wrap="square" lIns="91440" tIns="45720" rIns="91440" bIns="45720" anchor="t" anchorCtr="0"/>
          <a:p>
            <a:pPr marL="762000" indent="-762000" algn="just"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(6)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利用定理1、2和3进行误差分析时，事先不必知道方程组的解，这种误差的分析方法称为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事先估计法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（在计算解之前就可估计误差）。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131077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48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48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  <p:bldP spid="210948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696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</a:t>
            </a:r>
            <a:r>
              <a:rPr lang="zh-CN" altLang="en-US" sz="2400" dirty="0">
                <a:latin typeface="Times New Roman" panose="02020603050405020304" pitchFamily="18" charset="0"/>
              </a:rPr>
              <a:t>2方程组的性态与误差分析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19139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924800" cy="762000"/>
          </a:xfrm>
        </p:spPr>
        <p:txBody>
          <a:bodyPr vert="horz" wrap="square" lIns="91440" tIns="45720" rIns="91440" bIns="45720" anchor="t" anchorCtr="0"/>
          <a:p>
            <a:pP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在前面例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中，系数矩阵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的逆矩阵为</a:t>
            </a:r>
            <a:r>
              <a:rPr lang="zh-CN" altLang="en-US" dirty="0">
                <a:latin typeface="+mn-lt"/>
                <a:ea typeface="+mn-ea"/>
                <a:cs typeface="+mn-cs"/>
              </a:rPr>
              <a:t> 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19140" name="Rectangle 4"/>
          <p:cNvSpPr>
            <a:spLocks noGrp="1"/>
          </p:cNvSpPr>
          <p:nvPr>
            <p:ph sz="half" idx="2"/>
          </p:nvPr>
        </p:nvSpPr>
        <p:spPr>
          <a:xfrm>
            <a:off x="457200" y="3581400"/>
            <a:ext cx="8382000" cy="24384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它的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－条件数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cond</a:t>
            </a:r>
            <a:r>
              <a:rPr lang="en-US" altLang="zh-CN" sz="3200" baseline="-300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)=||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</a:t>
            </a:r>
            <a:r>
              <a:rPr lang="en-US" altLang="zh-CN" sz="3200" baseline="-30000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=19900×1.99=39601，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此值很大，故该方程组是一个“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病态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” 方程组。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19141" name="Object 5"/>
          <p:cNvGraphicFramePr/>
          <p:nvPr/>
        </p:nvGraphicFramePr>
        <p:xfrm>
          <a:off x="2268538" y="2492375"/>
          <a:ext cx="41163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587500" imgH="457200" progId="Equation.3">
                  <p:embed/>
                </p:oleObj>
              </mc:Choice>
              <mc:Fallback>
                <p:oleObj name="" r:id="rId1" imgW="1587500" imgH="457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2492375"/>
                        <a:ext cx="4116387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/>
          <p:cNvGraphicFramePr/>
          <p:nvPr/>
        </p:nvGraphicFramePr>
        <p:xfrm>
          <a:off x="5410200" y="381000"/>
          <a:ext cx="28924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117600" imgH="457200" progId="Equation.3">
                  <p:embed/>
                </p:oleObj>
              </mc:Choice>
              <mc:Fallback>
                <p:oleObj name="" r:id="rId3" imgW="1117600" imgH="4572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0200" y="381000"/>
                        <a:ext cx="2892425" cy="1187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  <p:bldP spid="21914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6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0663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著名的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Hilbert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矩阵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3200" i="1" u="none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就是一个病态矩阵，且当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越大时，“病态”越严重。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4" name="Rectangle 3"/>
          <p:cNvSpPr>
            <a:spLocks noGrp="1"/>
          </p:cNvSpPr>
          <p:nvPr>
            <p:ph idx="1"/>
          </p:nvPr>
        </p:nvSpPr>
        <p:spPr>
          <a:xfrm>
            <a:off x="533400" y="1524000"/>
            <a:ext cx="7772400" cy="12192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70658" name="Object 2"/>
          <p:cNvGraphicFramePr/>
          <p:nvPr/>
        </p:nvGraphicFramePr>
        <p:xfrm>
          <a:off x="468313" y="1628775"/>
          <a:ext cx="5851525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2438400" imgH="1651000" progId="Equation.3">
                  <p:embed/>
                </p:oleObj>
              </mc:Choice>
              <mc:Fallback>
                <p:oleObj name="" r:id="rId1" imgW="2438400" imgH="1651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1628775"/>
                        <a:ext cx="5851525" cy="396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59" name="Object 3"/>
          <p:cNvGraphicFramePr/>
          <p:nvPr/>
        </p:nvGraphicFramePr>
        <p:xfrm>
          <a:off x="6127750" y="1700213"/>
          <a:ext cx="262096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1091565" imgH="228600" progId="Equation.3">
                  <p:embed/>
                </p:oleObj>
              </mc:Choice>
              <mc:Fallback>
                <p:oleObj name="" r:id="rId3" imgW="1091565" imgH="228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27750" y="1700213"/>
                        <a:ext cx="2620963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0" name="Object 4"/>
          <p:cNvGraphicFramePr/>
          <p:nvPr/>
        </p:nvGraphicFramePr>
        <p:xfrm>
          <a:off x="6156325" y="2492375"/>
          <a:ext cx="23177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965200" imgH="457200" progId="Equation.3">
                  <p:embed/>
                </p:oleObj>
              </mc:Choice>
              <mc:Fallback>
                <p:oleObj name="" r:id="rId5" imgW="965200" imgH="4572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56325" y="2492375"/>
                        <a:ext cx="2317750" cy="109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0261" name="Object 5"/>
          <p:cNvGraphicFramePr/>
          <p:nvPr/>
        </p:nvGraphicFramePr>
        <p:xfrm>
          <a:off x="6110288" y="3716338"/>
          <a:ext cx="240982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7" imgW="1002665" imgH="457200" progId="Equation.3">
                  <p:embed/>
                </p:oleObj>
              </mc:Choice>
              <mc:Fallback>
                <p:oleObj name="" r:id="rId7" imgW="1002665" imgH="457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0288" y="3716338"/>
                        <a:ext cx="2409825" cy="109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8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8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2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430083" name="Rectangle 3"/>
          <p:cNvSpPr>
            <a:spLocks noGrp="1"/>
          </p:cNvSpPr>
          <p:nvPr>
            <p:ph idx="1"/>
          </p:nvPr>
        </p:nvSpPr>
        <p:spPr>
          <a:xfrm>
            <a:off x="615950" y="620713"/>
            <a:ext cx="7772400" cy="5767387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10000"/>
              </a:lnSpc>
              <a:buNone/>
            </a:pPr>
            <a:r>
              <a:rPr lang="zh-CN" altLang="en-US" sz="3200" dirty="0"/>
              <a:t>       虽然可以用线性方程组的系数矩阵的条件数来判断方程组是否病态，但由于在计算条件数时，要先算出系数矩阵的逆矩阵，这也就相当于求解方程组了，显然不可行。所以，在实际的计算中，往往通过系数矩阵元素之间的关系来分析。若系数矩阵某些行（或列）接近线性相关，矩阵元素之间数量级相差很大且分布没有一定规律，用主元素法求解时出现小主元，则该线性方程组很可能是病态的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charRg st="0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30083">
                                            <p:txEl>
                                              <p:charRg st="0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315" y="404495"/>
            <a:ext cx="8340090" cy="568896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53670" y="-27305"/>
            <a:ext cx="9297670" cy="623697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560" y="0"/>
            <a:ext cx="9066530" cy="61360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560" y="116840"/>
            <a:ext cx="9260840" cy="6507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16840"/>
            <a:ext cx="9086215" cy="60502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95885" y="168910"/>
            <a:ext cx="9265285" cy="617347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670" y="152400"/>
            <a:ext cx="9112885" cy="600519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17145"/>
            <a:ext cx="9435465" cy="61842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67755" y="1696085"/>
            <a:ext cx="1716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证明？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9571" name="Rectangle 10"/>
          <p:cNvSpPr>
            <a:spLocks noGrp="1"/>
          </p:cNvSpPr>
          <p:nvPr>
            <p:ph type="title"/>
          </p:nvPr>
        </p:nvSpPr>
        <p:spPr>
          <a:xfrm>
            <a:off x="533400" y="585788"/>
            <a:ext cx="7772400" cy="785812"/>
          </a:xfrm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b="1" u="none" dirty="0">
                <a:latin typeface="Times New Roman" panose="02020603050405020304" pitchFamily="18" charset="0"/>
              </a:rPr>
              <a:t>6.</a:t>
            </a:r>
            <a:r>
              <a:rPr lang="zh-CN" altLang="zh-CN" b="1" u="none" dirty="0">
                <a:latin typeface="Times New Roman" panose="02020603050405020304" pitchFamily="18" charset="0"/>
              </a:rPr>
              <a:t>2.</a:t>
            </a:r>
            <a:r>
              <a:rPr lang="zh-CN" altLang="en-US" b="1" u="none" dirty="0">
                <a:latin typeface="Times New Roman" panose="02020603050405020304" pitchFamily="18" charset="0"/>
              </a:rPr>
              <a:t>2</a:t>
            </a:r>
            <a:r>
              <a:rPr lang="zh-CN" altLang="zh-CN" b="1" u="none" dirty="0"/>
              <a:t> </a:t>
            </a:r>
            <a:r>
              <a:rPr lang="zh-CN" altLang="en-US" b="1" u="none" dirty="0"/>
              <a:t>矩阵的三角分解及应用</a:t>
            </a:r>
            <a:endParaRPr lang="zh-CN" altLang="en-US" sz="5400" b="1" u="none" dirty="0"/>
          </a:p>
        </p:txBody>
      </p:sp>
      <p:sp>
        <p:nvSpPr>
          <p:cNvPr id="71691" name="Rectangle 11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8382000" cy="25146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+mn-lt"/>
                <a:ea typeface="+mn-ea"/>
                <a:cs typeface="+mn-cs"/>
              </a:rPr>
              <a:t>	若方程组的系数矩阵</a:t>
            </a:r>
            <a:r>
              <a:rPr lang="en-US" altLang="en-US" sz="3200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为两个三角</a:t>
            </a:r>
            <a:r>
              <a:rPr lang="zh-CN" altLang="zh-CN" sz="3200" dirty="0">
                <a:latin typeface="+mn-lt"/>
                <a:ea typeface="+mn-ea"/>
                <a:cs typeface="+mn-cs"/>
              </a:rPr>
              <a:t>形矩阵的乘积，则会对解线性方程组带来很大的方便。本节将讨论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矩阵的三角分解与方程组的解法的关系。</a:t>
            </a:r>
            <a:endParaRPr lang="zh-CN" altLang="zh-CN" sz="4400" dirty="0">
              <a:latin typeface="+mn-lt"/>
              <a:ea typeface="+mn-ea"/>
              <a:cs typeface="+mn-cs"/>
            </a:endParaRPr>
          </a:p>
        </p:txBody>
      </p:sp>
      <p:sp>
        <p:nvSpPr>
          <p:cNvPr id="71692" name="Rectangle 12"/>
          <p:cNvSpPr>
            <a:spLocks noGrp="1"/>
          </p:cNvSpPr>
          <p:nvPr>
            <p:ph sz="half" idx="2"/>
          </p:nvPr>
        </p:nvSpPr>
        <p:spPr>
          <a:xfrm>
            <a:off x="381000" y="3962400"/>
            <a:ext cx="8534400" cy="2286000"/>
          </a:xfrm>
        </p:spPr>
        <p:txBody>
          <a:bodyPr vert="horz" wrap="square" lIns="91440" tIns="45720" rIns="91440" bIns="45720" anchor="t" anchorCtr="0"/>
          <a:p>
            <a:pP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+mn-lt"/>
                <a:ea typeface="+mn-ea"/>
                <a:cs typeface="+mn-cs"/>
              </a:rPr>
              <a:t>本节的主要内容：</a:t>
            </a:r>
            <a:endParaRPr lang="zh-CN" altLang="en-US" sz="3200" dirty="0">
              <a:latin typeface="+mn-lt"/>
              <a:ea typeface="+mn-ea"/>
              <a:cs typeface="+mn-cs"/>
            </a:endParaRPr>
          </a:p>
          <a:p>
            <a:pPr lvl="1">
              <a:buSzPct val="75000"/>
            </a:pPr>
            <a:r>
              <a:rPr lang="zh-CN" altLang="en-US" sz="2800" dirty="0">
                <a:latin typeface="+mn-lt"/>
                <a:ea typeface="+mn-ea"/>
              </a:rPr>
              <a:t>矩阵</a:t>
            </a:r>
            <a:r>
              <a:rPr lang="en-US" altLang="en-US" sz="2800" dirty="0">
                <a:latin typeface="Times New Roman" panose="02020603050405020304" pitchFamily="18" charset="0"/>
                <a:ea typeface="+mn-ea"/>
              </a:rPr>
              <a:t>A</a:t>
            </a:r>
            <a:r>
              <a:rPr lang="en-US" altLang="zh-CN" sz="2800" dirty="0">
                <a:latin typeface="+mn-lt"/>
                <a:ea typeface="+mn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ea typeface="+mn-ea"/>
              </a:rPr>
              <a:t>LU</a:t>
            </a:r>
            <a:r>
              <a:rPr lang="zh-CN" altLang="zh-CN" sz="2800" dirty="0">
                <a:latin typeface="+mn-lt"/>
                <a:ea typeface="+mn-ea"/>
              </a:rPr>
              <a:t>分解。</a:t>
            </a:r>
            <a:endParaRPr lang="zh-CN" altLang="en-US" sz="2800" dirty="0">
              <a:latin typeface="+mn-lt"/>
              <a:ea typeface="+mn-ea"/>
            </a:endParaRPr>
          </a:p>
          <a:p>
            <a:pPr lvl="1">
              <a:buSzPct val="75000"/>
            </a:pPr>
            <a:r>
              <a:rPr lang="zh-CN" altLang="en-US" sz="2800" dirty="0">
                <a:latin typeface="+mn-lt"/>
                <a:ea typeface="+mn-ea"/>
              </a:rPr>
              <a:t>追赶法，平方根法与改进的平方根法。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+mn-lt"/>
                <a:ea typeface="隶书" panose="02010509060101010101" pitchFamily="49" charset="-122"/>
                <a:cs typeface="+mn-cs"/>
              </a:rPr>
              <a:t>重点掌握方程组的直接三角分解法的基本思想</a:t>
            </a:r>
            <a:endParaRPr lang="zh-CN" altLang="en-US" sz="3200" b="1" dirty="0">
              <a:latin typeface="+mn-lt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1693" name="AutoShape 13"/>
          <p:cNvSpPr/>
          <p:nvPr/>
        </p:nvSpPr>
        <p:spPr>
          <a:xfrm>
            <a:off x="5148263" y="3429000"/>
            <a:ext cx="3024187" cy="1079500"/>
          </a:xfrm>
          <a:prstGeom prst="wedgeRoundRectCallout">
            <a:avLst>
              <a:gd name="adj1" fmla="val -86639"/>
              <a:gd name="adj2" fmla="val -5426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用矩阵的理论来解释消元法</a:t>
            </a:r>
            <a:endParaRPr lang="zh-CN" altLang="en-US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71691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69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692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692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692">
                                            <p:txEl>
                                              <p:charRg st="3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1" grpId="0" build="p"/>
      <p:bldP spid="71692" grpId="0" bldLvl="3" build="p"/>
      <p:bldP spid="7169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05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/>
            <a:r>
              <a:rPr lang="en-US" altLang="zh-CN" sz="3600" b="1" u="none" dirty="0">
                <a:solidFill>
                  <a:schemeClr val="hlink"/>
                </a:solidFill>
                <a:latin typeface="Times New Roman" panose="02020603050405020304" pitchFamily="18" charset="0"/>
              </a:rPr>
              <a:t>6.</a:t>
            </a:r>
            <a:r>
              <a:rPr lang="zh-CN" altLang="en-US" sz="3600" b="1" u="none" dirty="0">
                <a:solidFill>
                  <a:schemeClr val="hlink"/>
                </a:solidFill>
                <a:latin typeface="Times New Roman" panose="02020603050405020304" pitchFamily="18" charset="0"/>
              </a:rPr>
              <a:t>2.2</a:t>
            </a:r>
            <a:r>
              <a:rPr lang="zh-CN" altLang="en-US" sz="3600" b="1" u="none" dirty="0">
                <a:solidFill>
                  <a:schemeClr val="hlink"/>
                </a:solidFill>
              </a:rPr>
              <a:t> </a:t>
            </a:r>
            <a:r>
              <a:rPr lang="en-US" altLang="zh-CN" sz="3600" b="1" u="none" dirty="0">
                <a:solidFill>
                  <a:schemeClr val="hlink"/>
                </a:solidFill>
                <a:latin typeface="Times New Roman" panose="02020603050405020304" pitchFamily="18" charset="0"/>
              </a:rPr>
              <a:t>Gauss </a:t>
            </a:r>
            <a:r>
              <a:rPr lang="zh-CN" altLang="en-US" sz="3600" b="1" u="none" dirty="0">
                <a:solidFill>
                  <a:schemeClr val="hlink"/>
                </a:solidFill>
              </a:rPr>
              <a:t>消去法与矩阵的三角分解</a:t>
            </a:r>
            <a:endParaRPr lang="zh-CN" altLang="en-US" sz="3600" b="1" dirty="0">
              <a:solidFill>
                <a:schemeClr val="hlink"/>
              </a:solidFill>
            </a:endParaRPr>
          </a:p>
        </p:txBody>
      </p:sp>
      <p:sp>
        <p:nvSpPr>
          <p:cNvPr id="277509" name="Oval 5"/>
          <p:cNvSpPr/>
          <p:nvPr/>
        </p:nvSpPr>
        <p:spPr>
          <a:xfrm>
            <a:off x="1066800" y="2133600"/>
            <a:ext cx="7543800" cy="1524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zh-CN" altLang="zh-CN" dirty="0">
                <a:latin typeface="Comic Sans MS" panose="030F0702030302020204" pitchFamily="66" charset="0"/>
              </a:rPr>
              <a:t>首先讨论</a:t>
            </a:r>
            <a:r>
              <a:rPr lang="zh-CN" altLang="en-US" dirty="0">
                <a:latin typeface="Comic Sans MS" panose="030F0702030302020204" pitchFamily="66" charset="0"/>
              </a:rPr>
              <a:t>矩阵的三角分解的概念。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1619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600075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/>
              <a:t>矩阵的三角分解</a:t>
            </a:r>
            <a:endParaRPr lang="zh-CN" altLang="en-US" sz="1800" b="1" u="none" dirty="0"/>
          </a:p>
        </p:txBody>
      </p:sp>
      <p:sp>
        <p:nvSpPr>
          <p:cNvPr id="134147" name="Rectangle 3"/>
          <p:cNvSpPr>
            <a:spLocks noGrp="1"/>
          </p:cNvSpPr>
          <p:nvPr>
            <p:ph sz="half" idx="1"/>
          </p:nvPr>
        </p:nvSpPr>
        <p:spPr>
          <a:xfrm>
            <a:off x="533400" y="1066800"/>
            <a:ext cx="8180388" cy="20574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  <a:buSzPct val="85000"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定义1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设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∈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×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，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若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能分解为一个下三角矩阵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与一个上三角矩阵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的乘积，即     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algn="r">
              <a:lnSpc>
                <a:spcPct val="9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         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LU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                    (1)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algn="just">
              <a:lnSpc>
                <a:spcPct val="9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  则称这种分解为矩阵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的三角分解。 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134148" name="Rectangle 4"/>
          <p:cNvSpPr>
            <a:spLocks noGrp="1"/>
          </p:cNvSpPr>
          <p:nvPr>
            <p:ph sz="half" idx="2"/>
          </p:nvPr>
        </p:nvSpPr>
        <p:spPr>
          <a:xfrm>
            <a:off x="533400" y="3124200"/>
            <a:ext cx="8299450" cy="3505200"/>
          </a:xfrm>
        </p:spPr>
        <p:txBody>
          <a:bodyPr vert="horz" wrap="square" lIns="91440" tIns="45720" rIns="91440" bIns="45720" anchor="t" anchorCtr="0"/>
          <a:p>
            <a:pPr>
              <a:buSzPct val="85000"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若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为单位下三角矩阵（主对角元素皆为1的下三角矩阵），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为上三角矩阵，则称(1) 为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Doolittle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>
              <a:buSzPct val="85000"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若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为下三角矩阵，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为单位上三角矩阵（主对角元素皆为1的上三角矩阵），则称(1) 为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Crout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134150" name="AutoShape 6"/>
          <p:cNvSpPr/>
          <p:nvPr/>
        </p:nvSpPr>
        <p:spPr>
          <a:xfrm>
            <a:off x="1676400" y="1600200"/>
            <a:ext cx="5181600" cy="1219200"/>
          </a:xfrm>
          <a:prstGeom prst="wedgeRoundRectCallout">
            <a:avLst>
              <a:gd name="adj1" fmla="val -17278"/>
              <a:gd name="adj2" fmla="val -11224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下面讨论</a:t>
            </a:r>
            <a:r>
              <a:rPr lang="en-US" altLang="zh-CN" b="1" dirty="0">
                <a:latin typeface="Times New Roman" panose="02020603050405020304" pitchFamily="18" charset="0"/>
                <a:ea typeface="隶书" panose="02010509060101010101" pitchFamily="49" charset="-122"/>
              </a:rPr>
              <a:t>Gauss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消去法与三角分解的关系。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charRg st="4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charRg st="49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charRg st="92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4147">
                                            <p:txEl>
                                              <p:charRg st="92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4148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charRg st="57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4148">
                                            <p:txEl>
                                              <p:charRg st="57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bldLvl="2" build="p"/>
      <p:bldP spid="134148" grpId="0" build="p"/>
      <p:bldP spid="13415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592138"/>
          </a:xfrm>
          <a:solidFill>
            <a:srgbClr val="DDDDDD">
              <a:alpha val="100000"/>
            </a:srgbClr>
          </a:solidFill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latin typeface="Times New Roman" panose="02020603050405020304" pitchFamily="18" charset="0"/>
              </a:rPr>
              <a:t>Gauss </a:t>
            </a:r>
            <a:r>
              <a:rPr lang="zh-CN" altLang="en-US" sz="3200" b="1" u="none" dirty="0">
                <a:latin typeface="Times New Roman" panose="02020603050405020304" pitchFamily="18" charset="0"/>
              </a:rPr>
              <a:t>顺序消去法与矩阵的三角分解</a:t>
            </a:r>
            <a:endParaRPr lang="zh-CN" altLang="en-US" sz="3200" b="1" u="none" dirty="0">
              <a:latin typeface="Times New Roman" panose="02020603050405020304" pitchFamily="18" charset="0"/>
            </a:endParaRPr>
          </a:p>
        </p:txBody>
      </p:sp>
      <p:sp>
        <p:nvSpPr>
          <p:cNvPr id="136195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762000"/>
            <a:ext cx="8534400" cy="2057400"/>
          </a:xfrm>
        </p:spPr>
        <p:txBody>
          <a:bodyPr vert="horz" wrap="square" lIns="91440" tIns="45720" rIns="91440" bIns="45720" anchor="t" anchorCtr="0"/>
          <a:p>
            <a:pPr marL="0" indent="0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</a:rPr>
              <a:t>第一次消元将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化为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这相当于对增广矩阵[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dirty="0">
                <a:latin typeface="Times New Roman" panose="02020603050405020304" pitchFamily="18" charset="0"/>
              </a:rPr>
              <a:t> ] </a:t>
            </a:r>
            <a:r>
              <a:rPr lang="zh-CN" altLang="en-US" sz="3200" dirty="0">
                <a:latin typeface="Times New Roman" panose="02020603050405020304" pitchFamily="18" charset="0"/>
              </a:rPr>
              <a:t>作矩阵的初等变换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[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dirty="0">
                <a:latin typeface="Times New Roman" panose="02020603050405020304" pitchFamily="18" charset="0"/>
              </a:rPr>
              <a:t> ] = [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sz="3200" dirty="0">
                <a:latin typeface="Times New Roman" panose="02020603050405020304" pitchFamily="18" charset="0"/>
              </a:rPr>
              <a:t> ] , </a:t>
            </a:r>
            <a:r>
              <a:rPr lang="zh-CN" altLang="en-US" sz="3200" dirty="0">
                <a:latin typeface="Times New Roman" panose="02020603050405020304" pitchFamily="18" charset="0"/>
              </a:rPr>
              <a:t>其中 </a:t>
            </a:r>
            <a:endParaRPr lang="zh-CN" altLang="en-US" sz="3200" dirty="0"/>
          </a:p>
        </p:txBody>
      </p:sp>
      <p:graphicFrame>
        <p:nvGraphicFramePr>
          <p:cNvPr id="136200" name="Object 8"/>
          <p:cNvGraphicFramePr>
            <a:graphicFrameLocks noGrp="1"/>
          </p:cNvGraphicFramePr>
          <p:nvPr>
            <p:ph sz="half" idx="2"/>
          </p:nvPr>
        </p:nvGraphicFramePr>
        <p:xfrm>
          <a:off x="381000" y="2362200"/>
          <a:ext cx="5437188" cy="407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2171700" imgH="1625600" progId="Equation.DSMT4">
                  <p:embed/>
                </p:oleObj>
              </mc:Choice>
              <mc:Fallback>
                <p:oleObj name="" r:id="rId1" imgW="2171700" imgH="16256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2362200"/>
                        <a:ext cx="5437188" cy="4070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1" name="Rectangle 9"/>
          <p:cNvSpPr/>
          <p:nvPr/>
        </p:nvSpPr>
        <p:spPr>
          <a:xfrm>
            <a:off x="5943600" y="2895600"/>
            <a:ext cx="2362200" cy="287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defTabSz="914400" eaLnBrk="0" hangingPunct="0">
              <a:lnSpc>
                <a:spcPct val="130000"/>
              </a:lnSpc>
              <a:tabLst>
                <a:tab pos="1409700" algn="l"/>
              </a:tabLst>
            </a:pP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</a:rPr>
              <a:t>为单位下三角矩阵，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</a:rPr>
              <a:t>=2,…,n）</a:t>
            </a:r>
            <a:r>
              <a:rPr lang="zh-CN" altLang="en-US" sz="2800" b="1" dirty="0">
                <a:latin typeface="Times New Roman" panose="02020603050405020304" pitchFamily="18" charset="0"/>
              </a:rPr>
              <a:t>为第一次消元时的乘数。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/>
      <p:bldP spid="13620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26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2800" dirty="0"/>
          </a:p>
        </p:txBody>
      </p:sp>
      <p:sp>
        <p:nvSpPr>
          <p:cNvPr id="137220" name="Rectangle 4"/>
          <p:cNvSpPr>
            <a:spLocks noGrp="1"/>
          </p:cNvSpPr>
          <p:nvPr>
            <p:ph sz="half" idx="2"/>
          </p:nvPr>
        </p:nvSpPr>
        <p:spPr>
          <a:xfrm>
            <a:off x="304800" y="1143000"/>
            <a:ext cx="8534400" cy="32766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一般地，第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次消元将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 )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化为 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ctr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+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k+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这相当于对增广矩阵[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 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作矩阵的初等变换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ctr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      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+mn-ea"/>
                <a:cs typeface="+mn-cs"/>
              </a:rPr>
              <a:t>k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 = 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k+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k+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 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其中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+mn-ea"/>
                <a:cs typeface="+mn-cs"/>
              </a:rPr>
              <a:t>k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如下：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220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charRg st="3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7220">
                                            <p:txEl>
                                              <p:charRg st="3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charRg st="5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7220">
                                            <p:txEl>
                                              <p:charRg st="50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charRg st="85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7220">
                                            <p:txEl>
                                              <p:charRg st="85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charRg st="138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7220">
                                            <p:txEl>
                                              <p:charRg st="138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 bldLvl="2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5334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3200" dirty="0"/>
          </a:p>
        </p:txBody>
      </p:sp>
      <p:graphicFrame>
        <p:nvGraphicFramePr>
          <p:cNvPr id="141315" name="Object 3"/>
          <p:cNvGraphicFramePr/>
          <p:nvPr/>
        </p:nvGraphicFramePr>
        <p:xfrm>
          <a:off x="1266825" y="685800"/>
          <a:ext cx="6573838" cy="462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2628900" imgH="1854200" progId="Equation.3">
                  <p:embed/>
                </p:oleObj>
              </mc:Choice>
              <mc:Fallback>
                <p:oleObj name="" r:id="rId1" imgW="2628900" imgH="18542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66825" y="685800"/>
                        <a:ext cx="6573838" cy="462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7" name="Rectangle 5"/>
          <p:cNvSpPr/>
          <p:nvPr/>
        </p:nvSpPr>
        <p:spPr>
          <a:xfrm>
            <a:off x="304800" y="5486400"/>
            <a:ext cx="83978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 k</a:t>
            </a:r>
            <a:r>
              <a:rPr lang="en-US" altLang="zh-CN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+1,…,n）</a:t>
            </a:r>
            <a:r>
              <a:rPr lang="zh-CN" altLang="en-US" dirty="0">
                <a:latin typeface="Times New Roman" panose="02020603050405020304" pitchFamily="18" charset="0"/>
              </a:rPr>
              <a:t>为第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次消元时的乘数。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3667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72400" cy="457200"/>
          </a:xfrm>
        </p:spPr>
        <p:txBody>
          <a:bodyPr vert="horz" wrap="square" lIns="91440" tIns="45720" rIns="91440" bIns="45720" anchor="ctr" anchorCtr="0"/>
          <a:p>
            <a:r>
              <a:rPr lang="zh-CN" altLang="en-US" sz="2400" dirty="0">
                <a:latin typeface="Times New Roman" panose="02020603050405020304" pitchFamily="18" charset="0"/>
              </a:rPr>
              <a:t>分析</a:t>
            </a:r>
            <a:r>
              <a:rPr lang="en-US" altLang="zh-CN" sz="2400" dirty="0"/>
              <a:t>Gauss</a:t>
            </a:r>
            <a:r>
              <a:rPr lang="zh-CN" altLang="en-US" sz="2400" dirty="0">
                <a:latin typeface="Times New Roman" panose="02020603050405020304" pitchFamily="18" charset="0"/>
              </a:rPr>
              <a:t>消去法的消元过程</a:t>
            </a:r>
            <a:endParaRPr lang="zh-CN" altLang="en-US" dirty="0"/>
          </a:p>
        </p:txBody>
      </p:sp>
      <p:sp>
        <p:nvSpPr>
          <p:cNvPr id="138244" name="Rectangle 4"/>
          <p:cNvSpPr>
            <a:spLocks noGrp="1"/>
          </p:cNvSpPr>
          <p:nvPr>
            <p:ph sz="half" idx="2"/>
          </p:nvPr>
        </p:nvSpPr>
        <p:spPr>
          <a:xfrm>
            <a:off x="228600" y="858838"/>
            <a:ext cx="8736013" cy="2570162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第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-1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次消元将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(n-1)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(n-1)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化为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ctr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这相当于对增广矩阵 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作矩阵的初等变换 ：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+mn-ea"/>
                <a:cs typeface="+mn-cs"/>
              </a:rPr>
              <a:t>n-</a:t>
            </a:r>
            <a:r>
              <a:rPr lang="en-US" altLang="zh-CN" sz="3200" b="1" baseline="-30000" dirty="0"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-1)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-1)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 = [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]，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其中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+mn-ea"/>
                <a:cs typeface="+mn-cs"/>
              </a:rPr>
              <a:t>n-</a:t>
            </a:r>
            <a:r>
              <a:rPr lang="en-US" altLang="zh-CN" sz="3200" b="1" baseline="-30000" dirty="0"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由 (2) 求得。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8245" name="Text Box 5"/>
          <p:cNvSpPr txBox="1"/>
          <p:nvPr/>
        </p:nvSpPr>
        <p:spPr>
          <a:xfrm>
            <a:off x="219075" y="4357688"/>
            <a:ext cx="8424863" cy="1798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</a:rPr>
              <a:t>综上所述，有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 F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n-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 F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n-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…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[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</a:rPr>
              <a:t> ] = [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]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8244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8244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>
                                            <p:txEl>
                                              <p:charRg st="49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8244">
                                            <p:txEl>
                                              <p:charRg st="49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>
                                            <p:txEl>
                                              <p:charRg st="13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8244">
                                            <p:txEl>
                                              <p:charRg st="130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build="p"/>
      <p:bldP spid="13824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7620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Grp="1"/>
          </p:cNvSpPr>
          <p:nvPr>
            <p:ph type="body" sz="half" idx="1"/>
          </p:nvPr>
        </p:nvSpPr>
        <p:spPr>
          <a:xfrm>
            <a:off x="533400" y="838200"/>
            <a:ext cx="7772400" cy="3048000"/>
          </a:xfrm>
        </p:spPr>
        <p:txBody>
          <a:bodyPr vert="horz" wrap="square" lIns="91440" tIns="45720" rIns="91440" bIns="45720" anchor="t" anchorCtr="0"/>
          <a:p>
            <a:pPr algn="just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令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algn="r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=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 F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n-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n-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/>
              <a:t>…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</a:rPr>
              <a:t> ,                     </a:t>
            </a:r>
            <a:r>
              <a:rPr lang="en-US" altLang="zh-CN" sz="3200" dirty="0">
                <a:latin typeface="Times New Roman" panose="02020603050405020304" pitchFamily="18" charset="0"/>
              </a:rPr>
              <a:t>(4)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algn="just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由式 (3) 有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algn="r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FA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，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             (5)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algn="just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设</a:t>
            </a:r>
            <a:endParaRPr lang="zh-CN" altLang="en-US" sz="3200" dirty="0"/>
          </a:p>
        </p:txBody>
      </p:sp>
      <p:graphicFrame>
        <p:nvGraphicFramePr>
          <p:cNvPr id="142341" name="Object 5"/>
          <p:cNvGraphicFramePr/>
          <p:nvPr/>
        </p:nvGraphicFramePr>
        <p:xfrm>
          <a:off x="1143000" y="3516313"/>
          <a:ext cx="5729288" cy="257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2082800" imgH="939800" progId="Equation.3">
                  <p:embed/>
                </p:oleObj>
              </mc:Choice>
              <mc:Fallback>
                <p:oleObj name="" r:id="rId1" imgW="2082800" imgH="9398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3516313"/>
                        <a:ext cx="5729288" cy="2579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3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39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charRg st="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39">
                                            <p:txEl>
                                              <p:charRg st="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39">
                                            <p:txEl>
                                              <p:charRg st="2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39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39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339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339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2339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2339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0725" name="Rectangle 2"/>
          <p:cNvSpPr>
            <a:spLocks noGrp="1"/>
          </p:cNvSpPr>
          <p:nvPr>
            <p:ph type="title"/>
          </p:nvPr>
        </p:nvSpPr>
        <p:spPr>
          <a:xfrm>
            <a:off x="533400" y="76200"/>
            <a:ext cx="7772400" cy="725488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1447800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由式 (5) 可知：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 = b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(1)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= F 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= Lb 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，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= A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(1) </a:t>
            </a:r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/>
              <a:t>…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U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LU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endParaRPr lang="en-US" altLang="zh-CN" sz="32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64" name="Object 4"/>
          <p:cNvGraphicFramePr/>
          <p:nvPr/>
        </p:nvGraphicFramePr>
        <p:xfrm>
          <a:off x="296863" y="1916113"/>
          <a:ext cx="3249612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" imgW="1243965" imgH="241300" progId="Equation.3">
                  <p:embed/>
                </p:oleObj>
              </mc:Choice>
              <mc:Fallback>
                <p:oleObj name="" r:id="rId1" imgW="1243965" imgH="2413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863" y="1916113"/>
                        <a:ext cx="3249612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567113" y="1916113"/>
            <a:ext cx="100488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注意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1315" name="Object 3"/>
          <p:cNvGraphicFramePr/>
          <p:nvPr/>
        </p:nvGraphicFramePr>
        <p:xfrm>
          <a:off x="1647825" y="2514600"/>
          <a:ext cx="581025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2324100" imgH="1625600" progId="Equation.3">
                  <p:embed/>
                </p:oleObj>
              </mc:Choice>
              <mc:Fallback>
                <p:oleObj name="" r:id="rId3" imgW="2324100" imgH="16256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7825" y="2514600"/>
                        <a:ext cx="5810250" cy="4057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charRg st="4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charRg st="41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>
          <a:xfrm>
            <a:off x="533400" y="76200"/>
            <a:ext cx="7772400" cy="725488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1447800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则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= F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/>
              <a:t>…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U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LU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endParaRPr lang="en-US" altLang="zh-CN" sz="32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66" name="Object 6"/>
          <p:cNvGraphicFramePr/>
          <p:nvPr/>
        </p:nvGraphicFramePr>
        <p:xfrm>
          <a:off x="801688" y="1844675"/>
          <a:ext cx="7600950" cy="422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" imgW="2921000" imgH="1625600" progId="Equation.3">
                  <p:embed/>
                </p:oleObj>
              </mc:Choice>
              <mc:Fallback>
                <p:oleObj name="" r:id="rId1" imgW="2921000" imgH="16256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1688" y="1844675"/>
                        <a:ext cx="7600950" cy="422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charRg st="3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charRg st="3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4691" name="Rectangle 2"/>
          <p:cNvSpPr>
            <a:spLocks noGrp="1"/>
          </p:cNvSpPr>
          <p:nvPr>
            <p:ph type="title"/>
          </p:nvPr>
        </p:nvSpPr>
        <p:spPr>
          <a:xfrm>
            <a:off x="533400" y="195263"/>
            <a:ext cx="7772400" cy="414337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分析</a:t>
            </a:r>
            <a:r>
              <a:rPr lang="en-US" altLang="zh-CN" sz="2000" dirty="0"/>
              <a:t>Gauss</a:t>
            </a:r>
            <a:r>
              <a:rPr lang="zh-CN" altLang="en-US" sz="2000" dirty="0">
                <a:latin typeface="Times New Roman" panose="02020603050405020304" pitchFamily="18" charset="0"/>
              </a:rPr>
              <a:t>消去法的消元过程</a:t>
            </a:r>
            <a:endParaRPr lang="zh-CN" altLang="en-US" sz="2800" dirty="0"/>
          </a:p>
        </p:txBody>
      </p:sp>
      <p:sp>
        <p:nvSpPr>
          <p:cNvPr id="139268" name="Rectangle 4"/>
          <p:cNvSpPr>
            <a:spLocks noGrp="1"/>
          </p:cNvSpPr>
          <p:nvPr>
            <p:ph sz="half" idx="2"/>
          </p:nvPr>
        </p:nvSpPr>
        <p:spPr>
          <a:xfrm>
            <a:off x="228600" y="609600"/>
            <a:ext cx="8686800" cy="57150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10000"/>
              </a:lnSpc>
              <a:spcAft>
                <a:spcPct val="20000"/>
              </a:spcAft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设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阶矩阵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的各阶顺序主子式皆不为零，则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存在惟一的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Doolittle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推论1 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设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阶矩阵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的各阶顺序主子式皆不为零，则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存在惟一的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Crout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推论2 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设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阶矩阵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的各阶顺序主子式皆不为零，则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存在惟一的</a:t>
            </a:r>
            <a:r>
              <a:rPr lang="en-US" altLang="zh-CN" sz="3200" i="1" dirty="0">
                <a:latin typeface="Times New Roman" panose="02020603050405020304" pitchFamily="18" charset="0"/>
                <a:sym typeface="+mn-ea"/>
              </a:rPr>
              <a:t>LDU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ctr">
              <a:buSzPct val="85000"/>
              <a:buFont typeface="ZapfDingbats" pitchFamily="82" charset="2"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A=LDU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其中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为单位下三角矩阵，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为对角矩阵，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为单位上三角矩阵。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139267" name="Rectangle 3"/>
          <p:cNvSpPr>
            <a:spLocks noGrp="1"/>
          </p:cNvSpPr>
          <p:nvPr>
            <p:ph sz="half" idx="1"/>
          </p:nvPr>
        </p:nvSpPr>
        <p:spPr>
          <a:xfrm>
            <a:off x="214313" y="714375"/>
            <a:ext cx="8686800" cy="2819400"/>
          </a:xfrm>
        </p:spPr>
        <p:txBody>
          <a:bodyPr vert="horz" wrap="square" lIns="91440" tIns="45720" rIns="91440" bIns="45720" anchor="t" anchorCtr="0"/>
          <a:p>
            <a:pPr marL="0" indent="0" algn="just"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由式（6）可知，把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分解成了一个单位下三角矩阵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与一个上三角矩阵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的乘积，即实现了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Doolittle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分解。可见，若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Gauss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消去法能进行到底，则一定能实现矩阵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Doolittle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分解。于是，有如下定理：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8670" y="5741035"/>
            <a:ext cx="7311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注：以上定理的逆命题也</a:t>
            </a:r>
            <a:r>
              <a:rPr lang="zh-CN" altLang="en-US"/>
              <a:t>成立。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charRg st="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9267">
                                            <p:txEl>
                                              <p:charRg st="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267">
                                            <p:txEl>
                                              <p:charRg st="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9268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48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9268">
                                            <p:txEl>
                                              <p:charRg st="48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94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9268">
                                            <p:txEl>
                                              <p:charRg st="94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13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9268">
                                            <p:txEl>
                                              <p:charRg st="132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139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9268">
                                            <p:txEl>
                                              <p:charRg st="139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 build="p"/>
      <p:bldP spid="139267" grpId="0" build="p"/>
      <p:bldP spid="2" grpId="0"/>
      <p:bldP spid="2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2776" name="Rectangle 2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定理1的证明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44387" name="Rectangle 3"/>
          <p:cNvSpPr>
            <a:spLocks noGrp="1"/>
          </p:cNvSpPr>
          <p:nvPr>
            <p:ph idx="1"/>
          </p:nvPr>
        </p:nvSpPr>
        <p:spPr>
          <a:xfrm>
            <a:off x="533400" y="990600"/>
            <a:ext cx="7772400" cy="20574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35000"/>
              </a:lnSpc>
              <a:buNone/>
            </a:pPr>
            <a:r>
              <a:rPr lang="zh-CN" altLang="en-US" b="1" dirty="0"/>
              <a:t>证明</a:t>
            </a:r>
            <a:r>
              <a:rPr lang="zh-CN" altLang="en-US" dirty="0"/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存在性由上面的论述已经证明，下面只需证明惟一性。采用反证法。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假设分解不惟一，则存在两种不同的分解</a:t>
            </a:r>
            <a:endParaRPr lang="zh-CN" altLang="en-US" dirty="0"/>
          </a:p>
        </p:txBody>
      </p:sp>
      <p:graphicFrame>
        <p:nvGraphicFramePr>
          <p:cNvPr id="144388" name="Object 4"/>
          <p:cNvGraphicFramePr/>
          <p:nvPr/>
        </p:nvGraphicFramePr>
        <p:xfrm>
          <a:off x="2971800" y="2903538"/>
          <a:ext cx="2747963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" imgW="1116330" imgH="215900" progId="Equation.3">
                  <p:embed/>
                </p:oleObj>
              </mc:Choice>
              <mc:Fallback>
                <p:oleObj name="" r:id="rId1" imgW="1116330" imgH="2159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1800" y="2903538"/>
                        <a:ext cx="2747963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/>
          <p:cNvGrpSpPr/>
          <p:nvPr/>
        </p:nvGrpSpPr>
        <p:grpSpPr>
          <a:xfrm>
            <a:off x="533400" y="3473450"/>
            <a:ext cx="7543800" cy="1022350"/>
            <a:chOff x="432" y="3360"/>
            <a:chExt cx="4752" cy="644"/>
          </a:xfrm>
        </p:grpSpPr>
        <p:sp>
          <p:nvSpPr>
            <p:cNvPr id="32784" name="Text Box 31"/>
            <p:cNvSpPr txBox="1"/>
            <p:nvPr/>
          </p:nvSpPr>
          <p:spPr>
            <a:xfrm>
              <a:off x="432" y="3408"/>
              <a:ext cx="475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其中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与      为单位下三角矩阵，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U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与      为上三角矩阵，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73" name="Object 8"/>
            <p:cNvGraphicFramePr/>
            <p:nvPr/>
          </p:nvGraphicFramePr>
          <p:xfrm>
            <a:off x="4068" y="3408"/>
            <a:ext cx="27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3" imgW="177800" imgH="202565" progId="Equation.3">
                    <p:embed/>
                  </p:oleObj>
                </mc:Choice>
                <mc:Fallback>
                  <p:oleObj name="" r:id="rId3" imgW="177800" imgH="202565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68" y="3408"/>
                          <a:ext cx="273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4" name="Object 6"/>
            <p:cNvGraphicFramePr/>
            <p:nvPr/>
          </p:nvGraphicFramePr>
          <p:xfrm>
            <a:off x="1332" y="3360"/>
            <a:ext cx="26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5" imgW="152400" imgH="190500" progId="Equation.3">
                    <p:embed/>
                  </p:oleObj>
                </mc:Choice>
                <mc:Fallback>
                  <p:oleObj name="" r:id="rId5" imgW="152400" imgH="1905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32" y="3360"/>
                          <a:ext cx="260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4"/>
          <p:cNvGrpSpPr/>
          <p:nvPr/>
        </p:nvGrpSpPr>
        <p:grpSpPr>
          <a:xfrm>
            <a:off x="1924050" y="3976688"/>
            <a:ext cx="3028950" cy="519112"/>
            <a:chOff x="2592" y="3552"/>
            <a:chExt cx="1908" cy="327"/>
          </a:xfrm>
        </p:grpSpPr>
        <p:sp>
          <p:nvSpPr>
            <p:cNvPr id="32783" name="Text Box 32"/>
            <p:cNvSpPr txBox="1"/>
            <p:nvPr/>
          </p:nvSpPr>
          <p:spPr>
            <a:xfrm>
              <a:off x="2592" y="3552"/>
              <a:ext cx="19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则有                    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72" name="Object 10"/>
            <p:cNvGraphicFramePr/>
            <p:nvPr/>
          </p:nvGraphicFramePr>
          <p:xfrm>
            <a:off x="3168" y="3552"/>
            <a:ext cx="101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7" imgW="659765" imgH="203200" progId="Equation.3">
                    <p:embed/>
                  </p:oleObj>
                </mc:Choice>
                <mc:Fallback>
                  <p:oleObj name="" r:id="rId7" imgW="659765" imgH="2032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68" y="3552"/>
                          <a:ext cx="101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4420" name="Text Box 36"/>
          <p:cNvSpPr txBox="1"/>
          <p:nvPr/>
        </p:nvSpPr>
        <p:spPr>
          <a:xfrm>
            <a:off x="533400" y="4648200"/>
            <a:ext cx="8229600" cy="124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35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由于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非奇异，所以</a:t>
            </a:r>
            <a:r>
              <a:rPr lang="en-US" altLang="zh-CN" sz="2800" dirty="0">
                <a:latin typeface="Times New Roman" panose="02020603050405020304" pitchFamily="18" charset="0"/>
              </a:rPr>
              <a:t>det</a:t>
            </a:r>
            <a:r>
              <a:rPr lang="en-US" altLang="zh-CN" sz="2800" i="1" dirty="0">
                <a:latin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</a:rPr>
              <a:t>= det</a:t>
            </a:r>
            <a:r>
              <a:rPr lang="en-US" altLang="zh-CN" sz="2800" i="1" dirty="0">
                <a:latin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Comic Sans MS" panose="030F0702030302020204" pitchFamily="66" charset="0"/>
                <a:ea typeface="Times New Roman" panose="02020603050405020304" pitchFamily="18" charset="0"/>
              </a:rPr>
              <a:t>·</a:t>
            </a:r>
            <a:r>
              <a:rPr lang="en-US" altLang="zh-CN" sz="2800" dirty="0">
                <a:latin typeface="Times New Roman" panose="02020603050405020304" pitchFamily="18" charset="0"/>
              </a:rPr>
              <a:t>det</a:t>
            </a:r>
            <a:r>
              <a:rPr lang="en-US" altLang="zh-CN" sz="2800" i="1" dirty="0">
                <a:latin typeface="Times New Roman" panose="02020603050405020304" pitchFamily="18" charset="0"/>
              </a:rPr>
              <a:t>U </a:t>
            </a:r>
            <a:r>
              <a:rPr lang="en-US" altLang="zh-CN" sz="2800" dirty="0">
                <a:latin typeface="Times New Roman" panose="02020603050405020304" pitchFamily="18" charset="0"/>
              </a:rPr>
              <a:t>= det</a:t>
            </a:r>
            <a:r>
              <a:rPr lang="en-US" altLang="zh-CN" sz="2800" i="1" dirty="0">
                <a:latin typeface="Times New Roman" panose="02020603050405020304" pitchFamily="18" charset="0"/>
              </a:rPr>
              <a:t>U </a:t>
            </a:r>
            <a:r>
              <a:rPr lang="en-US" altLang="zh-CN" sz="2800" dirty="0">
                <a:latin typeface="Times New Roman" panose="02020603050405020304" pitchFamily="18" charset="0"/>
              </a:rPr>
              <a:t>≠ 0,</a:t>
            </a:r>
            <a:r>
              <a:rPr lang="zh-CN" altLang="en-US" sz="2800" dirty="0">
                <a:latin typeface="Times New Roman" panose="02020603050405020304" pitchFamily="18" charset="0"/>
              </a:rPr>
              <a:t>即</a:t>
            </a:r>
            <a:r>
              <a:rPr lang="en-US" altLang="zh-CN" sz="2800" i="1" dirty="0">
                <a:latin typeface="Times New Roman" panose="02020603050405020304" pitchFamily="18" charset="0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</a:rPr>
              <a:t>非奇异。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38"/>
          <p:cNvGrpSpPr/>
          <p:nvPr/>
        </p:nvGrpSpPr>
        <p:grpSpPr>
          <a:xfrm>
            <a:off x="2057400" y="5257800"/>
            <a:ext cx="3384550" cy="668338"/>
            <a:chOff x="1392" y="3456"/>
            <a:chExt cx="2132" cy="421"/>
          </a:xfrm>
        </p:grpSpPr>
        <p:sp>
          <p:nvSpPr>
            <p:cNvPr id="32782" name="Text Box 37"/>
            <p:cNvSpPr txBox="1"/>
            <p:nvPr/>
          </p:nvSpPr>
          <p:spPr>
            <a:xfrm>
              <a:off x="1392" y="3456"/>
              <a:ext cx="2132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>
                <a:lnSpc>
                  <a:spcPct val="135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于是                        。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2771" name="Object 14"/>
            <p:cNvGraphicFramePr/>
            <p:nvPr/>
          </p:nvGraphicFramePr>
          <p:xfrm>
            <a:off x="1968" y="3523"/>
            <a:ext cx="126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9" imgW="825500" imgH="203200" progId="Equation.3">
                    <p:embed/>
                  </p:oleObj>
                </mc:Choice>
                <mc:Fallback>
                  <p:oleObj name="" r:id="rId9" imgW="825500" imgH="2032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68" y="3523"/>
                          <a:ext cx="1263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4438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4438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"/>
                                        <p:tgtEl>
                                          <p:spTgt spid="1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/>
      <p:bldP spid="14442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6462" name="Text Box 30"/>
          <p:cNvSpPr txBox="1"/>
          <p:nvPr/>
        </p:nvSpPr>
        <p:spPr>
          <a:xfrm>
            <a:off x="609600" y="838200"/>
            <a:ext cx="778827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                                                   仍为单位下三角矩阵，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380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定理2.2.1的证明</a:t>
            </a:r>
            <a:endParaRPr lang="zh-CN" altLang="en-US" sz="2000" dirty="0"/>
          </a:p>
        </p:txBody>
      </p:sp>
      <p:grpSp>
        <p:nvGrpSpPr>
          <p:cNvPr id="2" name="Group 29"/>
          <p:cNvGrpSpPr/>
          <p:nvPr/>
        </p:nvGrpSpPr>
        <p:grpSpPr>
          <a:xfrm>
            <a:off x="609600" y="914400"/>
            <a:ext cx="6229350" cy="519113"/>
            <a:chOff x="384" y="576"/>
            <a:chExt cx="3924" cy="327"/>
          </a:xfrm>
        </p:grpSpPr>
        <p:sp>
          <p:nvSpPr>
            <p:cNvPr id="33810" name="Text Box 28"/>
            <p:cNvSpPr txBox="1"/>
            <p:nvPr/>
          </p:nvSpPr>
          <p:spPr>
            <a:xfrm>
              <a:off x="384" y="576"/>
              <a:ext cx="39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而        为两个单位下三角矩阵的乘积，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798" name="Object 16"/>
            <p:cNvGraphicFramePr/>
            <p:nvPr/>
          </p:nvGraphicFramePr>
          <p:xfrm>
            <a:off x="672" y="576"/>
            <a:ext cx="50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1" imgW="330200" imgH="190500" progId="Equation.3">
                    <p:embed/>
                  </p:oleObj>
                </mc:Choice>
                <mc:Fallback>
                  <p:oleObj name="" r:id="rId1" imgW="330200" imgH="1905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72" y="576"/>
                          <a:ext cx="500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52" name="Object 20"/>
          <p:cNvGraphicFramePr/>
          <p:nvPr/>
        </p:nvGraphicFramePr>
        <p:xfrm>
          <a:off x="2657475" y="2522538"/>
          <a:ext cx="2752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3" imgW="1206500" imgH="228600" progId="Equation.DSMT4">
                  <p:embed/>
                </p:oleObj>
              </mc:Choice>
              <mc:Fallback>
                <p:oleObj name="" r:id="rId3" imgW="1206500" imgH="2286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7475" y="2522538"/>
                        <a:ext cx="2752725" cy="525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6"/>
          <p:cNvGrpSpPr/>
          <p:nvPr/>
        </p:nvGrpSpPr>
        <p:grpSpPr>
          <a:xfrm>
            <a:off x="609600" y="3108325"/>
            <a:ext cx="3740150" cy="549275"/>
            <a:chOff x="480" y="2006"/>
            <a:chExt cx="2356" cy="346"/>
          </a:xfrm>
        </p:grpSpPr>
        <p:sp>
          <p:nvSpPr>
            <p:cNvPr id="33809" name="Text Box 35"/>
            <p:cNvSpPr txBox="1"/>
            <p:nvPr/>
          </p:nvSpPr>
          <p:spPr>
            <a:xfrm>
              <a:off x="480" y="2025"/>
              <a:ext cx="235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于是             ，           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796" name="Object 24"/>
            <p:cNvGraphicFramePr/>
            <p:nvPr/>
          </p:nvGraphicFramePr>
          <p:xfrm>
            <a:off x="1097" y="2006"/>
            <a:ext cx="631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5" imgW="406400" imgH="190500" progId="Equation.3">
                    <p:embed/>
                  </p:oleObj>
                </mc:Choice>
                <mc:Fallback>
                  <p:oleObj name="" r:id="rId5" imgW="406400" imgH="1905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97" y="2006"/>
                          <a:ext cx="631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7" name="Object 26"/>
            <p:cNvGraphicFramePr/>
            <p:nvPr/>
          </p:nvGraphicFramePr>
          <p:xfrm>
            <a:off x="1873" y="2013"/>
            <a:ext cx="62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7" imgW="444500" imgH="203200" progId="Equation.3">
                    <p:embed/>
                  </p:oleObj>
                </mc:Choice>
                <mc:Fallback>
                  <p:oleObj name="" r:id="rId7" imgW="444500" imgH="2032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73" y="2013"/>
                          <a:ext cx="623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2"/>
          <p:cNvGrpSpPr/>
          <p:nvPr/>
        </p:nvGrpSpPr>
        <p:grpSpPr>
          <a:xfrm>
            <a:off x="2743200" y="1447800"/>
            <a:ext cx="4918075" cy="519113"/>
            <a:chOff x="1728" y="1228"/>
            <a:chExt cx="3098" cy="327"/>
          </a:xfrm>
        </p:grpSpPr>
        <p:graphicFrame>
          <p:nvGraphicFramePr>
            <p:cNvPr id="33795" name="Object 18"/>
            <p:cNvGraphicFramePr/>
            <p:nvPr/>
          </p:nvGraphicFramePr>
          <p:xfrm>
            <a:off x="1728" y="1243"/>
            <a:ext cx="541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9" imgW="381000" imgH="203200" progId="Equation.3">
                    <p:embed/>
                  </p:oleObj>
                </mc:Choice>
                <mc:Fallback>
                  <p:oleObj name="" r:id="rId9" imgW="381000" imgH="2032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28" y="1243"/>
                          <a:ext cx="541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8" name="Text Box 31"/>
            <p:cNvSpPr txBox="1"/>
            <p:nvPr/>
          </p:nvSpPr>
          <p:spPr>
            <a:xfrm>
              <a:off x="2246" y="1228"/>
              <a:ext cx="25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为两个上三角矩阵之积，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6465" name="Text Box 33"/>
          <p:cNvSpPr txBox="1"/>
          <p:nvPr/>
        </p:nvSpPr>
        <p:spPr>
          <a:xfrm>
            <a:off x="609600" y="1995488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sz="2800" dirty="0">
                <a:latin typeface="Times New Roman" panose="02020603050405020304" pitchFamily="18" charset="0"/>
              </a:rPr>
              <a:t>仍为上三角矩阵。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6466" name="Text Box 34"/>
          <p:cNvSpPr txBox="1"/>
          <p:nvPr/>
        </p:nvSpPr>
        <p:spPr>
          <a:xfrm>
            <a:off x="3352800" y="1981200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由它们相等知，必有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6469" name="Text Box 37"/>
          <p:cNvSpPr txBox="1"/>
          <p:nvPr/>
        </p:nvSpPr>
        <p:spPr>
          <a:xfrm>
            <a:off x="609600" y="3900488"/>
            <a:ext cx="49133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这与假设矛盾，故分解惟一。</a:t>
            </a:r>
            <a:r>
              <a:rPr lang="zh-CN" altLang="en-US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300"/>
                                        <p:tgtEl>
                                          <p:spTgt spid="14646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300"/>
                                        <p:tgtEl>
                                          <p:spTgt spid="1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300"/>
                                        <p:tgtEl>
                                          <p:spTgt spid="1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62" grpId="0"/>
      <p:bldP spid="146465" grpId="0" build="p"/>
      <p:bldP spid="146466" grpId="0"/>
      <p:bldP spid="14646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070" y="548640"/>
            <a:ext cx="8658225" cy="580834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571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01000" cy="600075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latin typeface="Times New Roman" panose="02020603050405020304" pitchFamily="18" charset="0"/>
              </a:rPr>
              <a:t>Gauss</a:t>
            </a:r>
            <a:r>
              <a:rPr lang="zh-CN" altLang="zh-CN" sz="3200" b="1" u="none" dirty="0"/>
              <a:t>列主元素法</a:t>
            </a:r>
            <a:r>
              <a:rPr lang="zh-CN" altLang="en-US" sz="3200" b="1" u="none" dirty="0"/>
              <a:t>与矩阵的三角分解</a:t>
            </a:r>
            <a:endParaRPr lang="zh-CN" altLang="en-US" sz="3200" b="1" u="none" dirty="0"/>
          </a:p>
        </p:txBody>
      </p:sp>
      <p:sp>
        <p:nvSpPr>
          <p:cNvPr id="150531" name="Rectangle 3"/>
          <p:cNvSpPr>
            <a:spLocks noGrp="1"/>
          </p:cNvSpPr>
          <p:nvPr>
            <p:ph idx="1"/>
          </p:nvPr>
        </p:nvSpPr>
        <p:spPr>
          <a:xfrm>
            <a:off x="504825" y="914400"/>
            <a:ext cx="8181975" cy="9906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90000"/>
              </a:lnSpc>
              <a:spcAft>
                <a:spcPct val="10000"/>
              </a:spcAft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对于一般的非奇异矩阵也有类似的分解，为此要引入排列矩阵的概念。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0532" name="AutoShape 4"/>
          <p:cNvSpPr/>
          <p:nvPr/>
        </p:nvSpPr>
        <p:spPr>
          <a:xfrm>
            <a:off x="1600200" y="5410200"/>
            <a:ext cx="7086600" cy="1066800"/>
          </a:xfrm>
          <a:prstGeom prst="wedgeRoundRectCallout">
            <a:avLst>
              <a:gd name="adj1" fmla="val -38597"/>
              <a:gd name="adj2" fmla="val -6606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0" hangingPunct="0"/>
            <a:r>
              <a:rPr lang="zh-CN" altLang="en-US" sz="2800" dirty="0">
                <a:latin typeface="Times New Roman" panose="02020603050405020304" pitchFamily="18" charset="0"/>
              </a:rPr>
              <a:t>在上述定理中，将</a:t>
            </a:r>
            <a:r>
              <a:rPr lang="en-US" altLang="zh-CN" sz="2800" dirty="0">
                <a:latin typeface="Times New Roman" panose="02020603050405020304" pitchFamily="18" charset="0"/>
              </a:rPr>
              <a:t>Doolittle</a:t>
            </a:r>
            <a:r>
              <a:rPr lang="zh-CN" altLang="en-US" sz="2800" dirty="0">
                <a:latin typeface="Times New Roman" panose="02020603050405020304" pitchFamily="18" charset="0"/>
              </a:rPr>
              <a:t>分解改为</a:t>
            </a:r>
            <a:r>
              <a:rPr lang="en-US" altLang="zh-CN" sz="2800" dirty="0">
                <a:latin typeface="Times New Roman" panose="02020603050405020304" pitchFamily="18" charset="0"/>
              </a:rPr>
              <a:t>Crout</a:t>
            </a:r>
            <a:r>
              <a:rPr lang="zh-CN" altLang="en-US" sz="2800" dirty="0">
                <a:latin typeface="Times New Roman" panose="02020603050405020304" pitchFamily="18" charset="0"/>
              </a:rPr>
              <a:t>分解或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LDU</a:t>
            </a:r>
            <a:r>
              <a:rPr lang="zh-CN" altLang="en-US" sz="2800" dirty="0">
                <a:latin typeface="Times New Roman" panose="02020603050405020304" pitchFamily="18" charset="0"/>
              </a:rPr>
              <a:t>分解也是成立的。</a:t>
            </a:r>
            <a:r>
              <a:rPr lang="zh-CN" altLang="en-US" dirty="0">
                <a:latin typeface="Times New Roman" panose="02020603050405020304" pitchFamily="18" charset="0"/>
                <a:ea typeface="华文行楷" panose="02010800040101010101" pitchFamily="2" charset="-122"/>
              </a:rPr>
              <a:t>为什么？</a:t>
            </a:r>
            <a:endParaRPr lang="zh-CN" altLang="en-US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50533" name="Rectangle 5"/>
          <p:cNvSpPr/>
          <p:nvPr/>
        </p:nvSpPr>
        <p:spPr>
          <a:xfrm>
            <a:off x="304800" y="914400"/>
            <a:ext cx="8181975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just" eaLnBrk="0" hangingPunct="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latin typeface="Times New Roman" panose="02020603050405020304" pitchFamily="18" charset="0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</a:rPr>
              <a:t>2  交换单位矩阵的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两行所得到的矩阵称为初等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置换矩阵，初等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置换矩阵的乘积称为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行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排列矩阵。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latin typeface="Times New Roman" panose="02020603050405020304" pitchFamily="18" charset="0"/>
              </a:rPr>
              <a:t>引理</a:t>
            </a:r>
            <a:r>
              <a:rPr lang="zh-CN" altLang="en-US" dirty="0">
                <a:latin typeface="Times New Roman" panose="02020603050405020304" pitchFamily="18" charset="0"/>
              </a:rPr>
              <a:t>1  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×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非奇异，则存在排列矩阵，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×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</a:rPr>
              <a:t>PA</a:t>
            </a:r>
            <a:r>
              <a:rPr lang="zh-CN" altLang="en-US" dirty="0">
                <a:latin typeface="Times New Roman" panose="02020603050405020304" pitchFamily="18" charset="0"/>
              </a:rPr>
              <a:t>的各阶顺序主子阵皆非奇异。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latin typeface="Times New Roman" panose="02020603050405020304" pitchFamily="18" charset="0"/>
              </a:rPr>
              <a:t>定理</a:t>
            </a:r>
            <a:r>
              <a:rPr lang="zh-CN" altLang="en-US" dirty="0">
                <a:latin typeface="Times New Roman" panose="02020603050405020304" pitchFamily="18" charset="0"/>
              </a:rPr>
              <a:t>2  设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×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非奇异，则存在排列矩阵，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×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</a:rPr>
              <a:t>PA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有惟一的</a:t>
            </a:r>
            <a:r>
              <a:rPr lang="en-US" altLang="zh-CN" dirty="0">
                <a:latin typeface="Times New Roman" panose="02020603050405020304" pitchFamily="18" charset="0"/>
              </a:rPr>
              <a:t>Doolittle</a:t>
            </a:r>
            <a:r>
              <a:rPr lang="zh-CN" altLang="en-US" dirty="0">
                <a:latin typeface="Times New Roman" panose="02020603050405020304" pitchFamily="18" charset="0"/>
              </a:rPr>
              <a:t>分解 </a:t>
            </a:r>
            <a:r>
              <a:rPr lang="en-US" altLang="zh-CN" i="1" dirty="0">
                <a:latin typeface="Times New Roman" panose="02020603050405020304" pitchFamily="18" charset="0"/>
              </a:rPr>
              <a:t>PA=LU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</a:rPr>
              <a:t>为单位下三角矩阵，</a:t>
            </a:r>
            <a:r>
              <a:rPr lang="en-US" altLang="zh-CN" i="1" dirty="0"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</a:rPr>
              <a:t>为上三角矩阵。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531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053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charRg st="5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0533">
                                            <p:txEl>
                                              <p:charRg st="58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charRg st="106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0533">
                                            <p:txEl>
                                              <p:charRg st="106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/>
      <p:bldP spid="150532" grpId="0" animBg="1"/>
      <p:bldP spid="15053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6739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5334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/>
              <a:t> </a:t>
            </a:r>
            <a:r>
              <a:rPr lang="en-US" altLang="zh-CN" sz="2000" dirty="0"/>
              <a:t>Gauss</a:t>
            </a:r>
            <a:r>
              <a:rPr lang="zh-CN" altLang="en-US" sz="2000" dirty="0"/>
              <a:t>消去法与矩阵的三角分解</a:t>
            </a:r>
            <a:endParaRPr lang="zh-CN" altLang="en-US" sz="2000" dirty="0"/>
          </a:p>
        </p:txBody>
      </p:sp>
      <p:sp>
        <p:nvSpPr>
          <p:cNvPr id="116740" name="Rectangle 3"/>
          <p:cNvSpPr>
            <a:spLocks noGrp="1"/>
          </p:cNvSpPr>
          <p:nvPr>
            <p:ph type="body"/>
          </p:nvPr>
        </p:nvSpPr>
        <p:spPr>
          <a:xfrm>
            <a:off x="381000" y="685800"/>
            <a:ext cx="8196263" cy="2057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5000"/>
              </a:lnSpc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由前面的讨论，我们看到解方程组的</a:t>
            </a:r>
            <a:r>
              <a:rPr lang="en-US" altLang="zh-CN" sz="3200" dirty="0">
                <a:latin typeface="Times New Roman" panose="02020603050405020304" pitchFamily="18" charset="0"/>
              </a:rPr>
              <a:t>Gauss</a:t>
            </a:r>
            <a:r>
              <a:rPr lang="zh-CN" altLang="en-US" sz="3200" dirty="0">
                <a:latin typeface="Times New Roman" panose="02020603050405020304" pitchFamily="18" charset="0"/>
              </a:rPr>
              <a:t>法对应一种矩阵的分解。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矩阵的分解可以利用矩阵的乘法实现！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151556" name="Rectangle 4"/>
          <p:cNvSpPr/>
          <p:nvPr/>
        </p:nvSpPr>
        <p:spPr>
          <a:xfrm>
            <a:off x="1066800" y="2662238"/>
            <a:ext cx="2276475" cy="995362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800" b="1" dirty="0">
                <a:latin typeface="Times New Roman" panose="02020603050405020304" pitchFamily="18" charset="0"/>
              </a:rPr>
              <a:t>Gauss</a:t>
            </a:r>
            <a:r>
              <a:rPr lang="zh-CN" altLang="en-US" sz="2800" b="1" dirty="0">
                <a:latin typeface="Times New Roman" panose="02020603050405020304" pitchFamily="18" charset="0"/>
              </a:rPr>
              <a:t>消去法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1557" name="Rectangle 5"/>
          <p:cNvSpPr/>
          <p:nvPr/>
        </p:nvSpPr>
        <p:spPr>
          <a:xfrm>
            <a:off x="5200650" y="2595563"/>
            <a:ext cx="2190750" cy="1057275"/>
          </a:xfrm>
          <a:prstGeom prst="rect">
            <a:avLst/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</a:rPr>
              <a:t>矩阵</a:t>
            </a:r>
            <a:r>
              <a:rPr lang="en-US" altLang="zh-CN" sz="2800" b="1" dirty="0">
                <a:latin typeface="Times New Roman" panose="02020603050405020304" pitchFamily="18" charset="0"/>
              </a:rPr>
              <a:t>LU</a:t>
            </a:r>
            <a:r>
              <a:rPr lang="zh-CN" altLang="en-US" sz="2800" b="1" dirty="0">
                <a:latin typeface="Times New Roman" panose="02020603050405020304" pitchFamily="18" charset="0"/>
              </a:rPr>
              <a:t>分解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51558" name="Line 6"/>
          <p:cNvSpPr/>
          <p:nvPr/>
        </p:nvSpPr>
        <p:spPr>
          <a:xfrm>
            <a:off x="3367088" y="3124200"/>
            <a:ext cx="1814512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1559" name="AutoShape 7"/>
          <p:cNvSpPr/>
          <p:nvPr/>
        </p:nvSpPr>
        <p:spPr>
          <a:xfrm>
            <a:off x="1447800" y="4114800"/>
            <a:ext cx="6081713" cy="2286000"/>
          </a:xfrm>
          <a:prstGeom prst="cloudCallout">
            <a:avLst>
              <a:gd name="adj1" fmla="val -7324"/>
              <a:gd name="adj2" fmla="val -88611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sz="2800" dirty="0">
                <a:latin typeface="Times New Roman" panose="02020603050405020304" pitchFamily="18" charset="0"/>
              </a:rPr>
              <a:t>反过来想一想，由矩阵的分解是否可以找到一种解方程组的方法？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nimBg="1"/>
      <p:bldP spid="151557" grpId="0" animBg="1"/>
      <p:bldP spid="15155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7763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738188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.2.2 直接三角分解法</a:t>
            </a:r>
            <a:endParaRPr lang="zh-CN" altLang="en-US" sz="3600" b="1" u="none" dirty="0"/>
          </a:p>
        </p:txBody>
      </p:sp>
      <p:sp>
        <p:nvSpPr>
          <p:cNvPr id="152582" name="Oval 6"/>
          <p:cNvSpPr/>
          <p:nvPr/>
        </p:nvSpPr>
        <p:spPr>
          <a:xfrm>
            <a:off x="609600" y="1447800"/>
            <a:ext cx="7772400" cy="4419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zh-CN" altLang="en-US" sz="3600" b="1" dirty="0">
                <a:latin typeface="Times New Roman" panose="02020603050405020304" pitchFamily="18" charset="0"/>
              </a:rPr>
              <a:t>解方程组</a:t>
            </a:r>
            <a:endParaRPr lang="zh-CN" altLang="en-US" sz="3600" b="1" dirty="0">
              <a:latin typeface="Times New Roman" panose="02020603050405020304" pitchFamily="18" charset="0"/>
            </a:endParaRPr>
          </a:p>
          <a:p>
            <a:pPr algn="ctr" eaLnBrk="0" hangingPunct="0"/>
            <a:endParaRPr lang="zh-CN" altLang="en-US" sz="3600" b="1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altLang="zh-CN" sz="3600" b="1" i="1" dirty="0">
                <a:latin typeface="Times New Roman" panose="02020603050405020304" pitchFamily="18" charset="0"/>
              </a:rPr>
              <a:t>Ax = b</a:t>
            </a:r>
            <a:endParaRPr lang="en-US" altLang="zh-CN" sz="3600" b="1" i="1" dirty="0">
              <a:latin typeface="Times New Roman" panose="02020603050405020304" pitchFamily="18" charset="0"/>
            </a:endParaRPr>
          </a:p>
          <a:p>
            <a:pPr algn="ctr" eaLnBrk="0" hangingPunct="0"/>
            <a:endParaRPr lang="en-US" altLang="zh-CN" sz="4000" b="1" i="1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zh-CN" altLang="en-US" sz="3600" b="1" dirty="0">
                <a:latin typeface="Times New Roman" panose="02020603050405020304" pitchFamily="18" charset="0"/>
              </a:rPr>
              <a:t>首先考虑</a:t>
            </a:r>
            <a:r>
              <a:rPr lang="en-US" altLang="en-US" sz="3600" b="1" dirty="0">
                <a:latin typeface="Times New Roman" panose="02020603050405020304" pitchFamily="18" charset="0"/>
              </a:rPr>
              <a:t>Doolittle</a:t>
            </a:r>
            <a:r>
              <a:rPr lang="zh-CN" altLang="en-US" sz="3600" b="1" dirty="0">
                <a:latin typeface="Times New Roman" panose="02020603050405020304" pitchFamily="18" charset="0"/>
              </a:rPr>
              <a:t>分解 </a:t>
            </a:r>
            <a:r>
              <a:rPr lang="en-US" altLang="en-US" sz="3600" b="1" i="1" dirty="0">
                <a:latin typeface="Times New Roman" panose="02020603050405020304" pitchFamily="18" charset="0"/>
              </a:rPr>
              <a:t>A=LU</a:t>
            </a:r>
            <a:endParaRPr lang="zh-CN" altLang="en-US" sz="4000" b="1" dirty="0">
              <a:latin typeface="Times New Roman" panose="02020603050405020304" pitchFamily="18" charset="0"/>
            </a:endParaRPr>
          </a:p>
          <a:p>
            <a:pPr algn="ctr" eaLnBrk="0" hangingPunct="0"/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23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4824" name="Rectang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7772400" cy="4064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直接三角分解法 </a:t>
            </a:r>
            <a:r>
              <a:rPr lang="zh-CN" altLang="en-US" sz="2000" u="none" dirty="0">
                <a:latin typeface="Times New Roman" panose="02020603050405020304" pitchFamily="18" charset="0"/>
              </a:rPr>
              <a:t>——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Doolittle</a:t>
            </a:r>
            <a:r>
              <a:rPr lang="zh-CN" altLang="en-US" sz="2000" dirty="0"/>
              <a:t>分解</a:t>
            </a:r>
            <a:endParaRPr lang="zh-CN" altLang="en-US" sz="2000" dirty="0"/>
          </a:p>
        </p:txBody>
      </p:sp>
      <p:sp>
        <p:nvSpPr>
          <p:cNvPr id="34825" name="Text Box 30"/>
          <p:cNvSpPr txBox="1"/>
          <p:nvPr/>
        </p:nvSpPr>
        <p:spPr>
          <a:xfrm>
            <a:off x="914400" y="533400"/>
            <a:ext cx="7620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设矩阵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存在唯一的</a:t>
            </a:r>
            <a:r>
              <a:rPr lang="en-US" altLang="en-US" dirty="0">
                <a:latin typeface="Times New Roman" panose="02020603050405020304" pitchFamily="18" charset="0"/>
              </a:rPr>
              <a:t>Doolittle</a:t>
            </a:r>
            <a:r>
              <a:rPr lang="zh-CN" altLang="en-US" dirty="0">
                <a:latin typeface="Times New Roman" panose="02020603050405020304" pitchFamily="18" charset="0"/>
              </a:rPr>
              <a:t>分解</a:t>
            </a:r>
            <a:r>
              <a:rPr lang="en-US" altLang="en-US" i="1" dirty="0">
                <a:latin typeface="Times New Roman" panose="02020603050405020304" pitchFamily="18" charset="0"/>
              </a:rPr>
              <a:t>A=LU</a:t>
            </a:r>
            <a:r>
              <a:rPr lang="en-US" altLang="en-US" i="1" dirty="0">
                <a:latin typeface="Comic Sans MS" panose="030F0702030302020204" pitchFamily="66" charset="0"/>
              </a:rPr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9967" name="Object 31"/>
          <p:cNvGraphicFramePr/>
          <p:nvPr/>
        </p:nvGraphicFramePr>
        <p:xfrm>
          <a:off x="571500" y="1066800"/>
          <a:ext cx="3848100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" imgW="977900" imgH="939800" progId="Equation.DSMT4">
                  <p:embed/>
                </p:oleObj>
              </mc:Choice>
              <mc:Fallback>
                <p:oleObj name="" r:id="rId1" imgW="977900" imgH="9398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" y="1066800"/>
                        <a:ext cx="3848100" cy="2525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32"/>
          <p:cNvGraphicFramePr/>
          <p:nvPr/>
        </p:nvGraphicFramePr>
        <p:xfrm>
          <a:off x="4611688" y="1143000"/>
          <a:ext cx="3846512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3" imgW="1180465" imgH="939165" progId="Equation.DSMT4">
                  <p:embed/>
                </p:oleObj>
              </mc:Choice>
              <mc:Fallback>
                <p:oleObj name="" r:id="rId3" imgW="1180465" imgH="939165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11688" y="1143000"/>
                        <a:ext cx="3846512" cy="243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/>
          <p:cNvGrpSpPr/>
          <p:nvPr/>
        </p:nvGrpSpPr>
        <p:grpSpPr>
          <a:xfrm>
            <a:off x="250825" y="3609975"/>
            <a:ext cx="7007225" cy="2263775"/>
            <a:chOff x="158" y="2444"/>
            <a:chExt cx="4414" cy="1426"/>
          </a:xfrm>
        </p:grpSpPr>
        <p:sp>
          <p:nvSpPr>
            <p:cNvPr id="34829" name="Text Box 33"/>
            <p:cNvSpPr txBox="1"/>
            <p:nvPr/>
          </p:nvSpPr>
          <p:spPr>
            <a:xfrm>
              <a:off x="158" y="2444"/>
              <a:ext cx="441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利用矩阵乘法可以推出：(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k </a:t>
              </a:r>
              <a:r>
                <a:rPr lang="en-US" altLang="zh-CN" b="1" dirty="0">
                  <a:latin typeface="Times New Roman" panose="02020603050405020304" pitchFamily="18" charset="0"/>
                </a:rPr>
                <a:t>= 1,2,…,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4821" name="Object 34"/>
            <p:cNvGraphicFramePr/>
            <p:nvPr/>
          </p:nvGraphicFramePr>
          <p:xfrm>
            <a:off x="660" y="2719"/>
            <a:ext cx="3378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5" imgW="2526030" imgH="431800" progId="Equation.DSMT4">
                    <p:embed/>
                  </p:oleObj>
                </mc:Choice>
                <mc:Fallback>
                  <p:oleObj name="" r:id="rId5" imgW="2526030" imgH="431800" progId="Equation.DSMT4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60" y="2719"/>
                          <a:ext cx="3378" cy="5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Object 35"/>
            <p:cNvGraphicFramePr/>
            <p:nvPr/>
          </p:nvGraphicFramePr>
          <p:xfrm>
            <a:off x="654" y="3295"/>
            <a:ext cx="3599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7" imgW="2691130" imgH="431800" progId="Equation.DSMT4">
                    <p:embed/>
                  </p:oleObj>
                </mc:Choice>
                <mc:Fallback>
                  <p:oleObj name="" r:id="rId7" imgW="2691130" imgH="431800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4" y="3295"/>
                          <a:ext cx="3599" cy="5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0" name="Text Box 36"/>
            <p:cNvSpPr txBox="1"/>
            <p:nvPr/>
          </p:nvSpPr>
          <p:spPr>
            <a:xfrm>
              <a:off x="246" y="3107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43"/>
          <p:cNvGrpSpPr/>
          <p:nvPr/>
        </p:nvGrpSpPr>
        <p:grpSpPr>
          <a:xfrm>
            <a:off x="6994525" y="3810000"/>
            <a:ext cx="1920875" cy="1646238"/>
            <a:chOff x="4042" y="2443"/>
            <a:chExt cx="1210" cy="1037"/>
          </a:xfrm>
        </p:grpSpPr>
        <p:sp>
          <p:nvSpPr>
            <p:cNvPr id="34828" name="Rectangle 39"/>
            <p:cNvSpPr/>
            <p:nvPr/>
          </p:nvSpPr>
          <p:spPr>
            <a:xfrm>
              <a:off x="4042" y="2443"/>
              <a:ext cx="1210" cy="1037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/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规定</a:t>
              </a:r>
              <a:endPara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  <p:graphicFrame>
          <p:nvGraphicFramePr>
            <p:cNvPr id="34820" name="Object 40"/>
            <p:cNvGraphicFramePr/>
            <p:nvPr/>
          </p:nvGraphicFramePr>
          <p:xfrm>
            <a:off x="4232" y="2771"/>
            <a:ext cx="750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9" imgW="571500" imgH="431800" progId="Equation.3">
                    <p:embed/>
                  </p:oleObj>
                </mc:Choice>
                <mc:Fallback>
                  <p:oleObj name="" r:id="rId9" imgW="571500" imgH="4318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32" y="2771"/>
                          <a:ext cx="750" cy="610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7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pSp>
        <p:nvGrpSpPr>
          <p:cNvPr id="2" name="Group 46"/>
          <p:cNvGrpSpPr/>
          <p:nvPr/>
        </p:nvGrpSpPr>
        <p:grpSpPr>
          <a:xfrm>
            <a:off x="3340100" y="3421063"/>
            <a:ext cx="1420813" cy="1344612"/>
            <a:chOff x="2576" y="1727"/>
            <a:chExt cx="895" cy="847"/>
          </a:xfrm>
        </p:grpSpPr>
        <p:graphicFrame>
          <p:nvGraphicFramePr>
            <p:cNvPr id="35845" name="Object 22"/>
            <p:cNvGraphicFramePr/>
            <p:nvPr/>
          </p:nvGraphicFramePr>
          <p:xfrm>
            <a:off x="2576" y="1727"/>
            <a:ext cx="38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" imgW="177800" imgH="177800" progId="Equation.DSMT4">
                    <p:embed/>
                  </p:oleObj>
                </mc:Choice>
                <mc:Fallback>
                  <p:oleObj name="" r:id="rId1" imgW="177800" imgH="177800" progId="Equation.DSMT4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76" y="1727"/>
                          <a:ext cx="383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6" name="Object 23"/>
            <p:cNvGraphicFramePr/>
            <p:nvPr/>
          </p:nvGraphicFramePr>
          <p:xfrm>
            <a:off x="3088" y="2191"/>
            <a:ext cx="38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3" imgW="177800" imgH="177800" progId="Equation.DSMT4">
                    <p:embed/>
                  </p:oleObj>
                </mc:Choice>
                <mc:Fallback>
                  <p:oleObj name="" r:id="rId3" imgW="177800" imgH="177800" progId="Equation.DSMT4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88" y="2191"/>
                          <a:ext cx="383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8"/>
          <p:cNvGrpSpPr/>
          <p:nvPr/>
        </p:nvGrpSpPr>
        <p:grpSpPr>
          <a:xfrm>
            <a:off x="1143000" y="1951038"/>
            <a:ext cx="6213475" cy="3900487"/>
            <a:chOff x="1040" y="807"/>
            <a:chExt cx="3914" cy="2457"/>
          </a:xfrm>
        </p:grpSpPr>
        <p:grpSp>
          <p:nvGrpSpPr>
            <p:cNvPr id="35863" name="Group 43"/>
            <p:cNvGrpSpPr/>
            <p:nvPr/>
          </p:nvGrpSpPr>
          <p:grpSpPr>
            <a:xfrm>
              <a:off x="1040" y="807"/>
              <a:ext cx="2856" cy="2457"/>
              <a:chOff x="1184" y="687"/>
              <a:chExt cx="2856" cy="2457"/>
            </a:xfrm>
          </p:grpSpPr>
          <p:grpSp>
            <p:nvGrpSpPr>
              <p:cNvPr id="35865" name="Group 42"/>
              <p:cNvGrpSpPr/>
              <p:nvPr/>
            </p:nvGrpSpPr>
            <p:grpSpPr>
              <a:xfrm>
                <a:off x="1184" y="687"/>
                <a:ext cx="2856" cy="2457"/>
                <a:chOff x="1184" y="687"/>
                <a:chExt cx="2856" cy="2457"/>
              </a:xfrm>
            </p:grpSpPr>
            <p:graphicFrame>
              <p:nvGraphicFramePr>
                <p:cNvPr id="35844" name="Object 18"/>
                <p:cNvGraphicFramePr/>
                <p:nvPr/>
              </p:nvGraphicFramePr>
              <p:xfrm>
                <a:off x="1316" y="687"/>
                <a:ext cx="2724" cy="24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8" name="" r:id="rId4" imgW="1409700" imgH="1143000" progId="Equation.DSMT4">
                        <p:embed/>
                      </p:oleObj>
                    </mc:Choice>
                    <mc:Fallback>
                      <p:oleObj name="" r:id="rId4" imgW="1409700" imgH="1143000" progId="Equation.DSMT4">
                        <p:embed/>
                        <p:pic>
                          <p:nvPicPr>
                            <p:cNvPr id="0" name="图片 3187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16" y="687"/>
                              <a:ext cx="2724" cy="241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35869" name="Group 28"/>
                <p:cNvGrpSpPr/>
                <p:nvPr/>
              </p:nvGrpSpPr>
              <p:grpSpPr>
                <a:xfrm>
                  <a:off x="1184" y="720"/>
                  <a:ext cx="2752" cy="2424"/>
                  <a:chOff x="1184" y="720"/>
                  <a:chExt cx="2752" cy="2424"/>
                </a:xfrm>
              </p:grpSpPr>
              <p:sp>
                <p:nvSpPr>
                  <p:cNvPr id="35870" name="Line 25"/>
                  <p:cNvSpPr/>
                  <p:nvPr/>
                </p:nvSpPr>
                <p:spPr>
                  <a:xfrm>
                    <a:off x="1184" y="720"/>
                    <a:ext cx="275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871" name="Line 26"/>
                  <p:cNvSpPr/>
                  <p:nvPr/>
                </p:nvSpPr>
                <p:spPr>
                  <a:xfrm>
                    <a:off x="1184" y="728"/>
                    <a:ext cx="0" cy="241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35866" name="Group 31"/>
              <p:cNvGrpSpPr/>
              <p:nvPr/>
            </p:nvGrpSpPr>
            <p:grpSpPr>
              <a:xfrm>
                <a:off x="1760" y="1192"/>
                <a:ext cx="2192" cy="1904"/>
                <a:chOff x="1760" y="1192"/>
                <a:chExt cx="2192" cy="1904"/>
              </a:xfrm>
            </p:grpSpPr>
            <p:sp>
              <p:nvSpPr>
                <p:cNvPr id="35867" name="Line 29"/>
                <p:cNvSpPr/>
                <p:nvPr/>
              </p:nvSpPr>
              <p:spPr>
                <a:xfrm>
                  <a:off x="1760" y="1192"/>
                  <a:ext cx="21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8" name="Line 30"/>
                <p:cNvSpPr/>
                <p:nvPr/>
              </p:nvSpPr>
              <p:spPr>
                <a:xfrm>
                  <a:off x="1760" y="1192"/>
                  <a:ext cx="0" cy="190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35864" name="Text Box 35"/>
            <p:cNvSpPr txBox="1"/>
            <p:nvPr/>
          </p:nvSpPr>
          <p:spPr>
            <a:xfrm>
              <a:off x="4166" y="898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第 1 步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49"/>
          <p:cNvGrpSpPr/>
          <p:nvPr/>
        </p:nvGrpSpPr>
        <p:grpSpPr>
          <a:xfrm>
            <a:off x="4775200" y="4703763"/>
            <a:ext cx="2682875" cy="750887"/>
            <a:chOff x="3328" y="2751"/>
            <a:chExt cx="1690" cy="473"/>
          </a:xfrm>
        </p:grpSpPr>
        <p:grpSp>
          <p:nvGrpSpPr>
            <p:cNvPr id="35858" name="Group 47"/>
            <p:cNvGrpSpPr/>
            <p:nvPr/>
          </p:nvGrpSpPr>
          <p:grpSpPr>
            <a:xfrm>
              <a:off x="3328" y="2751"/>
              <a:ext cx="601" cy="473"/>
              <a:chOff x="3416" y="2591"/>
              <a:chExt cx="601" cy="473"/>
            </a:xfrm>
          </p:grpSpPr>
          <p:graphicFrame>
            <p:nvGraphicFramePr>
              <p:cNvPr id="35843" name="Object 24"/>
              <p:cNvGraphicFramePr/>
              <p:nvPr/>
            </p:nvGraphicFramePr>
            <p:xfrm>
              <a:off x="3604" y="2591"/>
              <a:ext cx="413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" name="" r:id="rId6" imgW="215900" imgH="228600" progId="Equation.DSMT4">
                      <p:embed/>
                    </p:oleObj>
                  </mc:Choice>
                  <mc:Fallback>
                    <p:oleObj name="" r:id="rId6" imgW="215900" imgH="228600" progId="Equation.DSMT4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3604" y="2591"/>
                            <a:ext cx="413" cy="4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60" name="Group 34"/>
              <p:cNvGrpSpPr/>
              <p:nvPr/>
            </p:nvGrpSpPr>
            <p:grpSpPr>
              <a:xfrm>
                <a:off x="3416" y="2656"/>
                <a:ext cx="552" cy="408"/>
                <a:chOff x="3416" y="2656"/>
                <a:chExt cx="552" cy="408"/>
              </a:xfrm>
            </p:grpSpPr>
            <p:sp>
              <p:nvSpPr>
                <p:cNvPr id="35861" name="Line 32"/>
                <p:cNvSpPr/>
                <p:nvPr/>
              </p:nvSpPr>
              <p:spPr>
                <a:xfrm>
                  <a:off x="3416" y="2656"/>
                  <a:ext cx="55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62" name="Line 33"/>
                <p:cNvSpPr/>
                <p:nvPr/>
              </p:nvSpPr>
              <p:spPr>
                <a:xfrm>
                  <a:off x="3416" y="2656"/>
                  <a:ext cx="0" cy="40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35859" name="Text Box 37"/>
            <p:cNvSpPr txBox="1"/>
            <p:nvPr/>
          </p:nvSpPr>
          <p:spPr>
            <a:xfrm>
              <a:off x="4230" y="2858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第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n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步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51" name="Text Box 41"/>
          <p:cNvSpPr txBox="1"/>
          <p:nvPr/>
        </p:nvSpPr>
        <p:spPr>
          <a:xfrm>
            <a:off x="381000" y="379413"/>
            <a:ext cx="8153400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计算过程如下</a:t>
            </a:r>
            <a:r>
              <a:rPr lang="zh-CN" altLang="en-US" dirty="0">
                <a:latin typeface="Times New Roman" panose="02020603050405020304" pitchFamily="18" charset="0"/>
              </a:rPr>
              <a:t>：先确定</a:t>
            </a:r>
            <a:r>
              <a:rPr lang="en-US" altLang="zh-CN" dirty="0"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</a:rPr>
              <a:t>的第一行，</a:t>
            </a:r>
            <a:r>
              <a:rPr lang="en-US" altLang="zh-CN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</a:rPr>
              <a:t>的第一列（</a:t>
            </a:r>
            <a:r>
              <a:rPr lang="en-US" altLang="zh-CN" dirty="0">
                <a:latin typeface="Times New Roman" panose="02020603050405020304" pitchFamily="18" charset="0"/>
              </a:rPr>
              <a:t>k=1），</a:t>
            </a:r>
            <a:r>
              <a:rPr lang="zh-CN" altLang="en-US" dirty="0">
                <a:latin typeface="Times New Roman" panose="02020603050405020304" pitchFamily="18" charset="0"/>
              </a:rPr>
              <a:t>然后是</a:t>
            </a:r>
            <a:r>
              <a:rPr lang="en-US" altLang="zh-CN" dirty="0"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</a:rPr>
              <a:t>第二行、</a:t>
            </a:r>
            <a:r>
              <a:rPr lang="en-US" altLang="zh-CN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</a:rPr>
              <a:t>第二列，…，一直下去，最后计算 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nn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50"/>
          <p:cNvGrpSpPr/>
          <p:nvPr/>
        </p:nvGrpSpPr>
        <p:grpSpPr>
          <a:xfrm>
            <a:off x="2336800" y="2624138"/>
            <a:ext cx="5045075" cy="3086100"/>
            <a:chOff x="1792" y="1301"/>
            <a:chExt cx="3178" cy="1944"/>
          </a:xfrm>
        </p:grpSpPr>
        <p:sp>
          <p:nvSpPr>
            <p:cNvPr id="35853" name="Text Box 36"/>
            <p:cNvSpPr txBox="1"/>
            <p:nvPr/>
          </p:nvSpPr>
          <p:spPr>
            <a:xfrm>
              <a:off x="4182" y="1378"/>
              <a:ext cx="7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sz="2800" dirty="0">
                  <a:latin typeface="Times New Roman" panose="02020603050405020304" pitchFamily="18" charset="0"/>
                </a:rPr>
                <a:t>第 2 步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5854" name="Group 45"/>
            <p:cNvGrpSpPr/>
            <p:nvPr/>
          </p:nvGrpSpPr>
          <p:grpSpPr>
            <a:xfrm>
              <a:off x="1792" y="1301"/>
              <a:ext cx="2202" cy="1944"/>
              <a:chOff x="368" y="917"/>
              <a:chExt cx="2202" cy="1944"/>
            </a:xfrm>
          </p:grpSpPr>
          <p:graphicFrame>
            <p:nvGraphicFramePr>
              <p:cNvPr id="35842" name="Object 20"/>
              <p:cNvGraphicFramePr/>
              <p:nvPr/>
            </p:nvGraphicFramePr>
            <p:xfrm>
              <a:off x="368" y="917"/>
              <a:ext cx="2202" cy="19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3" name="" r:id="rId8" imgW="1143000" imgH="914400" progId="Equation.DSMT4">
                      <p:embed/>
                    </p:oleObj>
                  </mc:Choice>
                  <mc:Fallback>
                    <p:oleObj name="" r:id="rId8" imgW="1143000" imgH="914400" progId="Equation.DSMT4">
                      <p:embed/>
                      <p:pic>
                        <p:nvPicPr>
                          <p:cNvPr id="0" name="图片 3192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68" y="917"/>
                            <a:ext cx="2202" cy="19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55" name="Group 44"/>
              <p:cNvGrpSpPr/>
              <p:nvPr/>
            </p:nvGrpSpPr>
            <p:grpSpPr>
              <a:xfrm>
                <a:off x="776" y="1392"/>
                <a:ext cx="1592" cy="1416"/>
                <a:chOff x="2328" y="1680"/>
                <a:chExt cx="1592" cy="1416"/>
              </a:xfrm>
            </p:grpSpPr>
            <p:sp>
              <p:nvSpPr>
                <p:cNvPr id="35856" name="Line 38"/>
                <p:cNvSpPr/>
                <p:nvPr/>
              </p:nvSpPr>
              <p:spPr>
                <a:xfrm>
                  <a:off x="2328" y="1680"/>
                  <a:ext cx="15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57" name="Line 39"/>
                <p:cNvSpPr/>
                <p:nvPr/>
              </p:nvSpPr>
              <p:spPr>
                <a:xfrm>
                  <a:off x="2328" y="1680"/>
                  <a:ext cx="0" cy="141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u="none" dirty="0">
                <a:latin typeface="Times New Roman" panose="02020603050405020304" pitchFamily="18" charset="0"/>
              </a:rPr>
              <a:t>直接三角分解法——</a:t>
            </a:r>
            <a:r>
              <a:rPr lang="en-US" altLang="en-US" sz="2000" u="none" dirty="0"/>
              <a:t>Doolittle</a:t>
            </a:r>
            <a:r>
              <a:rPr lang="zh-CN" altLang="en-US" sz="2000" u="none" dirty="0"/>
              <a:t>分解</a:t>
            </a:r>
            <a:r>
              <a:rPr lang="zh-CN" altLang="en-US" sz="2000" u="none" dirty="0">
                <a:latin typeface="Times New Roman" panose="02020603050405020304" pitchFamily="18" charset="0"/>
              </a:rPr>
              <a:t>法</a:t>
            </a:r>
            <a:endParaRPr lang="zh-CN" altLang="en-US" sz="2000" u="none" dirty="0">
              <a:latin typeface="Times New Roman" panose="02020603050405020304" pitchFamily="18" charset="0"/>
            </a:endParaRPr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490538" y="1046163"/>
            <a:ext cx="8120062" cy="3297237"/>
          </a:xfrm>
        </p:spPr>
        <p:txBody>
          <a:bodyPr vert="horz" wrap="square" lIns="91440" tIns="45720" rIns="91440" bIns="45720" anchor="t" anchorCtr="0"/>
          <a:p>
            <a:pPr marL="0" indent="0" algn="just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这样方程组 </a:t>
            </a:r>
            <a:r>
              <a:rPr lang="en-US" altLang="zh-CN" sz="3200" i="1" dirty="0">
                <a:latin typeface="Times New Roman" panose="02020603050405020304" pitchFamily="18" charset="0"/>
              </a:rPr>
              <a:t>Ax = b  </a:t>
            </a:r>
            <a:r>
              <a:rPr lang="zh-CN" altLang="en-US" sz="3200" dirty="0">
                <a:latin typeface="Times New Roman" panose="02020603050405020304" pitchFamily="18" charset="0"/>
              </a:rPr>
              <a:t>等价于方程组  </a:t>
            </a:r>
            <a:r>
              <a:rPr lang="en-US" altLang="zh-CN" sz="3200" i="1" dirty="0">
                <a:latin typeface="Times New Roman" panose="02020603050405020304" pitchFamily="18" charset="0"/>
              </a:rPr>
              <a:t>LUx =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令 </a:t>
            </a:r>
            <a:r>
              <a:rPr lang="en-US" altLang="zh-CN" sz="3200" i="1" dirty="0">
                <a:latin typeface="Times New Roman" panose="02020603050405020304" pitchFamily="18" charset="0"/>
              </a:rPr>
              <a:t>Ux = y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则解 </a:t>
            </a:r>
            <a:r>
              <a:rPr lang="en-US" altLang="zh-CN" sz="3200" i="1" dirty="0">
                <a:latin typeface="Times New Roman" panose="02020603050405020304" pitchFamily="18" charset="0"/>
              </a:rPr>
              <a:t>Ax = b </a:t>
            </a:r>
            <a:r>
              <a:rPr lang="zh-CN" altLang="en-US" sz="3200" dirty="0">
                <a:latin typeface="Times New Roman" panose="02020603050405020304" pitchFamily="18" charset="0"/>
              </a:rPr>
              <a:t>等价于解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 hangingPunct="1">
              <a:lnSpc>
                <a:spcPct val="90000"/>
              </a:lnSpc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 Ly = b                                    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和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U x = y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 hangingPunct="1">
              <a:lnSpc>
                <a:spcPct val="9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这是两个三角形方程组，它们很容易求解。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381000" y="4191000"/>
            <a:ext cx="8458200" cy="1992313"/>
            <a:chOff x="240" y="2640"/>
            <a:chExt cx="5328" cy="1255"/>
          </a:xfrm>
        </p:grpSpPr>
        <p:sp>
          <p:nvSpPr>
            <p:cNvPr id="36871" name="Rectangle 6"/>
            <p:cNvSpPr/>
            <p:nvPr/>
          </p:nvSpPr>
          <p:spPr>
            <a:xfrm>
              <a:off x="240" y="2640"/>
              <a:ext cx="5328" cy="12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85000"/>
                <a:buFont typeface="ZapfDingbats" pitchFamily="82" charset="2"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dirty="0">
                  <a:latin typeface="Times New Roman" panose="02020603050405020304" pitchFamily="18" charset="0"/>
                </a:rPr>
                <a:t>这种方法称为直接三角分解法，其计算量大致与</a:t>
              </a:r>
              <a:r>
                <a:rPr lang="en-US" altLang="zh-CN" dirty="0">
                  <a:latin typeface="Times New Roman" panose="02020603050405020304" pitchFamily="18" charset="0"/>
                </a:rPr>
                <a:t>Guass</a:t>
              </a:r>
              <a:r>
                <a:rPr lang="zh-CN" altLang="en-US" dirty="0">
                  <a:latin typeface="Times New Roman" panose="02020603050405020304" pitchFamily="18" charset="0"/>
                </a:rPr>
                <a:t>消去法相同，约为          次乘除法运算。（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这里包含了计算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和</a:t>
              </a:r>
              <a:r>
                <a: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U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的计算量</a:t>
              </a:r>
              <a:r>
                <a:rPr lang="zh-CN" altLang="en-US" dirty="0">
                  <a:latin typeface="Times New Roman" panose="02020603050405020304" pitchFamily="18" charset="0"/>
                </a:rPr>
                <a:t>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6866" name="Object 4"/>
            <p:cNvGraphicFramePr/>
            <p:nvPr/>
          </p:nvGraphicFramePr>
          <p:xfrm>
            <a:off x="3873" y="3024"/>
            <a:ext cx="399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1" imgW="292100" imgH="393700" progId="Equation.3">
                    <p:embed/>
                  </p:oleObj>
                </mc:Choice>
                <mc:Fallback>
                  <p:oleObj name="" r:id="rId1" imgW="292100" imgH="39370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73" y="3024"/>
                          <a:ext cx="399" cy="5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27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27">
                                            <p:txEl>
                                              <p:charRg st="3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27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7">
                                            <p:txEl>
                                              <p:charRg st="5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7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27">
                                            <p:txEl>
                                              <p:charRg st="10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27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27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627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627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aphicFrame>
        <p:nvGraphicFramePr>
          <p:cNvPr id="484354" name="Object 2"/>
          <p:cNvGraphicFramePr/>
          <p:nvPr/>
        </p:nvGraphicFramePr>
        <p:xfrm>
          <a:off x="1071563" y="4929188"/>
          <a:ext cx="6399212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" imgW="2653030" imgH="431800" progId="Equation.DSMT4">
                  <p:embed/>
                </p:oleObj>
              </mc:Choice>
              <mc:Fallback>
                <p:oleObj name="" r:id="rId1" imgW="2653030" imgH="4318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1563" y="4929188"/>
                        <a:ext cx="6399212" cy="10366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5" name="Text Box 17"/>
          <p:cNvSpPr txBox="1"/>
          <p:nvPr/>
        </p:nvSpPr>
        <p:spPr>
          <a:xfrm>
            <a:off x="381000" y="547688"/>
            <a:ext cx="6324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求解 </a:t>
            </a:r>
            <a:r>
              <a:rPr lang="en-US" altLang="zh-CN" i="1" dirty="0">
                <a:latin typeface="Times New Roman" panose="02020603050405020304" pitchFamily="18" charset="0"/>
              </a:rPr>
              <a:t>Ly = b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4355" name="Object 3"/>
          <p:cNvGraphicFramePr/>
          <p:nvPr/>
        </p:nvGraphicFramePr>
        <p:xfrm>
          <a:off x="1042988" y="1268413"/>
          <a:ext cx="5997575" cy="252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1524000" imgH="939800" progId="Equation.DSMT4">
                  <p:embed/>
                </p:oleObj>
              </mc:Choice>
              <mc:Fallback>
                <p:oleObj name="" r:id="rId3" imgW="1524000" imgH="9398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988" y="1268413"/>
                        <a:ext cx="5997575" cy="2525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4" name="Text Box 26"/>
          <p:cNvSpPr txBox="1"/>
          <p:nvPr/>
        </p:nvSpPr>
        <p:spPr>
          <a:xfrm>
            <a:off x="566738" y="3929063"/>
            <a:ext cx="100488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根据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1189" name="Object 5"/>
          <p:cNvGraphicFramePr/>
          <p:nvPr/>
        </p:nvGraphicFramePr>
        <p:xfrm>
          <a:off x="1857375" y="3786188"/>
          <a:ext cx="2776538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5" imgW="1116965" imgH="431800" progId="Equation.3">
                  <p:embed/>
                </p:oleObj>
              </mc:Choice>
              <mc:Fallback>
                <p:oleObj name="" r:id="rId5" imgW="1116965" imgH="4318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375" y="3786188"/>
                        <a:ext cx="2776538" cy="10715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6"/>
          <p:cNvSpPr txBox="1"/>
          <p:nvPr/>
        </p:nvSpPr>
        <p:spPr>
          <a:xfrm>
            <a:off x="4786313" y="3987800"/>
            <a:ext cx="3467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其得递推公式为：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48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5" grpId="0"/>
      <p:bldP spid="145434" grpId="0"/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32133" name="Text Box 5"/>
          <p:cNvSpPr txBox="1"/>
          <p:nvPr/>
        </p:nvSpPr>
        <p:spPr>
          <a:xfrm>
            <a:off x="395288" y="476250"/>
            <a:ext cx="30734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求解</a:t>
            </a:r>
            <a:r>
              <a:rPr lang="en-US" altLang="zh-CN" i="1" dirty="0">
                <a:latin typeface="Times New Roman" panose="02020603050405020304" pitchFamily="18" charset="0"/>
              </a:rPr>
              <a:t>U x = y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32135" name="Object 7"/>
          <p:cNvGraphicFramePr/>
          <p:nvPr/>
        </p:nvGraphicFramePr>
        <p:xfrm>
          <a:off x="1547813" y="1000125"/>
          <a:ext cx="5583237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1714500" imgH="939800" progId="Equation.DSMT4">
                  <p:embed/>
                </p:oleObj>
              </mc:Choice>
              <mc:Fallback>
                <p:oleObj name="" r:id="rId1" imgW="1714500" imgH="9398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1000125"/>
                        <a:ext cx="5583237" cy="243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6" name="Text Box 8"/>
          <p:cNvSpPr txBox="1"/>
          <p:nvPr/>
        </p:nvSpPr>
        <p:spPr>
          <a:xfrm>
            <a:off x="571500" y="3429000"/>
            <a:ext cx="5953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4261" name="Object 5"/>
          <p:cNvGraphicFramePr/>
          <p:nvPr/>
        </p:nvGraphicFramePr>
        <p:xfrm>
          <a:off x="1227138" y="3286125"/>
          <a:ext cx="348773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3" imgW="1396365" imgH="431800" progId="Equation.3">
                  <p:embed/>
                </p:oleObj>
              </mc:Choice>
              <mc:Fallback>
                <p:oleObj name="" r:id="rId3" imgW="1396365" imgH="4318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7138" y="3286125"/>
                        <a:ext cx="3487737" cy="10779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/>
          <p:cNvGraphicFramePr/>
          <p:nvPr/>
        </p:nvGraphicFramePr>
        <p:xfrm>
          <a:off x="857250" y="4286250"/>
          <a:ext cx="706913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5" imgW="2832100" imgH="457200" progId="Equation.3">
                  <p:embed/>
                </p:oleObj>
              </mc:Choice>
              <mc:Fallback>
                <p:oleObj name="" r:id="rId5" imgW="2832100" imgH="4572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7250" y="4286250"/>
                        <a:ext cx="7069138" cy="114141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8"/>
          <p:cNvSpPr txBox="1"/>
          <p:nvPr/>
        </p:nvSpPr>
        <p:spPr>
          <a:xfrm>
            <a:off x="4929188" y="3571875"/>
            <a:ext cx="34671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得其递推公式为：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642938" y="5500688"/>
            <a:ext cx="2782887" cy="1058862"/>
            <a:chOff x="2643174" y="5786438"/>
            <a:chExt cx="2782901" cy="1058862"/>
          </a:xfrm>
        </p:grpSpPr>
        <p:graphicFrame>
          <p:nvGraphicFramePr>
            <p:cNvPr id="38917" name="Object 11"/>
            <p:cNvGraphicFramePr/>
            <p:nvPr/>
          </p:nvGraphicFramePr>
          <p:xfrm>
            <a:off x="3630613" y="5786438"/>
            <a:ext cx="1795462" cy="1058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7" imgW="622300" imgH="431800" progId="Equation.3">
                    <p:embed/>
                  </p:oleObj>
                </mc:Choice>
                <mc:Fallback>
                  <p:oleObj name="" r:id="rId7" imgW="622300" imgH="43180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30613" y="5786438"/>
                          <a:ext cx="1795462" cy="1058862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矩形 14"/>
            <p:cNvSpPr/>
            <p:nvPr/>
          </p:nvSpPr>
          <p:spPr>
            <a:xfrm>
              <a:off x="2643174" y="6058935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规定</a:t>
              </a:r>
              <a:endPara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4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3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3" grpId="0"/>
      <p:bldP spid="432136" grpId="0"/>
      <p:bldP spid="1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graphicFrame>
        <p:nvGraphicFramePr>
          <p:cNvPr id="431106" name="Object 2"/>
          <p:cNvGraphicFramePr/>
          <p:nvPr/>
        </p:nvGraphicFramePr>
        <p:xfrm>
          <a:off x="993775" y="1139825"/>
          <a:ext cx="63992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" imgW="2653030" imgH="431800" progId="Equation.DSMT4">
                  <p:embed/>
                </p:oleObj>
              </mc:Choice>
              <mc:Fallback>
                <p:oleObj name="" r:id="rId1" imgW="2653030" imgH="4318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3775" y="1139825"/>
                        <a:ext cx="6399213" cy="10366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7" name="Object 3"/>
          <p:cNvGraphicFramePr/>
          <p:nvPr/>
        </p:nvGraphicFramePr>
        <p:xfrm>
          <a:off x="990600" y="3048000"/>
          <a:ext cx="689133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3" imgW="2856230" imgH="431800" progId="Equation.DSMT4">
                  <p:embed/>
                </p:oleObj>
              </mc:Choice>
              <mc:Fallback>
                <p:oleObj name="" r:id="rId3" imgW="2856230" imgH="431800" progId="Equation.DSMT4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3048000"/>
                        <a:ext cx="6891338" cy="10366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08" name="Text Box 4"/>
          <p:cNvSpPr txBox="1"/>
          <p:nvPr/>
        </p:nvSpPr>
        <p:spPr>
          <a:xfrm>
            <a:off x="381000" y="547688"/>
            <a:ext cx="80073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于是，求解</a:t>
            </a:r>
            <a:r>
              <a:rPr lang="en-US" altLang="zh-CN" i="1" dirty="0">
                <a:latin typeface="Times New Roman" panose="02020603050405020304" pitchFamily="18" charset="0"/>
              </a:rPr>
              <a:t>Ly = b </a:t>
            </a:r>
            <a:r>
              <a:rPr lang="zh-CN" altLang="en-US" dirty="0">
                <a:latin typeface="Times New Roman" panose="02020603050405020304" pitchFamily="18" charset="0"/>
              </a:rPr>
              <a:t>的递推公式为：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1109" name="Text Box 5"/>
          <p:cNvSpPr txBox="1"/>
          <p:nvPr/>
        </p:nvSpPr>
        <p:spPr>
          <a:xfrm>
            <a:off x="379413" y="2328863"/>
            <a:ext cx="53308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求解 </a:t>
            </a:r>
            <a:r>
              <a:rPr lang="en-US" altLang="zh-CN" i="1" dirty="0">
                <a:latin typeface="Times New Roman" panose="02020603050405020304" pitchFamily="18" charset="0"/>
              </a:rPr>
              <a:t>U x = y </a:t>
            </a:r>
            <a:r>
              <a:rPr lang="zh-CN" altLang="en-US" dirty="0">
                <a:latin typeface="Times New Roman" panose="02020603050405020304" pitchFamily="18" charset="0"/>
              </a:rPr>
              <a:t>的递推公式为：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31113" name="Object 9"/>
          <p:cNvGraphicFramePr/>
          <p:nvPr/>
        </p:nvGraphicFramePr>
        <p:xfrm>
          <a:off x="1066800" y="990600"/>
          <a:ext cx="5997575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5" imgW="1524000" imgH="939800" progId="Equation.DSMT4">
                  <p:embed/>
                </p:oleObj>
              </mc:Choice>
              <mc:Fallback>
                <p:oleObj name="" r:id="rId5" imgW="1524000" imgH="9398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990600"/>
                        <a:ext cx="5997575" cy="2525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4" name="Object 10"/>
          <p:cNvGraphicFramePr/>
          <p:nvPr/>
        </p:nvGraphicFramePr>
        <p:xfrm>
          <a:off x="1046163" y="3051175"/>
          <a:ext cx="5583237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7" imgW="1714500" imgH="939800" progId="Equation.DSMT4">
                  <p:embed/>
                </p:oleObj>
              </mc:Choice>
              <mc:Fallback>
                <p:oleObj name="" r:id="rId7" imgW="1714500" imgH="9398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6163" y="3051175"/>
                        <a:ext cx="5583237" cy="243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5" name="AutoShape 11"/>
          <p:cNvSpPr/>
          <p:nvPr/>
        </p:nvSpPr>
        <p:spPr>
          <a:xfrm>
            <a:off x="2971800" y="4648200"/>
            <a:ext cx="5345113" cy="1517650"/>
          </a:xfrm>
          <a:prstGeom prst="wedgeRoundRectCallout">
            <a:avLst>
              <a:gd name="adj1" fmla="val -3935"/>
              <a:gd name="adj2" fmla="val -6767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0" hangingPunct="0"/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注意：</a:t>
            </a:r>
            <a:r>
              <a:rPr lang="zh-CN" altLang="en-US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直接三角分解法</a:t>
            </a: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计算量大致与</a:t>
            </a:r>
            <a:r>
              <a:rPr lang="en-US" altLang="zh-CN" sz="28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Guass</a:t>
            </a: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法相同（</a:t>
            </a:r>
            <a:r>
              <a:rPr lang="zh-CN" altLang="en-US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包含了计算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L </a:t>
            </a:r>
            <a:r>
              <a:rPr lang="zh-CN" altLang="en-US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U </a:t>
            </a:r>
            <a:r>
              <a:rPr lang="zh-CN" altLang="en-US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的计算量</a:t>
            </a: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endParaRPr lang="zh-CN" altLang="en-US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8" grpId="0"/>
      <p:bldP spid="431109" grpId="0"/>
      <p:bldP spid="43111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195" y="332740"/>
            <a:ext cx="9309100" cy="610997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1140"/>
            <a:ext cx="9613265" cy="639572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404495"/>
            <a:ext cx="9403715" cy="621411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" y="616585"/>
            <a:ext cx="9322435" cy="612267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671513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.2.3追赶法</a:t>
            </a:r>
            <a:r>
              <a:rPr lang="en-US" altLang="zh-CN" b="1" u="none" dirty="0">
                <a:latin typeface="Times New Roman" panose="02020603050405020304" pitchFamily="18" charset="0"/>
              </a:rPr>
              <a:t>(Thomas Algorithm)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>
          <a:xfrm>
            <a:off x="271463" y="981075"/>
            <a:ext cx="8643937" cy="1447800"/>
          </a:xfrm>
        </p:spPr>
        <p:txBody>
          <a:bodyPr vert="horz" wrap="square" lIns="91440" tIns="45720" rIns="91440" bIns="45720" anchor="t" anchorCtr="0"/>
          <a:p>
            <a:pPr marL="0" indent="567055" defTabSz="914400">
              <a:lnSpc>
                <a:spcPct val="120000"/>
              </a:lnSpc>
              <a:buNone/>
              <a:tabLst>
                <a:tab pos="389255" algn="l"/>
              </a:tabLst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考虑如下线性方程组，简记为</a:t>
            </a:r>
            <a:r>
              <a:rPr lang="en-US" altLang="zh-CN" sz="3200" i="1" dirty="0">
                <a:latin typeface="Times New Roman" panose="02020603050405020304" pitchFamily="18" charset="0"/>
              </a:rPr>
              <a:t>Ax</a:t>
            </a:r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</a:rPr>
              <a:t>称为三对角方程组，其系数矩阵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称为三对角矩阵。</a:t>
            </a:r>
            <a:endParaRPr lang="zh-CN" altLang="en-US" sz="3200" dirty="0"/>
          </a:p>
        </p:txBody>
      </p:sp>
      <p:graphicFrame>
        <p:nvGraphicFramePr>
          <p:cNvPr id="156676" name="Object 4"/>
          <p:cNvGraphicFramePr/>
          <p:nvPr/>
        </p:nvGraphicFramePr>
        <p:xfrm>
          <a:off x="729933" y="2133442"/>
          <a:ext cx="7703185" cy="3872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3073400" imgH="1397000" progId="Equation.3">
                  <p:embed/>
                </p:oleObj>
              </mc:Choice>
              <mc:Fallback>
                <p:oleObj name="" r:id="rId1" imgW="3073400" imgH="13970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9933" y="2133442"/>
                        <a:ext cx="7703185" cy="387223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accent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878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2400" dirty="0">
                <a:latin typeface="Times New Roman" panose="02020603050405020304" pitchFamily="18" charset="0"/>
              </a:rPr>
              <a:t>追赶法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(矩阵分解定理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7699" name="Rectangle 3"/>
          <p:cNvSpPr>
            <a:spLocks noGrp="1"/>
          </p:cNvSpPr>
          <p:nvPr>
            <p:ph idx="1"/>
          </p:nvPr>
        </p:nvSpPr>
        <p:spPr>
          <a:xfrm>
            <a:off x="533400" y="1066800"/>
            <a:ext cx="8077200" cy="36576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定理3</a:t>
            </a:r>
            <a:r>
              <a:rPr lang="zh-CN" altLang="en-US" sz="3200" dirty="0">
                <a:latin typeface="Times New Roman" panose="02020603050405020304" pitchFamily="18" charset="0"/>
              </a:rPr>
              <a:t>  设三对角矩阵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满足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（1）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≠ 0  (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=2,3,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,n), 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≠ 0 (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 = 1,2,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-1)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（2）|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| &gt; |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|，|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| &gt; |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| ，|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| ≥ |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| + |</a:t>
            </a:r>
            <a:r>
              <a:rPr lang="en-US" altLang="zh-CN" sz="3200" i="1" dirty="0">
                <a:latin typeface="Times New Roman" panose="02020603050405020304" pitchFamily="18" charset="0"/>
              </a:rPr>
              <a:t>c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|   (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=2,3,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-1) 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则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存在惟一的</a:t>
            </a:r>
            <a:r>
              <a:rPr lang="en-US" altLang="zh-CN" sz="3200" dirty="0">
                <a:latin typeface="Times New Roman" panose="02020603050405020304" pitchFamily="18" charset="0"/>
              </a:rPr>
              <a:t>Doolittle</a:t>
            </a:r>
            <a:r>
              <a:rPr lang="zh-CN" altLang="en-US" sz="3200" dirty="0">
                <a:latin typeface="Times New Roman" panose="02020603050405020304" pitchFamily="18" charset="0"/>
              </a:rPr>
              <a:t>分解或</a:t>
            </a:r>
            <a:r>
              <a:rPr lang="en-US" altLang="zh-CN" sz="3200" dirty="0">
                <a:latin typeface="Times New Roman" panose="02020603050405020304" pitchFamily="18" charset="0"/>
              </a:rPr>
              <a:t>Crout</a:t>
            </a:r>
            <a:r>
              <a:rPr lang="zh-CN" altLang="en-US" sz="3200" dirty="0">
                <a:latin typeface="Times New Roman" panose="02020603050405020304" pitchFamily="18" charset="0"/>
              </a:rPr>
              <a:t>分解。</a:t>
            </a:r>
            <a:endParaRPr lang="zh-CN" altLang="en-US" sz="3200" dirty="0"/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2362200" y="4724400"/>
            <a:ext cx="4114800" cy="10668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隶书" panose="02010800040101010101" pitchFamily="2" charset="-122"/>
                <a:cs typeface="+mn-cs"/>
              </a:rPr>
              <a:t>A  =  LU</a:t>
            </a:r>
            <a:endParaRPr kumimoji="0" lang="en-US" altLang="zh-CN" sz="32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118790" name="Oval 6"/>
          <p:cNvSpPr/>
          <p:nvPr/>
        </p:nvSpPr>
        <p:spPr>
          <a:xfrm>
            <a:off x="6732588" y="5013325"/>
            <a:ext cx="1800225" cy="1152525"/>
          </a:xfrm>
          <a:prstGeom prst="ellipse">
            <a:avLst/>
          </a:prstGeom>
          <a:gradFill rotWithShape="0">
            <a:gsLst>
              <a:gs pos="0">
                <a:srgbClr val="FF99CC"/>
              </a:gs>
              <a:gs pos="100000">
                <a:srgbClr val="995C7A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/>
            <a:r>
              <a:rPr lang="en-US" altLang="zh-CN" sz="2400" b="1" dirty="0">
                <a:solidFill>
                  <a:srgbClr val="070000"/>
                </a:solidFill>
                <a:latin typeface="Times New Roman" panose="02020603050405020304" pitchFamily="18" charset="0"/>
                <a:ea typeface="华文隶书" panose="02010800040101010101" pitchFamily="2" charset="-122"/>
                <a:hlinkClick r:id="rId1" tooltip="追赶法的优点" action="ppaction://hlinksldjump"/>
              </a:rPr>
              <a:t>Back</a:t>
            </a:r>
            <a:endParaRPr lang="en-US" altLang="zh-CN" sz="2400" b="1" dirty="0">
              <a:solidFill>
                <a:srgbClr val="070000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  <a:p>
            <a:pPr algn="ctr" eaLnBrk="0" hangingPunct="0"/>
            <a:r>
              <a:rPr lang="zh-CN" altLang="en-US" sz="1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追赶法的优点</a:t>
            </a:r>
            <a:endParaRPr lang="en-US" altLang="zh-CN" sz="18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1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charRg st="1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6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699">
                                            <p:txEl>
                                              <p:charRg st="61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charRg st="126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699">
                                            <p:txEl>
                                              <p:charRg st="126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  <p:bldP spid="15770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1989" name="Rectang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追赶法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1990" name="Rectangle 3"/>
          <p:cNvSpPr>
            <a:spLocks noGrp="1"/>
          </p:cNvSpPr>
          <p:nvPr>
            <p:ph idx="1"/>
          </p:nvPr>
        </p:nvSpPr>
        <p:spPr>
          <a:xfrm>
            <a:off x="533400" y="1095375"/>
            <a:ext cx="7772400" cy="581025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由于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的特殊形式，它有如下分解形式：</a:t>
            </a:r>
            <a:endParaRPr lang="zh-CN" altLang="en-US" sz="3200" dirty="0"/>
          </a:p>
        </p:txBody>
      </p:sp>
      <p:grpSp>
        <p:nvGrpSpPr>
          <p:cNvPr id="2" name="Group 7"/>
          <p:cNvGrpSpPr/>
          <p:nvPr/>
        </p:nvGrpSpPr>
        <p:grpSpPr>
          <a:xfrm>
            <a:off x="561975" y="500063"/>
            <a:ext cx="7894638" cy="3937000"/>
            <a:chOff x="294" y="1374"/>
            <a:chExt cx="4973" cy="2480"/>
          </a:xfrm>
        </p:grpSpPr>
        <p:graphicFrame>
          <p:nvGraphicFramePr>
            <p:cNvPr id="41987" name="Object 4"/>
            <p:cNvGraphicFramePr/>
            <p:nvPr/>
          </p:nvGraphicFramePr>
          <p:xfrm>
            <a:off x="294" y="1374"/>
            <a:ext cx="4941" cy="2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1" imgW="3390900" imgH="1397000" progId="Equation.3">
                    <p:embed/>
                  </p:oleObj>
                </mc:Choice>
                <mc:Fallback>
                  <p:oleObj name="" r:id="rId1" imgW="3390900" imgH="13970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4" y="1374"/>
                          <a:ext cx="4941" cy="202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100000">
                              <a:srgbClr val="DDDDDD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2" name="Text Box 6"/>
            <p:cNvSpPr txBox="1"/>
            <p:nvPr/>
          </p:nvSpPr>
          <p:spPr>
            <a:xfrm>
              <a:off x="3855" y="3489"/>
              <a:ext cx="1412" cy="365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dirty="0">
                  <a:latin typeface="宋体" panose="02010600030101010101" pitchFamily="2" charset="-122"/>
                </a:rPr>
                <a:t>（</a:t>
              </a:r>
              <a:r>
                <a:rPr lang="zh-CN" altLang="en-US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宋体" panose="02010600030101010101" pitchFamily="2" charset="-122"/>
                </a:rPr>
                <a:t>）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56676" name="Object 10"/>
          <p:cNvGraphicFramePr/>
          <p:nvPr/>
        </p:nvGraphicFramePr>
        <p:xfrm>
          <a:off x="1376045" y="3857467"/>
          <a:ext cx="3429635" cy="2513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" imgW="2108200" imgH="1397000" progId="Equation.3">
                  <p:embed/>
                </p:oleObj>
              </mc:Choice>
              <mc:Fallback>
                <p:oleObj name="" r:id="rId3" imgW="2108200" imgH="13970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6045" y="3857467"/>
                        <a:ext cx="3429635" cy="251333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accent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accent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追赶法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3013" name="Rectangle 3"/>
          <p:cNvSpPr>
            <a:spLocks noGrp="1"/>
          </p:cNvSpPr>
          <p:nvPr>
            <p:ph idx="1"/>
          </p:nvPr>
        </p:nvSpPr>
        <p:spPr>
          <a:xfrm>
            <a:off x="381000" y="990600"/>
            <a:ext cx="8458200" cy="838200"/>
          </a:xfrm>
        </p:spPr>
        <p:txBody>
          <a:bodyPr vert="horz" wrap="square" lIns="91440" tIns="45720" rIns="91440" bIns="45720" anchor="ctr" anchorCtr="0"/>
          <a:p>
            <a:pPr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利用矩阵乘法，比较等式两边的对应元素有：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58726" name="Rectangle 6"/>
          <p:cNvSpPr/>
          <p:nvPr/>
        </p:nvSpPr>
        <p:spPr>
          <a:xfrm>
            <a:off x="381000" y="5410200"/>
            <a:ext cx="7772400" cy="7477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dirty="0">
                <a:latin typeface="Times New Roman" panose="02020603050405020304" pitchFamily="18" charset="0"/>
              </a:rPr>
              <a:t>利用式（3）便可实现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Doolittle</a:t>
            </a:r>
            <a:r>
              <a:rPr lang="zh-CN" altLang="en-US" dirty="0">
                <a:latin typeface="Times New Roman" panose="02020603050405020304" pitchFamily="18" charset="0"/>
              </a:rPr>
              <a:t>分解。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5849" name="Object 9"/>
          <p:cNvGraphicFramePr/>
          <p:nvPr/>
        </p:nvGraphicFramePr>
        <p:xfrm>
          <a:off x="1522413" y="2375536"/>
          <a:ext cx="6146800" cy="2440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2374265" imgH="939800" progId="Equation.3">
                  <p:embed/>
                </p:oleObj>
              </mc:Choice>
              <mc:Fallback>
                <p:oleObj name="" r:id="rId1" imgW="2374265" imgH="9398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2413" y="2375536"/>
                        <a:ext cx="6146800" cy="244030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rgbClr val="DDDDDD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1981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追赶法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60771" name="Rectangle 3"/>
          <p:cNvSpPr>
            <a:spLocks noGrp="1"/>
          </p:cNvSpPr>
          <p:nvPr>
            <p:ph idx="1"/>
          </p:nvPr>
        </p:nvSpPr>
        <p:spPr>
          <a:xfrm>
            <a:off x="609600" y="990600"/>
            <a:ext cx="7970838" cy="2509838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这样，方程组 </a:t>
            </a:r>
            <a:r>
              <a:rPr lang="en-US" altLang="zh-CN" sz="3200" i="1" dirty="0">
                <a:latin typeface="Times New Roman" panose="02020603050405020304" pitchFamily="18" charset="0"/>
              </a:rPr>
              <a:t>A 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i="1" dirty="0">
                <a:latin typeface="Times New Roman" panose="02020603050405020304" pitchFamily="18" charset="0"/>
              </a:rPr>
              <a:t>   </a:t>
            </a:r>
            <a:r>
              <a:rPr lang="zh-CN" altLang="en-US" sz="3200" dirty="0">
                <a:latin typeface="Times New Roman" panose="02020603050405020304" pitchFamily="18" charset="0"/>
              </a:rPr>
              <a:t>即为 </a:t>
            </a:r>
            <a:r>
              <a:rPr lang="en-US" altLang="zh-CN" sz="3200" i="1" dirty="0">
                <a:latin typeface="Times New Roman" panose="02020603050405020304" pitchFamily="18" charset="0"/>
              </a:rPr>
              <a:t>LU x </a:t>
            </a:r>
            <a:r>
              <a:rPr lang="en-US" altLang="zh-CN" sz="3200" dirty="0">
                <a:latin typeface="Times New Roman" panose="02020603050405020304" pitchFamily="18" charset="0"/>
              </a:rPr>
              <a:t>=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i="1" dirty="0">
                <a:latin typeface="Times New Roman" panose="02020603050405020304" pitchFamily="18" charset="0"/>
              </a:rPr>
              <a:t>  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令 </a:t>
            </a:r>
            <a:r>
              <a:rPr lang="en-US" altLang="zh-CN" sz="3200" i="1" dirty="0">
                <a:latin typeface="Times New Roman" panose="02020603050405020304" pitchFamily="18" charset="0"/>
              </a:rPr>
              <a:t>Ux = y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则原问题化为解两个更简单的方程组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L y = b  </a:t>
            </a:r>
            <a:r>
              <a:rPr lang="zh-CN" altLang="en-US" sz="3200" dirty="0">
                <a:latin typeface="Times New Roman" panose="02020603050405020304" pitchFamily="18" charset="0"/>
              </a:rPr>
              <a:t>和 </a:t>
            </a:r>
            <a:r>
              <a:rPr lang="en-US" altLang="zh-CN" sz="3200" i="1" dirty="0">
                <a:latin typeface="Times New Roman" panose="02020603050405020304" pitchFamily="18" charset="0"/>
              </a:rPr>
              <a:t>Ux = y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3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charRg st="33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6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charRg st="6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31108" name="Text Box 4"/>
          <p:cNvSpPr txBox="1"/>
          <p:nvPr/>
        </p:nvSpPr>
        <p:spPr>
          <a:xfrm>
            <a:off x="381000" y="547688"/>
            <a:ext cx="80073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求解 </a:t>
            </a:r>
            <a:r>
              <a:rPr lang="en-US" altLang="zh-CN" i="1" dirty="0">
                <a:latin typeface="Times New Roman" panose="02020603050405020304" pitchFamily="18" charset="0"/>
              </a:rPr>
              <a:t>Ly = b</a:t>
            </a:r>
            <a:r>
              <a:rPr lang="zh-CN" altLang="en-US" i="1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" name="Object 4"/>
          <p:cNvGraphicFramePr/>
          <p:nvPr/>
        </p:nvGraphicFramePr>
        <p:xfrm>
          <a:off x="1636078" y="1143000"/>
          <a:ext cx="5671820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2451100" imgH="1397000" progId="Equation.3">
                  <p:embed/>
                </p:oleObj>
              </mc:Choice>
              <mc:Fallback>
                <p:oleObj name="" r:id="rId1" imgW="2451100" imgH="13970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6078" y="1143000"/>
                        <a:ext cx="5671820" cy="3219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/>
          <p:nvPr/>
        </p:nvGraphicFramePr>
        <p:xfrm>
          <a:off x="1251427" y="4551522"/>
          <a:ext cx="353123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3" imgW="1371600" imgH="228600" progId="Equation.3">
                  <p:embed/>
                </p:oleObj>
              </mc:Choice>
              <mc:Fallback>
                <p:oleObj name="" r:id="rId3" imgW="1371600" imgH="2286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1427" y="4551522"/>
                        <a:ext cx="3531235" cy="59182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5000625" y="4572000"/>
            <a:ext cx="30575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可得递推公式：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11977" name="Object 9"/>
          <p:cNvGraphicFramePr/>
          <p:nvPr/>
        </p:nvGraphicFramePr>
        <p:xfrm>
          <a:off x="1570832" y="5406390"/>
          <a:ext cx="568960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5" imgW="2209800" imgH="228600" progId="Equation.3">
                  <p:embed/>
                </p:oleObj>
              </mc:Choice>
              <mc:Fallback>
                <p:oleObj name="" r:id="rId5" imgW="2209800" imgH="2286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70832" y="5406390"/>
                        <a:ext cx="5689600" cy="59182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428625" y="4500563"/>
            <a:ext cx="5953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8" grpId="0"/>
      <p:bldP spid="15" grpId="0"/>
      <p:bldP spid="1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6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31109" name="Text Box 5"/>
          <p:cNvSpPr txBox="1"/>
          <p:nvPr/>
        </p:nvSpPr>
        <p:spPr>
          <a:xfrm>
            <a:off x="379413" y="500063"/>
            <a:ext cx="317658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求解 </a:t>
            </a:r>
            <a:r>
              <a:rPr lang="en-US" altLang="zh-CN" i="1" dirty="0">
                <a:latin typeface="Times New Roman" panose="02020603050405020304" pitchFamily="18" charset="0"/>
              </a:rPr>
              <a:t>U x = y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4"/>
          <p:cNvGraphicFramePr/>
          <p:nvPr/>
        </p:nvGraphicFramePr>
        <p:xfrm>
          <a:off x="1184117" y="1071563"/>
          <a:ext cx="6316980" cy="321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" imgW="2730500" imgH="1397000" progId="Equation.3">
                  <p:embed/>
                </p:oleObj>
              </mc:Choice>
              <mc:Fallback>
                <p:oleObj name="" r:id="rId1" imgW="2730500" imgH="13970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4117" y="1071563"/>
                        <a:ext cx="6316980" cy="3219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571875" y="4286250"/>
            <a:ext cx="30575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可得递推公式：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0063" y="4214813"/>
            <a:ext cx="595312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11"/>
          <p:cNvGraphicFramePr/>
          <p:nvPr/>
        </p:nvGraphicFramePr>
        <p:xfrm>
          <a:off x="1082358" y="4286250"/>
          <a:ext cx="253746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3" imgW="977900" imgH="228600" progId="Equation.3">
                  <p:embed/>
                </p:oleObj>
              </mc:Choice>
              <mc:Fallback>
                <p:oleObj name="" r:id="rId3" imgW="977900" imgH="2286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358" y="4286250"/>
                        <a:ext cx="2537460" cy="5937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/>
          <p:nvPr/>
        </p:nvGraphicFramePr>
        <p:xfrm>
          <a:off x="423387" y="5072063"/>
          <a:ext cx="820356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5" imgW="3162300" imgH="228600" progId="Equation.3">
                  <p:embed/>
                </p:oleObj>
              </mc:Choice>
              <mc:Fallback>
                <p:oleObj name="" r:id="rId5" imgW="3162300" imgH="2286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387" y="5072063"/>
                        <a:ext cx="8203565" cy="5937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9" grpId="0"/>
      <p:bldP spid="11" grpId="0"/>
      <p:bldP spid="1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083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2000" dirty="0">
                <a:latin typeface="Times New Roman" panose="02020603050405020304" pitchFamily="18" charset="0"/>
              </a:rPr>
              <a:t>追赶法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60771" name="Rectangle 3"/>
          <p:cNvSpPr>
            <a:spLocks noGrp="1"/>
          </p:cNvSpPr>
          <p:nvPr>
            <p:ph idx="1"/>
          </p:nvPr>
        </p:nvSpPr>
        <p:spPr>
          <a:xfrm>
            <a:off x="609600" y="990600"/>
            <a:ext cx="7970838" cy="44958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这样，综合分解与求解的过程，可得解三对角方程组的追赶法公式如下：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</a:rPr>
              <a:t>注意：如果只解方程组，不用写出矩阵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</a:rPr>
              <a:t>U, </a:t>
            </a:r>
            <a:r>
              <a:rPr lang="zh-CN" altLang="en-US" sz="3200" dirty="0">
                <a:latin typeface="Times New Roman" panose="02020603050405020304" pitchFamily="18" charset="0"/>
              </a:rPr>
              <a:t>只需算出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sz="3200" dirty="0">
                <a:latin typeface="Times New Roman" panose="02020603050405020304" pitchFamily="18" charset="0"/>
              </a:rPr>
              <a:t> ,</a:t>
            </a:r>
            <a:r>
              <a:rPr lang="en-US" altLang="zh-CN" sz="3200" i="1" dirty="0"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200" i="1" baseline="-25000" dirty="0">
                <a:latin typeface="Times New Roman" panose="02020603050405020304" pitchFamily="18" charset="0"/>
                <a:sym typeface="+mn-ea"/>
              </a:rPr>
              <a:t>i </a:t>
            </a:r>
            <a:r>
              <a:rPr lang="zh-CN" altLang="en-US" sz="3200" dirty="0">
                <a:latin typeface="Times New Roman" panose="02020603050405020304" pitchFamily="18" charset="0"/>
              </a:rPr>
              <a:t>即可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charRg st="3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charRg st="33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608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38175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dirty="0">
                <a:latin typeface="Times New Roman" panose="02020603050405020304" pitchFamily="18" charset="0"/>
              </a:rPr>
              <a:t>追赶法</a:t>
            </a:r>
            <a:r>
              <a:rPr lang="en-US" altLang="zh-CN" sz="3200" b="1" u="none" dirty="0">
                <a:latin typeface="Times New Roman" panose="02020603050405020304" pitchFamily="18" charset="0"/>
              </a:rPr>
              <a:t>(Thomas Algorithm)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469900" y="3140710"/>
            <a:ext cx="7772400" cy="518795"/>
          </a:xfrm>
          <a:prstGeom prst="rect">
            <a:avLst/>
          </a:prstGeom>
          <a:gradFill rotWithShape="0">
            <a:gsLst>
              <a:gs pos="0">
                <a:srgbClr val="DDDDDD"/>
              </a:gs>
              <a:gs pos="50000">
                <a:schemeClr val="bg1"/>
              </a:gs>
              <a:gs pos="100000">
                <a:srgbClr val="DDDDDD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/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  解 </a:t>
            </a:r>
            <a:r>
              <a:rPr kumimoji="0" lang="en-US" altLang="zh-CN" sz="32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 y =b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的递推公式： 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91" name="Rectangle 10"/>
          <p:cNvSpPr/>
          <p:nvPr/>
        </p:nvSpPr>
        <p:spPr>
          <a:xfrm>
            <a:off x="538480" y="4631055"/>
            <a:ext cx="4873625" cy="579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3.   解</a:t>
            </a:r>
            <a:r>
              <a:rPr lang="en-US" altLang="zh-CN" i="1" dirty="0">
                <a:latin typeface="Times New Roman" panose="02020603050405020304" pitchFamily="18" charset="0"/>
              </a:rPr>
              <a:t>Ux = y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的计算公式：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090" name="Rectangle 16"/>
          <p:cNvSpPr/>
          <p:nvPr/>
        </p:nvSpPr>
        <p:spPr>
          <a:xfrm>
            <a:off x="539750" y="1052830"/>
            <a:ext cx="5227955" cy="58356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DDDDDD"/>
              </a:gs>
              <a:gs pos="100000">
                <a:srgbClr val="CC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1.   计算{</a:t>
            </a:r>
            <a:r>
              <a:rPr lang="en-US" altLang="zh-CN" i="1" dirty="0">
                <a:latin typeface="Times New Roman" panose="02020603050405020304" pitchFamily="18" charset="0"/>
              </a:rPr>
              <a:t>u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sym typeface="+mn-ea"/>
              </a:rPr>
              <a:t>,</a:t>
            </a:r>
            <a:r>
              <a:rPr lang="en-US" altLang="zh-CN" i="1" dirty="0">
                <a:sym typeface="+mn-ea"/>
              </a:rPr>
              <a:t>l</a:t>
            </a:r>
            <a:r>
              <a:rPr lang="en-US" altLang="zh-CN" i="1" baseline="-30000" dirty="0"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的递推公式：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5849" name="Object 9"/>
          <p:cNvGraphicFramePr/>
          <p:nvPr/>
        </p:nvGraphicFramePr>
        <p:xfrm>
          <a:off x="1259523" y="1695768"/>
          <a:ext cx="595122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2298700" imgH="457200" progId="Equation.3">
                  <p:embed/>
                </p:oleObj>
              </mc:Choice>
              <mc:Fallback>
                <p:oleObj name="" r:id="rId1" imgW="2298700" imgH="4572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9523" y="1695768"/>
                        <a:ext cx="5951220" cy="1187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rgbClr val="DDDDDD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/>
          <p:cNvGraphicFramePr/>
          <p:nvPr/>
        </p:nvGraphicFramePr>
        <p:xfrm>
          <a:off x="1332072" y="3753485"/>
          <a:ext cx="568960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3" imgW="2209800" imgH="228600" progId="Equation.3">
                  <p:embed/>
                </p:oleObj>
              </mc:Choice>
              <mc:Fallback>
                <p:oleObj name="" r:id="rId3" imgW="2209800" imgH="2286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2072" y="3753485"/>
                        <a:ext cx="5689600" cy="59182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/>
          <p:nvPr/>
        </p:nvGraphicFramePr>
        <p:xfrm>
          <a:off x="611347" y="5495608"/>
          <a:ext cx="820356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5" imgW="3162300" imgH="228600" progId="Equation.3">
                  <p:embed/>
                </p:oleObj>
              </mc:Choice>
              <mc:Fallback>
                <p:oleObj name="" r:id="rId5" imgW="3162300" imgH="2286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347" y="5495608"/>
                        <a:ext cx="8203565" cy="5937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218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b="1" dirty="0">
                <a:latin typeface="Times New Roman" panose="02020603050405020304" pitchFamily="18" charset="0"/>
              </a:rPr>
              <a:t>追赶法的优点：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62819" name="Rectangle 3"/>
          <p:cNvSpPr>
            <a:spLocks noGrp="1"/>
          </p:cNvSpPr>
          <p:nvPr>
            <p:ph idx="1"/>
          </p:nvPr>
        </p:nvSpPr>
        <p:spPr>
          <a:xfrm>
            <a:off x="433388" y="1219200"/>
            <a:ext cx="7910512" cy="5029200"/>
          </a:xfrm>
        </p:spPr>
        <p:txBody>
          <a:bodyPr vert="horz" wrap="square" lIns="91440" tIns="45720" rIns="91440" bIns="45720" anchor="t" anchorCtr="0"/>
          <a:p>
            <a:pPr marL="533400" indent="-533400">
              <a:buClr>
                <a:schemeClr val="tx1"/>
              </a:buClr>
              <a:buFont typeface="ZapfDingbats" pitchFamily="82" charset="2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</a:rPr>
              <a:t>计算量小，大约需要5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-4</a:t>
            </a:r>
            <a:r>
              <a:rPr lang="zh-CN" altLang="en-US" sz="3200" dirty="0">
                <a:latin typeface="Times New Roman" panose="02020603050405020304" pitchFamily="18" charset="0"/>
              </a:rPr>
              <a:t>次乘除法。</a:t>
            </a:r>
            <a:r>
              <a:rPr lang="zh-CN" altLang="en-US" sz="3200" dirty="0"/>
              <a:t> </a:t>
            </a:r>
            <a:endParaRPr lang="zh-CN" altLang="en-US" sz="3200" dirty="0"/>
          </a:p>
          <a:p>
            <a:pPr marL="533400" indent="-533400">
              <a:buClr>
                <a:schemeClr val="tx1"/>
              </a:buClr>
              <a:buFont typeface="ZapfDingbats" pitchFamily="82" charset="2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</a:rPr>
              <a:t>存储量小，只需用三个一维数组存放对角线与次对角线上的数据，及两组工作单元保存计算的中间结果和计算解。</a:t>
            </a:r>
            <a:r>
              <a:rPr lang="zh-CN" altLang="en-US" sz="3200" dirty="0"/>
              <a:t> </a:t>
            </a:r>
            <a:endParaRPr lang="zh-CN" altLang="en-US" sz="3200" dirty="0"/>
          </a:p>
          <a:p>
            <a:pPr marL="533400" indent="-533400">
              <a:buClr>
                <a:schemeClr val="tx1"/>
              </a:buClr>
              <a:buFont typeface="ZapfDingbats" pitchFamily="82" charset="2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</a:rPr>
              <a:t>在</a:t>
            </a:r>
            <a:r>
              <a:rPr lang="zh-CN" altLang="en-US" sz="3200" dirty="0">
                <a:latin typeface="Times New Roman" panose="02020603050405020304" pitchFamily="18" charset="0"/>
                <a:hlinkClick r:id="rId1" action="ppaction://hlinksldjump"/>
              </a:rPr>
              <a:t>定理3</a:t>
            </a:r>
            <a:r>
              <a:rPr lang="zh-CN" altLang="en-US" sz="3200" dirty="0">
                <a:latin typeface="Times New Roman" panose="02020603050405020304" pitchFamily="18" charset="0"/>
              </a:rPr>
              <a:t>的条件下（主对角占优），可以证明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</a:rPr>
              <a:t>与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</a:rPr>
              <a:t>中的元素有界，而且没有用很小的数作除数，因此避免了中间结果数量级的巨大增长和舍入误差的严重累积，不必选主元。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2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2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72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charRg st="72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71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chemeClr val="tx1"/>
                </a:solidFill>
              </a:rPr>
              <a:t>例题</a:t>
            </a:r>
            <a:r>
              <a:rPr lang="en-US" altLang="zh-CN" sz="3200" b="1" u="none" dirty="0">
                <a:solidFill>
                  <a:schemeClr val="tx1"/>
                </a:solidFill>
              </a:rPr>
              <a:t>:</a:t>
            </a:r>
            <a:r>
              <a:rPr lang="zh-CN" altLang="en-US" sz="3200" b="1" u="none" dirty="0">
                <a:solidFill>
                  <a:schemeClr val="tx1"/>
                </a:solidFill>
              </a:rPr>
              <a:t>用追赶法求解下面的方程组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38278" name="Rectangle 6"/>
          <p:cNvSpPr>
            <a:spLocks noGrp="1"/>
          </p:cNvSpPr>
          <p:nvPr>
            <p:ph idx="1"/>
          </p:nvPr>
        </p:nvSpPr>
        <p:spPr>
          <a:xfrm>
            <a:off x="468313" y="3716338"/>
            <a:ext cx="7926387" cy="6477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sz="3200" b="1" dirty="0"/>
              <a:t>解</a:t>
            </a:r>
            <a:r>
              <a:rPr lang="zh-CN" altLang="en-US" sz="3200" dirty="0"/>
              <a:t>：利用追赶法，解法分为三步：</a:t>
            </a:r>
            <a:endParaRPr lang="zh-CN" altLang="en-US" sz="3200" dirty="0"/>
          </a:p>
        </p:txBody>
      </p:sp>
      <p:sp>
        <p:nvSpPr>
          <p:cNvPr id="47111" name="Rectangle 5"/>
          <p:cNvSpPr/>
          <p:nvPr/>
        </p:nvSpPr>
        <p:spPr>
          <a:xfrm>
            <a:off x="0" y="2962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106" name="Object 4"/>
          <p:cNvGraphicFramePr/>
          <p:nvPr/>
        </p:nvGraphicFramePr>
        <p:xfrm>
          <a:off x="1763713" y="1412875"/>
          <a:ext cx="5197475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1" imgW="2146300" imgH="939800" progId="Equation.3">
                  <p:embed/>
                </p:oleObj>
              </mc:Choice>
              <mc:Fallback>
                <p:oleObj name="" r:id="rId1" imgW="2146300" imgH="9398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1412875"/>
                        <a:ext cx="5197475" cy="226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81" name="Rectangle 9"/>
          <p:cNvSpPr/>
          <p:nvPr/>
        </p:nvSpPr>
        <p:spPr>
          <a:xfrm>
            <a:off x="571500" y="4357688"/>
            <a:ext cx="6553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</a:rPr>
              <a:t>Step 1.   </a:t>
            </a:r>
            <a:r>
              <a:rPr lang="zh-CN" altLang="en-US" dirty="0">
                <a:latin typeface="Times New Roman" panose="02020603050405020304" pitchFamily="18" charset="0"/>
              </a:rPr>
              <a:t>计算</a:t>
            </a:r>
            <a:r>
              <a:rPr lang="zh-CN" altLang="en-US" dirty="0">
                <a:sym typeface="+mn-ea"/>
              </a:rPr>
              <a:t>{</a:t>
            </a:r>
            <a:r>
              <a:rPr lang="en-US" altLang="zh-CN" i="1" dirty="0">
                <a:sym typeface="+mn-ea"/>
              </a:rPr>
              <a:t>u</a:t>
            </a:r>
            <a:r>
              <a:rPr lang="en-US" altLang="zh-CN" i="1" baseline="-30000" dirty="0">
                <a:sym typeface="+mn-ea"/>
              </a:rPr>
              <a:t>i</a:t>
            </a:r>
            <a:r>
              <a:rPr lang="en-US" altLang="zh-CN" dirty="0">
                <a:sym typeface="+mn-ea"/>
              </a:rPr>
              <a:t>,</a:t>
            </a:r>
            <a:r>
              <a:rPr lang="en-US" altLang="zh-CN" i="1" dirty="0">
                <a:sym typeface="+mn-ea"/>
              </a:rPr>
              <a:t>l</a:t>
            </a:r>
            <a:r>
              <a:rPr lang="en-US" altLang="zh-CN" i="1" baseline="-30000" dirty="0">
                <a:sym typeface="+mn-ea"/>
              </a:rPr>
              <a:t>i</a:t>
            </a:r>
            <a:r>
              <a:rPr lang="en-US" altLang="zh-CN" dirty="0">
                <a:sym typeface="+mn-ea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。由递推公式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5849" name="Object 9"/>
          <p:cNvGraphicFramePr/>
          <p:nvPr/>
        </p:nvGraphicFramePr>
        <p:xfrm>
          <a:off x="1384935" y="5118418"/>
          <a:ext cx="555561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3" imgW="2145665" imgH="457200" progId="Equation.3">
                  <p:embed/>
                </p:oleObj>
              </mc:Choice>
              <mc:Fallback>
                <p:oleObj name="" r:id="rId3" imgW="2145665" imgH="4572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935" y="5118418"/>
                        <a:ext cx="5555615" cy="1187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rgbClr val="DDDDDD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438278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3828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8136" name="Rectangle 4"/>
          <p:cNvSpPr/>
          <p:nvPr/>
        </p:nvSpPr>
        <p:spPr>
          <a:xfrm>
            <a:off x="0" y="29622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2375" name="Rectangle 7"/>
          <p:cNvSpPr/>
          <p:nvPr/>
        </p:nvSpPr>
        <p:spPr>
          <a:xfrm>
            <a:off x="468313" y="2420938"/>
            <a:ext cx="3959225" cy="58356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DDDDDD"/>
              </a:gs>
              <a:gs pos="100000">
                <a:srgbClr val="CC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</a:rPr>
              <a:t>Step 2.   </a:t>
            </a:r>
            <a:r>
              <a:rPr lang="zh-CN" altLang="en-US" dirty="0">
                <a:latin typeface="Times New Roman" panose="02020603050405020304" pitchFamily="18" charset="0"/>
              </a:rPr>
              <a:t>求解</a:t>
            </a:r>
            <a:r>
              <a:rPr lang="en-US" altLang="zh-CN" i="1" dirty="0">
                <a:latin typeface="Times New Roman" panose="02020603050405020304" pitchFamily="18" charset="0"/>
              </a:rPr>
              <a:t>Ly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8138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</a:rPr>
              <a:t>可得</a:t>
            </a:r>
            <a:endParaRPr lang="zh-CN" altLang="en-US" sz="3200" u="none" dirty="0">
              <a:solidFill>
                <a:schemeClr val="tx1"/>
              </a:solidFill>
            </a:endParaRPr>
          </a:p>
        </p:txBody>
      </p:sp>
      <p:graphicFrame>
        <p:nvGraphicFramePr>
          <p:cNvPr id="442379" name="Object 11"/>
          <p:cNvGraphicFramePr/>
          <p:nvPr/>
        </p:nvGraphicFramePr>
        <p:xfrm>
          <a:off x="651510" y="1260475"/>
          <a:ext cx="736790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" imgW="2743200" imgH="457200" progId="Equation.3">
                  <p:embed/>
                </p:oleObj>
              </mc:Choice>
              <mc:Fallback>
                <p:oleObj name="" r:id="rId1" imgW="2743200" imgH="4572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1510" y="1260475"/>
                        <a:ext cx="7367905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9" name="Rectangle 16"/>
          <p:cNvSpPr/>
          <p:nvPr/>
        </p:nvSpPr>
        <p:spPr>
          <a:xfrm>
            <a:off x="0" y="3324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2383" name="Object 15"/>
          <p:cNvGraphicFramePr/>
          <p:nvPr/>
        </p:nvGraphicFramePr>
        <p:xfrm>
          <a:off x="5462111" y="2421096"/>
          <a:ext cx="1726565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3" imgW="660400" imgH="215900" progId="Equation.3">
                  <p:embed/>
                </p:oleObj>
              </mc:Choice>
              <mc:Fallback>
                <p:oleObj name="" r:id="rId3" imgW="660400" imgH="2159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2111" y="2421096"/>
                        <a:ext cx="1726565" cy="550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85" name="Rectangle 17"/>
          <p:cNvSpPr/>
          <p:nvPr/>
        </p:nvSpPr>
        <p:spPr>
          <a:xfrm>
            <a:off x="539750" y="3284538"/>
            <a:ext cx="2879725" cy="579437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DDDDDD"/>
              </a:gs>
              <a:gs pos="100000">
                <a:srgbClr val="CC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由递推公式：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8141" name="Rectangle 22"/>
          <p:cNvSpPr/>
          <p:nvPr/>
        </p:nvSpPr>
        <p:spPr>
          <a:xfrm>
            <a:off x="0" y="33242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2389" name="Object 21"/>
          <p:cNvGraphicFramePr/>
          <p:nvPr/>
        </p:nvGraphicFramePr>
        <p:xfrm>
          <a:off x="1165384" y="4095750"/>
          <a:ext cx="6989445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5" imgW="2602865" imgH="685800" progId="Equation.3">
                  <p:embed/>
                </p:oleObj>
              </mc:Choice>
              <mc:Fallback>
                <p:oleObj name="" r:id="rId5" imgW="2602865" imgH="6858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65384" y="4095750"/>
                        <a:ext cx="6989445" cy="178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/>
          <p:cNvGraphicFramePr/>
          <p:nvPr/>
        </p:nvGraphicFramePr>
        <p:xfrm>
          <a:off x="3185161" y="43498"/>
          <a:ext cx="555561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7" imgW="2145665" imgH="457200" progId="Equation.3">
                  <p:embed/>
                </p:oleObj>
              </mc:Choice>
              <mc:Fallback>
                <p:oleObj name="" r:id="rId7" imgW="2145665" imgH="4572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85161" y="43498"/>
                        <a:ext cx="5555615" cy="1187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rgbClr val="DDDDDD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7" name="Object 9"/>
          <p:cNvGraphicFramePr/>
          <p:nvPr/>
        </p:nvGraphicFramePr>
        <p:xfrm>
          <a:off x="3631407" y="3324225"/>
          <a:ext cx="454533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9" imgW="1765300" imgH="228600" progId="Equation.3">
                  <p:embed/>
                </p:oleObj>
              </mc:Choice>
              <mc:Fallback>
                <p:oleObj name="" r:id="rId9" imgW="1765300" imgH="2286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1407" y="3324225"/>
                        <a:ext cx="4545330" cy="59182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DDDDDD"/>
                          </a:gs>
                          <a:gs pos="50000">
                            <a:schemeClr val="bg1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4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5" grpId="0" bldLvl="0" animBg="1"/>
      <p:bldP spid="44238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491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sp>
        <p:nvSpPr>
          <p:cNvPr id="49161" name="Rectangle 4"/>
          <p:cNvSpPr/>
          <p:nvPr/>
        </p:nvSpPr>
        <p:spPr>
          <a:xfrm>
            <a:off x="611188" y="549275"/>
            <a:ext cx="6553200" cy="579438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DDDDDD"/>
              </a:gs>
              <a:gs pos="100000">
                <a:srgbClr val="CCFFF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</a:rPr>
              <a:t>Step 3. </a:t>
            </a:r>
            <a:r>
              <a:rPr lang="zh-CN" altLang="en-US" dirty="0">
                <a:latin typeface="Times New Roman" panose="02020603050405020304" pitchFamily="18" charset="0"/>
              </a:rPr>
              <a:t>求解</a:t>
            </a:r>
            <a:r>
              <a:rPr lang="en-US" altLang="zh-CN" i="1" dirty="0">
                <a:latin typeface="Times New Roman" panose="02020603050405020304" pitchFamily="18" charset="0"/>
              </a:rPr>
              <a:t>Ux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sz="1100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graphicFrame>
        <p:nvGraphicFramePr>
          <p:cNvPr id="488453" name="Object 5"/>
          <p:cNvGraphicFramePr/>
          <p:nvPr/>
        </p:nvGraphicFramePr>
        <p:xfrm>
          <a:off x="1692117" y="1484472"/>
          <a:ext cx="2574925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" imgW="1002665" imgH="215900" progId="Equation.3">
                  <p:embed/>
                </p:oleObj>
              </mc:Choice>
              <mc:Fallback>
                <p:oleObj name="" r:id="rId1" imgW="1002665" imgH="2159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117" y="1484472"/>
                        <a:ext cx="2574925" cy="560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7" name="Text Box 11"/>
          <p:cNvSpPr txBox="1"/>
          <p:nvPr/>
        </p:nvSpPr>
        <p:spPr>
          <a:xfrm>
            <a:off x="611505" y="2349500"/>
            <a:ext cx="2622550" cy="579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由递推公式：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9163" name="Rectangle 15"/>
          <p:cNvSpPr/>
          <p:nvPr/>
        </p:nvSpPr>
        <p:spPr>
          <a:xfrm>
            <a:off x="4319588" y="2835275"/>
            <a:ext cx="3111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zh-CN" altLang="en-US" sz="1000" dirty="0">
                <a:latin typeface="Times New Roman" panose="02020603050405020304" pitchFamily="18" charset="0"/>
              </a:rPr>
              <a:t>，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34"/>
          <p:cNvGrpSpPr/>
          <p:nvPr/>
        </p:nvGrpSpPr>
        <p:grpSpPr>
          <a:xfrm>
            <a:off x="637223" y="4290378"/>
            <a:ext cx="5546725" cy="627062"/>
            <a:chOff x="385" y="1976"/>
            <a:chExt cx="3494" cy="395"/>
          </a:xfrm>
        </p:grpSpPr>
        <p:grpSp>
          <p:nvGrpSpPr>
            <p:cNvPr id="49165" name="Group 26"/>
            <p:cNvGrpSpPr>
              <a:grpSpLocks noChangeAspect="1"/>
            </p:cNvGrpSpPr>
            <p:nvPr/>
          </p:nvGrpSpPr>
          <p:grpSpPr>
            <a:xfrm>
              <a:off x="1292" y="1979"/>
              <a:ext cx="2587" cy="392"/>
              <a:chOff x="441" y="2296"/>
              <a:chExt cx="2330" cy="356"/>
            </a:xfrm>
          </p:grpSpPr>
          <p:graphicFrame>
            <p:nvGraphicFramePr>
              <p:cNvPr id="49155" name="Object 27"/>
              <p:cNvGraphicFramePr>
                <a:graphicFrameLocks noChangeAspect="1"/>
              </p:cNvGraphicFramePr>
              <p:nvPr/>
            </p:nvGraphicFramePr>
            <p:xfrm>
              <a:off x="1927" y="2296"/>
              <a:ext cx="844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9" name="" r:id="rId3" imgW="570865" imgH="215900" progId="Equation.3">
                      <p:embed/>
                    </p:oleObj>
                  </mc:Choice>
                  <mc:Fallback>
                    <p:oleObj name="" r:id="rId3" imgW="570865" imgH="215900" progId="Equation.3">
                      <p:embed/>
                      <p:pic>
                        <p:nvPicPr>
                          <p:cNvPr id="0" name="图片 322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927" y="2296"/>
                            <a:ext cx="844" cy="3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56" name="Object 28"/>
              <p:cNvGraphicFramePr>
                <a:graphicFrameLocks noChangeAspect="1"/>
              </p:cNvGraphicFramePr>
              <p:nvPr/>
            </p:nvGraphicFramePr>
            <p:xfrm>
              <a:off x="1121" y="2302"/>
              <a:ext cx="822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5" name="" r:id="rId5" imgW="558165" imgH="215900" progId="Equation.3">
                      <p:embed/>
                    </p:oleObj>
                  </mc:Choice>
                  <mc:Fallback>
                    <p:oleObj name="" r:id="rId5" imgW="558165" imgH="215900" progId="Equation.3">
                      <p:embed/>
                      <p:pic>
                        <p:nvPicPr>
                          <p:cNvPr id="0" name="图片 322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121" y="2302"/>
                            <a:ext cx="822" cy="3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57" name="Object 29"/>
              <p:cNvGraphicFramePr>
                <a:graphicFrameLocks noChangeAspect="1"/>
              </p:cNvGraphicFramePr>
              <p:nvPr/>
            </p:nvGraphicFramePr>
            <p:xfrm>
              <a:off x="441" y="2308"/>
              <a:ext cx="675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26" name="" r:id="rId7" imgW="444500" imgH="228600" progId="Equation.3">
                      <p:embed/>
                    </p:oleObj>
                  </mc:Choice>
                  <mc:Fallback>
                    <p:oleObj name="" r:id="rId7" imgW="444500" imgH="228600" progId="Equation.3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41" y="2308"/>
                            <a:ext cx="675" cy="3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66" name="Text Box 30"/>
            <p:cNvSpPr txBox="1"/>
            <p:nvPr/>
          </p:nvSpPr>
          <p:spPr>
            <a:xfrm>
              <a:off x="385" y="1976"/>
              <a:ext cx="8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可得到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12997" name="Object 5"/>
          <p:cNvGraphicFramePr/>
          <p:nvPr/>
        </p:nvGraphicFramePr>
        <p:xfrm>
          <a:off x="1763872" y="3212783"/>
          <a:ext cx="484314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9" imgW="1866900" imgH="228600" progId="Equation.3">
                  <p:embed/>
                </p:oleObj>
              </mc:Choice>
              <mc:Fallback>
                <p:oleObj name="" r:id="rId9" imgW="1866900" imgH="2286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63872" y="3212783"/>
                        <a:ext cx="4843145" cy="5937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DDDDDD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7" grpId="0"/>
      <p:bldP spid="49167" grpId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3123" name="Rectangle 2"/>
          <p:cNvSpPr>
            <a:spLocks noGrp="1"/>
          </p:cNvSpPr>
          <p:nvPr>
            <p:ph type="title"/>
          </p:nvPr>
        </p:nvSpPr>
        <p:spPr>
          <a:xfrm>
            <a:off x="533400" y="5334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b="1" u="none" dirty="0">
                <a:latin typeface="Times New Roman" panose="02020603050405020304" pitchFamily="18" charset="0"/>
              </a:rPr>
              <a:t>6</a:t>
            </a:r>
            <a:r>
              <a:rPr lang="zh-CN" altLang="en-US" b="1" u="none" dirty="0">
                <a:latin typeface="Times New Roman" panose="02020603050405020304" pitchFamily="18" charset="0"/>
              </a:rPr>
              <a:t>.</a:t>
            </a:r>
            <a:r>
              <a:rPr lang="en-US" altLang="zh-CN" b="1" u="none" dirty="0">
                <a:latin typeface="Times New Roman" panose="02020603050405020304" pitchFamily="18" charset="0"/>
              </a:rPr>
              <a:t>3</a:t>
            </a:r>
            <a:r>
              <a:rPr lang="zh-CN" altLang="en-US" b="1" u="none" dirty="0">
                <a:latin typeface="Times New Roman" panose="02020603050405020304" pitchFamily="18" charset="0"/>
              </a:rPr>
              <a:t> 解线性方程组</a:t>
            </a:r>
            <a:r>
              <a:rPr lang="zh-CN" altLang="en-US" b="1" u="none" dirty="0"/>
              <a:t>的迭代法</a:t>
            </a:r>
            <a:endParaRPr lang="zh-CN" altLang="en-US" b="1" u="none" dirty="0"/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7772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本节介绍解线性方程组的迭代方法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. 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通过迭代构造一个解向量序列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, 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从而获得方程组的近似解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	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本节的主要内容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Jacobi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迭代法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Guass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-Seidel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迭代法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SOR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方法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迭</a:t>
            </a:r>
            <a:r>
              <a:rPr kumimoji="0" lang="zh-CN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代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法的收敛性分析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987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4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7987">
                                            <p:txEl>
                                              <p:charRg st="47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987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6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7987">
                                            <p:txEl>
                                              <p:charRg st="67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8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987">
                                            <p:txEl>
                                              <p:charRg st="84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charRg st="9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7987">
                                            <p:txEl>
                                              <p:charRg st="90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bldLvl="2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548640"/>
            <a:ext cx="9307195" cy="560705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950" y="332740"/>
            <a:ext cx="9083675" cy="604012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332740"/>
            <a:ext cx="9490075" cy="622808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2340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b="1" u="none" dirty="0">
                <a:latin typeface="Times New Roman" panose="02020603050405020304" pitchFamily="18" charset="0"/>
              </a:rPr>
              <a:t> </a:t>
            </a:r>
            <a:r>
              <a:rPr lang="zh-CN" altLang="en-US" b="1" u="none" dirty="0"/>
              <a:t>迭代法的收敛性分析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707" name="Rectangle 3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8534400" cy="17526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15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	首先注意到可以将方程组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Ax = b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改写为其等价的形式</a:t>
            </a:r>
            <a:endParaRPr lang="en-US" altLang="zh-CN" sz="4400" i="1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r">
              <a:lnSpc>
                <a:spcPct val="110000"/>
              </a:lnSpc>
              <a:spcBef>
                <a:spcPct val="0"/>
              </a:spcBef>
              <a:buSzPct val="85000"/>
              <a:buFont typeface="ZapfDingbats" pitchFamily="82" charset="2"/>
              <a:buNone/>
            </a:pPr>
            <a:r>
              <a:rPr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。                         (1)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328708" name="Rectangle 4"/>
          <p:cNvSpPr>
            <a:spLocks noGrp="1"/>
          </p:cNvSpPr>
          <p:nvPr>
            <p:ph sz="half" idx="2"/>
          </p:nvPr>
        </p:nvSpPr>
        <p:spPr>
          <a:xfrm>
            <a:off x="304800" y="3068638"/>
            <a:ext cx="8610600" cy="19812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15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写成迭代格式为 (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) 式：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algn="r">
              <a:lnSpc>
                <a:spcPct val="115000"/>
              </a:lnSpc>
              <a:buSzPct val="85000"/>
              <a:buFont typeface="ZapfDingbats" pitchFamily="82" charset="2"/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(2)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328710" name="AutoShape 6"/>
          <p:cNvSpPr/>
          <p:nvPr/>
        </p:nvSpPr>
        <p:spPr>
          <a:xfrm>
            <a:off x="323215" y="4293235"/>
            <a:ext cx="8534400" cy="2520950"/>
          </a:xfrm>
          <a:prstGeom prst="wedgeRoundRectCallout">
            <a:avLst>
              <a:gd name="adj1" fmla="val -10843"/>
              <a:gd name="adj2" fmla="val -75315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just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从理论上讲，针对不同的等价形式</a:t>
            </a:r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(1)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，可以推出不同的迭代形式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0" hangingPunct="0">
              <a:lnSpc>
                <a:spcPct val="110000"/>
              </a:lnSpc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 ，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just" eaLnBrk="0" hangingPunct="0">
              <a:lnSpc>
                <a:spcPct val="110000"/>
              </a:lnSpc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即可得到不同的迭代法。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707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8707">
                                            <p:txEl>
                                              <p:charRg st="30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870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>
                                            <p:txEl>
                                              <p:charRg st="2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8708">
                                            <p:txEl>
                                              <p:charRg st="2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/>
      <p:bldP spid="328708" grpId="0" build="p"/>
      <p:bldP spid="328710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9332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一步定常迭代法</a:t>
            </a:r>
            <a:r>
              <a:rPr lang="zh-CN" altLang="en-US" sz="3600" b="1" u="none" dirty="0"/>
              <a:t>的收敛性分析</a:t>
            </a:r>
            <a:endParaRPr lang="zh-CN" altLang="en-US" sz="3600" b="1" u="none" dirty="0"/>
          </a:p>
        </p:txBody>
      </p:sp>
      <p:sp>
        <p:nvSpPr>
          <p:cNvPr id="329731" name="Rectangle 3"/>
          <p:cNvSpPr>
            <a:spLocks noGrp="1"/>
          </p:cNvSpPr>
          <p:nvPr>
            <p:ph sz="half" idx="1"/>
          </p:nvPr>
        </p:nvSpPr>
        <p:spPr>
          <a:xfrm>
            <a:off x="3348038" y="1143000"/>
            <a:ext cx="5400675" cy="685800"/>
          </a:xfrm>
        </p:spPr>
        <p:txBody>
          <a:bodyPr vert="horz" wrap="square" lIns="91440" tIns="45720" rIns="91440" bIns="45720" anchor="ctr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则由式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+1)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 + </a:t>
            </a:r>
            <a:r>
              <a:rPr lang="en-US" altLang="zh-CN" sz="3200" b="1" i="1" dirty="0"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有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29732" name="Rectangle 4"/>
          <p:cNvSpPr>
            <a:spLocks noGrp="1"/>
          </p:cNvSpPr>
          <p:nvPr>
            <p:ph sz="half" idx="2"/>
          </p:nvPr>
        </p:nvSpPr>
        <p:spPr>
          <a:xfrm>
            <a:off x="250825" y="2057400"/>
            <a:ext cx="8569325" cy="4038600"/>
          </a:xfrm>
        </p:spPr>
        <p:txBody>
          <a:bodyPr vert="horz" wrap="square" lIns="91440" tIns="45720" rIns="91440" bIns="45720" anchor="t" anchorCtr="0"/>
          <a:p>
            <a:pPr marL="0" indent="0" algn="ctr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f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                     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即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满足(1)，从而必有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Ax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 = b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。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这说明迭代法如果收敛，则一定收敛于原方程组的解。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另外，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 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还满足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=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),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称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*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的不动点。本节介绍的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迭代算法也称为不动点算法。</a:t>
            </a: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下面给出的定理适用于一般的一步定常迭代法。</a:t>
            </a:r>
            <a:r>
              <a:rPr lang="zh-CN" altLang="en-US" sz="3200" dirty="0">
                <a:latin typeface="+mn-lt"/>
                <a:ea typeface="+mn-ea"/>
                <a:cs typeface="+mn-cs"/>
              </a:rPr>
              <a:t> 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23850" y="1196975"/>
            <a:ext cx="3009900" cy="781050"/>
            <a:chOff x="636" y="1407"/>
            <a:chExt cx="1896" cy="492"/>
          </a:xfrm>
        </p:grpSpPr>
        <p:graphicFrame>
          <p:nvGraphicFramePr>
            <p:cNvPr id="99330" name="Object 6"/>
            <p:cNvGraphicFramePr/>
            <p:nvPr/>
          </p:nvGraphicFramePr>
          <p:xfrm>
            <a:off x="960" y="1440"/>
            <a:ext cx="1247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1" name="" r:id="rId1" imgW="787400" imgH="292100" progId="Equation.3">
                    <p:embed/>
                  </p:oleObj>
                </mc:Choice>
                <mc:Fallback>
                  <p:oleObj name="" r:id="rId1" imgW="787400" imgH="292100" progId="Equation.3">
                    <p:embed/>
                    <p:pic>
                      <p:nvPicPr>
                        <p:cNvPr id="0" name="图片 32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60" y="1440"/>
                          <a:ext cx="1247" cy="4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36" name="Text Box 7"/>
            <p:cNvSpPr txBox="1"/>
            <p:nvPr/>
          </p:nvSpPr>
          <p:spPr>
            <a:xfrm>
              <a:off x="636" y="1407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若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9337" name="Text Box 8"/>
            <p:cNvSpPr txBox="1"/>
            <p:nvPr/>
          </p:nvSpPr>
          <p:spPr>
            <a:xfrm>
              <a:off x="2160" y="1407"/>
              <a:ext cx="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973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9732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charRg st="4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9732">
                                            <p:txEl>
                                              <p:charRg st="40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charRg st="8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29732">
                                            <p:txEl>
                                              <p:charRg st="88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>
                                            <p:txEl>
                                              <p:charRg st="13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29732">
                                            <p:txEl>
                                              <p:charRg st="139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  <p:bldP spid="329732" grpId="0" bldLvl="2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3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2400" dirty="0">
                <a:latin typeface="Times New Roman" panose="02020603050405020304" pitchFamily="18" charset="0"/>
              </a:rPr>
              <a:t>一步定常迭代法</a:t>
            </a:r>
            <a:r>
              <a:rPr lang="zh-CN" altLang="en-US" sz="2400" dirty="0"/>
              <a:t>的收敛性分析</a:t>
            </a:r>
            <a:endParaRPr lang="zh-CN" altLang="en-US" sz="2400" dirty="0"/>
          </a:p>
        </p:txBody>
      </p:sp>
      <p:sp>
        <p:nvSpPr>
          <p:cNvPr id="330755" name="Rectangle 3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8077200" cy="2819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6.3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迭代格式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endParaRPr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对任意初始向量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都收敛的充分必要条件是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迭代矩阵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满足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                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endParaRPr lang="en-US" altLang="zh-CN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0756" name="Rectangle 4"/>
          <p:cNvSpPr>
            <a:spLocks noGrp="1"/>
          </p:cNvSpPr>
          <p:nvPr>
            <p:ph sz="half" idx="2"/>
          </p:nvPr>
        </p:nvSpPr>
        <p:spPr>
          <a:xfrm>
            <a:off x="457200" y="4191000"/>
            <a:ext cx="8153400" cy="1981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+mn-cs"/>
              </a:rPr>
              <a:t>         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对于满足递推关系：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b="1" i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n+</a:t>
            </a:r>
            <a:r>
              <a:rPr lang="en-US" altLang="zh-CN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= m a</a:t>
            </a:r>
            <a:r>
              <a:rPr lang="en-US" altLang="zh-CN" b="1" i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+b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的数列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b="1" i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n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数列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b="1" i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n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收敛的充要条件是|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|&lt;1。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6.3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是该结论的推广。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graphicFrame>
        <p:nvGraphicFramePr>
          <p:cNvPr id="449538" name="Object 2"/>
          <p:cNvGraphicFramePr/>
          <p:nvPr/>
        </p:nvGraphicFramePr>
        <p:xfrm>
          <a:off x="5202238" y="3273425"/>
          <a:ext cx="190881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" imgW="762000" imgH="292100" progId="Equation.3">
                  <p:embed/>
                </p:oleObj>
              </mc:Choice>
              <mc:Fallback>
                <p:oleObj name="" r:id="rId1" imgW="762000" imgH="2921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02238" y="3273425"/>
                        <a:ext cx="1908810" cy="73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791325" y="1565275"/>
            <a:ext cx="1884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证明？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075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charRg st="37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0755">
                                            <p:txEl>
                                              <p:charRg st="37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charRg st="6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0755">
                                            <p:txEl>
                                              <p:charRg st="6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/>
      <p:bldP spid="330756" grpId="0"/>
      <p:bldP spid="2" grpId="0"/>
      <p:bldP spid="2" grpId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3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2400" dirty="0">
                <a:latin typeface="Times New Roman" panose="02020603050405020304" pitchFamily="18" charset="0"/>
              </a:rPr>
              <a:t>一步定常迭代法</a:t>
            </a:r>
            <a:r>
              <a:rPr lang="zh-CN" altLang="en-US" sz="2400" dirty="0"/>
              <a:t>的收敛性分析</a:t>
            </a:r>
            <a:endParaRPr lang="zh-CN" altLang="en-US" sz="2400" dirty="0"/>
          </a:p>
        </p:txBody>
      </p:sp>
      <p:sp>
        <p:nvSpPr>
          <p:cNvPr id="330755" name="Rectangle 3"/>
          <p:cNvSpPr>
            <a:spLocks noGrp="1"/>
          </p:cNvSpPr>
          <p:nvPr>
            <p:ph sz="half" idx="1"/>
          </p:nvPr>
        </p:nvSpPr>
        <p:spPr>
          <a:xfrm>
            <a:off x="323215" y="3933190"/>
            <a:ext cx="8077200" cy="2819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推论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设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||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   ||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是某种方阵范数，若范数||</a:t>
            </a:r>
            <a:r>
              <a:rPr lang="en-US" altLang="zh-CN" sz="3200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|| &lt; 1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，则迭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代格式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endParaRPr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对任意初始向量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都收敛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0756" name="Rectangle 4"/>
          <p:cNvSpPr>
            <a:spLocks noGrp="1"/>
          </p:cNvSpPr>
          <p:nvPr>
            <p:ph sz="half" idx="2"/>
          </p:nvPr>
        </p:nvSpPr>
        <p:spPr>
          <a:xfrm>
            <a:off x="467360" y="3804920"/>
            <a:ext cx="8143240" cy="236728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+mn-cs"/>
              </a:rPr>
              <a:t>    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467360" y="1052830"/>
            <a:ext cx="8077200" cy="281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6.4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迭代格式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      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endParaRPr lang="en-US" altLang="zh-CN" sz="3200" b="1" i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对任意初始向量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都收敛的充分必要条件是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迭代矩阵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的谱半径 </a:t>
            </a:r>
            <a:r>
              <a:rPr lang="zh-CN" altLang="en-US" sz="3200" i="1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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) &lt; 1。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6" grpI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035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zh-CN" altLang="en-US" sz="2400" dirty="0">
                <a:latin typeface="Times New Roman" panose="02020603050405020304" pitchFamily="18" charset="0"/>
              </a:rPr>
              <a:t>一步定常迭代法</a:t>
            </a:r>
            <a:r>
              <a:rPr lang="zh-CN" altLang="en-US" sz="2400" dirty="0"/>
              <a:t>的收敛性分析</a:t>
            </a:r>
            <a:endParaRPr lang="zh-CN" altLang="en-US" sz="2400" dirty="0"/>
          </a:p>
        </p:txBody>
      </p:sp>
      <p:sp>
        <p:nvSpPr>
          <p:cNvPr id="331779" name="Rectangle 3"/>
          <p:cNvSpPr>
            <a:spLocks noGrp="1"/>
          </p:cNvSpPr>
          <p:nvPr>
            <p:ph idx="1"/>
          </p:nvPr>
        </p:nvSpPr>
        <p:spPr>
          <a:xfrm>
            <a:off x="228600" y="1219200"/>
            <a:ext cx="8534400" cy="25146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</a:rPr>
              <a:t>6.5</a:t>
            </a:r>
            <a:r>
              <a:rPr lang="zh-CN" altLang="en-US" sz="3200" dirty="0">
                <a:latin typeface="Times New Roman" panose="02020603050405020304" pitchFamily="18" charset="0"/>
              </a:rPr>
              <a:t> （收敛的充分条件）若迭代矩阵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</a:rPr>
              <a:t>的某种算子范数||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|| &lt; 1，</a:t>
            </a:r>
            <a:r>
              <a:rPr lang="zh-CN" altLang="en-US" sz="3200" dirty="0">
                <a:latin typeface="Times New Roman" panose="02020603050405020304" pitchFamily="18" charset="0"/>
              </a:rPr>
              <a:t>则此迭代格式对任意初始向量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(0)</a:t>
            </a:r>
            <a:r>
              <a:rPr lang="zh-CN" altLang="en-US" sz="3200" dirty="0">
                <a:latin typeface="Times New Roman" panose="02020603050405020304" pitchFamily="18" charset="0"/>
              </a:rPr>
              <a:t>都收敛于(1)的解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且有下列误差估计式</a:t>
            </a:r>
            <a:endParaRPr lang="zh-CN" altLang="en-US" sz="3200" dirty="0"/>
          </a:p>
        </p:txBody>
      </p:sp>
      <p:graphicFrame>
        <p:nvGraphicFramePr>
          <p:cNvPr id="449538" name="Object 2"/>
          <p:cNvGraphicFramePr/>
          <p:nvPr/>
        </p:nvGraphicFramePr>
        <p:xfrm>
          <a:off x="1352550" y="3752850"/>
          <a:ext cx="70580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" imgW="2819400" imgH="419100" progId="Equation.3">
                  <p:embed/>
                </p:oleObj>
              </mc:Choice>
              <mc:Fallback>
                <p:oleObj name="" r:id="rId1" imgW="2819400" imgH="4191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2550" y="3752850"/>
                        <a:ext cx="7058025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9539" name="Object 3"/>
          <p:cNvGraphicFramePr/>
          <p:nvPr/>
        </p:nvGraphicFramePr>
        <p:xfrm>
          <a:off x="1495425" y="4906963"/>
          <a:ext cx="678180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3" imgW="2691130" imgH="444500" progId="Equation.3">
                  <p:embed/>
                </p:oleObj>
              </mc:Choice>
              <mc:Fallback>
                <p:oleObj name="" r:id="rId3" imgW="2691130" imgH="444500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5425" y="4906963"/>
                        <a:ext cx="6781800" cy="1112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2" name="AutoShape 6"/>
          <p:cNvSpPr/>
          <p:nvPr/>
        </p:nvSpPr>
        <p:spPr>
          <a:xfrm>
            <a:off x="3048000" y="228600"/>
            <a:ext cx="3352800" cy="838200"/>
          </a:xfrm>
          <a:prstGeom prst="wedgeRoundRectCallout">
            <a:avLst>
              <a:gd name="adj1" fmla="val 57148"/>
              <a:gd name="adj2" fmla="val 8636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endParaRPr lang="zh-CN" altLang="en-US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63845" y="5949315"/>
            <a:ext cx="1884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证明？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charRg st="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/>
      <p:bldP spid="331782" grpId="0" bldLvl="0" animBg="1"/>
      <p:bldP spid="2" grpId="0"/>
      <p:bldP spid="2" grpId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8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13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latin typeface="Times New Roman" panose="02020603050405020304" pitchFamily="18" charset="0"/>
              </a:rPr>
              <a:t>下面说明这两个误差估计式的作用。</a:t>
            </a:r>
            <a:endParaRPr lang="zh-CN" altLang="en-US" sz="3200" b="1" u="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2803" name="Rectangle 3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7924800" cy="2057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(1)  由定理的式(4) 可以看出：当 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||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+mn-lt"/>
                <a:ea typeface="+mn-ea"/>
                <a:cs typeface="+mn-cs"/>
              </a:rPr>
              <a:t>–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 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k-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&lt;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（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为预给精度要求）时，则有</a:t>
            </a:r>
            <a:endParaRPr lang="zh-CN" altLang="en-US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332804" name="Rectangle 4"/>
          <p:cNvSpPr>
            <a:spLocks noGrp="1"/>
          </p:cNvSpPr>
          <p:nvPr>
            <p:ph sz="half" idx="2"/>
          </p:nvPr>
        </p:nvSpPr>
        <p:spPr>
          <a:xfrm>
            <a:off x="533400" y="3886200"/>
            <a:ext cx="8305800" cy="26670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3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故一般常利用 ||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– 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k-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1)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&lt; 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作为控制迭代终止的条件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后验误差估计）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。当||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&lt;&lt; 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时，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收敛较快，但是当||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≈ 1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时 ( 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 &lt; 1) ，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尽管迭代也收敛，但收敛速度可能很慢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。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332805" name="Object 5"/>
          <p:cNvGraphicFramePr/>
          <p:nvPr/>
        </p:nvGraphicFramePr>
        <p:xfrm>
          <a:off x="2438400" y="2819400"/>
          <a:ext cx="36163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1" imgW="1447800" imgH="419100" progId="Equation.3">
                  <p:embed/>
                </p:oleObj>
              </mc:Choice>
              <mc:Fallback>
                <p:oleObj name="" r:id="rId1" imgW="1447800" imgH="41910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2819400"/>
                        <a:ext cx="3616325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06" name="AutoShape 6"/>
          <p:cNvSpPr/>
          <p:nvPr/>
        </p:nvSpPr>
        <p:spPr>
          <a:xfrm>
            <a:off x="4800600" y="5791200"/>
            <a:ext cx="3124200" cy="685800"/>
          </a:xfrm>
          <a:prstGeom prst="wedgeRoundRectCallout">
            <a:avLst>
              <a:gd name="adj1" fmla="val -80333"/>
              <a:gd name="adj2" fmla="val -1203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</a:rPr>
              <a:t>理由见5式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2807" name="AutoShape 7"/>
          <p:cNvSpPr/>
          <p:nvPr/>
        </p:nvSpPr>
        <p:spPr>
          <a:xfrm>
            <a:off x="6248400" y="2895600"/>
            <a:ext cx="2514600" cy="1066800"/>
          </a:xfrm>
          <a:prstGeom prst="wedgeEllipseCallout">
            <a:avLst>
              <a:gd name="adj1" fmla="val -152083"/>
              <a:gd name="adj2" fmla="val 238394"/>
            </a:avLst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0" hangingPunct="0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为什么？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32808" name="Object 8"/>
          <p:cNvGraphicFramePr/>
          <p:nvPr/>
        </p:nvGraphicFramePr>
        <p:xfrm>
          <a:off x="1041400" y="333375"/>
          <a:ext cx="705961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3" imgW="2819400" imgH="419100" progId="Equation.3">
                  <p:embed/>
                </p:oleObj>
              </mc:Choice>
              <mc:Fallback>
                <p:oleObj name="" r:id="rId3" imgW="2819400" imgH="4191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1400" y="333375"/>
                        <a:ext cx="7059613" cy="1047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2803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2803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>
                                            <p:txEl>
                                              <p:charRg st="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2804">
                                            <p:txEl>
                                              <p:charRg st="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2804">
                                            <p:txEl>
                                              <p:charRg st="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32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build="p"/>
      <p:bldP spid="332804" grpId="0" build="p"/>
      <p:bldP spid="332806" grpId="0" bldLvl="0" animBg="1"/>
      <p:bldP spid="332807" grpId="0" bldLvl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4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2405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73152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(2)  当 </a:t>
            </a:r>
            <a:r>
              <a:rPr lang="zh-CN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给定时，由 (5)式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3827" name="Rectangle 3"/>
          <p:cNvSpPr>
            <a:spLocks noGrp="1"/>
          </p:cNvSpPr>
          <p:nvPr>
            <p:ph sz="half" idx="1"/>
          </p:nvPr>
        </p:nvSpPr>
        <p:spPr>
          <a:xfrm>
            <a:off x="304800" y="2362200"/>
            <a:ext cx="8382000" cy="22098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35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可以看出||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||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越小，上式右端项趋近于零的速度越快， 即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收敛越快。上式也可用来估计迭代次数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,即令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3828" name="Rectangle 4"/>
          <p:cNvSpPr>
            <a:spLocks noGrp="1"/>
          </p:cNvSpPr>
          <p:nvPr>
            <p:ph sz="half" idx="2"/>
          </p:nvPr>
        </p:nvSpPr>
        <p:spPr>
          <a:xfrm>
            <a:off x="304800" y="5334000"/>
            <a:ext cx="8610600" cy="990600"/>
          </a:xfrm>
        </p:spPr>
        <p:txBody>
          <a:bodyPr vert="horz" wrap="square" lIns="91440" tIns="45720" rIns="91440" bIns="45720" anchor="t" anchorCtr="0"/>
          <a:p>
            <a:pPr marL="0" indent="0" algn="just" defTabSz="914400">
              <a:lnSpc>
                <a:spcPct val="135000"/>
              </a:lnSpc>
              <a:buSzPct val="85000"/>
              <a:buFont typeface="ZapfDingbats" pitchFamily="82" charset="2"/>
              <a:buNone/>
              <a:tabLst>
                <a:tab pos="389255" algn="l"/>
              </a:tabLst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解出</a:t>
            </a:r>
            <a:r>
              <a:rPr lang="en-US" altLang="zh-CN" sz="3200" i="1" dirty="0"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来。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先验误差估计）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448514" name="Object 2"/>
          <p:cNvGraphicFramePr/>
          <p:nvPr/>
        </p:nvGraphicFramePr>
        <p:xfrm>
          <a:off x="1654175" y="1143000"/>
          <a:ext cx="543242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" imgW="2158365" imgH="444500" progId="Equation.3">
                  <p:embed/>
                </p:oleObj>
              </mc:Choice>
              <mc:Fallback>
                <p:oleObj name="" r:id="rId1" imgW="2158365" imgH="4445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4175" y="1143000"/>
                        <a:ext cx="5432425" cy="11128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15" name="Object 3"/>
          <p:cNvGraphicFramePr/>
          <p:nvPr/>
        </p:nvGraphicFramePr>
        <p:xfrm>
          <a:off x="2819400" y="4267200"/>
          <a:ext cx="38989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3" imgW="1548765" imgH="444500" progId="Equation.3">
                  <p:embed/>
                </p:oleObj>
              </mc:Choice>
              <mc:Fallback>
                <p:oleObj name="" r:id="rId3" imgW="1548765" imgH="4445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9400" y="4267200"/>
                        <a:ext cx="3898900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31" name="AutoShape 7"/>
          <p:cNvSpPr/>
          <p:nvPr/>
        </p:nvSpPr>
        <p:spPr>
          <a:xfrm>
            <a:off x="936625" y="3429000"/>
            <a:ext cx="7010400" cy="3048000"/>
          </a:xfrm>
          <a:prstGeom prst="wedgeRoundRectCallout">
            <a:avLst>
              <a:gd name="adj1" fmla="val 21694"/>
              <a:gd name="adj2" fmla="val -90468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eaLnBrk="0" hangingPunct="0"/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虽然迭代法的收敛性与初始向量</a:t>
            </a:r>
            <a:r>
              <a:rPr lang="en-US" altLang="zh-CN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(0)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的选取无关，但</a:t>
            </a:r>
            <a:r>
              <a:rPr lang="en-US" altLang="zh-CN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(0)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的选取对计算量的大小有直接影响。显然</a:t>
            </a:r>
            <a:r>
              <a:rPr lang="en-US" altLang="zh-CN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(0)</a:t>
            </a:r>
            <a:r>
              <a:rPr lang="en-US" altLang="zh-CN" b="1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与方程组的真解</a:t>
            </a:r>
            <a:r>
              <a:rPr lang="en-US" altLang="zh-CN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b="1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*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越接近，计算量越小，</a:t>
            </a:r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{ </a:t>
            </a:r>
            <a:r>
              <a:rPr lang="en-US" altLang="zh-CN" b="1" i="1" dirty="0"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b="1" i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k</a:t>
            </a:r>
            <a:r>
              <a:rPr lang="en-US" altLang="zh-CN" b="1" baseline="30000" dirty="0"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收敛也越快。</a:t>
            </a:r>
            <a:endParaRPr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3827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3827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38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382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 build="p"/>
      <p:bldP spid="333828" grpId="0" build="p"/>
      <p:bldP spid="333831" grpId="0" bldLvl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43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(3)   渐近收敛速度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4851" name="Rectangle 3"/>
          <p:cNvSpPr>
            <a:spLocks noGrp="1"/>
          </p:cNvSpPr>
          <p:nvPr>
            <p:ph idx="1"/>
          </p:nvPr>
        </p:nvSpPr>
        <p:spPr>
          <a:xfrm>
            <a:off x="533400" y="1219200"/>
            <a:ext cx="7772400" cy="4343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3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另一方面，由(5) 可知 ||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|| </a:t>
            </a:r>
            <a:r>
              <a:rPr lang="zh-CN" altLang="en-US" sz="3200" dirty="0">
                <a:latin typeface="Times New Roman" panose="02020603050405020304" pitchFamily="18" charset="0"/>
              </a:rPr>
              <a:t>越小，{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} </a:t>
            </a:r>
            <a:r>
              <a:rPr lang="zh-CN" altLang="en-US" sz="3200" dirty="0">
                <a:latin typeface="Times New Roman" panose="02020603050405020304" pitchFamily="18" charset="0"/>
              </a:rPr>
              <a:t>收敛越快。由于 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) ≤ ||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||，</a:t>
            </a:r>
            <a:r>
              <a:rPr lang="zh-CN" altLang="en-US" sz="3200" dirty="0">
                <a:latin typeface="Times New Roman" panose="02020603050405020304" pitchFamily="18" charset="0"/>
              </a:rPr>
              <a:t>说明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越小{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} </a:t>
            </a:r>
            <a:r>
              <a:rPr lang="zh-CN" altLang="en-US" sz="3200" dirty="0">
                <a:latin typeface="Times New Roman" panose="02020603050405020304" pitchFamily="18" charset="0"/>
              </a:rPr>
              <a:t>收敛越快。于是有下列收敛速度的概念。称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= -ln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3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为迭代法的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渐近收敛速度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sp>
        <p:nvSpPr>
          <p:cNvPr id="334852" name="AutoShape 4"/>
          <p:cNvSpPr>
            <a:spLocks noChangeArrowheads="1"/>
          </p:cNvSpPr>
          <p:nvPr/>
        </p:nvSpPr>
        <p:spPr bwMode="auto">
          <a:xfrm>
            <a:off x="5943600" y="4495800"/>
            <a:ext cx="1905000" cy="1828800"/>
          </a:xfrm>
          <a:prstGeom prst="wedgeRoundRectCallout">
            <a:avLst>
              <a:gd name="adj1" fmla="val -155000"/>
              <a:gd name="adj2" fmla="val -43315"/>
              <a:gd name="adj3" fmla="val 16667"/>
            </a:avLst>
          </a:prstGeom>
          <a:gradFill rotWithShape="0"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R(</a:t>
            </a:r>
            <a:r>
              <a:rPr kumimoji="0" lang="en-US" altLang="zh-CN" sz="3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越大收敛越快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4851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charRg st="8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4851">
                                            <p:txEl>
                                              <p:charRg st="87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charRg st="105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4851">
                                            <p:txEl>
                                              <p:charRg st="105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build="p"/>
      <p:bldP spid="334852" grpId="0" bldLvl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3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1684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9144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3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.1 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Jacobi 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迭代法</a:t>
            </a:r>
            <a:endParaRPr lang="zh-CN" altLang="en-US" sz="3600" b="1" u="none" dirty="0">
              <a:latin typeface="Times New Roman" panose="02020603050405020304" pitchFamily="18" charset="0"/>
            </a:endParaRPr>
          </a:p>
        </p:txBody>
      </p:sp>
      <p:sp>
        <p:nvSpPr>
          <p:cNvPr id="299011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7772400" cy="762000"/>
          </a:xfrm>
        </p:spPr>
        <p:txBody>
          <a:bodyPr vert="horz" wrap="square" lIns="91440" tIns="45720" rIns="91440" bIns="45720" anchor="t" anchorCtr="0"/>
          <a:p>
            <a:pPr marL="0" indent="0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设有线性方程组 	</a:t>
            </a:r>
            <a:r>
              <a:rPr lang="en-US" altLang="zh-CN" sz="3200" i="1" dirty="0">
                <a:latin typeface="Times New Roman" panose="02020603050405020304" pitchFamily="18" charset="0"/>
              </a:rPr>
              <a:t>Ax = b</a:t>
            </a:r>
            <a:r>
              <a:rPr lang="en-US" altLang="zh-CN" sz="3200" dirty="0">
                <a:latin typeface="Times New Roman" panose="02020603050405020304" pitchFamily="18" charset="0"/>
              </a:rPr>
              <a:t> , </a:t>
            </a:r>
            <a:r>
              <a:rPr lang="zh-CN" altLang="en-US" sz="3200" dirty="0">
                <a:latin typeface="Times New Roman" panose="02020603050405020304" pitchFamily="18" charset="0"/>
              </a:rPr>
              <a:t>即</a:t>
            </a:r>
            <a:endParaRPr lang="zh-CN" altLang="en-US" sz="3200" dirty="0"/>
          </a:p>
        </p:txBody>
      </p:sp>
      <p:graphicFrame>
        <p:nvGraphicFramePr>
          <p:cNvPr id="479234" name="Object 2"/>
          <p:cNvGraphicFramePr/>
          <p:nvPr/>
        </p:nvGraphicFramePr>
        <p:xfrm>
          <a:off x="1290638" y="1981200"/>
          <a:ext cx="6738937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311400" imgH="939800" progId="Equation.3">
                  <p:embed/>
                </p:oleObj>
              </mc:Choice>
              <mc:Fallback>
                <p:oleObj name="" r:id="rId1" imgW="2311400" imgH="9398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0638" y="1981200"/>
                        <a:ext cx="6738937" cy="2727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3" name="Text Box 5"/>
          <p:cNvSpPr txBox="1"/>
          <p:nvPr/>
        </p:nvSpPr>
        <p:spPr>
          <a:xfrm>
            <a:off x="452438" y="4953000"/>
            <a:ext cx="76485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宋体" panose="02010600030101010101" pitchFamily="2" charset="-122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非奇异, 且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i="1" baseline="-30000" dirty="0">
                <a:latin typeface="Times New Roman" panose="02020603050405020304" pitchFamily="18" charset="0"/>
                <a:ea typeface="黑体" panose="02010609060101010101" pitchFamily="49" charset="-122"/>
              </a:rPr>
              <a:t>ii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0,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= 1, 2, </a:t>
            </a:r>
            <a:r>
              <a:rPr lang="en-US" altLang="zh-CN" dirty="0">
                <a:latin typeface="Times New Roman" panose="02020603050405020304" pitchFamily="18" charset="0"/>
              </a:rPr>
              <a:t>…,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1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1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build="p"/>
      <p:bldP spid="29901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7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>
          <a:xfrm>
            <a:off x="381000" y="609600"/>
            <a:ext cx="7772400" cy="533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宋体" panose="02010600030101010101" pitchFamily="2" charset="-122"/>
              </a:rPr>
              <a:t>将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3200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3200" u="none" dirty="0">
                <a:solidFill>
                  <a:schemeClr val="tx1"/>
                </a:solidFill>
                <a:latin typeface="宋体" panose="02010600030101010101" pitchFamily="2" charset="-122"/>
              </a:rPr>
              <a:t>改写成其等价形式</a:t>
            </a:r>
            <a:endParaRPr lang="zh-CN" altLang="en-US" sz="3200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78210" name="Object 2"/>
          <p:cNvGraphicFramePr/>
          <p:nvPr/>
        </p:nvGraphicFramePr>
        <p:xfrm>
          <a:off x="323850" y="1371600"/>
          <a:ext cx="843915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3378200" imgH="1828800" progId="Equation.DSMT4">
                  <p:embed/>
                </p:oleObj>
              </mc:Choice>
              <mc:Fallback>
                <p:oleObj name="" r:id="rId1" imgW="3378200" imgH="18288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371600"/>
                        <a:ext cx="8439150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宋体" panose="02010600030101010101" pitchFamily="2" charset="-122"/>
              </a:rPr>
              <a:t>构造如下的迭代公式（格式）(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3200" u="none" dirty="0">
                <a:solidFill>
                  <a:schemeClr val="tx1"/>
                </a:solidFill>
                <a:latin typeface="宋体" panose="02010600030101010101" pitchFamily="2" charset="-122"/>
              </a:rPr>
              <a:t>表示迭代次数)</a:t>
            </a:r>
            <a:endParaRPr lang="zh-CN" altLang="en-US" sz="3200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77186" name="Object 2"/>
          <p:cNvGraphicFramePr/>
          <p:nvPr/>
        </p:nvGraphicFramePr>
        <p:xfrm>
          <a:off x="222250" y="1239838"/>
          <a:ext cx="8543925" cy="423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3784600" imgH="1879600" progId="Equation.3">
                  <p:embed/>
                </p:oleObj>
              </mc:Choice>
              <mc:Fallback>
                <p:oleObj name="" r:id="rId1" imgW="3784600" imgH="1879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250" y="1239838"/>
                        <a:ext cx="8543925" cy="423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 Box 5"/>
          <p:cNvSpPr txBox="1"/>
          <p:nvPr/>
        </p:nvSpPr>
        <p:spPr>
          <a:xfrm>
            <a:off x="6553200" y="5672138"/>
            <a:ext cx="2012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sz="2400" dirty="0">
                <a:latin typeface="Times New Roman" panose="02020603050405020304" pitchFamily="18" charset="0"/>
                <a:ea typeface="隶书" panose="02010509060101010101" pitchFamily="49" charset="-122"/>
                <a:hlinkClick r:id="rId3" tooltip="Jacobi迭代的矩阵形式" action="ppaction://hlinksldjump"/>
              </a:rPr>
              <a:t>返回矩阵形式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1000"/>
                                        <p:tgtEl>
                                          <p:spTgt spid="47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4759" name="Rectangle 2"/>
          <p:cNvSpPr>
            <a:spLocks noGrp="1"/>
          </p:cNvSpPr>
          <p:nvPr>
            <p:ph type="title"/>
          </p:nvPr>
        </p:nvSpPr>
        <p:spPr>
          <a:xfrm>
            <a:off x="304800" y="2286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grpSp>
        <p:nvGrpSpPr>
          <p:cNvPr id="2" name="Group 10"/>
          <p:cNvGrpSpPr/>
          <p:nvPr/>
        </p:nvGrpSpPr>
        <p:grpSpPr>
          <a:xfrm>
            <a:off x="304800" y="619125"/>
            <a:ext cx="8458200" cy="5553075"/>
            <a:chOff x="192" y="288"/>
            <a:chExt cx="5328" cy="3498"/>
          </a:xfrm>
        </p:grpSpPr>
        <p:sp>
          <p:nvSpPr>
            <p:cNvPr id="74761" name="Rectangle 4"/>
            <p:cNvSpPr/>
            <p:nvPr/>
          </p:nvSpPr>
          <p:spPr>
            <a:xfrm>
              <a:off x="192" y="288"/>
              <a:ext cx="5328" cy="34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lnSpc>
                  <a:spcPct val="140000"/>
                </a:lnSpc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任取初始向量                    </a:t>
              </a:r>
              <a:r>
                <a:rPr lang="zh-CN" altLang="en-US" sz="13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，代入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(3)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的右端，可得                   ，称</a:t>
              </a:r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(1)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为第一次近似解，然后把 </a:t>
              </a:r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(1)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代入  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(3)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的右端，得第二次近似解                   ，如此下去可得到一向量序列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{</a:t>
              </a:r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k</a:t>
              </a:r>
              <a:r>
                <a: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}</a:t>
              </a:r>
              <a:r>
                <a: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</a:t>
              </a:r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i="1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若此序列收敛，即          成立，则称此迭代法收敛（否则称此迭代法是发散的）。后面，我们将证明</a:t>
              </a:r>
              <a:r>
                <a:rPr lang="en-US" altLang="zh-CN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*</a:t>
              </a:r>
              <a:r>
                <a:rPr lang="en-US" altLang="zh-CN" baseline="300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即为原方程组的解。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  <p:graphicFrame>
          <p:nvGraphicFramePr>
            <p:cNvPr id="74754" name="Object 2"/>
            <p:cNvGraphicFramePr/>
            <p:nvPr/>
          </p:nvGraphicFramePr>
          <p:xfrm>
            <a:off x="1872" y="430"/>
            <a:ext cx="249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1574800" imgH="241300" progId="Equation.3">
                    <p:embed/>
                  </p:oleObj>
                </mc:Choice>
                <mc:Fallback>
                  <p:oleObj name="" r:id="rId1" imgW="1574800" imgH="2413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72" y="430"/>
                          <a:ext cx="2496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5" name="Object 3"/>
            <p:cNvGraphicFramePr/>
            <p:nvPr/>
          </p:nvGraphicFramePr>
          <p:xfrm>
            <a:off x="2544" y="813"/>
            <a:ext cx="241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3" imgW="1524000" imgH="241300" progId="Equation.3">
                    <p:embed/>
                  </p:oleObj>
                </mc:Choice>
                <mc:Fallback>
                  <p:oleObj name="" r:id="rId3" imgW="1524000" imgH="2413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44" y="813"/>
                          <a:ext cx="2412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6" name="Object 4"/>
            <p:cNvGraphicFramePr/>
            <p:nvPr/>
          </p:nvGraphicFramePr>
          <p:xfrm>
            <a:off x="2340" y="1653"/>
            <a:ext cx="2507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5" imgW="1587500" imgH="241300" progId="Equation.3">
                    <p:embed/>
                  </p:oleObj>
                </mc:Choice>
                <mc:Fallback>
                  <p:oleObj name="" r:id="rId5" imgW="1587500" imgH="2413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40" y="1653"/>
                          <a:ext cx="2507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7" name="Object 5"/>
            <p:cNvGraphicFramePr/>
            <p:nvPr/>
          </p:nvGraphicFramePr>
          <p:xfrm>
            <a:off x="1305" y="2463"/>
            <a:ext cx="1267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7" imgW="787400" imgH="292100" progId="Equation.3">
                    <p:embed/>
                  </p:oleObj>
                </mc:Choice>
                <mc:Fallback>
                  <p:oleObj name="" r:id="rId7" imgW="787400" imgH="2921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05" y="2463"/>
                          <a:ext cx="1267" cy="4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303107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34290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因此，当 </a:t>
            </a:r>
            <a:r>
              <a:rPr lang="en-US" altLang="zh-CN" sz="3200" i="1" dirty="0">
                <a:latin typeface="Times New Roman" panose="02020603050405020304" pitchFamily="18" charset="0"/>
              </a:rPr>
              <a:t>k </a:t>
            </a:r>
            <a:r>
              <a:rPr lang="zh-CN" altLang="en-US" sz="3200" dirty="0">
                <a:latin typeface="Times New Roman" panose="02020603050405020304" pitchFamily="18" charset="0"/>
              </a:rPr>
              <a:t>充分大时，可以取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作为原方程组(1) 的近似解。这种方法称为 </a:t>
            </a:r>
            <a:r>
              <a:rPr lang="en-US" altLang="zh-CN" sz="3200" b="1" dirty="0">
                <a:latin typeface="Times New Roman" panose="02020603050405020304" pitchFamily="18" charset="0"/>
              </a:rPr>
              <a:t>Jacobi 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迭代法</a:t>
            </a:r>
            <a:r>
              <a:rPr lang="zh-CN" altLang="en-US" sz="3200" dirty="0">
                <a:latin typeface="Times New Roman" panose="02020603050405020304" pitchFamily="18" charset="0"/>
              </a:rPr>
              <a:t>，式（3）称为 </a:t>
            </a:r>
            <a:r>
              <a:rPr lang="en-US" altLang="zh-CN" sz="3200" b="1" dirty="0">
                <a:latin typeface="Times New Roman" panose="02020603050405020304" pitchFamily="18" charset="0"/>
              </a:rPr>
              <a:t>Jacobi 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迭代公式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zh-CN" altLang="en-US" sz="3200" b="1" dirty="0">
                <a:latin typeface="Times New Roman" panose="02020603050405020304" pitchFamily="18" charset="0"/>
              </a:rPr>
              <a:t>分量形式</a:t>
            </a:r>
            <a:r>
              <a:rPr lang="zh-CN" altLang="en-US" sz="3200" dirty="0">
                <a:latin typeface="Times New Roman" panose="02020603050405020304" pitchFamily="18" charset="0"/>
              </a:rPr>
              <a:t>），或称</a:t>
            </a:r>
            <a:r>
              <a:rPr lang="en-US" altLang="zh-CN" sz="3200" b="1" dirty="0">
                <a:latin typeface="Times New Roman" panose="02020603050405020304" pitchFamily="18" charset="0"/>
              </a:rPr>
              <a:t>Jacobi 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迭代格式的分量形式，</a:t>
            </a:r>
            <a:r>
              <a:rPr lang="zh-CN" altLang="en-US" sz="3200" dirty="0">
                <a:latin typeface="Times New Roman" panose="02020603050405020304" pitchFamily="18" charset="0"/>
              </a:rPr>
              <a:t>或称</a:t>
            </a:r>
            <a:r>
              <a:rPr lang="zh-CN" altLang="en-US" sz="3200" b="1" dirty="0">
                <a:latin typeface="Times New Roman" panose="02020603050405020304" pitchFamily="18" charset="0"/>
              </a:rPr>
              <a:t>计算公式的分量形式</a:t>
            </a:r>
            <a:r>
              <a:rPr lang="zh-CN" altLang="en-US" sz="3200" dirty="0">
                <a:latin typeface="Times New Roman" panose="02020603050405020304" pitchFamily="18" charset="0"/>
              </a:rPr>
              <a:t>，它可以简记为：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475138" name="Object 2"/>
          <p:cNvGraphicFramePr/>
          <p:nvPr/>
        </p:nvGraphicFramePr>
        <p:xfrm>
          <a:off x="1046163" y="4038600"/>
          <a:ext cx="7148512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2729230" imgH="711200" progId="Equation.3">
                  <p:embed/>
                </p:oleObj>
              </mc:Choice>
              <mc:Fallback>
                <p:oleObj name="" r:id="rId1" imgW="2729230" imgH="711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6163" y="4038600"/>
                        <a:ext cx="7148512" cy="184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charRg st="0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07">
                                            <p:txEl>
                                              <p:charRg st="0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68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76805" name="Text Box 3"/>
          <p:cNvSpPr txBox="1"/>
          <p:nvPr/>
        </p:nvSpPr>
        <p:spPr>
          <a:xfrm>
            <a:off x="381000" y="990600"/>
            <a:ext cx="77724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例1</a:t>
            </a:r>
            <a:r>
              <a:rPr lang="zh-CN" altLang="en-US" dirty="0">
                <a:latin typeface="Times New Roman" panose="02020603050405020304" pitchFamily="18" charset="0"/>
              </a:rPr>
              <a:t> 用</a:t>
            </a:r>
            <a:r>
              <a:rPr lang="en-US" altLang="zh-CN" dirty="0">
                <a:latin typeface="Times New Roman" panose="02020603050405020304" pitchFamily="18" charset="0"/>
              </a:rPr>
              <a:t>Jacobi</a:t>
            </a:r>
            <a:r>
              <a:rPr lang="zh-CN" altLang="en-US" dirty="0">
                <a:latin typeface="Times New Roman" panose="02020603050405020304" pitchFamily="18" charset="0"/>
              </a:rPr>
              <a:t>迭代法解如下方程组，初始向量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(0) </a:t>
            </a:r>
            <a:r>
              <a:rPr lang="en-US" altLang="zh-CN" dirty="0">
                <a:latin typeface="Times New Roman" panose="02020603050405020304" pitchFamily="18" charset="0"/>
              </a:rPr>
              <a:t>= (0, 0, 0)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。</a:t>
            </a:r>
            <a:r>
              <a: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graphicFrame>
        <p:nvGraphicFramePr>
          <p:cNvPr id="474114" name="Object 2"/>
          <p:cNvGraphicFramePr/>
          <p:nvPr/>
        </p:nvGraphicFramePr>
        <p:xfrm>
          <a:off x="2133600" y="2362200"/>
          <a:ext cx="4405313" cy="21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459865" imgH="711200" progId="Equation.3">
                  <p:embed/>
                </p:oleObj>
              </mc:Choice>
              <mc:Fallback>
                <p:oleObj name="" r:id="rId1" imgW="1459865" imgH="711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2362200"/>
                        <a:ext cx="4405313" cy="213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3" name="Rectangle 5"/>
          <p:cNvSpPr/>
          <p:nvPr/>
        </p:nvSpPr>
        <p:spPr>
          <a:xfrm>
            <a:off x="457200" y="4800600"/>
            <a:ext cx="3733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解：其迭代公式为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3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7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78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graphicFrame>
        <p:nvGraphicFramePr>
          <p:cNvPr id="473090" name="Object 2"/>
          <p:cNvGraphicFramePr/>
          <p:nvPr/>
        </p:nvGraphicFramePr>
        <p:xfrm>
          <a:off x="758825" y="990600"/>
          <a:ext cx="6654800" cy="362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374265" imgH="1295400" progId="Equation.3">
                  <p:embed/>
                </p:oleObj>
              </mc:Choice>
              <mc:Fallback>
                <p:oleObj name="" r:id="rId1" imgW="2374265" imgH="1295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8825" y="990600"/>
                        <a:ext cx="6654800" cy="362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Text Box 4"/>
          <p:cNvSpPr txBox="1"/>
          <p:nvPr/>
        </p:nvSpPr>
        <p:spPr>
          <a:xfrm>
            <a:off x="304800" y="4800600"/>
            <a:ext cx="81772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取初始向量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(0)  </a:t>
            </a:r>
            <a:r>
              <a:rPr lang="en-US" altLang="zh-CN" dirty="0">
                <a:latin typeface="Times New Roman" panose="02020603050405020304" pitchFamily="18" charset="0"/>
              </a:rPr>
              <a:t>= (0, 0, 0)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计算结果如下：</a:t>
            </a:r>
            <a:r>
              <a: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1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306179" name="Rectangle 3"/>
          <p:cNvSpPr/>
          <p:nvPr/>
        </p:nvSpPr>
        <p:spPr>
          <a:xfrm>
            <a:off x="152400" y="1600200"/>
            <a:ext cx="8305800" cy="4765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152400" algn="just" eaLnBrk="0" hangingPunct="0">
              <a:lnSpc>
                <a:spcPct val="120000"/>
              </a:lnSpc>
            </a:pPr>
            <a:r>
              <a:rPr lang="zh-CN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	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	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         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1	1.20000	1.50000	2.00000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	0.75000     1.10000	2.14000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3	0.76900	1.13875	2.12000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4	0.76813	1.13888	2.12522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5      0.76733	1.13833	2.12536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6	0.76736	1.13841	2.12536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7	0.76736	1.13841	2.12537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2066" name="Object 2"/>
          <p:cNvGraphicFramePr/>
          <p:nvPr/>
        </p:nvGraphicFramePr>
        <p:xfrm>
          <a:off x="5707380" y="64611"/>
          <a:ext cx="3291840" cy="226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1828800" imgH="1257300" progId="Equation.3">
                  <p:embed/>
                </p:oleObj>
              </mc:Choice>
              <mc:Fallback>
                <p:oleObj name="" r:id="rId1" imgW="1828800" imgH="12573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07380" y="64611"/>
                        <a:ext cx="3291840" cy="226314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151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6179">
                                            <p:txEl>
                                              <p:charRg st="151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18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6179">
                                            <p:txEl>
                                              <p:charRg st="182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208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6179">
                                            <p:txEl>
                                              <p:charRg st="208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9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4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.1 </a:t>
            </a:r>
            <a:r>
              <a:rPr lang="en-US" altLang="zh-CN" sz="2400" dirty="0">
                <a:latin typeface="Times New Roman" panose="02020603050405020304" pitchFamily="18" charset="0"/>
              </a:rPr>
              <a:t>Jacobi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307203" name="Rectangle 3"/>
          <p:cNvSpPr>
            <a:spLocks noGrp="1"/>
          </p:cNvSpPr>
          <p:nvPr>
            <p:ph idx="1"/>
          </p:nvPr>
        </p:nvSpPr>
        <p:spPr>
          <a:xfrm>
            <a:off x="533400" y="1066800"/>
            <a:ext cx="7772400" cy="4648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可见当迭代次数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</a:rPr>
              <a:t>不断增大时，迭代结果越来越逼近于一个确定的向量，我们可取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(7)</a:t>
            </a:r>
            <a:r>
              <a:rPr lang="en-US" altLang="zh-CN" sz="3200" dirty="0">
                <a:latin typeface="Times New Roman" panose="02020603050405020304" pitchFamily="18" charset="0"/>
              </a:rPr>
              <a:t> = (0.76736，1.13841，2.12537)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T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作为方程组的近似解。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0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charRg st="3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203">
                                            <p:txEl>
                                              <p:charRg st="37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charRg st="7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203">
                                            <p:txEl>
                                              <p:charRg st="71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798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Jacobi 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迭代法的矩阵形式</a:t>
            </a:r>
            <a:endParaRPr lang="zh-CN" altLang="en-US" sz="3200" b="1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7" name="Rectangle 3"/>
          <p:cNvSpPr>
            <a:spLocks noGrp="1"/>
          </p:cNvSpPr>
          <p:nvPr>
            <p:ph idx="1"/>
          </p:nvPr>
        </p:nvSpPr>
        <p:spPr>
          <a:xfrm>
            <a:off x="533400" y="990600"/>
            <a:ext cx="7772400" cy="1981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</a:t>
            </a:r>
            <a:r>
              <a:rPr lang="zh-CN" altLang="en-US" sz="3200" dirty="0">
                <a:latin typeface="Times New Roman" panose="02020603050405020304" pitchFamily="18" charset="0"/>
              </a:rPr>
              <a:t>为讨论迭代法的收敛性，常常要用到迭代公式的矩阵形式，为此将(1) 的系数矩阵 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作如下分解 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zh-CN" altLang="en-US" sz="3200" dirty="0">
                <a:latin typeface="Times New Roman" panose="02020603050405020304" pitchFamily="18" charset="0"/>
              </a:rPr>
              <a:t>裂解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graphicFrame>
        <p:nvGraphicFramePr>
          <p:cNvPr id="470018" name="Object 2"/>
          <p:cNvGraphicFramePr/>
          <p:nvPr/>
        </p:nvGraphicFramePr>
        <p:xfrm>
          <a:off x="1095375" y="2895600"/>
          <a:ext cx="7080250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2628900" imgH="965200" progId="Equation.3">
                  <p:embed/>
                </p:oleObj>
              </mc:Choice>
              <mc:Fallback>
                <p:oleObj name="" r:id="rId1" imgW="2628900" imgH="9652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95375" y="2895600"/>
                        <a:ext cx="7080250" cy="260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9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09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u="none" dirty="0">
                <a:latin typeface="Times New Roman" panose="02020603050405020304" pitchFamily="18" charset="0"/>
              </a:rPr>
              <a:t>Jacobi </a:t>
            </a:r>
            <a:r>
              <a:rPr lang="zh-CN" altLang="en-US" sz="2400" u="none" dirty="0">
                <a:latin typeface="Times New Roman" panose="02020603050405020304" pitchFamily="18" charset="0"/>
              </a:rPr>
              <a:t>迭代法矩阵形式</a:t>
            </a:r>
            <a:endParaRPr lang="zh-CN" altLang="en-US" sz="2800" u="none" dirty="0"/>
          </a:p>
        </p:txBody>
      </p:sp>
      <p:sp>
        <p:nvSpPr>
          <p:cNvPr id="80901" name="Text Box 3"/>
          <p:cNvSpPr txBox="1"/>
          <p:nvPr/>
        </p:nvSpPr>
        <p:spPr>
          <a:xfrm>
            <a:off x="533400" y="1204913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68994" name="Object 2"/>
          <p:cNvGraphicFramePr/>
          <p:nvPr/>
        </p:nvGraphicFramePr>
        <p:xfrm>
          <a:off x="1676400" y="1600200"/>
          <a:ext cx="5127625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587500" imgH="965200" progId="Equation.3">
                  <p:embed/>
                </p:oleObj>
              </mc:Choice>
              <mc:Fallback>
                <p:oleObj name="" r:id="rId1" imgW="1587500" imgH="9652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600200"/>
                        <a:ext cx="5127625" cy="3133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8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19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u="none" dirty="0">
                <a:latin typeface="Times New Roman" panose="02020603050405020304" pitchFamily="18" charset="0"/>
              </a:rPr>
              <a:t>Jacobi </a:t>
            </a:r>
            <a:r>
              <a:rPr lang="zh-CN" altLang="en-US" sz="2400" u="none" dirty="0">
                <a:latin typeface="Times New Roman" panose="02020603050405020304" pitchFamily="18" charset="0"/>
              </a:rPr>
              <a:t>迭代法矩阵形式</a:t>
            </a:r>
            <a:endParaRPr lang="zh-CN" altLang="en-US" sz="2800" u="none" dirty="0"/>
          </a:p>
        </p:txBody>
      </p:sp>
      <p:graphicFrame>
        <p:nvGraphicFramePr>
          <p:cNvPr id="467970" name="Object 2"/>
          <p:cNvGraphicFramePr/>
          <p:nvPr/>
        </p:nvGraphicFramePr>
        <p:xfrm>
          <a:off x="533400" y="1219200"/>
          <a:ext cx="7777163" cy="374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2425700" imgH="1168400" progId="Equation.3">
                  <p:embed/>
                </p:oleObj>
              </mc:Choice>
              <mc:Fallback>
                <p:oleObj name="" r:id="rId1" imgW="2425700" imgH="11684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" y="1219200"/>
                        <a:ext cx="7777163" cy="374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7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29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u="none" dirty="0">
                <a:latin typeface="Times New Roman" panose="02020603050405020304" pitchFamily="18" charset="0"/>
              </a:rPr>
              <a:t>Jacobi </a:t>
            </a:r>
            <a:r>
              <a:rPr lang="zh-CN" altLang="en-US" sz="2400" u="none" dirty="0">
                <a:latin typeface="Times New Roman" panose="02020603050405020304" pitchFamily="18" charset="0"/>
              </a:rPr>
              <a:t>迭代法矩阵形式</a:t>
            </a:r>
            <a:endParaRPr lang="zh-CN" altLang="en-US" sz="2800" u="none" dirty="0"/>
          </a:p>
        </p:txBody>
      </p:sp>
      <p:graphicFrame>
        <p:nvGraphicFramePr>
          <p:cNvPr id="466946" name="Object 2"/>
          <p:cNvGraphicFramePr/>
          <p:nvPr/>
        </p:nvGraphicFramePr>
        <p:xfrm>
          <a:off x="990600" y="1066800"/>
          <a:ext cx="6811963" cy="350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2260600" imgH="1168400" progId="Equation.3">
                  <p:embed/>
                </p:oleObj>
              </mc:Choice>
              <mc:Fallback>
                <p:oleObj name="" r:id="rId1" imgW="2260600" imgH="11684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1066800"/>
                        <a:ext cx="6811963" cy="350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5171" name="Rectangle 2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en-US" altLang="zh-CN" sz="2400" u="none" dirty="0">
                <a:latin typeface="Times New Roman" panose="02020603050405020304" pitchFamily="18" charset="0"/>
              </a:rPr>
              <a:t>Jacobi </a:t>
            </a:r>
            <a:r>
              <a:rPr lang="zh-CN" altLang="en-US" sz="2400" u="none" dirty="0">
                <a:latin typeface="Times New Roman" panose="02020603050405020304" pitchFamily="18" charset="0"/>
              </a:rPr>
              <a:t>迭代法矩阵形式</a:t>
            </a:r>
            <a:endParaRPr lang="zh-CN" altLang="en-US" sz="2800" u="none" dirty="0"/>
          </a:p>
        </p:txBody>
      </p:sp>
      <p:sp>
        <p:nvSpPr>
          <p:cNvPr id="312323" name="Rectangle 3"/>
          <p:cNvSpPr>
            <a:spLocks noGrp="1"/>
          </p:cNvSpPr>
          <p:nvPr>
            <p:ph idx="1"/>
          </p:nvPr>
        </p:nvSpPr>
        <p:spPr>
          <a:xfrm>
            <a:off x="533400" y="990600"/>
            <a:ext cx="8153400" cy="48006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于是式（1）成为        ( </a:t>
            </a:r>
            <a:r>
              <a:rPr lang="en-US" altLang="zh-CN" sz="3200" i="1" dirty="0">
                <a:latin typeface="Times New Roman" panose="02020603050405020304" pitchFamily="18" charset="0"/>
              </a:rPr>
              <a:t>D-L-U</a:t>
            </a:r>
            <a:r>
              <a:rPr lang="en-US" altLang="zh-CN" sz="3200" dirty="0">
                <a:latin typeface="Times New Roman" panose="02020603050405020304" pitchFamily="18" charset="0"/>
              </a:rPr>
              <a:t> ) </a:t>
            </a:r>
            <a:r>
              <a:rPr lang="en-US" altLang="zh-CN" sz="3200" i="1" dirty="0">
                <a:latin typeface="Times New Roman" panose="02020603050405020304" pitchFamily="18" charset="0"/>
              </a:rPr>
              <a:t>x =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由上式可得   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Dx =</a:t>
            </a:r>
            <a:r>
              <a:rPr lang="en-US" altLang="zh-CN" sz="3200" dirty="0">
                <a:latin typeface="Times New Roman" panose="02020603050405020304" pitchFamily="18" charset="0"/>
              </a:rPr>
              <a:t> ( </a:t>
            </a:r>
            <a:r>
              <a:rPr lang="en-US" altLang="zh-CN" sz="3200" i="1" dirty="0">
                <a:latin typeface="Times New Roman" panose="02020603050405020304" pitchFamily="18" charset="0"/>
              </a:rPr>
              <a:t>L+U</a:t>
            </a:r>
            <a:r>
              <a:rPr lang="en-US" altLang="zh-CN" sz="3200" dirty="0">
                <a:latin typeface="Times New Roman" panose="02020603050405020304" pitchFamily="18" charset="0"/>
              </a:rPr>
              <a:t> ) </a:t>
            </a:r>
            <a:r>
              <a:rPr lang="en-US" altLang="zh-CN" sz="3200" i="1" dirty="0">
                <a:latin typeface="Times New Roman" panose="02020603050405020304" pitchFamily="18" charset="0"/>
              </a:rPr>
              <a:t>x +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由于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ii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latin typeface="Times New Roman" panose="02020603050405020304" pitchFamily="18" charset="0"/>
              </a:rPr>
              <a:t> 0 ，（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=1，2，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），</a:t>
            </a:r>
            <a:r>
              <a:rPr lang="zh-CN" altLang="en-US" sz="3200" dirty="0">
                <a:latin typeface="Times New Roman" panose="02020603050405020304" pitchFamily="18" charset="0"/>
              </a:rPr>
              <a:t>故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zh-CN" altLang="en-US" sz="3200" dirty="0">
                <a:latin typeface="Times New Roman" panose="02020603050405020304" pitchFamily="18" charset="0"/>
              </a:rPr>
              <a:t>可逆，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从而有 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( 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</a:rPr>
              <a:t>+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</a:rPr>
              <a:t> )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+ 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将上式写成迭代形式，即为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>
              <a:lnSpc>
                <a:spcPct val="115000"/>
              </a:lnSpc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L+U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D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sz="3200" dirty="0">
                <a:latin typeface="Times New Roman" panose="02020603050405020304" pitchFamily="18" charset="0"/>
              </a:rPr>
              <a:t>。        </a:t>
            </a:r>
            <a:r>
              <a:rPr lang="zh-CN" altLang="en-US" sz="3200" dirty="0">
                <a:latin typeface="Times New Roman" panose="02020603050405020304" pitchFamily="18" charset="0"/>
              </a:rPr>
              <a:t>(6) 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上式即为</a:t>
            </a:r>
            <a:r>
              <a:rPr lang="en-US" altLang="zh-CN" sz="3200" b="1" dirty="0">
                <a:latin typeface="Times New Roman" panose="02020603050405020304" pitchFamily="18" charset="0"/>
                <a:hlinkClick r:id="rId1" tooltip="Jacobi迭代分量形式" action="ppaction://hlinksldjump"/>
              </a:rPr>
              <a:t>Jacobi</a:t>
            </a:r>
            <a:r>
              <a:rPr lang="zh-CN" altLang="en-US" sz="3200" b="1" dirty="0">
                <a:latin typeface="Times New Roman" panose="02020603050405020304" pitchFamily="18" charset="0"/>
                <a:hlinkClick r:id="rId1" tooltip="Jacobi迭代分量形式" action="ppaction://hlinksldjump"/>
              </a:rPr>
              <a:t>迭代法</a:t>
            </a:r>
            <a:r>
              <a:rPr lang="zh-CN" altLang="en-US" sz="3200" b="1" dirty="0">
                <a:latin typeface="Times New Roman" panose="02020603050405020304" pitchFamily="18" charset="0"/>
              </a:rPr>
              <a:t>的矩阵形式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2323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33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2323">
                                            <p:txEl>
                                              <p:charRg st="33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2323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97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2323">
                                            <p:txEl>
                                              <p:charRg st="97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13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2323">
                                            <p:txEl>
                                              <p:charRg st="133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14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2323">
                                            <p:txEl>
                                              <p:charRg st="146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charRg st="191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2323">
                                            <p:txEl>
                                              <p:charRg st="191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3972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若令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L+U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)，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u="none" baseline="-30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则 (6)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3347" name="Rectangle 3"/>
          <p:cNvSpPr>
            <a:spLocks noGrp="1"/>
          </p:cNvSpPr>
          <p:nvPr>
            <p:ph idx="1"/>
          </p:nvPr>
        </p:nvSpPr>
        <p:spPr>
          <a:xfrm>
            <a:off x="533400" y="1219200"/>
            <a:ext cx="7772400" cy="274320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( </a:t>
            </a:r>
            <a:r>
              <a:rPr lang="en-US" altLang="zh-CN" sz="3200" i="1" dirty="0">
                <a:latin typeface="Times New Roman" panose="02020603050405020304" pitchFamily="18" charset="0"/>
              </a:rPr>
              <a:t>L + U</a:t>
            </a:r>
            <a:r>
              <a:rPr lang="en-US" altLang="zh-CN" sz="3200" dirty="0">
                <a:latin typeface="Times New Roman" panose="02020603050405020304" pitchFamily="18" charset="0"/>
              </a:rPr>
              <a:t> )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可表示为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称为 </a:t>
            </a:r>
            <a:r>
              <a:rPr lang="en-US" altLang="zh-CN" sz="3200" dirty="0">
                <a:latin typeface="Times New Roman" panose="02020603050405020304" pitchFamily="18" charset="0"/>
              </a:rPr>
              <a:t>Jacobi </a:t>
            </a:r>
            <a:r>
              <a:rPr lang="zh-CN" altLang="en-US" sz="3200" dirty="0">
                <a:latin typeface="Times New Roman" panose="02020603050405020304" pitchFamily="18" charset="0"/>
              </a:rPr>
              <a:t>迭代法的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迭代矩阵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514350" y="3686175"/>
            <a:ext cx="7772400" cy="1100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</a:rPr>
              <a:t>在我们构造迭代法时，总希望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  </a:t>
            </a:r>
            <a:r>
              <a:rPr lang="zh-CN" altLang="en-US" dirty="0">
                <a:latin typeface="Times New Roman" panose="02020603050405020304" pitchFamily="18" charset="0"/>
              </a:rPr>
              <a:t>收敛，即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" name="Object 5"/>
          <p:cNvGraphicFramePr/>
          <p:nvPr/>
        </p:nvGraphicFramePr>
        <p:xfrm>
          <a:off x="3500438" y="4143375"/>
          <a:ext cx="201136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787400" imgH="292100" progId="Equation.3">
                  <p:embed/>
                </p:oleObj>
              </mc:Choice>
              <mc:Fallback>
                <p:oleObj name="" r:id="rId1" imgW="787400" imgH="292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0438" y="4143375"/>
                        <a:ext cx="2011362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 txBox="1"/>
          <p:nvPr/>
        </p:nvSpPr>
        <p:spPr>
          <a:xfrm>
            <a:off x="571500" y="4929188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0" hangingPunct="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zh-CN" altLang="en-US" dirty="0">
                <a:latin typeface="Times New Roman" panose="02020603050405020304" pitchFamily="18" charset="0"/>
              </a:rPr>
              <a:t>并且希望</a:t>
            </a:r>
            <a:r>
              <a:rPr lang="en-US" altLang="zh-CN" dirty="0">
                <a:latin typeface="Times New Roman" panose="02020603050405020304" pitchFamily="18" charset="0"/>
              </a:rPr>
              <a:t>||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–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*||</a:t>
            </a:r>
            <a:r>
              <a:rPr lang="zh-CN" altLang="en-US" dirty="0">
                <a:latin typeface="Times New Roman" panose="02020603050405020304" pitchFamily="18" charset="0"/>
              </a:rPr>
              <a:t>趋于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的速度越快越好，即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收敛真解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的速度越快越好。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3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47">
                                            <p:txEl>
                                              <p:charRg st="35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47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charRg st="64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7">
                                            <p:txEl>
                                              <p:charRg st="64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  <p:bldP spid="7" grpId="0" build="p"/>
      <p:bldP spid="9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467360" y="476885"/>
            <a:ext cx="8077200" cy="281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6.6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若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的系数矩阵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是严格对角占优的，则求解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Jacobi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迭代格式收敛。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6805" name="Text Box 3"/>
          <p:cNvSpPr txBox="1"/>
          <p:nvPr/>
        </p:nvSpPr>
        <p:spPr>
          <a:xfrm>
            <a:off x="550545" y="1769110"/>
            <a:ext cx="7772400" cy="6819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 用</a:t>
            </a:r>
            <a:r>
              <a:rPr lang="en-US" altLang="zh-CN" dirty="0">
                <a:latin typeface="Times New Roman" panose="02020603050405020304" pitchFamily="18" charset="0"/>
              </a:rPr>
              <a:t>Jacobi</a:t>
            </a:r>
            <a:r>
              <a:rPr lang="zh-CN" altLang="en-US" dirty="0">
                <a:latin typeface="Times New Roman" panose="02020603050405020304" pitchFamily="18" charset="0"/>
              </a:rPr>
              <a:t>迭代法解如下方程组</a:t>
            </a:r>
            <a:endParaRPr lang="zh-CN" altLang="en-US" sz="2800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graphicFrame>
        <p:nvGraphicFramePr>
          <p:cNvPr id="474114" name="Object 2"/>
          <p:cNvGraphicFramePr/>
          <p:nvPr/>
        </p:nvGraphicFramePr>
        <p:xfrm>
          <a:off x="2540159" y="2492852"/>
          <a:ext cx="3716655" cy="213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231265" imgH="711200" progId="Equation.3">
                  <p:embed/>
                </p:oleObj>
              </mc:Choice>
              <mc:Fallback>
                <p:oleObj name="" r:id="rId1" imgW="1231265" imgH="7112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0159" y="2492852"/>
                        <a:ext cx="3716655" cy="2132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3" name="Rectangle 5"/>
          <p:cNvSpPr/>
          <p:nvPr/>
        </p:nvSpPr>
        <p:spPr>
          <a:xfrm>
            <a:off x="550545" y="4509135"/>
            <a:ext cx="828167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Jacobi</a:t>
            </a:r>
            <a:r>
              <a:rPr lang="zh-CN" altLang="en-US" dirty="0">
                <a:latin typeface="Times New Roman" panose="02020603050405020304" pitchFamily="18" charset="0"/>
              </a:rPr>
              <a:t>迭代格式是否收敛？若不收敛，是否可以通过调整方程的顺序，使其</a:t>
            </a:r>
            <a:r>
              <a:rPr lang="zh-CN" altLang="en-US" sz="3200" dirty="0">
                <a:sym typeface="+mn-ea"/>
              </a:rPr>
              <a:t>Jacobi迭代格式收敛？</a:t>
            </a:r>
            <a:r>
              <a:rPr lang="zh-CN" altLang="en-US" sz="1100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3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3213100"/>
            <a:ext cx="7346315" cy="33254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94130" y="420370"/>
            <a:ext cx="65906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可以证明，该方程组的</a:t>
            </a:r>
            <a:r>
              <a:rPr lang="zh-CN" altLang="en-US" sz="2800" dirty="0">
                <a:sym typeface="+mn-ea"/>
              </a:rPr>
              <a:t>其</a:t>
            </a:r>
            <a:r>
              <a:rPr lang="zh-CN" altLang="en-US" sz="2800" dirty="0">
                <a:sym typeface="+mn-ea"/>
              </a:rPr>
              <a:t>Jacobi迭代格式不收敛。如果调整前二个方程的顺序，该方程组化为</a:t>
            </a:r>
            <a:endParaRPr lang="zh-CN" altLang="en-US" sz="28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130" y="1700530"/>
            <a:ext cx="6927850" cy="1579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499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906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6.3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.2 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Seidel 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迭代法</a:t>
            </a:r>
            <a:endParaRPr lang="zh-CN" altLang="en-US" b="1" u="none" dirty="0"/>
          </a:p>
        </p:txBody>
      </p:sp>
      <p:sp>
        <p:nvSpPr>
          <p:cNvPr id="314371" name="Rectangle 3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6096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为了加速收敛，我们构造如下的迭代公式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graphicFrame>
        <p:nvGraphicFramePr>
          <p:cNvPr id="463874" name="Object 2"/>
          <p:cNvGraphicFramePr/>
          <p:nvPr/>
        </p:nvGraphicFramePr>
        <p:xfrm>
          <a:off x="339725" y="2032000"/>
          <a:ext cx="8383588" cy="393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3987800" imgH="1879600" progId="Equation.3">
                  <p:embed/>
                </p:oleObj>
              </mc:Choice>
              <mc:Fallback>
                <p:oleObj name="" r:id="rId1" imgW="3987800" imgH="18796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9725" y="2032000"/>
                        <a:ext cx="8383588" cy="39385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4371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2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602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Jacobi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迭代法与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Seidel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迭代法的比较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62850" name="Object 2"/>
          <p:cNvGraphicFramePr/>
          <p:nvPr/>
        </p:nvGraphicFramePr>
        <p:xfrm>
          <a:off x="303213" y="1082675"/>
          <a:ext cx="8618537" cy="486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4089400" imgH="2311400" progId="Equation.DSMT4">
                  <p:embed/>
                </p:oleObj>
              </mc:Choice>
              <mc:Fallback>
                <p:oleObj name="" r:id="rId1" imgW="4089400" imgH="2311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213" y="1082675"/>
                        <a:ext cx="8618537" cy="486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1" name="Object 3"/>
          <p:cNvGraphicFramePr/>
          <p:nvPr/>
        </p:nvGraphicFramePr>
        <p:xfrm>
          <a:off x="2667000" y="2209800"/>
          <a:ext cx="7556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42900" imgH="228600" progId="Equation.3">
                  <p:embed/>
                </p:oleObj>
              </mc:Choice>
              <mc:Fallback>
                <p:oleObj name="" r:id="rId3" imgW="3429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2209800"/>
                        <a:ext cx="755650" cy="5032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2" name="Object 4"/>
          <p:cNvGraphicFramePr/>
          <p:nvPr/>
        </p:nvGraphicFramePr>
        <p:xfrm>
          <a:off x="2673350" y="3657600"/>
          <a:ext cx="7556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342900" imgH="228600" progId="Equation.3">
                  <p:embed/>
                </p:oleObj>
              </mc:Choice>
              <mc:Fallback>
                <p:oleObj name="" r:id="rId5" imgW="3429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3350" y="3657600"/>
                        <a:ext cx="755650" cy="5032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3" name="Object 5"/>
          <p:cNvGraphicFramePr/>
          <p:nvPr/>
        </p:nvGraphicFramePr>
        <p:xfrm>
          <a:off x="4572000" y="3657600"/>
          <a:ext cx="7556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342900" imgH="241300" progId="Equation.3">
                  <p:embed/>
                </p:oleObj>
              </mc:Choice>
              <mc:Fallback>
                <p:oleObj name="" r:id="rId7" imgW="342900" imgH="241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0" y="3657600"/>
                        <a:ext cx="755650" cy="531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4" name="Object 6"/>
          <p:cNvGraphicFramePr/>
          <p:nvPr/>
        </p:nvGraphicFramePr>
        <p:xfrm>
          <a:off x="2743200" y="5137150"/>
          <a:ext cx="752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9" imgW="342900" imgH="228600" progId="Equation.3">
                  <p:embed/>
                </p:oleObj>
              </mc:Choice>
              <mc:Fallback>
                <p:oleObj name="" r:id="rId9" imgW="3429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43200" y="5137150"/>
                        <a:ext cx="752475" cy="501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5" name="Object 7"/>
          <p:cNvGraphicFramePr/>
          <p:nvPr/>
        </p:nvGraphicFramePr>
        <p:xfrm>
          <a:off x="4305300" y="5156200"/>
          <a:ext cx="72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342900" imgH="228600" progId="Equation.3">
                  <p:embed/>
                </p:oleObj>
              </mc:Choice>
              <mc:Fallback>
                <p:oleObj name="" r:id="rId11" imgW="3429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05300" y="5156200"/>
                        <a:ext cx="723900" cy="482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56" name="Object 8"/>
          <p:cNvGraphicFramePr/>
          <p:nvPr/>
        </p:nvGraphicFramePr>
        <p:xfrm>
          <a:off x="6819900" y="5129213"/>
          <a:ext cx="7239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3" imgW="342900" imgH="241300" progId="Equation.3">
                  <p:embed/>
                </p:oleObj>
              </mc:Choice>
              <mc:Fallback>
                <p:oleObj name="" r:id="rId13" imgW="342900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19900" y="5129213"/>
                        <a:ext cx="723900" cy="5095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70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Seidel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迭代公式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042" name="Object 2"/>
          <p:cNvGraphicFramePr/>
          <p:nvPr/>
        </p:nvGraphicFramePr>
        <p:xfrm>
          <a:off x="180975" y="1023938"/>
          <a:ext cx="8810625" cy="537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4191000" imgH="2565400" progId="Equation.DSMT4">
                  <p:embed/>
                </p:oleObj>
              </mc:Choice>
              <mc:Fallback>
                <p:oleObj name="" r:id="rId1" imgW="4191000" imgH="25654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0975" y="1023938"/>
                        <a:ext cx="8810625" cy="53768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50000">
                            <a:schemeClr val="accent1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Text Box 4"/>
          <p:cNvSpPr txBox="1"/>
          <p:nvPr/>
        </p:nvSpPr>
        <p:spPr>
          <a:xfrm>
            <a:off x="4932363" y="5805488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  <a:hlinkClick r:id="rId3" tooltip="G-S矩阵形式" action="ppaction://hlinksldjump"/>
              </a:rPr>
              <a:t>返至</a:t>
            </a:r>
            <a:r>
              <a: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hlinkClick r:id="rId3" tooltip="G-S矩阵形式" action="ppaction://hlinksldjump"/>
              </a:rPr>
              <a:t>G-S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  <a:hlinkClick r:id="rId3" tooltip="G-S矩阵形式" action="ppaction://hlinksldjump"/>
              </a:rPr>
              <a:t>矩阵形式</a:t>
            </a:r>
            <a:endParaRPr lang="zh-CN" altLang="en-US" sz="2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80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.2 </a:t>
            </a:r>
            <a:r>
              <a:rPr lang="en-US" altLang="zh-CN" sz="2400" dirty="0">
                <a:latin typeface="Times New Roman" panose="02020603050405020304" pitchFamily="18" charset="0"/>
              </a:rPr>
              <a:t>Seidel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graphicFrame>
        <p:nvGraphicFramePr>
          <p:cNvPr id="460802" name="Object 2"/>
          <p:cNvGraphicFramePr/>
          <p:nvPr/>
        </p:nvGraphicFramePr>
        <p:xfrm>
          <a:off x="931863" y="4005263"/>
          <a:ext cx="7278687" cy="199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589530" imgH="711200" progId="Equation.3">
                  <p:embed/>
                </p:oleObj>
              </mc:Choice>
              <mc:Fallback>
                <p:oleObj name="" r:id="rId1" imgW="2589530" imgH="711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1863" y="4005263"/>
                        <a:ext cx="7278687" cy="199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19" name="Rectangle 3"/>
          <p:cNvSpPr>
            <a:spLocks noGrp="1"/>
          </p:cNvSpPr>
          <p:nvPr>
            <p:ph idx="1"/>
          </p:nvPr>
        </p:nvSpPr>
        <p:spPr>
          <a:xfrm>
            <a:off x="381000" y="990600"/>
            <a:ext cx="8458200" cy="3200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这样，当计算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sz="3200" dirty="0">
                <a:latin typeface="Times New Roman" panose="02020603050405020304" pitchFamily="18" charset="0"/>
              </a:rPr>
              <a:t>时，总是起用前面最新计算出的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latin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latin typeface="Times New Roman" panose="02020603050405020304" pitchFamily="18" charset="0"/>
              </a:rPr>
              <a:t>，…，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i="1" baseline="-30000" dirty="0">
                <a:latin typeface="Times New Roman" panose="02020603050405020304" pitchFamily="18" charset="0"/>
              </a:rPr>
              <a:t>i-</a:t>
            </a:r>
            <a:r>
              <a:rPr lang="en-US" altLang="zh-CN" sz="32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如果方法收敛，它们一般比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( </a:t>
            </a:r>
            <a:r>
              <a:rPr lang="en-US" altLang="zh-CN" sz="3200" i="1" dirty="0">
                <a:latin typeface="Times New Roman" panose="02020603050405020304" pitchFamily="18" charset="0"/>
              </a:rPr>
              <a:t>j</a:t>
            </a:r>
            <a:r>
              <a:rPr lang="en-US" altLang="zh-CN" sz="3200" dirty="0">
                <a:latin typeface="Times New Roman" panose="02020603050405020304" pitchFamily="18" charset="0"/>
              </a:rPr>
              <a:t> = 1,2,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-1) </a:t>
            </a:r>
            <a:r>
              <a:rPr lang="zh-CN" altLang="en-US" sz="3200" dirty="0">
                <a:latin typeface="Times New Roman" panose="02020603050405020304" pitchFamily="18" charset="0"/>
              </a:rPr>
              <a:t>要精确，这种方法称为</a:t>
            </a:r>
            <a:r>
              <a:rPr lang="en-US" altLang="zh-CN" sz="3200" dirty="0">
                <a:latin typeface="Times New Roman" panose="02020603050405020304" pitchFamily="18" charset="0"/>
              </a:rPr>
              <a:t>Guass-Seidel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迭代法，式（8）称为</a:t>
            </a:r>
            <a:r>
              <a:rPr lang="en-US" altLang="zh-CN" sz="3200" dirty="0">
                <a:latin typeface="Times New Roman" panose="02020603050405020304" pitchFamily="18" charset="0"/>
              </a:rPr>
              <a:t>Guass-Seidel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迭代公式，它可以简记为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88070" name="Text Box 7"/>
          <p:cNvSpPr txBox="1"/>
          <p:nvPr/>
        </p:nvSpPr>
        <p:spPr>
          <a:xfrm>
            <a:off x="3348038" y="6021388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  <a:hlinkClick r:id="rId3" tooltip="G-S矩阵形式" action="ppaction://hlinksldjump"/>
              </a:rPr>
              <a:t>返至</a:t>
            </a:r>
            <a:r>
              <a:rPr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hlinkClick r:id="rId3" tooltip="G-S矩阵形式" action="ppaction://hlinksldjump"/>
              </a:rPr>
              <a:t>G-S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  <a:hlinkClick r:id="rId3" tooltip="G-S矩阵形式" action="ppaction://hlinksldjump"/>
              </a:rPr>
              <a:t>矩阵形式</a:t>
            </a:r>
            <a:endParaRPr lang="zh-CN" altLang="en-US" sz="2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charRg st="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316419">
                                            <p:txEl>
                                              <p:charRg st="0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0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890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.2 </a:t>
            </a:r>
            <a:r>
              <a:rPr lang="en-US" altLang="zh-CN" sz="2400" dirty="0">
                <a:latin typeface="Times New Roman" panose="02020603050405020304" pitchFamily="18" charset="0"/>
              </a:rPr>
              <a:t>Seidel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317443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11430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例2</a:t>
            </a:r>
            <a:r>
              <a:rPr lang="zh-CN" altLang="en-US" sz="3200" dirty="0">
                <a:latin typeface="Times New Roman" panose="02020603050405020304" pitchFamily="18" charset="0"/>
              </a:rPr>
              <a:t> 用</a:t>
            </a:r>
            <a:r>
              <a:rPr lang="en-US" altLang="zh-CN" sz="3200" dirty="0">
                <a:latin typeface="Times New Roman" panose="02020603050405020304" pitchFamily="18" charset="0"/>
              </a:rPr>
              <a:t>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迭代法解例1中的方程组。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59778" name="Object 2"/>
          <p:cNvGraphicFramePr/>
          <p:nvPr/>
        </p:nvGraphicFramePr>
        <p:xfrm>
          <a:off x="2362200" y="2362200"/>
          <a:ext cx="3817938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" imgW="1459865" imgH="711200" progId="Equation.3">
                  <p:embed/>
                </p:oleObj>
              </mc:Choice>
              <mc:Fallback>
                <p:oleObj name="" r:id="rId1" imgW="1459865" imgH="7112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2362200"/>
                        <a:ext cx="3817938" cy="184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Text Box 5"/>
          <p:cNvSpPr txBox="1"/>
          <p:nvPr/>
        </p:nvSpPr>
        <p:spPr>
          <a:xfrm>
            <a:off x="457200" y="4495800"/>
            <a:ext cx="68922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此方程组的</a:t>
            </a:r>
            <a:r>
              <a:rPr lang="en-US" altLang="zh-CN" dirty="0">
                <a:latin typeface="Times New Roman" panose="02020603050405020304" pitchFamily="18" charset="0"/>
              </a:rPr>
              <a:t>Seidel</a:t>
            </a:r>
            <a:r>
              <a:rPr lang="zh-CN" altLang="en-US" dirty="0">
                <a:latin typeface="Times New Roman" panose="02020603050405020304" pitchFamily="18" charset="0"/>
              </a:rPr>
              <a:t>法迭代公式为：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  <p:bldP spid="317445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5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011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解此方程组的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Seidel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法迭代公式：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58754" name="Object 2"/>
          <p:cNvGraphicFramePr/>
          <p:nvPr/>
        </p:nvGraphicFramePr>
        <p:xfrm>
          <a:off x="1267778" y="1371442"/>
          <a:ext cx="6624320" cy="336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1" imgW="2552700" imgH="1295400" progId="Equation.3">
                  <p:embed/>
                </p:oleObj>
              </mc:Choice>
              <mc:Fallback>
                <p:oleObj name="" r:id="rId1" imgW="2552700" imgH="12954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67778" y="1371442"/>
                        <a:ext cx="6624320" cy="3364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9" name="Text Box 5"/>
          <p:cNvSpPr txBox="1"/>
          <p:nvPr/>
        </p:nvSpPr>
        <p:spPr>
          <a:xfrm>
            <a:off x="517525" y="4906963"/>
            <a:ext cx="68246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取初始向量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(0)</a:t>
            </a:r>
            <a:r>
              <a:rPr lang="en-US" altLang="zh-CN" dirty="0">
                <a:latin typeface="Times New Roman" panose="02020603050405020304" pitchFamily="18" charset="0"/>
              </a:rPr>
              <a:t>=(0, 0, 0)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进行迭代，</a:t>
            </a:r>
            <a:endParaRPr lang="zh-CN" altLang="en-US" baseline="30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5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19490" name="Rectangle 2"/>
          <p:cNvSpPr>
            <a:spLocks noGrp="1"/>
          </p:cNvSpPr>
          <p:nvPr>
            <p:ph type="title"/>
          </p:nvPr>
        </p:nvSpPr>
        <p:spPr>
          <a:xfrm>
            <a:off x="228600" y="6096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计算结果如下：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9491" name="Rectangle 3"/>
          <p:cNvSpPr>
            <a:spLocks noGrp="1"/>
          </p:cNvSpPr>
          <p:nvPr>
            <p:ph idx="1"/>
          </p:nvPr>
        </p:nvSpPr>
        <p:spPr>
          <a:xfrm>
            <a:off x="152400" y="1371600"/>
            <a:ext cx="8229600" cy="5029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10000"/>
              </a:lnSpc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	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1   1.20000   1.35000   2.11000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   0.74850	1.14269   2.12876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   0.76642	1.13811   2.12543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4   0.76738	1.13840   2.12539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   0.76735	1.13841   2.12538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6   0.76736	1.13841   2.12537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只迭代了6次，得到的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(6)</a:t>
            </a:r>
            <a:r>
              <a:rPr lang="zh-CN" altLang="en-US" sz="3200" dirty="0">
                <a:latin typeface="Times New Roman" panose="02020603050405020304" pitchFamily="18" charset="0"/>
              </a:rPr>
              <a:t>与用</a:t>
            </a:r>
            <a:r>
              <a:rPr lang="en-US" altLang="zh-CN" sz="3200" dirty="0">
                <a:latin typeface="Times New Roman" panose="02020603050405020304" pitchFamily="18" charset="0"/>
              </a:rPr>
              <a:t>Jacobi</a:t>
            </a:r>
            <a:r>
              <a:rPr lang="zh-CN" altLang="en-US" sz="3200" dirty="0">
                <a:latin typeface="Times New Roman" panose="02020603050405020304" pitchFamily="18" charset="0"/>
              </a:rPr>
              <a:t>迭代法迭代7次的结果相同。</a:t>
            </a:r>
            <a:endParaRPr lang="zh-CN" altLang="en-US" sz="3200" dirty="0"/>
          </a:p>
        </p:txBody>
      </p:sp>
      <p:graphicFrame>
        <p:nvGraphicFramePr>
          <p:cNvPr id="458754" name="Object 2"/>
          <p:cNvGraphicFramePr/>
          <p:nvPr/>
        </p:nvGraphicFramePr>
        <p:xfrm>
          <a:off x="5181600" y="188595"/>
          <a:ext cx="3733165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1" imgW="2552700" imgH="1295400" progId="Equation.3">
                  <p:embed/>
                </p:oleObj>
              </mc:Choice>
              <mc:Fallback>
                <p:oleObj name="" r:id="rId1" imgW="2552700" imgH="12954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81600" y="188595"/>
                        <a:ext cx="3733165" cy="20605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42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9491">
                                            <p:txEl>
                                              <p:charRg st="42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9491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104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9491">
                                            <p:txEl>
                                              <p:charRg st="104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134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9491">
                                            <p:txEl>
                                              <p:charRg st="134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164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9491">
                                            <p:txEl>
                                              <p:charRg st="164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194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9491">
                                            <p:txEl>
                                              <p:charRg st="194" end="2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charRg st="225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9491">
                                            <p:txEl>
                                              <p:charRg st="225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45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0" grpId="0"/>
      <p:bldP spid="319491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2164" name="Rectang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下面给出</a:t>
            </a:r>
            <a:r>
              <a:rPr lang="en-US" altLang="zh-CN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Seidel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迭代法的矩阵形式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0515" name="Rectangle 3"/>
          <p:cNvSpPr>
            <a:spLocks noGrp="1"/>
          </p:cNvSpPr>
          <p:nvPr>
            <p:ph idx="1"/>
          </p:nvPr>
        </p:nvSpPr>
        <p:spPr>
          <a:xfrm>
            <a:off x="457200" y="1628775"/>
            <a:ext cx="8382000" cy="4479925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由上式可得        (</a:t>
            </a:r>
            <a:r>
              <a:rPr lang="en-US" altLang="zh-CN" sz="3200" i="1" dirty="0">
                <a:latin typeface="Times New Roman" panose="02020603050405020304" pitchFamily="18" charset="0"/>
              </a:rPr>
              <a:t>D-L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 +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将上式写成迭代形式，即为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D-L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i="1" dirty="0">
                <a:latin typeface="Times New Roman" panose="02020603050405020304" pitchFamily="18" charset="0"/>
              </a:rPr>
              <a:t> 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U 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 + 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。             (10)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因为 (</a:t>
            </a:r>
            <a:r>
              <a:rPr lang="en-US" altLang="zh-CN" sz="3200" i="1" dirty="0">
                <a:latin typeface="Times New Roman" panose="02020603050405020304" pitchFamily="18" charset="0"/>
              </a:rPr>
              <a:t>D-L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</a:rPr>
              <a:t>非奇异，利用（2.5.10）可得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D-L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U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D-L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sz="3200" dirty="0">
                <a:latin typeface="Times New Roman" panose="02020603050405020304" pitchFamily="18" charset="0"/>
              </a:rPr>
              <a:t>。     (12)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上式即为</a:t>
            </a:r>
            <a:r>
              <a:rPr lang="en-US" altLang="zh-CN" sz="3200" dirty="0">
                <a:latin typeface="Times New Roman" panose="02020603050405020304" pitchFamily="18" charset="0"/>
              </a:rPr>
              <a:t>Gauss-Seidel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迭代法的矩阵形式（式(</a:t>
            </a:r>
            <a:r>
              <a:rPr lang="zh-CN" altLang="en-US" sz="3200" b="1" dirty="0">
                <a:latin typeface="Times New Roman" panose="02020603050405020304" pitchFamily="18" charset="0"/>
                <a:hlinkClick r:id="rId1" tooltip="分量形式" action="ppaction://hlinksldjump"/>
              </a:rPr>
              <a:t>8</a:t>
            </a:r>
            <a:r>
              <a:rPr lang="zh-CN" altLang="en-US" sz="3200" dirty="0">
                <a:latin typeface="Times New Roman" panose="02020603050405020304" pitchFamily="18" charset="0"/>
              </a:rPr>
              <a:t>或</a:t>
            </a:r>
            <a:r>
              <a:rPr lang="zh-CN" altLang="en-US" sz="3200" b="1" dirty="0">
                <a:latin typeface="Times New Roman" panose="02020603050405020304" pitchFamily="18" charset="0"/>
                <a:hlinkClick r:id="rId2" action="ppaction://hlinksldjump"/>
              </a:rPr>
              <a:t>9</a:t>
            </a:r>
            <a:r>
              <a:rPr lang="zh-CN" altLang="en-US" sz="3200" dirty="0">
                <a:latin typeface="Times New Roman" panose="02020603050405020304" pitchFamily="18" charset="0"/>
              </a:rPr>
              <a:t>) 为分量形式）。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graphicFrame>
        <p:nvGraphicFramePr>
          <p:cNvPr id="456706" name="Object 2"/>
          <p:cNvGraphicFramePr/>
          <p:nvPr/>
        </p:nvGraphicFramePr>
        <p:xfrm>
          <a:off x="285750" y="1143000"/>
          <a:ext cx="8385175" cy="393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3" imgW="3987800" imgH="1879600" progId="Equation.3">
                  <p:embed/>
                </p:oleObj>
              </mc:Choice>
              <mc:Fallback>
                <p:oleObj name="" r:id="rId3" imgW="3987800" imgH="18796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" y="1143000"/>
                        <a:ext cx="8385175" cy="39385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17" name="Text Box 5"/>
          <p:cNvSpPr txBox="1"/>
          <p:nvPr/>
        </p:nvSpPr>
        <p:spPr>
          <a:xfrm>
            <a:off x="1258888" y="1052513"/>
            <a:ext cx="62484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dirty="0">
                <a:latin typeface="Times New Roman" panose="02020603050405020304" pitchFamily="18" charset="0"/>
              </a:rPr>
              <a:t>利用(5)，(1) 成为( </a:t>
            </a:r>
            <a:r>
              <a:rPr lang="en-US" altLang="zh-CN" i="1" dirty="0">
                <a:latin typeface="Times New Roman" panose="02020603050405020304" pitchFamily="18" charset="0"/>
              </a:rPr>
              <a:t>D-L-U</a:t>
            </a:r>
            <a:r>
              <a:rPr lang="en-US" altLang="zh-CN" dirty="0">
                <a:latin typeface="Times New Roman" panose="02020603050405020304" pitchFamily="18" charset="0"/>
              </a:rPr>
              <a:t> ) </a:t>
            </a:r>
            <a:r>
              <a:rPr lang="en-US" altLang="zh-CN" i="1" dirty="0">
                <a:latin typeface="Times New Roman" panose="02020603050405020304" pitchFamily="18" charset="0"/>
              </a:rPr>
              <a:t>x = b</a:t>
            </a:r>
            <a:r>
              <a:rPr lang="en-US" altLang="zh-CN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1000"/>
                                        <p:tgtEl>
                                          <p:spTgt spid="4567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0515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0515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44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0515">
                                            <p:txEl>
                                              <p:charRg st="44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8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0515">
                                            <p:txEl>
                                              <p:charRg st="88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114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20515">
                                            <p:txEl>
                                              <p:charRg st="114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charRg st="158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20515">
                                            <p:txEl>
                                              <p:charRg st="158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  <p:bldP spid="320517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6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.2 </a:t>
            </a:r>
            <a:r>
              <a:rPr lang="en-US" altLang="zh-CN" sz="2400" dirty="0">
                <a:latin typeface="Times New Roman" panose="02020603050405020304" pitchFamily="18" charset="0"/>
              </a:rPr>
              <a:t>Seidel </a:t>
            </a:r>
            <a:r>
              <a:rPr lang="zh-CN" altLang="en-US" sz="2400" dirty="0">
                <a:latin typeface="Times New Roman" panose="02020603050405020304" pitchFamily="18" charset="0"/>
              </a:rPr>
              <a:t>迭代法</a:t>
            </a:r>
            <a:endParaRPr lang="zh-CN" altLang="en-US" sz="2800" dirty="0"/>
          </a:p>
        </p:txBody>
      </p:sp>
      <p:sp>
        <p:nvSpPr>
          <p:cNvPr id="321539" name="Rectangle 3"/>
          <p:cNvSpPr>
            <a:spLocks noGrp="1"/>
          </p:cNvSpPr>
          <p:nvPr>
            <p:ph idx="1"/>
          </p:nvPr>
        </p:nvSpPr>
        <p:spPr>
          <a:xfrm>
            <a:off x="533400" y="1143000"/>
            <a:ext cx="8382000" cy="48768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</a:t>
            </a:r>
            <a:r>
              <a:rPr lang="zh-CN" altLang="en-US" sz="3200" dirty="0">
                <a:latin typeface="Times New Roman" panose="02020603050405020304" pitchFamily="18" charset="0"/>
              </a:rPr>
              <a:t>若令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D - 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D - 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b，</a:t>
            </a:r>
            <a:r>
              <a:rPr lang="zh-CN" altLang="en-US" sz="3200" dirty="0">
                <a:latin typeface="Times New Roman" panose="02020603050405020304" pitchFamily="18" charset="0"/>
              </a:rPr>
              <a:t>则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35000"/>
              </a:lnSpc>
              <a:spcBef>
                <a:spcPct val="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(12)     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D - 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+ (</a:t>
            </a:r>
            <a:r>
              <a:rPr lang="en-US" altLang="zh-CN" sz="3200" i="1" dirty="0">
                <a:latin typeface="Times New Roman" panose="02020603050405020304" pitchFamily="18" charset="0"/>
              </a:rPr>
              <a:t>D - 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 b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可表示为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</a:rPr>
              <a:t>称为</a:t>
            </a:r>
            <a:r>
              <a:rPr lang="en-US" altLang="zh-CN" sz="3200" b="1" dirty="0">
                <a:latin typeface="Times New Roman" panose="02020603050405020304" pitchFamily="18" charset="0"/>
              </a:rPr>
              <a:t>Seidel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迭代法的迭代矩阵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3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4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1539">
                                            <p:txEl>
                                              <p:charRg st="40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89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39">
                                            <p:txEl>
                                              <p:charRg st="89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539">
                                            <p:txEl>
                                              <p:charRg st="9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charRg st="118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1539">
                                            <p:txEl>
                                              <p:charRg st="118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467360" y="476885"/>
            <a:ext cx="8077200" cy="281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6.7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若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的系数矩阵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是严格对角占优的，则求解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Seidel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迭代格式收敛。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467995" y="2348865"/>
            <a:ext cx="8077200" cy="2819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+mn-cs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+mn-cs"/>
              </a:rPr>
              <a:t>6.8</a:t>
            </a: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 若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的系数矩阵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是对称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正定的，则求解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x =b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的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Seidel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迭代格式收敛。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indent="0" algn="just">
              <a:lnSpc>
                <a:spcPct val="120000"/>
              </a:lnSpc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+mn-ea"/>
                <a:cs typeface="+mn-cs"/>
              </a:rPr>
              <a:t>       </a:t>
            </a:r>
            <a:endParaRPr lang="zh-CN" altLang="en-US" sz="3200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9778" name="Object 2"/>
          <p:cNvGraphicFramePr/>
          <p:nvPr/>
        </p:nvGraphicFramePr>
        <p:xfrm>
          <a:off x="2627789" y="2493010"/>
          <a:ext cx="305689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1" imgW="1168400" imgH="711200" progId="Equation.3">
                  <p:embed/>
                </p:oleObj>
              </mc:Choice>
              <mc:Fallback>
                <p:oleObj name="" r:id="rId1" imgW="1168400" imgH="7112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789" y="2493010"/>
                        <a:ext cx="3056890" cy="184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5" name="Text Box 5"/>
          <p:cNvSpPr txBox="1"/>
          <p:nvPr/>
        </p:nvSpPr>
        <p:spPr>
          <a:xfrm>
            <a:off x="457200" y="4495800"/>
            <a:ext cx="69145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 eaLnBrk="0" hangingPunct="0"/>
            <a:r>
              <a:rPr lang="zh-CN" altLang="en-US" b="1" dirty="0"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此方程组的</a:t>
            </a:r>
            <a:r>
              <a:rPr lang="en-US" altLang="zh-CN" dirty="0">
                <a:sym typeface="+mn-ea"/>
              </a:rPr>
              <a:t>Jacobi</a:t>
            </a:r>
            <a:r>
              <a:rPr lang="zh-CN" altLang="en-US" dirty="0">
                <a:latin typeface="Times New Roman" panose="02020603050405020304" pitchFamily="18" charset="0"/>
              </a:rPr>
              <a:t>法迭代公式为：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43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11430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分别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用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Jacobi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迭代法和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Seidel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迭代法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解如下方程组，初始向量</a:t>
            </a:r>
            <a:r>
              <a:rPr lang="en-US" altLang="zh-CN" sz="3200" i="1" dirty="0"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  <a:sym typeface="+mn-ea"/>
              </a:rPr>
              <a:t>(0) 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= (0, 0, 0)</a:t>
            </a:r>
            <a:r>
              <a:rPr lang="en-US" altLang="zh-CN" sz="3200" baseline="30000" dirty="0">
                <a:latin typeface="Times New Roman" panose="02020603050405020304" pitchFamily="18" charset="0"/>
                <a:sym typeface="+mn-ea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 。</a:t>
            </a:r>
            <a:endParaRPr lang="zh-CN" alt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5" grpId="0"/>
      <p:bldP spid="317443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73090" name="Object 2"/>
          <p:cNvGraphicFramePr/>
          <p:nvPr/>
        </p:nvGraphicFramePr>
        <p:xfrm>
          <a:off x="1691323" y="692468"/>
          <a:ext cx="5019675" cy="220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790700" imgH="787400" progId="Equation.3">
                  <p:embed/>
                </p:oleObj>
              </mc:Choice>
              <mc:Fallback>
                <p:oleObj name="" r:id="rId1" imgW="1790700" imgH="787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1323" y="692468"/>
                        <a:ext cx="5019675" cy="2204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Text Box 4"/>
          <p:cNvSpPr txBox="1"/>
          <p:nvPr/>
        </p:nvSpPr>
        <p:spPr>
          <a:xfrm>
            <a:off x="683895" y="2997200"/>
            <a:ext cx="81772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取初始向量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(0)  </a:t>
            </a:r>
            <a:r>
              <a:rPr lang="en-US" altLang="zh-CN" dirty="0">
                <a:latin typeface="Times New Roman" panose="02020603050405020304" pitchFamily="18" charset="0"/>
              </a:rPr>
              <a:t>= (0, 0, 0)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计算结果如下：</a:t>
            </a:r>
            <a:r>
              <a: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306179" name="Rectangle 3"/>
          <p:cNvSpPr/>
          <p:nvPr/>
        </p:nvSpPr>
        <p:spPr>
          <a:xfrm>
            <a:off x="555625" y="3644900"/>
            <a:ext cx="8305800" cy="30441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152400" algn="just" eaLnBrk="0" hangingPunct="0">
              <a:lnSpc>
                <a:spcPct val="120000"/>
              </a:lnSpc>
            </a:pPr>
            <a:r>
              <a:rPr lang="zh-CN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	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	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         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1	1.0000	3.0000	5.0000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	5.0000      </a:t>
            </a:r>
            <a:r>
              <a:rPr lang="en-US" altLang="zh-CN" dirty="0">
                <a:cs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</a:rPr>
              <a:t>3.0000	-3.0000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3	1.0000	1.0000	1.0000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4	</a:t>
            </a:r>
            <a:r>
              <a:rPr lang="en-US" altLang="zh-CN" dirty="0">
                <a:sym typeface="+mn-ea"/>
              </a:rPr>
              <a:t>1.0000	1.0000	1.0000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6" grpId="0"/>
      <p:bldP spid="306179" grpId="0" build="p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此方程组的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Seidel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法迭代公式为：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73090" name="Object 2"/>
          <p:cNvGraphicFramePr/>
          <p:nvPr/>
        </p:nvGraphicFramePr>
        <p:xfrm>
          <a:off x="1511935" y="1124268"/>
          <a:ext cx="5233670" cy="220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866900" imgH="787400" progId="Equation.3">
                  <p:embed/>
                </p:oleObj>
              </mc:Choice>
              <mc:Fallback>
                <p:oleObj name="" r:id="rId1" imgW="1866900" imgH="787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1935" y="1124268"/>
                        <a:ext cx="5233670" cy="22040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/>
          <p:nvPr/>
        </p:nvSpPr>
        <p:spPr>
          <a:xfrm>
            <a:off x="683895" y="2997200"/>
            <a:ext cx="81772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取初始向量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(0)  </a:t>
            </a:r>
            <a:r>
              <a:rPr lang="en-US" altLang="zh-CN" dirty="0">
                <a:latin typeface="Times New Roman" panose="02020603050405020304" pitchFamily="18" charset="0"/>
              </a:rPr>
              <a:t>= (0, 0, 0)</a:t>
            </a:r>
            <a:r>
              <a:rPr lang="en-US" altLang="zh-CN" baseline="30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 ，</a:t>
            </a:r>
            <a:r>
              <a:rPr lang="zh-CN" altLang="en-US" dirty="0">
                <a:latin typeface="Times New Roman" panose="02020603050405020304" pitchFamily="18" charset="0"/>
              </a:rPr>
              <a:t>计算结果如下：</a:t>
            </a:r>
            <a:r>
              <a:rPr lang="zh-CN" altLang="en-US" dirty="0">
                <a:latin typeface="Times New Roman" panose="02020603050405020304" pitchFamily="18" charset="0"/>
                <a:ea typeface="华文隶书" panose="0201080004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sp>
        <p:nvSpPr>
          <p:cNvPr id="306179" name="Rectangle 3"/>
          <p:cNvSpPr/>
          <p:nvPr/>
        </p:nvSpPr>
        <p:spPr>
          <a:xfrm>
            <a:off x="555625" y="3644900"/>
            <a:ext cx="8305800" cy="30441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152400" algn="just" eaLnBrk="0" hangingPunct="0">
              <a:lnSpc>
                <a:spcPct val="120000"/>
              </a:lnSpc>
            </a:pPr>
            <a:r>
              <a:rPr lang="zh-CN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	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	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           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1	  1.0000	   2.0000	  -1.0000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	-5.0000        </a:t>
            </a:r>
            <a:r>
              <a:rPr lang="en-US" altLang="zh-CN" dirty="0">
                <a:cs typeface="Times New Roman" panose="02020603050405020304" pitchFamily="18" charset="0"/>
              </a:rPr>
              <a:t>9</a:t>
            </a:r>
            <a:r>
              <a:rPr lang="en-US" altLang="zh-CN" dirty="0">
                <a:latin typeface="Times New Roman" panose="02020603050405020304" pitchFamily="18" charset="0"/>
              </a:rPr>
              <a:t>.0000	  -3.0000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3	-23.0000	29.0000	  -7.0000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indent="152400" algn="just" eaLnBrk="0" hangingPunct="0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4	-7</a:t>
            </a:r>
            <a:r>
              <a:rPr lang="en-US" altLang="zh-CN" dirty="0">
                <a:sym typeface="+mn-ea"/>
              </a:rPr>
              <a:t>1.0000	81.0000	 -15.0000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61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6179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6179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6179">
                                            <p:txEl>
                                              <p:charRg st="9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6179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6179" grpId="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Jacobi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迭代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矩阵</a:t>
            </a:r>
            <a:endParaRPr lang="zh-CN" altLang="en-US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D</a:t>
            </a:r>
            <a:r>
              <a:rPr lang="en-US" altLang="zh-CN" baseline="30000" dirty="0">
                <a:latin typeface="Times New Roman" panose="02020603050405020304" pitchFamily="18" charset="0"/>
                <a:sym typeface="+mn-ea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(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L+U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)=</a:t>
            </a:r>
            <a:endParaRPr lang="en-US" altLang="zh-CN" dirty="0">
              <a:latin typeface="Times New Roman" panose="02020603050405020304" pitchFamily="18" charset="0"/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                       Jacobi</a:t>
            </a:r>
            <a:r>
              <a:rPr lang="zh-CN" altLang="en-US"/>
              <a:t>迭代</a:t>
            </a:r>
            <a:r>
              <a:rPr lang="zh-CN" altLang="en-US"/>
              <a:t>收敛。</a:t>
            </a:r>
            <a:endParaRPr lang="zh-CN" altLang="en-US"/>
          </a:p>
        </p:txBody>
      </p:sp>
      <p:graphicFrame>
        <p:nvGraphicFramePr>
          <p:cNvPr id="473090" name="Object 2"/>
          <p:cNvGraphicFramePr/>
          <p:nvPr/>
        </p:nvGraphicFramePr>
        <p:xfrm>
          <a:off x="3563303" y="1230630"/>
          <a:ext cx="2811145" cy="199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002665" imgH="711200" progId="Equation.3">
                  <p:embed/>
                </p:oleObj>
              </mc:Choice>
              <mc:Fallback>
                <p:oleObj name="" r:id="rId1" imgW="1002665" imgH="711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3303" y="1230630"/>
                        <a:ext cx="2811145" cy="1991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/>
          <p:nvPr/>
        </p:nvGraphicFramePr>
        <p:xfrm>
          <a:off x="1547495" y="3284855"/>
          <a:ext cx="5554980" cy="199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1981200" imgH="711200" progId="Equation.3">
                  <p:embed/>
                </p:oleObj>
              </mc:Choice>
              <mc:Fallback>
                <p:oleObj name="" r:id="rId3" imgW="1981200" imgH="711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495" y="3284855"/>
                        <a:ext cx="5554980" cy="1991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/>
          <p:nvPr/>
        </p:nvGraphicFramePr>
        <p:xfrm>
          <a:off x="2009140" y="5779135"/>
          <a:ext cx="188722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5" imgW="673100" imgH="215900" progId="Equation.3">
                  <p:embed/>
                </p:oleObj>
              </mc:Choice>
              <mc:Fallback>
                <p:oleObj name="" r:id="rId5" imgW="673100" imgH="215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9140" y="5779135"/>
                        <a:ext cx="1887220" cy="604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Seidel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迭代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矩阵</a:t>
            </a:r>
            <a:endParaRPr lang="zh-CN" altLang="en-US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D - L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  <a:sym typeface="+mn-ea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</a:t>
            </a:r>
            <a:endParaRPr lang="en-US" altLang="zh-CN" dirty="0">
              <a:latin typeface="Times New Roman" panose="02020603050405020304" pitchFamily="18" charset="0"/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    Seidel</a:t>
            </a:r>
            <a:r>
              <a:rPr lang="zh-CN" altLang="en-US"/>
              <a:t>迭代</a:t>
            </a:r>
            <a:r>
              <a:rPr lang="zh-CN" altLang="en-US"/>
              <a:t>发散。</a:t>
            </a:r>
            <a:endParaRPr lang="zh-CN" altLang="en-US"/>
          </a:p>
        </p:txBody>
      </p:sp>
      <p:graphicFrame>
        <p:nvGraphicFramePr>
          <p:cNvPr id="473090" name="Object 2"/>
          <p:cNvGraphicFramePr/>
          <p:nvPr/>
        </p:nvGraphicFramePr>
        <p:xfrm>
          <a:off x="955040" y="2204720"/>
          <a:ext cx="8047990" cy="199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870200" imgH="711200" progId="Equation.3">
                  <p:embed/>
                </p:oleObj>
              </mc:Choice>
              <mc:Fallback>
                <p:oleObj name="" r:id="rId1" imgW="2870200" imgH="711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5040" y="2204720"/>
                        <a:ext cx="8047990" cy="1991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/>
          <p:nvPr/>
        </p:nvGraphicFramePr>
        <p:xfrm>
          <a:off x="1100455" y="4580890"/>
          <a:ext cx="2493010" cy="60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889000" imgH="215900" progId="Equation.3">
                  <p:embed/>
                </p:oleObj>
              </mc:Choice>
              <mc:Fallback>
                <p:oleObj name="" r:id="rId3" imgW="889000" imgH="215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0455" y="4580890"/>
                        <a:ext cx="2493010" cy="604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355331" name="Text Box 3"/>
          <p:cNvSpPr txBox="1"/>
          <p:nvPr/>
        </p:nvSpPr>
        <p:spPr>
          <a:xfrm>
            <a:off x="533400" y="1066800"/>
            <a:ext cx="8153400" cy="2576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为了进一步使生成的迭代点列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快速收敛到原问题的解，我们研究所谓的 </a:t>
            </a:r>
            <a:r>
              <a:rPr lang="en-US" altLang="zh-CN" b="1" dirty="0">
                <a:latin typeface="Times New Roman" panose="02020603050405020304" pitchFamily="18" charset="0"/>
              </a:rPr>
              <a:t>SOR</a:t>
            </a:r>
            <a:r>
              <a:rPr lang="zh-CN" altLang="en-US" dirty="0">
                <a:latin typeface="Times New Roman" panose="02020603050405020304" pitchFamily="18" charset="0"/>
              </a:rPr>
              <a:t>法，全称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uccessive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ver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elaxation  method</a:t>
            </a:r>
            <a:r>
              <a:rPr lang="en-US" altLang="zh-CN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逐次超松弛迭代法</a:t>
            </a:r>
            <a:r>
              <a:rPr lang="en-US" altLang="zh-CN" sz="4000" dirty="0">
                <a:latin typeface="Times New Roman" panose="02020603050405020304" pitchFamily="18" charset="0"/>
              </a:rPr>
              <a:t>。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8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600" b="1" u="none" dirty="0">
                <a:latin typeface="Times New Roman" panose="02020603050405020304" pitchFamily="18" charset="0"/>
              </a:rPr>
              <a:t>6.3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.3  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SOR</a:t>
            </a:r>
            <a:r>
              <a:rPr lang="zh-CN" altLang="en-US" sz="3600" b="1" u="none" dirty="0">
                <a:latin typeface="Times New Roman" panose="02020603050405020304" pitchFamily="18" charset="0"/>
              </a:rPr>
              <a:t>方法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22563" name="Rectangle 3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105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zh-CN" altLang="en-US" sz="3200" dirty="0">
                <a:latin typeface="Times New Roman" panose="02020603050405020304" pitchFamily="18" charset="0"/>
              </a:rPr>
              <a:t>逐次超松弛迭代法（</a:t>
            </a:r>
            <a:r>
              <a:rPr lang="en-US" altLang="zh-CN" sz="3200" dirty="0">
                <a:latin typeface="Times New Roman" panose="02020603050405020304" pitchFamily="18" charset="0"/>
              </a:rPr>
              <a:t>Successive Over Relaxation method），</a:t>
            </a:r>
            <a:r>
              <a:rPr lang="zh-CN" altLang="en-US" sz="3200" dirty="0">
                <a:latin typeface="Times New Roman" panose="02020603050405020304" pitchFamily="18" charset="0"/>
              </a:rPr>
              <a:t>简称</a:t>
            </a:r>
            <a:r>
              <a:rPr lang="en-US" altLang="zh-CN" sz="3200" b="1" dirty="0">
                <a:latin typeface="Times New Roman" panose="02020603050405020304" pitchFamily="18" charset="0"/>
              </a:rPr>
              <a:t>SOR</a:t>
            </a:r>
            <a:r>
              <a:rPr lang="zh-CN" altLang="en-US" sz="3200" dirty="0">
                <a:latin typeface="Times New Roman" panose="02020603050405020304" pitchFamily="18" charset="0"/>
              </a:rPr>
              <a:t>法，此方法是</a:t>
            </a:r>
            <a:r>
              <a:rPr lang="en-US" altLang="zh-CN" sz="3200" dirty="0">
                <a:latin typeface="Times New Roman" panose="02020603050405020304" pitchFamily="18" charset="0"/>
              </a:rPr>
              <a:t>Gauss-Seidel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迭代格式的一种加速方法，或看成是</a:t>
            </a:r>
            <a:r>
              <a:rPr lang="en-US" altLang="zh-CN" sz="3200" dirty="0">
                <a:latin typeface="Times New Roman" panose="02020603050405020304" pitchFamily="18" charset="0"/>
              </a:rPr>
              <a:t>Gauss-Seidel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迭代格式的一种推广。</a:t>
            </a:r>
            <a:r>
              <a:rPr lang="en-US" altLang="zh-CN" sz="3200" dirty="0">
                <a:latin typeface="Times New Roman" panose="02020603050405020304" pitchFamily="18" charset="0"/>
              </a:rPr>
              <a:t>SOR</a:t>
            </a:r>
            <a:r>
              <a:rPr lang="zh-CN" altLang="en-US" sz="3200" dirty="0">
                <a:latin typeface="Times New Roman" panose="02020603050405020304" pitchFamily="18" charset="0"/>
              </a:rPr>
              <a:t>法是解大型稀疏方程组（系数矩阵有大量零元素）的有效算法之一。</a:t>
            </a:r>
            <a:r>
              <a:rPr lang="zh-CN" altLang="en-US" sz="3200" dirty="0"/>
              <a:t> </a:t>
            </a:r>
            <a:endParaRPr lang="zh-CN" altLang="en-US" sz="32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       将</a:t>
            </a:r>
            <a:r>
              <a:rPr lang="en-US" altLang="zh-CN" sz="3200" dirty="0">
                <a:latin typeface="Times New Roman" panose="02020603050405020304" pitchFamily="18" charset="0"/>
              </a:rPr>
              <a:t>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迭代法的分量形式(9) 加以变形得到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charRg st="0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2563">
                                            <p:txEl>
                                              <p:charRg st="0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2563">
                                            <p:txEl>
                                              <p:charRg st="147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ldLvl="2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31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6.3.</a:t>
            </a:r>
            <a:r>
              <a:rPr lang="zh-CN" altLang="en-US" sz="2400" dirty="0">
                <a:latin typeface="Times New Roman" panose="02020603050405020304" pitchFamily="18" charset="0"/>
              </a:rPr>
              <a:t>3  </a:t>
            </a:r>
            <a:r>
              <a:rPr lang="en-US" altLang="zh-CN" sz="2400" dirty="0">
                <a:latin typeface="Times New Roman" panose="02020603050405020304" pitchFamily="18" charset="0"/>
              </a:rPr>
              <a:t>SOR</a:t>
            </a:r>
            <a:r>
              <a:rPr lang="zh-CN" altLang="en-US" sz="2400" dirty="0">
                <a:latin typeface="Times New Roman" panose="02020603050405020304" pitchFamily="18" charset="0"/>
              </a:rPr>
              <a:t>方法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323587" name="Rectangle 3"/>
          <p:cNvSpPr>
            <a:spLocks noGrp="1"/>
          </p:cNvSpPr>
          <p:nvPr>
            <p:ph idx="1"/>
          </p:nvPr>
        </p:nvSpPr>
        <p:spPr>
          <a:xfrm>
            <a:off x="304800" y="3962400"/>
            <a:ext cx="8534400" cy="24384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即第</a:t>
            </a:r>
            <a:r>
              <a:rPr lang="en-US" altLang="zh-CN" i="1" dirty="0">
                <a:latin typeface="Times New Roman" panose="02020603050405020304" pitchFamily="18" charset="0"/>
                <a:ea typeface="隶书" panose="02010509060101010101" pitchFamily="49" charset="-122"/>
              </a:rPr>
              <a:t>k+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次迭代的结果看成是第</a:t>
            </a:r>
            <a:r>
              <a:rPr lang="en-US" altLang="zh-CN" i="1" dirty="0">
                <a:latin typeface="Times New Roman" panose="02020603050405020304" pitchFamily="18" charset="0"/>
                <a:ea typeface="隶书" panose="02010509060101010101" pitchFamily="49" charset="-122"/>
              </a:rPr>
              <a:t>k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次迭代的结果加上一个校正值。我们希望校正值乘上一个适当的参数</a:t>
            </a:r>
            <a:r>
              <a:rPr lang="zh-CN" altLang="en-US" i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，使得改进后的迭代方案收敛的速度得到加快，即有如下迭代格式，称之为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SOR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迭代格式（或</a:t>
            </a:r>
            <a:r>
              <a:rPr lang="en-US" altLang="zh-CN" dirty="0">
                <a:latin typeface="Times New Roman" panose="02020603050405020304" pitchFamily="18" charset="0"/>
                <a:ea typeface="隶书" panose="02010509060101010101" pitchFamily="49" charset="-122"/>
              </a:rPr>
              <a:t>SOR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方法）。</a:t>
            </a:r>
            <a:endParaRPr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453634" name="Object 2"/>
          <p:cNvGraphicFramePr/>
          <p:nvPr/>
        </p:nvGraphicFramePr>
        <p:xfrm>
          <a:off x="746125" y="1371600"/>
          <a:ext cx="76612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" imgW="3059430" imgH="711200" progId="Equation.3">
                  <p:embed/>
                </p:oleObj>
              </mc:Choice>
              <mc:Fallback>
                <p:oleObj name="" r:id="rId1" imgW="3059430" imgH="7112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6125" y="1371600"/>
                        <a:ext cx="7661275" cy="177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89" name="Text Box 5"/>
          <p:cNvSpPr txBox="1"/>
          <p:nvPr/>
        </p:nvSpPr>
        <p:spPr>
          <a:xfrm>
            <a:off x="349250" y="3306763"/>
            <a:ext cx="2622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上式可理解为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216275" y="3359150"/>
            <a:ext cx="4032250" cy="603250"/>
            <a:chOff x="1878" y="2016"/>
            <a:chExt cx="2540" cy="380"/>
          </a:xfrm>
        </p:grpSpPr>
        <p:graphicFrame>
          <p:nvGraphicFramePr>
            <p:cNvPr id="93188" name="Object 4"/>
            <p:cNvGraphicFramePr/>
            <p:nvPr/>
          </p:nvGraphicFramePr>
          <p:xfrm>
            <a:off x="1878" y="2016"/>
            <a:ext cx="1338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" r:id="rId3" imgW="862965" imgH="241300" progId="Equation.3">
                    <p:embed/>
                  </p:oleObj>
                </mc:Choice>
                <mc:Fallback>
                  <p:oleObj name="" r:id="rId3" imgW="862965" imgH="241300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78" y="2016"/>
                          <a:ext cx="1338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5" name="Text Box 8"/>
            <p:cNvSpPr txBox="1"/>
            <p:nvPr/>
          </p:nvSpPr>
          <p:spPr>
            <a:xfrm>
              <a:off x="3216" y="2030"/>
              <a:ext cx="120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校正值</a:t>
              </a:r>
              <a:r>
                <a:rPr lang="zh-CN" altLang="en-US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2800" dirty="0">
                  <a:latin typeface="Times New Roman" panose="02020603050405020304" pitchFamily="18" charset="0"/>
                  <a:ea typeface="华文隶书" panose="02010800040101010101" pitchFamily="2" charset="-122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  <a:ea typeface="华文隶书" panose="02010800040101010101" pitchFamily="2" charset="-122"/>
              </a:endParaRPr>
            </a:p>
          </p:txBody>
        </p:sp>
      </p:grpSp>
      <p:sp>
        <p:nvSpPr>
          <p:cNvPr id="323593" name="Text Box 9"/>
          <p:cNvSpPr txBox="1"/>
          <p:nvPr/>
        </p:nvSpPr>
        <p:spPr>
          <a:xfrm>
            <a:off x="2895600" y="1385888"/>
            <a:ext cx="533400" cy="51911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800" b="1" i="1" dirty="0">
                <a:latin typeface="Times New Roman" panose="02020603050405020304" pitchFamily="18" charset="0"/>
                <a:ea typeface="华文隶书" panose="02010800040101010101" pitchFamily="2" charset="-122"/>
                <a:sym typeface="Symbol" panose="05050102010706020507" pitchFamily="18" charset="2"/>
              </a:rPr>
              <a:t></a:t>
            </a:r>
            <a:endParaRPr lang="zh-CN" altLang="en-US" sz="2800" b="1" i="1" dirty="0"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  <p:graphicFrame>
        <p:nvGraphicFramePr>
          <p:cNvPr id="453635" name="Object 3"/>
          <p:cNvGraphicFramePr/>
          <p:nvPr/>
        </p:nvGraphicFramePr>
        <p:xfrm>
          <a:off x="1000125" y="71438"/>
          <a:ext cx="7773988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5" imgW="2983230" imgH="482600" progId="Equation.3">
                  <p:embed/>
                </p:oleObj>
              </mc:Choice>
              <mc:Fallback>
                <p:oleObj name="" r:id="rId5" imgW="2983230" imgH="4826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0125" y="71438"/>
                        <a:ext cx="7773988" cy="12541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3587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  <p:bldP spid="323589" grpId="0"/>
      <p:bldP spid="323593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42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.3  </a:t>
            </a:r>
            <a:r>
              <a:rPr lang="en-US" altLang="zh-CN" sz="2400" dirty="0">
                <a:latin typeface="Times New Roman" panose="02020603050405020304" pitchFamily="18" charset="0"/>
              </a:rPr>
              <a:t>SOR</a:t>
            </a:r>
            <a:r>
              <a:rPr lang="zh-CN" altLang="en-US" sz="2400" dirty="0">
                <a:latin typeface="Times New Roman" panose="02020603050405020304" pitchFamily="18" charset="0"/>
              </a:rPr>
              <a:t>方法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491523" name="Rectangle 3"/>
          <p:cNvSpPr>
            <a:spLocks noGrp="1"/>
          </p:cNvSpPr>
          <p:nvPr>
            <p:ph type="body" sz="half" idx="2"/>
          </p:nvPr>
        </p:nvSpPr>
        <p:spPr>
          <a:xfrm>
            <a:off x="533400" y="3276600"/>
            <a:ext cx="8077200" cy="2743200"/>
          </a:xfrm>
        </p:spPr>
        <p:txBody>
          <a:bodyPr vert="horz" wrap="square" lIns="91440" tIns="45720" rIns="91440" bIns="45720" anchor="t" anchorCtr="0"/>
          <a:p>
            <a:pPr marL="0" indent="0" algn="just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</a:t>
            </a:r>
            <a:r>
              <a:rPr lang="zh-CN" altLang="en-US" sz="3200" i="1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称为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松弛因子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。当</a:t>
            </a:r>
            <a:r>
              <a:rPr lang="zh-CN" altLang="en-US" sz="3200" i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 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&gt; 1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时称为超松弛迭代法，当</a:t>
            </a:r>
            <a:r>
              <a:rPr lang="zh-CN" altLang="en-US" sz="3200" i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 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&lt; 1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时称为低松弛迭代法，</a:t>
            </a:r>
            <a:r>
              <a:rPr lang="zh-CN" altLang="en-US" sz="3200" i="1" dirty="0"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 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= 1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时，</a:t>
            </a:r>
            <a:r>
              <a:rPr lang="zh-CN" altLang="en-US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(14)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就是</a:t>
            </a:r>
            <a:r>
              <a:rPr lang="en-US" altLang="zh-CN" sz="3200" dirty="0">
                <a:latin typeface="Times New Roman" panose="02020603050405020304" pitchFamily="18" charset="0"/>
                <a:ea typeface="隶书" panose="02010509060101010101" pitchFamily="49" charset="-122"/>
              </a:rPr>
              <a:t>Seidel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迭代法。为了加速收敛，常常采用超松弛迭代法。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94210" name="Object 4"/>
          <p:cNvGraphicFramePr/>
          <p:nvPr/>
        </p:nvGraphicFramePr>
        <p:xfrm>
          <a:off x="960438" y="1268413"/>
          <a:ext cx="7343775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1" imgW="2919730" imgH="711200" progId="Equation.3">
                  <p:embed/>
                </p:oleObj>
              </mc:Choice>
              <mc:Fallback>
                <p:oleObj name="" r:id="rId1" imgW="2919730" imgH="7112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0438" y="1268413"/>
                        <a:ext cx="7343775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charRg st="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23">
                                            <p:txEl>
                                              <p:charRg st="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 build="p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52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2400" dirty="0">
                <a:latin typeface="Times New Roman" panose="02020603050405020304" pitchFamily="18" charset="0"/>
              </a:rPr>
              <a:t>6.3</a:t>
            </a:r>
            <a:r>
              <a:rPr lang="zh-CN" altLang="en-US" sz="2400" dirty="0">
                <a:latin typeface="Times New Roman" panose="02020603050405020304" pitchFamily="18" charset="0"/>
              </a:rPr>
              <a:t>.3  </a:t>
            </a:r>
            <a:r>
              <a:rPr lang="en-US" altLang="zh-CN" sz="2400" dirty="0">
                <a:latin typeface="Times New Roman" panose="02020603050405020304" pitchFamily="18" charset="0"/>
              </a:rPr>
              <a:t>SOR</a:t>
            </a:r>
            <a:r>
              <a:rPr lang="zh-CN" altLang="en-US" sz="2400" dirty="0">
                <a:latin typeface="Times New Roman" panose="02020603050405020304" pitchFamily="18" charset="0"/>
              </a:rPr>
              <a:t>方法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24611" name="Rectangle 3"/>
          <p:cNvSpPr>
            <a:spLocks noGrp="1"/>
          </p:cNvSpPr>
          <p:nvPr>
            <p:ph type="body" sz="half" idx="2"/>
          </p:nvPr>
        </p:nvSpPr>
        <p:spPr>
          <a:xfrm>
            <a:off x="395288" y="5357813"/>
            <a:ext cx="8137525" cy="720725"/>
          </a:xfrm>
        </p:spPr>
        <p:txBody>
          <a:bodyPr vert="horz" wrap="square" lIns="91440" tIns="45720" rIns="91440" bIns="45720" anchor="t" anchorCtr="0"/>
          <a:p>
            <a:pPr marL="0" indent="0" algn="just"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zh-CN" altLang="en-US" sz="3200" dirty="0">
                <a:latin typeface="宋体" panose="02010600030101010101" pitchFamily="2" charset="-122"/>
              </a:rPr>
              <a:t>其中</a:t>
            </a:r>
            <a:r>
              <a:rPr lang="el-GR" altLang="zh-CN" sz="3200" b="1" i="1" dirty="0">
                <a:latin typeface="Times New Roman" panose="02020603050405020304" pitchFamily="18" charset="0"/>
              </a:rPr>
              <a:t>ρ</a:t>
            </a:r>
            <a:r>
              <a:rPr lang="zh-CN" altLang="en-US" sz="3200" dirty="0">
                <a:latin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</a:rPr>
              <a:t>Jacobi </a:t>
            </a:r>
            <a:r>
              <a:rPr lang="zh-CN" altLang="en-US" sz="3200" dirty="0">
                <a:latin typeface="宋体" panose="02010600030101010101" pitchFamily="2" charset="-122"/>
              </a:rPr>
              <a:t>迭代矩阵的谱半径。</a:t>
            </a:r>
            <a:endParaRPr lang="zh-CN" altLang="en-US" sz="3200" dirty="0">
              <a:latin typeface="宋体" panose="02010600030101010101" pitchFamily="2" charset="-122"/>
              <a:ea typeface="Times New Roman" panose="02020603050405020304" pitchFamily="18" charset="0"/>
            </a:endParaRPr>
          </a:p>
        </p:txBody>
      </p:sp>
      <p:graphicFrame>
        <p:nvGraphicFramePr>
          <p:cNvPr id="95234" name="Object 9"/>
          <p:cNvGraphicFramePr/>
          <p:nvPr/>
        </p:nvGraphicFramePr>
        <p:xfrm>
          <a:off x="958850" y="1214438"/>
          <a:ext cx="7343775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1" imgW="2919730" imgH="711200" progId="Equation.3">
                  <p:embed/>
                </p:oleObj>
              </mc:Choice>
              <mc:Fallback>
                <p:oleObj name="" r:id="rId1" imgW="2919730" imgH="7112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8850" y="1214438"/>
                        <a:ext cx="7343775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468313" y="3579813"/>
            <a:ext cx="7058025" cy="1765300"/>
            <a:chOff x="340" y="3475"/>
            <a:chExt cx="4446" cy="1112"/>
          </a:xfrm>
        </p:grpSpPr>
        <p:graphicFrame>
          <p:nvGraphicFramePr>
            <p:cNvPr id="95235" name="Object 4"/>
            <p:cNvGraphicFramePr/>
            <p:nvPr/>
          </p:nvGraphicFramePr>
          <p:xfrm>
            <a:off x="1980" y="3830"/>
            <a:ext cx="1718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3" imgW="1066800" imgH="469900" progId="Equation.3">
                    <p:embed/>
                  </p:oleObj>
                </mc:Choice>
                <mc:Fallback>
                  <p:oleObj name="" r:id="rId3" imgW="1066800" imgH="469900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80" y="3830"/>
                          <a:ext cx="1718" cy="757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chemeClr val="bg1"/>
                            </a:gs>
                            <a:gs pos="50000">
                              <a:schemeClr val="accent1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240" name="Text Box 5"/>
            <p:cNvSpPr txBox="1"/>
            <p:nvPr/>
          </p:nvSpPr>
          <p:spPr>
            <a:xfrm>
              <a:off x="340" y="3475"/>
              <a:ext cx="444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理论上，在一定条件下，</a:t>
              </a:r>
              <a:r>
                <a:rPr lang="zh-CN" altLang="en-US" b="1" i="1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zh-CN" altLang="en-US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的最优值为</a:t>
              </a:r>
              <a:endPara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461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6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6261" name="Rectangle 1026"/>
          <p:cNvSpPr>
            <a:spLocks noGrp="1"/>
          </p:cNvSpPr>
          <p:nvPr>
            <p:ph type="title"/>
          </p:nvPr>
        </p:nvSpPr>
        <p:spPr>
          <a:xfrm>
            <a:off x="457200" y="304800"/>
            <a:ext cx="80772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例3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用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迭代法解例1中的方程组，</a:t>
            </a:r>
            <a:endParaRPr lang="zh-CN" altLang="en-US" dirty="0"/>
          </a:p>
        </p:txBody>
      </p:sp>
      <p:sp>
        <p:nvSpPr>
          <p:cNvPr id="346115" name="Text Box 1027"/>
          <p:cNvSpPr txBox="1"/>
          <p:nvPr/>
        </p:nvSpPr>
        <p:spPr>
          <a:xfrm>
            <a:off x="441325" y="1306513"/>
            <a:ext cx="43243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取松弛因子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为1.006。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6116" name="Text Box 1028"/>
          <p:cNvSpPr txBox="1"/>
          <p:nvPr/>
        </p:nvSpPr>
        <p:spPr>
          <a:xfrm>
            <a:off x="398463" y="2000250"/>
            <a:ext cx="676433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解此方程组的</a:t>
            </a:r>
            <a:r>
              <a:rPr lang="en-US" altLang="zh-CN" dirty="0">
                <a:latin typeface="Times New Roman" panose="02020603050405020304" pitchFamily="18" charset="0"/>
              </a:rPr>
              <a:t>SOR</a:t>
            </a:r>
            <a:r>
              <a:rPr lang="zh-CN" altLang="en-US" dirty="0">
                <a:latin typeface="Times New Roman" panose="02020603050405020304" pitchFamily="18" charset="0"/>
              </a:rPr>
              <a:t>法迭代公式为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46117" name="Object 1029"/>
          <p:cNvGraphicFramePr/>
          <p:nvPr/>
        </p:nvGraphicFramePr>
        <p:xfrm>
          <a:off x="900113" y="2852738"/>
          <a:ext cx="7280275" cy="310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" imgW="3035300" imgH="1295400" progId="Equation.DSMT4">
                  <p:embed/>
                </p:oleObj>
              </mc:Choice>
              <mc:Fallback>
                <p:oleObj name="" r:id="rId1" imgW="3035300" imgH="1295400" progId="Equation.DSMT4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2852738"/>
                        <a:ext cx="7280275" cy="310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9" name="Object 1031"/>
          <p:cNvGraphicFramePr/>
          <p:nvPr/>
        </p:nvGraphicFramePr>
        <p:xfrm>
          <a:off x="1285875" y="642938"/>
          <a:ext cx="6402388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3" imgW="3200400" imgH="1295400" progId="Equation.DSMT4">
                  <p:embed/>
                </p:oleObj>
              </mc:Choice>
              <mc:Fallback>
                <p:oleObj name="" r:id="rId3" imgW="3200400" imgH="1295400" progId="Equation.DSMT4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5875" y="642938"/>
                        <a:ext cx="6402388" cy="2590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6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/>
      <p:bldP spid="34611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39267" name="Rectangle 2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取初始向量</a:t>
            </a:r>
            <a:r>
              <a:rPr lang="en-US" altLang="zh-CN" sz="3200" i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(0)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=(0, 0, 0)</a:t>
            </a:r>
            <a:r>
              <a:rPr lang="en-US" altLang="zh-CN" sz="3200" u="none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，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将计算结果列如下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sp>
        <p:nvSpPr>
          <p:cNvPr id="347139" name="Text Box 3"/>
          <p:cNvSpPr txBox="1"/>
          <p:nvPr/>
        </p:nvSpPr>
        <p:spPr>
          <a:xfrm>
            <a:off x="1682750" y="1046163"/>
            <a:ext cx="5251450" cy="40592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	 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</a:rPr>
              <a:t>	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1     1.20720     1.35719     2.12314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2     0.74304     1.14043     2.12905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3     0.76674     1.13801     2.12535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4     0.76740     1.13841     2.12536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5     0.76735     1.13841     2.12537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6     0.76735     1.13841     2.12537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347142" name="Text Box 6"/>
          <p:cNvSpPr txBox="1"/>
          <p:nvPr/>
        </p:nvSpPr>
        <p:spPr>
          <a:xfrm>
            <a:off x="304800" y="5105400"/>
            <a:ext cx="84582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第 5 次迭代近似解与第 6 次迭代近似解已经很接近了，误差小于10</a:t>
            </a:r>
            <a:r>
              <a:rPr lang="zh-CN" altLang="en-US" baseline="30000" dirty="0">
                <a:latin typeface="Times New Roman" panose="02020603050405020304" pitchFamily="18" charset="0"/>
              </a:rPr>
              <a:t>-4</a:t>
            </a:r>
            <a:r>
              <a:rPr lang="zh-CN" altLang="en-US" dirty="0">
                <a:latin typeface="Times New Roman" panose="02020603050405020304" pitchFamily="18" charset="0"/>
              </a:rPr>
              <a:t> 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7139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4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7139">
                                            <p:txEl>
                                              <p:charRg st="44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83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7139">
                                            <p:txEl>
                                              <p:charRg st="83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122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7139">
                                            <p:txEl>
                                              <p:charRg st="122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161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7139">
                                            <p:txEl>
                                              <p:charRg st="161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200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7139">
                                            <p:txEl>
                                              <p:charRg st="200" end="2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>
                                            <p:txEl>
                                              <p:charRg st="239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7139">
                                            <p:txEl>
                                              <p:charRg st="239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 build="p"/>
      <p:bldP spid="347142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7285" name="Rectangle 2"/>
          <p:cNvSpPr>
            <a:spLocks noGrp="1"/>
          </p:cNvSpPr>
          <p:nvPr>
            <p:ph type="title"/>
          </p:nvPr>
        </p:nvSpPr>
        <p:spPr>
          <a:xfrm>
            <a:off x="539750" y="26035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方法的矩阵形式</a:t>
            </a:r>
            <a:endParaRPr lang="zh-CN" altLang="en-US" sz="3200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5483" name="Object 9"/>
          <p:cNvGraphicFramePr/>
          <p:nvPr/>
        </p:nvGraphicFramePr>
        <p:xfrm>
          <a:off x="887413" y="1714500"/>
          <a:ext cx="7343775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1" imgW="2919730" imgH="711200" progId="Equation.3">
                  <p:embed/>
                </p:oleObj>
              </mc:Choice>
              <mc:Fallback>
                <p:oleObj name="" r:id="rId1" imgW="2919730" imgH="7112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7413" y="1714500"/>
                        <a:ext cx="7343775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/>
          <p:cNvGraphicFramePr/>
          <p:nvPr/>
        </p:nvGraphicFramePr>
        <p:xfrm>
          <a:off x="500063" y="4222750"/>
          <a:ext cx="8394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3" imgW="3338830" imgH="711200" progId="Equation.3">
                  <p:embed/>
                </p:oleObj>
              </mc:Choice>
              <mc:Fallback>
                <p:oleObj name="" r:id="rId3" imgW="3338830" imgH="71120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3" y="4222750"/>
                        <a:ext cx="8394700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71500" y="1000125"/>
            <a:ext cx="42306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dirty="0">
                <a:latin typeface="Times New Roman" panose="02020603050405020304" pitchFamily="18" charset="0"/>
              </a:rPr>
              <a:t>SOR</a:t>
            </a:r>
            <a:r>
              <a:rPr lang="zh-CN" altLang="en-US" dirty="0">
                <a:latin typeface="Times New Roman" panose="02020603050405020304" pitchFamily="18" charset="0"/>
              </a:rPr>
              <a:t>迭代格式</a:t>
            </a:r>
            <a:r>
              <a:rPr lang="en-US" altLang="zh-CN" dirty="0">
                <a:latin typeface="Times New Roman" panose="02020603050405020304" pitchFamily="18" charset="0"/>
              </a:rPr>
              <a:t>(14)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8625" y="3571875"/>
            <a:ext cx="43037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可以改写成如下形式：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1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98311" name="Rectangle 2"/>
          <p:cNvSpPr>
            <a:spLocks noGrp="1"/>
          </p:cNvSpPr>
          <p:nvPr>
            <p:ph type="title"/>
          </p:nvPr>
        </p:nvSpPr>
        <p:spPr>
          <a:xfrm>
            <a:off x="539750" y="26035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方法的矩阵形式</a:t>
            </a:r>
            <a:endParaRPr lang="zh-CN" altLang="en-US" sz="3200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5635" name="Rectangle 3"/>
          <p:cNvSpPr>
            <a:spLocks noGrp="1"/>
          </p:cNvSpPr>
          <p:nvPr>
            <p:ph idx="1"/>
          </p:nvPr>
        </p:nvSpPr>
        <p:spPr>
          <a:xfrm>
            <a:off x="228600" y="4191000"/>
            <a:ext cx="3200400" cy="762000"/>
          </a:xfrm>
        </p:spPr>
        <p:txBody>
          <a:bodyPr vert="horz" wrap="square" lIns="91440" tIns="45720" rIns="91440" bIns="45720" anchor="t" anchorCtr="0"/>
          <a:p>
            <a:pPr marL="0" indent="0" algn="just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写成矩阵形式：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graphicFrame>
        <p:nvGraphicFramePr>
          <p:cNvPr id="325636" name="Object 4"/>
          <p:cNvGraphicFramePr/>
          <p:nvPr/>
        </p:nvGraphicFramePr>
        <p:xfrm>
          <a:off x="179388" y="188913"/>
          <a:ext cx="874395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1" imgW="3479800" imgH="965200" progId="Equation.DSMT4">
                  <p:embed/>
                </p:oleObj>
              </mc:Choice>
              <mc:Fallback>
                <p:oleObj name="" r:id="rId1" imgW="3479800" imgH="965200" progId="Equation.DSMT4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9388" y="188913"/>
                        <a:ext cx="8743950" cy="2413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0" name="Object 8"/>
          <p:cNvGraphicFramePr/>
          <p:nvPr/>
        </p:nvGraphicFramePr>
        <p:xfrm>
          <a:off x="168275" y="2997200"/>
          <a:ext cx="8975725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3" imgW="3721100" imgH="482600" progId="Equation.3">
                  <p:embed/>
                </p:oleObj>
              </mc:Choice>
              <mc:Fallback>
                <p:oleObj name="" r:id="rId3" imgW="3721100" imgH="4826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275" y="2997200"/>
                        <a:ext cx="8975725" cy="1157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2" name="Object 10"/>
          <p:cNvGraphicFramePr/>
          <p:nvPr/>
        </p:nvGraphicFramePr>
        <p:xfrm>
          <a:off x="838200" y="4294188"/>
          <a:ext cx="7459663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5" imgW="2832100" imgH="254000" progId="Equation.3">
                  <p:embed/>
                </p:oleObj>
              </mc:Choice>
              <mc:Fallback>
                <p:oleObj name="" r:id="rId5" imgW="2832100" imgH="2540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4294188"/>
                        <a:ext cx="7459663" cy="658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4" name="Object 12"/>
          <p:cNvGraphicFramePr/>
          <p:nvPr/>
        </p:nvGraphicFramePr>
        <p:xfrm>
          <a:off x="990600" y="5257800"/>
          <a:ext cx="70580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7" imgW="2717800" imgH="228600" progId="Equation.3">
                  <p:embed/>
                </p:oleObj>
              </mc:Choice>
              <mc:Fallback>
                <p:oleObj name="" r:id="rId7" imgW="2717800" imgH="22860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0600" y="5257800"/>
                        <a:ext cx="7058025" cy="5937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563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563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029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b="1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方法的矩阵形式</a:t>
            </a:r>
            <a:endParaRPr lang="zh-CN" altLang="en-US" sz="3200" b="1" u="none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56355" name="Rectangle 3"/>
          <p:cNvSpPr>
            <a:spLocks noGrp="1"/>
          </p:cNvSpPr>
          <p:nvPr>
            <p:ph idx="1"/>
          </p:nvPr>
        </p:nvSpPr>
        <p:spPr>
          <a:xfrm>
            <a:off x="228600" y="990600"/>
            <a:ext cx="8534400" cy="5318125"/>
          </a:xfrm>
        </p:spPr>
        <p:txBody>
          <a:bodyPr vert="horz" wrap="square" lIns="91440" tIns="45720" rIns="91440" bIns="45720" anchor="t" anchorCtr="0"/>
          <a:p>
            <a:pPr marL="0" indent="0" algn="ctr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D-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[(1-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D+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D-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=0,1,2 </a:t>
            </a:r>
            <a:r>
              <a:rPr lang="en-US" altLang="zh-CN" sz="3200" dirty="0"/>
              <a:t>…</a:t>
            </a:r>
            <a:r>
              <a:rPr lang="en-US" altLang="zh-CN" sz="3200" dirty="0">
                <a:latin typeface="Times New Roman" panose="02020603050405020304" pitchFamily="18" charset="0"/>
              </a:rPr>
              <a:t>)。                                             (15)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r>
              <a:rPr lang="en-US" altLang="zh-CN" sz="3200" i="1" dirty="0">
                <a:latin typeface="Times New Roman" panose="02020603050405020304" pitchFamily="18" charset="0"/>
              </a:rPr>
              <a:t>D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zh-CN" altLang="en-US" sz="3200" dirty="0">
                <a:latin typeface="Times New Roman" panose="02020603050405020304" pitchFamily="18" charset="0"/>
              </a:rPr>
              <a:t>的意义如前。若令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ctr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</a:rPr>
              <a:t> = (</a:t>
            </a:r>
            <a:r>
              <a:rPr lang="en-US" altLang="zh-CN" sz="3200" i="1" dirty="0">
                <a:latin typeface="Times New Roman" panose="02020603050405020304" pitchFamily="18" charset="0"/>
              </a:rPr>
              <a:t>D-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</a:rPr>
              <a:t>[(1-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i="1" dirty="0">
                <a:latin typeface="Times New Roman" panose="02020603050405020304" pitchFamily="18" charset="0"/>
              </a:rPr>
              <a:t>D+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i="1" dirty="0">
                <a:latin typeface="Times New Roman" panose="02020603050405020304" pitchFamily="18" charset="0"/>
              </a:rPr>
              <a:t>U</a:t>
            </a:r>
            <a:r>
              <a:rPr lang="en-US" altLang="zh-CN" sz="3200" dirty="0">
                <a:latin typeface="Times New Roman" panose="02020603050405020304" pitchFamily="18" charset="0"/>
              </a:rPr>
              <a:t>]，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ctr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dirty="0">
                <a:latin typeface="Times New Roman" panose="02020603050405020304" pitchFamily="18" charset="0"/>
              </a:rPr>
              <a:t> (</a:t>
            </a:r>
            <a:r>
              <a:rPr lang="en-US" altLang="zh-CN" sz="3200" i="1" dirty="0">
                <a:latin typeface="Times New Roman" panose="02020603050405020304" pitchFamily="18" charset="0"/>
              </a:rPr>
              <a:t>D-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3200" i="1" dirty="0">
                <a:latin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则 (15) 可表示为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3200" dirty="0">
                <a:latin typeface="Times New Roman" panose="02020603050405020304" pitchFamily="18" charset="0"/>
              </a:rPr>
              <a:t>，           (16)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defTabSz="914400">
              <a:lnSpc>
                <a:spcPct val="120000"/>
              </a:lnSpc>
              <a:spcBef>
                <a:spcPct val="0"/>
              </a:spcBef>
              <a:buNone/>
              <a:tabLst>
                <a:tab pos="6565900" algn="l"/>
              </a:tabLst>
            </a:pPr>
            <a:r>
              <a:rPr lang="zh-CN" altLang="en-US" sz="3200" dirty="0">
                <a:latin typeface="Times New Roman" panose="02020603050405020304" pitchFamily="18" charset="0"/>
              </a:rPr>
              <a:t>其中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称为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迭代法的迭代矩阵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635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4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355">
                                            <p:txEl>
                                              <p:charRg st="46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109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6355">
                                            <p:txEl>
                                              <p:charRg st="109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6355">
                                            <p:txEl>
                                              <p:charRg st="12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151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6355">
                                            <p:txEl>
                                              <p:charRg st="151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17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355">
                                            <p:txEl>
                                              <p:charRg st="170" end="1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182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6355">
                                            <p:txEl>
                                              <p:charRg st="182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charRg st="220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6355">
                                            <p:txEl>
                                              <p:charRg st="220" end="2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131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382000" cy="8382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     由式(7)，(13) 和 (16) 可以看出：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6659" name="Rectangle 3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3340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10000"/>
              </a:lnSpc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Jacobi</a:t>
            </a:r>
            <a:r>
              <a:rPr lang="zh-CN" altLang="en-US" sz="3200" dirty="0">
                <a:latin typeface="Times New Roman" panose="02020603050405020304" pitchFamily="18" charset="0"/>
              </a:rPr>
              <a:t>迭代法，</a:t>
            </a:r>
            <a:r>
              <a:rPr lang="en-US" altLang="zh-CN" sz="3200" dirty="0">
                <a:latin typeface="Times New Roman" panose="02020603050405020304" pitchFamily="18" charset="0"/>
              </a:rPr>
              <a:t>Gauss-Seidel</a:t>
            </a:r>
            <a:r>
              <a:rPr lang="zh-CN" altLang="en-US" sz="3200" dirty="0">
                <a:latin typeface="Times New Roman" panose="02020603050405020304" pitchFamily="18" charset="0"/>
              </a:rPr>
              <a:t>迭代法与</a:t>
            </a:r>
            <a:r>
              <a:rPr lang="en-US" altLang="zh-CN" sz="3200" dirty="0">
                <a:latin typeface="Times New Roman" panose="02020603050405020304" pitchFamily="18" charset="0"/>
              </a:rPr>
              <a:t>SOR</a:t>
            </a:r>
            <a:r>
              <a:rPr lang="zh-CN" altLang="en-US" sz="3200" dirty="0">
                <a:latin typeface="Times New Roman" panose="02020603050405020304" pitchFamily="18" charset="0"/>
              </a:rPr>
              <a:t>迭代法具有统一的形式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r">
              <a:lnSpc>
                <a:spcPct val="110000"/>
              </a:lnSpc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。                  (17)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称上式为</a:t>
            </a:r>
            <a:r>
              <a:rPr lang="zh-CN" altLang="en-US" sz="3200" b="1" dirty="0">
                <a:latin typeface="Times New Roman" panose="02020603050405020304" pitchFamily="18" charset="0"/>
              </a:rPr>
              <a:t>一步定常迭代法</a:t>
            </a:r>
            <a:r>
              <a:rPr lang="zh-CN" altLang="en-US" sz="3200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</a:rPr>
              <a:t>称为</a:t>
            </a:r>
            <a:r>
              <a:rPr lang="zh-CN" altLang="en-US" sz="3200" b="1" dirty="0">
                <a:latin typeface="Times New Roman" panose="02020603050405020304" pitchFamily="18" charset="0"/>
              </a:rPr>
              <a:t>迭代矩阵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	这因为当求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 </a:t>
            </a:r>
            <a:r>
              <a:rPr lang="zh-CN" altLang="en-US" sz="3200" dirty="0">
                <a:latin typeface="Times New Roman" panose="02020603050405020304" pitchFamily="18" charset="0"/>
              </a:rPr>
              <a:t>时，只用到它前一步的结果</a:t>
            </a:r>
            <a:r>
              <a:rPr lang="zh-CN" altLang="en-US" sz="3200" i="1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因此它是</a:t>
            </a:r>
            <a:r>
              <a:rPr lang="zh-CN" altLang="en-US" sz="3200" b="1" dirty="0">
                <a:latin typeface="Times New Roman" panose="02020603050405020304" pitchFamily="18" charset="0"/>
              </a:rPr>
              <a:t>一步法</a:t>
            </a:r>
            <a:r>
              <a:rPr lang="zh-CN" altLang="en-US" sz="3200" dirty="0">
                <a:latin typeface="Times New Roman" panose="02020603050405020304" pitchFamily="18" charset="0"/>
              </a:rPr>
              <a:t>公式。又因其迭代函数</a:t>
            </a:r>
            <a:r>
              <a:rPr lang="en-US" altLang="zh-CN" sz="3200" i="1" dirty="0">
                <a:latin typeface="Times New Roman" panose="02020603050405020304" pitchFamily="18" charset="0"/>
              </a:rPr>
              <a:t>G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与迭代次数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</a:rPr>
              <a:t>无关，故又称其为</a:t>
            </a:r>
            <a:r>
              <a:rPr lang="zh-CN" altLang="en-US" sz="3200" b="1" dirty="0">
                <a:latin typeface="Times New Roman" panose="02020603050405020304" pitchFamily="18" charset="0"/>
              </a:rPr>
              <a:t>定常迭代法</a:t>
            </a:r>
            <a:r>
              <a:rPr lang="zh-CN" altLang="en-US" sz="3200" dirty="0">
                <a:latin typeface="Times New Roman" panose="02020603050405020304" pitchFamily="18" charset="0"/>
              </a:rPr>
              <a:t>（当迭代函数</a:t>
            </a:r>
            <a:r>
              <a:rPr lang="en-US" altLang="zh-CN" sz="3200" i="1" dirty="0">
                <a:latin typeface="Times New Roman" panose="02020603050405020304" pitchFamily="18" charset="0"/>
              </a:rPr>
              <a:t>G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与迭代次数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</a:rPr>
              <a:t>有关时，称为</a:t>
            </a:r>
            <a:r>
              <a:rPr lang="zh-CN" altLang="en-US" sz="3200" b="1" dirty="0">
                <a:latin typeface="Times New Roman" panose="02020603050405020304" pitchFamily="18" charset="0"/>
              </a:rPr>
              <a:t>非定常迭代法</a:t>
            </a:r>
            <a:r>
              <a:rPr lang="zh-CN" altLang="en-US" sz="3200" dirty="0">
                <a:latin typeface="Times New Roman" panose="02020603050405020304" pitchFamily="18" charset="0"/>
              </a:rPr>
              <a:t>）。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6659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charRg st="4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6659">
                                            <p:txEl>
                                              <p:charRg st="4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charRg st="8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6659">
                                            <p:txEl>
                                              <p:charRg st="84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charRg st="105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6659">
                                            <p:txEl>
                                              <p:charRg st="105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ldLvl="2" build="p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03428" name="Rectang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最后，关于</a:t>
            </a:r>
            <a:r>
              <a:rPr lang="en-US" altLang="zh-CN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SOR</a:t>
            </a:r>
            <a:r>
              <a:rPr lang="zh-CN" altLang="en-US" sz="3200" u="none" dirty="0">
                <a:solidFill>
                  <a:schemeClr val="tx1"/>
                </a:solidFill>
                <a:latin typeface="Times New Roman" panose="02020603050405020304" pitchFamily="18" charset="0"/>
              </a:rPr>
              <a:t>迭代法的收敛性，我们补充如下定理。</a:t>
            </a:r>
            <a:endParaRPr lang="zh-CN" altLang="en-US" sz="3200" u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5875" name="Rectangle 3"/>
          <p:cNvSpPr>
            <a:spLocks noGrp="1"/>
          </p:cNvSpPr>
          <p:nvPr>
            <p:ph idx="1"/>
          </p:nvPr>
        </p:nvSpPr>
        <p:spPr>
          <a:xfrm>
            <a:off x="533400" y="1600200"/>
            <a:ext cx="8077200" cy="15240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3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</a:rPr>
              <a:t>6.9</a:t>
            </a:r>
            <a:r>
              <a:rPr lang="zh-CN" altLang="en-US" sz="3200" dirty="0">
                <a:latin typeface="Times New Roman" panose="02020603050405020304" pitchFamily="18" charset="0"/>
              </a:rPr>
              <a:t>  设</a:t>
            </a:r>
            <a:r>
              <a:rPr lang="en-US" altLang="zh-CN" sz="3200" dirty="0">
                <a:latin typeface="Times New Roman" panose="02020603050405020304" pitchFamily="18" charset="0"/>
              </a:rPr>
              <a:t>SOR</a:t>
            </a:r>
            <a:r>
              <a:rPr lang="zh-CN" altLang="en-US" sz="3200" dirty="0">
                <a:latin typeface="Times New Roman" panose="02020603050405020304" pitchFamily="18" charset="0"/>
              </a:rPr>
              <a:t>迭代法收敛，则松弛因子满足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7490" name="Object 2"/>
          <p:cNvGraphicFramePr/>
          <p:nvPr/>
        </p:nvGraphicFramePr>
        <p:xfrm>
          <a:off x="2843213" y="2355850"/>
          <a:ext cx="18859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1" imgW="672465" imgH="203200" progId="Equation.3">
                  <p:embed/>
                </p:oleObj>
              </mc:Choice>
              <mc:Fallback>
                <p:oleObj name="" r:id="rId1" imgW="672465" imgH="2032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3213" y="2355850"/>
                        <a:ext cx="1885950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77" name="Text Box 5"/>
          <p:cNvSpPr txBox="1"/>
          <p:nvPr/>
        </p:nvSpPr>
        <p:spPr>
          <a:xfrm>
            <a:off x="457200" y="4454525"/>
            <a:ext cx="78486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综上所述，我们得到用一步定常迭代法求解线性代数方程组的算法：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5878" name="Rectangle 6"/>
          <p:cNvSpPr/>
          <p:nvPr/>
        </p:nvSpPr>
        <p:spPr>
          <a:xfrm>
            <a:off x="539750" y="3141663"/>
            <a:ext cx="7772400" cy="1447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0" hangingPunct="0">
              <a:lnSpc>
                <a:spcPct val="120000"/>
              </a:lnSpc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b="1" dirty="0">
                <a:solidFill>
                  <a:srgbClr val="F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若系数矩阵为对称正定的</a:t>
            </a:r>
            <a:r>
              <a:rPr lang="zh-CN" altLang="en-US" dirty="0">
                <a:latin typeface="Times New Roman" panose="02020603050405020304" pitchFamily="18" charset="0"/>
              </a:rPr>
              <a:t>，则上述条件是</a:t>
            </a:r>
            <a:r>
              <a:rPr lang="en-US" altLang="zh-CN" dirty="0">
                <a:latin typeface="Times New Roman" panose="02020603050405020304" pitchFamily="18" charset="0"/>
              </a:rPr>
              <a:t>SOR</a:t>
            </a:r>
            <a:r>
              <a:rPr lang="zh-CN" altLang="en-US" dirty="0">
                <a:latin typeface="Times New Roman" panose="02020603050405020304" pitchFamily="18" charset="0"/>
              </a:rPr>
              <a:t>迭代法收敛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充分必要条件</a:t>
            </a:r>
            <a:r>
              <a:rPr lang="zh-CN" altLang="en-US" dirty="0">
                <a:latin typeface="Times New Roman" panose="02020603050405020304" pitchFamily="18" charset="0"/>
              </a:rPr>
              <a:t> 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7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7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build="p"/>
      <p:bldP spid="335877" grpId="0"/>
      <p:bldP spid="335878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61620" y="116840"/>
            <a:ext cx="9666605" cy="62611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0340" y="286385"/>
            <a:ext cx="9357360" cy="628523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5411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一步定常迭代算法</a:t>
            </a:r>
            <a:endParaRPr lang="zh-CN" altLang="en-US" sz="32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899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029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1.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给定初始向量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(0)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i="1" dirty="0">
                <a:latin typeface="Times New Roman" panose="02020603050405020304" pitchFamily="18" charset="0"/>
              </a:rPr>
              <a:t>R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控制精度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3200" dirty="0">
                <a:latin typeface="Times New Roman" panose="02020603050405020304" pitchFamily="18" charset="0"/>
              </a:rPr>
              <a:t> ，迭代矩阵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</a:rPr>
              <a:t>以及</a:t>
            </a:r>
            <a:r>
              <a:rPr lang="en-US" altLang="zh-CN" sz="3200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r>
              <a:rPr lang="zh-CN" altLang="en-US" sz="3200" dirty="0">
                <a:latin typeface="Times New Roman" panose="02020603050405020304" pitchFamily="18" charset="0"/>
              </a:rPr>
              <a:t>置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= 0（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</a:rPr>
              <a:t>为记录迭代次数的计数器）。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2.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利用一步定常迭代法计算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   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i="1" dirty="0">
                <a:latin typeface="Times New Roman" panose="02020603050405020304" pitchFamily="18" charset="0"/>
              </a:rPr>
              <a:t>                            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= </a:t>
            </a:r>
            <a:r>
              <a:rPr lang="en-US" altLang="zh-CN" sz="3200" i="1" dirty="0"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dirty="0">
                <a:latin typeface="Times New Roman" panose="02020603050405020304" pitchFamily="18" charset="0"/>
              </a:rPr>
              <a:t>+ </a:t>
            </a:r>
            <a:r>
              <a:rPr lang="en-US" altLang="zh-CN" sz="3200" i="1" dirty="0">
                <a:latin typeface="Times New Roman" panose="02020603050405020304" pitchFamily="18" charset="0"/>
              </a:rPr>
              <a:t>f  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3.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如果||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/>
              <a:t>–</a:t>
            </a:r>
            <a:r>
              <a:rPr lang="en-US" altLang="zh-CN" sz="3200" i="1" dirty="0">
                <a:latin typeface="Times New Roman" panose="02020603050405020304" pitchFamily="18" charset="0"/>
              </a:rPr>
              <a:t> 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|| &lt; 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则终止迭代，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sz="3200" dirty="0">
                <a:latin typeface="Times New Roman" panose="02020603050405020304" pitchFamily="18" charset="0"/>
              </a:rPr>
              <a:t>作为近似解输出。否则，置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+1，</a:t>
            </a:r>
            <a:r>
              <a:rPr lang="zh-CN" altLang="en-US" sz="3200" dirty="0">
                <a:latin typeface="Times New Roman" panose="02020603050405020304" pitchFamily="18" charset="0"/>
              </a:rPr>
              <a:t>转到</a:t>
            </a:r>
            <a:r>
              <a:rPr lang="en-US" altLang="zh-CN" sz="3200" dirty="0">
                <a:latin typeface="Times New Roman" panose="02020603050405020304" pitchFamily="18" charset="0"/>
              </a:rPr>
              <a:t>step 2。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6899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6899">
                                            <p:txEl>
                                              <p:charRg st="6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9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6899">
                                            <p:txEl>
                                              <p:charRg st="9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6899">
                                            <p:txEl>
                                              <p:charRg st="9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141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6899">
                                            <p:txEl>
                                              <p:charRg st="141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6899">
                                            <p:txEl>
                                              <p:charRg st="141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6435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144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一步定常迭代算法 </a:t>
            </a:r>
            <a:r>
              <a:rPr lang="en-US" altLang="zh-CN" sz="32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(2)</a:t>
            </a:r>
            <a:endParaRPr lang="zh-CN" altLang="en-US" sz="32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6899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029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1.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给定初始向量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(0)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i="1" dirty="0">
                <a:latin typeface="Times New Roman" panose="02020603050405020304" pitchFamily="18" charset="0"/>
              </a:rPr>
              <a:t>R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控制精度</a:t>
            </a:r>
            <a:r>
              <a:rPr lang="zh-CN" altLang="en-US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sz="3200" dirty="0">
                <a:latin typeface="Times New Roman" panose="02020603050405020304" pitchFamily="18" charset="0"/>
              </a:rPr>
              <a:t> ，迭代矩阵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3200" dirty="0">
                <a:latin typeface="Times New Roman" panose="02020603050405020304" pitchFamily="18" charset="0"/>
              </a:rPr>
              <a:t>以及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3200" dirty="0">
                <a:latin typeface="Times New Roman" panose="02020603050405020304" pitchFamily="18" charset="0"/>
              </a:rPr>
              <a:t>。 </a:t>
            </a:r>
            <a:r>
              <a:rPr lang="en-US" altLang="zh-CN" sz="3200" b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是最大迭代次数，置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= 0（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zh-CN" altLang="en-US" sz="3200" dirty="0">
                <a:latin typeface="Times New Roman" panose="02020603050405020304" pitchFamily="18" charset="0"/>
              </a:rPr>
              <a:t>为记录迭代次数的计数器）。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2.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若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&gt;= </a:t>
            </a:r>
            <a:r>
              <a:rPr lang="en-US" altLang="zh-CN" sz="3200" b="1" dirty="0">
                <a:latin typeface="Times New Roman" panose="02020603050405020304" pitchFamily="18" charset="0"/>
              </a:rPr>
              <a:t>N</a:t>
            </a:r>
            <a:r>
              <a:rPr lang="zh-CN" altLang="en-US" sz="3200" dirty="0">
                <a:latin typeface="Times New Roman" panose="02020603050405020304" pitchFamily="18" charset="0"/>
              </a:rPr>
              <a:t>，则终止迭代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</a:rPr>
              <a:t>迭代法收敛很慢或发散。若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&lt; </a:t>
            </a:r>
            <a:r>
              <a:rPr lang="en-US" altLang="zh-CN" sz="3200" b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</a:rPr>
              <a:t>则利用一步定常迭代法计算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dirty="0">
                <a:latin typeface="Times New Roman" panose="02020603050405020304" pitchFamily="18" charset="0"/>
              </a:rPr>
              <a:t>,</a:t>
            </a:r>
            <a:r>
              <a:rPr lang="en-US" altLang="zh-CN" sz="3200" i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latin typeface="Times New Roman" panose="02020603050405020304" pitchFamily="18" charset="0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) </a:t>
            </a:r>
            <a:r>
              <a:rPr lang="en-US" altLang="zh-CN" sz="3200" b="1" dirty="0">
                <a:latin typeface="Times New Roman" panose="02020603050405020304" pitchFamily="18" charset="0"/>
              </a:rPr>
              <a:t>+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f  </a:t>
            </a:r>
            <a:r>
              <a:rPr lang="en-US" altLang="zh-CN" sz="3200" dirty="0">
                <a:latin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Step 3.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</a:rPr>
              <a:t>如果||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+1)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– x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</a:rPr>
              <a:t>|| &lt; </a:t>
            </a:r>
            <a:r>
              <a:rPr lang="en-US" altLang="zh-CN" sz="32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latin typeface="Times New Roman" panose="02020603050405020304" pitchFamily="18" charset="0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</a:rPr>
              <a:t>则终止迭代，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+1)</a:t>
            </a:r>
            <a:r>
              <a:rPr lang="zh-CN" altLang="en-US" sz="3200" dirty="0">
                <a:latin typeface="Times New Roman" panose="02020603050405020304" pitchFamily="18" charset="0"/>
              </a:rPr>
              <a:t>作为近似解输出。否则，置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k</a:t>
            </a:r>
            <a:r>
              <a:rPr lang="en-US" altLang="zh-CN" sz="3200" dirty="0">
                <a:latin typeface="Times New Roman" panose="02020603050405020304" pitchFamily="18" charset="0"/>
              </a:rPr>
              <a:t>+1，</a:t>
            </a:r>
            <a:r>
              <a:rPr lang="zh-CN" altLang="en-US" sz="3200" dirty="0">
                <a:latin typeface="Times New Roman" panose="02020603050405020304" pitchFamily="18" charset="0"/>
              </a:rPr>
              <a:t>转到</a:t>
            </a:r>
            <a:r>
              <a:rPr lang="en-US" altLang="zh-CN" sz="3200" dirty="0">
                <a:latin typeface="Times New Roman" panose="02020603050405020304" pitchFamily="18" charset="0"/>
              </a:rPr>
              <a:t>step 2。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9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72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6899">
                                            <p:txEl>
                                              <p:charRg st="72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6899">
                                            <p:txEl>
                                              <p:charRg st="72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9">
                                            <p:txEl>
                                              <p:charRg st="169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6899">
                                            <p:txEl>
                                              <p:charRg st="169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6899">
                                            <p:txEl>
                                              <p:charRg st="169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9" grpId="0" build="p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线性方程组的解法</a:t>
            </a:r>
            <a:endParaRPr lang="zh-CN" altLang="zh-CN" sz="1400" dirty="0"/>
          </a:p>
        </p:txBody>
      </p:sp>
      <p:sp>
        <p:nvSpPr>
          <p:cNvPr id="147459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 vert="horz" wrap="square" lIns="91440" tIns="45720" rIns="91440" bIns="45720" anchor="ctr" anchorCtr="0"/>
          <a:p>
            <a:pPr algn="ctr"/>
            <a:r>
              <a:rPr lang="zh-CN" altLang="en-US" sz="4400" b="1" u="none" dirty="0"/>
              <a:t>本章小结</a:t>
            </a:r>
            <a:endParaRPr lang="zh-CN" altLang="en-US" sz="4400" b="1" u="none" dirty="0"/>
          </a:p>
        </p:txBody>
      </p:sp>
      <p:sp>
        <p:nvSpPr>
          <p:cNvPr id="338947" name="Rectangle 3"/>
          <p:cNvSpPr>
            <a:spLocks noGrp="1"/>
          </p:cNvSpPr>
          <p:nvPr>
            <p:ph idx="1"/>
          </p:nvPr>
        </p:nvSpPr>
        <p:spPr>
          <a:xfrm>
            <a:off x="533400" y="990600"/>
            <a:ext cx="7772400" cy="5410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zh-CN" altLang="en-US" sz="3200" b="1" dirty="0"/>
              <a:t>线性方程组的数值算法</a:t>
            </a:r>
            <a:endParaRPr lang="zh-CN" altLang="en-US" sz="3200" b="1" dirty="0"/>
          </a:p>
          <a:p>
            <a:pPr lvl="1">
              <a:lnSpc>
                <a:spcPct val="90000"/>
              </a:lnSpc>
            </a:pPr>
            <a:r>
              <a:rPr lang="zh-CN" altLang="en-US" sz="2800" b="1" dirty="0"/>
              <a:t>直接法</a:t>
            </a:r>
            <a:endParaRPr lang="zh-CN" altLang="en-US" sz="2800" b="1" dirty="0"/>
          </a:p>
          <a:p>
            <a:pPr lvl="2">
              <a:lnSpc>
                <a:spcPct val="9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Gauss</a:t>
            </a:r>
            <a:r>
              <a:rPr lang="zh-CN" altLang="zh-CN" sz="2400" b="1" dirty="0"/>
              <a:t>消去法</a:t>
            </a:r>
            <a:endParaRPr lang="zh-CN" altLang="en-US" sz="2400" b="1" dirty="0"/>
          </a:p>
          <a:p>
            <a:pPr lvl="2">
              <a:lnSpc>
                <a:spcPct val="90000"/>
              </a:lnSpc>
            </a:pPr>
            <a:r>
              <a:rPr lang="zh-CN" altLang="en-US" sz="2400" b="1" dirty="0"/>
              <a:t>直接三角分解法：</a:t>
            </a:r>
            <a:r>
              <a:rPr lang="zh-CN" altLang="en-US" sz="2400" b="1" dirty="0">
                <a:latin typeface="Times New Roman" panose="02020603050405020304" pitchFamily="18" charset="0"/>
              </a:rPr>
              <a:t>追赶法，平方根法与改进平方根法等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400" b="1" dirty="0"/>
              <a:t>矩阵的三角分解与直接法的关系</a:t>
            </a:r>
            <a:endParaRPr lang="zh-CN" altLang="en-US" sz="2400" b="1" dirty="0"/>
          </a:p>
          <a:p>
            <a:pPr lvl="1">
              <a:lnSpc>
                <a:spcPct val="90000"/>
              </a:lnSpc>
            </a:pPr>
            <a:r>
              <a:rPr lang="zh-CN" altLang="en-US" sz="2800" b="1" dirty="0"/>
              <a:t>迭代法</a:t>
            </a:r>
            <a:endParaRPr lang="zh-CN" altLang="en-US" sz="2800" b="1" dirty="0"/>
          </a:p>
          <a:p>
            <a:pPr lvl="2">
              <a:lnSpc>
                <a:spcPct val="9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Jacobi</a:t>
            </a:r>
            <a:r>
              <a:rPr lang="zh-CN" altLang="zh-CN" sz="2400" b="1" dirty="0"/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Gauss-Seidel</a:t>
            </a:r>
            <a:r>
              <a:rPr lang="zh-CN" altLang="zh-CN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SOR</a:t>
            </a:r>
            <a:r>
              <a:rPr lang="zh-CN" altLang="zh-CN" sz="2400" b="1" dirty="0"/>
              <a:t>迭代法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3200" b="1" dirty="0"/>
              <a:t>方程组的性态与误差分析</a:t>
            </a:r>
            <a:endParaRPr lang="zh-CN" altLang="en-US" sz="3200" b="1" dirty="0"/>
          </a:p>
          <a:p>
            <a:pPr>
              <a:lnSpc>
                <a:spcPct val="90000"/>
              </a:lnSpc>
            </a:pPr>
            <a:r>
              <a:rPr lang="zh-CN" altLang="en-US" sz="3200" b="1" dirty="0"/>
              <a:t>迭</a:t>
            </a:r>
            <a:r>
              <a:rPr lang="zh-CN" altLang="zh-CN" sz="3200" b="1" dirty="0"/>
              <a:t>代</a:t>
            </a:r>
            <a:r>
              <a:rPr lang="zh-CN" altLang="en-US" sz="3200" b="1" dirty="0"/>
              <a:t>法的收敛性分析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18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47">
                                            <p:txEl>
                                              <p:charRg st="18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29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947">
                                            <p:txEl>
                                              <p:charRg st="29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3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947">
                                            <p:txEl>
                                              <p:charRg st="33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94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94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82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947">
                                            <p:txEl>
                                              <p:charRg st="82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86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947">
                                            <p:txEl>
                                              <p:charRg st="86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113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947">
                                            <p:txEl>
                                              <p:charRg st="113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>
                                            <p:txEl>
                                              <p:charRg st="12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947">
                                            <p:txEl>
                                              <p:charRg st="125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7" grpId="0" bldLvl="3" build="p"/>
    </p:bldLst>
  </p:timing>
</p:sld>
</file>

<file path=ppt/tags/tag1.xml><?xml version="1.0" encoding="utf-8"?>
<p:tagLst xmlns:p="http://schemas.openxmlformats.org/presentationml/2006/main">
  <p:tag name="commondata" val="eyJoZGlkIjoiN2I4NDViNGMzYzEyZjQ3NjA4YTIzYjE4ZDQ4YzJkZGEifQ==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9966FF"/>
      </a:folHlink>
    </a:clrScheme>
    <a:fontScheme name="Default Design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9966FF"/>
      </a:folHlink>
    </a:clrScheme>
    <a:fontScheme name="Default Design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Designs\Notebook.pot</Template>
  <TotalTime>0</TotalTime>
  <Words>16960</Words>
  <Application>WPS 演示</Application>
  <PresentationFormat/>
  <Paragraphs>1276</Paragraphs>
  <Slides>157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224</vt:i4>
      </vt:variant>
      <vt:variant>
        <vt:lpstr>幻灯片标题</vt:lpstr>
      </vt:variant>
      <vt:variant>
        <vt:i4>157</vt:i4>
      </vt:variant>
    </vt:vector>
  </HeadingPairs>
  <TitlesOfParts>
    <vt:vector size="397" baseType="lpstr">
      <vt:lpstr>Arial</vt:lpstr>
      <vt:lpstr>宋体</vt:lpstr>
      <vt:lpstr>Wingdings</vt:lpstr>
      <vt:lpstr>Times New Roman</vt:lpstr>
      <vt:lpstr>Comic Sans MS</vt:lpstr>
      <vt:lpstr>ZapfDingbats</vt:lpstr>
      <vt:lpstr>华文行楷</vt:lpstr>
      <vt:lpstr>微软雅黑</vt:lpstr>
      <vt:lpstr>Arial Unicode MS</vt:lpstr>
      <vt:lpstr>华文隶书</vt:lpstr>
      <vt:lpstr>黑体</vt:lpstr>
      <vt:lpstr>Symbol</vt:lpstr>
      <vt:lpstr>隶书</vt:lpstr>
      <vt:lpstr>Times New Roman</vt:lpstr>
      <vt:lpstr>Default Design</vt:lpstr>
      <vt:lpstr>1_Default Design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第6章 线性方程组 的解法</vt:lpstr>
      <vt:lpstr>第6章 线性方程组的解法</vt:lpstr>
      <vt:lpstr>主要内容：</vt:lpstr>
      <vt:lpstr>6.2  解线性方程组的 Gauss 消去法</vt:lpstr>
      <vt:lpstr>例1.用Guass消去法解线性方程组：</vt:lpstr>
      <vt:lpstr>过程如下：</vt:lpstr>
      <vt:lpstr>等价的线性方程组为</vt:lpstr>
      <vt:lpstr>6.2.1 Gauss 消去法</vt:lpstr>
      <vt:lpstr>6.2.1 Gauss 消去法</vt:lpstr>
      <vt:lpstr>PowerPoint 演示文稿</vt:lpstr>
      <vt:lpstr>PowerPoint 演示文稿</vt:lpstr>
      <vt:lpstr>设第k-1次消元后的等价方程组A(k)x = b(k)</vt:lpstr>
      <vt:lpstr>第k次消元：</vt:lpstr>
      <vt:lpstr>第k次消元后的等价方程组A(k+1)x = b(k+1)</vt:lpstr>
      <vt:lpstr>第n-1次消元得到的等价上三角形方程组A(n)x = b(n)</vt:lpstr>
      <vt:lpstr>例1.用Guass消去法解线性方程组：</vt:lpstr>
      <vt:lpstr>消元过程如下：</vt:lpstr>
      <vt:lpstr>等价的线性方程组为</vt:lpstr>
      <vt:lpstr> 通过前面的讨论可知，Gauss消去法要求主元素 </vt:lpstr>
      <vt:lpstr>PowerPoint 演示文稿</vt:lpstr>
      <vt:lpstr>例2. 用Guass消去法解下列方程组（采用三位十进制浮点运算） </vt:lpstr>
      <vt:lpstr>回代后求得 </vt:lpstr>
      <vt:lpstr>详细分析第二次消元</vt:lpstr>
      <vt:lpstr>PowerPoint 演示文稿</vt:lpstr>
      <vt:lpstr>Guass列主元素法</vt:lpstr>
      <vt:lpstr>Guass列主元素法（续）</vt:lpstr>
      <vt:lpstr>Guass列主元素法</vt:lpstr>
      <vt:lpstr>Guass列主元素法</vt:lpstr>
      <vt:lpstr>Guass全主元素法	</vt:lpstr>
      <vt:lpstr>Guass全主元素法（续）</vt:lpstr>
      <vt:lpstr>6.1 方程组的性态与误差分析 </vt:lpstr>
      <vt:lpstr>6.1方程组的性态与误差分析</vt:lpstr>
      <vt:lpstr>6.1方程组的性态与误差分析</vt:lpstr>
      <vt:lpstr>6.1方程组的性态与误差分析</vt:lpstr>
      <vt:lpstr>6.1方程组的性态与误差分析</vt:lpstr>
      <vt:lpstr>6.1方程组的性态与误差分析</vt:lpstr>
      <vt:lpstr>6.1方程组的性态与误差分析</vt:lpstr>
      <vt:lpstr>注1：</vt:lpstr>
      <vt:lpstr>6.1方程组的性态与误差分析</vt:lpstr>
      <vt:lpstr>6.1方程组的性态与误差分析</vt:lpstr>
      <vt:lpstr>注2： </vt:lpstr>
      <vt:lpstr>PowerPoint 演示文稿</vt:lpstr>
      <vt:lpstr>PowerPoint 演示文稿</vt:lpstr>
      <vt:lpstr>PowerPoint 演示文稿</vt:lpstr>
      <vt:lpstr>6.2方程组的性态与误差分析</vt:lpstr>
      <vt:lpstr>著名的Hilbert矩阵Hn就是一个病态矩阵，且当n越大时，“病态”越严重。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6.2.2 矩阵的三角分解及应用</vt:lpstr>
      <vt:lpstr>6.2.2 Gauss 消去法与矩阵的三角分解</vt:lpstr>
      <vt:lpstr>矩阵的三角分解</vt:lpstr>
      <vt:lpstr>Gauss 顺序消去法与矩阵的三角分解</vt:lpstr>
      <vt:lpstr>分析Gauss消去法的消元过程</vt:lpstr>
      <vt:lpstr>分析Gauss消去法的消元过程</vt:lpstr>
      <vt:lpstr>分析Gauss消去法的消元过程</vt:lpstr>
      <vt:lpstr>分析Gauss消去法的消元过程</vt:lpstr>
      <vt:lpstr>分析Gauss消去法的消元过程</vt:lpstr>
      <vt:lpstr>分析Gauss消去法的消元过程</vt:lpstr>
      <vt:lpstr>分析Gauss消去法的消元过程</vt:lpstr>
      <vt:lpstr>定理1的证明</vt:lpstr>
      <vt:lpstr>定理2.2.1的证明</vt:lpstr>
      <vt:lpstr>PowerPoint 演示文稿</vt:lpstr>
      <vt:lpstr>Gauss列主元素法与矩阵的三角分解</vt:lpstr>
      <vt:lpstr> Gauss消去法与矩阵的三角分解</vt:lpstr>
      <vt:lpstr>6.2.2 直接三角分解法</vt:lpstr>
      <vt:lpstr>直接三角分解法 —— Doolittle分解</vt:lpstr>
      <vt:lpstr>PowerPoint 演示文稿</vt:lpstr>
      <vt:lpstr>直接三角分解法——Doolittle分解法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6.2.3追赶法(Thomas Algorithm) </vt:lpstr>
      <vt:lpstr>追赶法(矩阵分解定理3) </vt:lpstr>
      <vt:lpstr>追赶法</vt:lpstr>
      <vt:lpstr>追赶法</vt:lpstr>
      <vt:lpstr>追赶法</vt:lpstr>
      <vt:lpstr>PowerPoint 演示文稿</vt:lpstr>
      <vt:lpstr>PowerPoint 演示文稿</vt:lpstr>
      <vt:lpstr>追赶法</vt:lpstr>
      <vt:lpstr>追赶法(Thomas Algorithm)</vt:lpstr>
      <vt:lpstr>追赶法的优点： </vt:lpstr>
      <vt:lpstr>例题:用追赶法求解下面的方程组 </vt:lpstr>
      <vt:lpstr>可得</vt:lpstr>
      <vt:lpstr>PowerPoint 演示文稿</vt:lpstr>
      <vt:lpstr>6.3 解线性方程组的迭代法</vt:lpstr>
      <vt:lpstr>PowerPoint 演示文稿</vt:lpstr>
      <vt:lpstr>PowerPoint 演示文稿</vt:lpstr>
      <vt:lpstr>PowerPoint 演示文稿</vt:lpstr>
      <vt:lpstr> 迭代法的收敛性分析</vt:lpstr>
      <vt:lpstr>一步定常迭代法的收敛性分析</vt:lpstr>
      <vt:lpstr>一步定常迭代法的收敛性分析</vt:lpstr>
      <vt:lpstr>一步定常迭代法的收敛性分析</vt:lpstr>
      <vt:lpstr>一步定常迭代法的收敛性分析</vt:lpstr>
      <vt:lpstr>下面说明这两个误差估计式的作用。</vt:lpstr>
      <vt:lpstr> (2)  当  给定时，由 (5)式</vt:lpstr>
      <vt:lpstr>(3)   渐近收敛速度</vt:lpstr>
      <vt:lpstr>6.3.1 Jacobi 迭代法</vt:lpstr>
      <vt:lpstr>将(1) 改写成其等价形式</vt:lpstr>
      <vt:lpstr>构造如下的迭代公式（格式）(k表示迭代次数)</vt:lpstr>
      <vt:lpstr>6.3.1 Jacobi 迭代法</vt:lpstr>
      <vt:lpstr>6.3.1 Jacobi 迭代法</vt:lpstr>
      <vt:lpstr>6.3.1 Jacobi 迭代法</vt:lpstr>
      <vt:lpstr>6.3.1 Jacobi 迭代法</vt:lpstr>
      <vt:lpstr>6.3.1 Jacobi 迭代法</vt:lpstr>
      <vt:lpstr>6.3.1 Jacobi 迭代法</vt:lpstr>
      <vt:lpstr>Jacobi 迭代法的矩阵形式</vt:lpstr>
      <vt:lpstr>Jacobi 迭代法矩阵形式</vt:lpstr>
      <vt:lpstr>Jacobi 迭代法矩阵形式</vt:lpstr>
      <vt:lpstr>Jacobi 迭代法矩阵形式</vt:lpstr>
      <vt:lpstr>Jacobi 迭代法矩阵形式</vt:lpstr>
      <vt:lpstr>若令 M1 = D-1( L+U )，f 1 = D-1b，则 (6)</vt:lpstr>
      <vt:lpstr>PowerPoint 演示文稿</vt:lpstr>
      <vt:lpstr>PowerPoint 演示文稿</vt:lpstr>
      <vt:lpstr>6.3.2 Seidel 迭代法</vt:lpstr>
      <vt:lpstr>Jacobi 迭代法与Seidel迭代法的比较</vt:lpstr>
      <vt:lpstr>Seidel迭代公式</vt:lpstr>
      <vt:lpstr>6.3.2 Seidel 迭代法</vt:lpstr>
      <vt:lpstr>6.3.2 Seidel 迭代法</vt:lpstr>
      <vt:lpstr>解此方程组的Seidel法迭代公式：</vt:lpstr>
      <vt:lpstr>计算结果如下：</vt:lpstr>
      <vt:lpstr>下面给出Seidel迭代法的矩阵形式。</vt:lpstr>
      <vt:lpstr>6.3.2 Seidel 迭代法</vt:lpstr>
      <vt:lpstr>PowerPoint 演示文稿</vt:lpstr>
      <vt:lpstr>PowerPoint 演示文稿</vt:lpstr>
      <vt:lpstr>PowerPoint 演示文稿</vt:lpstr>
      <vt:lpstr>此方程组的Seidel法迭代公式为：</vt:lpstr>
      <vt:lpstr>PowerPoint 演示文稿</vt:lpstr>
      <vt:lpstr>PowerPoint 演示文稿</vt:lpstr>
      <vt:lpstr>Jacobi迭代矩阵</vt:lpstr>
      <vt:lpstr>PowerPoint 演示文稿</vt:lpstr>
      <vt:lpstr>6.3.3  SOR方法 </vt:lpstr>
      <vt:lpstr>6.3.3  SOR方法 </vt:lpstr>
      <vt:lpstr>6.3.3  SOR方法 </vt:lpstr>
      <vt:lpstr>6.3.3  SOR方法 </vt:lpstr>
      <vt:lpstr>例3 用SOR迭代法解例1中的方程组，</vt:lpstr>
      <vt:lpstr>取初始向量x(0)=(0, 0, 0)T ，将计算结果列如下 </vt:lpstr>
      <vt:lpstr>SOR方法的矩阵形式</vt:lpstr>
      <vt:lpstr>SOR方法的矩阵形式</vt:lpstr>
      <vt:lpstr>SOR方法的矩阵形式</vt:lpstr>
      <vt:lpstr>     由式(7)，(13) 和 (16) 可以看出：</vt:lpstr>
      <vt:lpstr>最后，关于SOR迭代法的收敛性，我们补充如下定理。</vt:lpstr>
      <vt:lpstr>PowerPoint 演示文稿</vt:lpstr>
      <vt:lpstr>PowerPoint 演示文稿</vt:lpstr>
      <vt:lpstr>一步定常迭代算法</vt:lpstr>
      <vt:lpstr>一步定常迭代算法 (2)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第2章:线性方程组的数值解法</dc:title>
  <dc:creator>liu</dc:creator>
  <cp:lastModifiedBy>xws</cp:lastModifiedBy>
  <cp:revision>600</cp:revision>
  <cp:lastPrinted>2000-09-13T16:47:00Z</cp:lastPrinted>
  <dcterms:created xsi:type="dcterms:W3CDTF">1999-10-08T19:08:00Z</dcterms:created>
  <dcterms:modified xsi:type="dcterms:W3CDTF">2024-11-09T07:52:40Z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4</vt:r8>
  </property>
  <property fmtid="{D5CDD505-2E9C-101B-9397-08002B2CF9AE}" pid="6" name="ScreenUsage">
    <vt:r8>3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3</vt:r8>
  </property>
  <property fmtid="{D5CDD505-2E9C-101B-9397-08002B2CF9AE}" pid="19" name="ShowNotes">
    <vt:bool>false</vt:bool>
  </property>
  <property fmtid="{D5CDD505-2E9C-101B-9397-08002B2CF9AE}" pid="20" name="NavBtnPos">
    <vt:r8>1</vt:r8>
  </property>
  <property fmtid="{D5CDD505-2E9C-101B-9397-08002B2CF9AE}" pid="21" name="OutputDir">
    <vt:lpwstr>J:\coins\courses\f00\part2</vt:lpwstr>
  </property>
  <property fmtid="{D5CDD505-2E9C-101B-9397-08002B2CF9AE}" pid="22" name="KSOProductBuildVer">
    <vt:lpwstr>2052-12.1.0.17857</vt:lpwstr>
  </property>
  <property fmtid="{D5CDD505-2E9C-101B-9397-08002B2CF9AE}" pid="23" name="ICV">
    <vt:lpwstr>0DE05CF1A4EA453DA04BC856CA700408_12</vt:lpwstr>
  </property>
</Properties>
</file>