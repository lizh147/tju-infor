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7" r:id="rId3"/>
    <p:sldId id="301" r:id="rId5"/>
    <p:sldId id="349" r:id="rId6"/>
    <p:sldId id="258" r:id="rId7"/>
    <p:sldId id="259" r:id="rId8"/>
    <p:sldId id="260" r:id="rId9"/>
    <p:sldId id="261" r:id="rId10"/>
    <p:sldId id="262" r:id="rId11"/>
    <p:sldId id="303" r:id="rId12"/>
    <p:sldId id="263" r:id="rId13"/>
    <p:sldId id="264" r:id="rId14"/>
    <p:sldId id="266" r:id="rId15"/>
    <p:sldId id="304" r:id="rId16"/>
  </p:sldIdLst>
  <p:sldSz cx="9144000" cy="6858000" type="screen4x3"/>
  <p:notesSz cx="7048500" cy="9296400"/>
  <p:custDataLst>
    <p:tags r:id="rId2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CCFFFF"/>
    <a:srgbClr val="FF0000"/>
    <a:srgbClr val="00CC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6"/>
    <p:restoredTop sz="94655"/>
  </p:normalViewPr>
  <p:slideViewPr>
    <p:cSldViewPr snapToGrid="0" showGuides="1">
      <p:cViewPr varScale="1">
        <p:scale>
          <a:sx n="80" d="100"/>
          <a:sy n="80" d="100"/>
        </p:scale>
        <p:origin x="-1038" y="-90"/>
      </p:cViewPr>
      <p:guideLst>
        <p:guide orient="horz" pos="2216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/>
          <a:lstStyle>
            <a:lvl1pPr algn="r"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lstStyle>
            <a:lvl1pPr>
              <a:defRPr sz="1200">
                <a:latin typeface="Comic Sans MS" panose="030F0702030302020204" pitchFamily="66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defTabSz="933450">
              <a:defRPr sz="1200"/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4150" y="0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>
            <a:lvl1pPr algn="r" defTabSz="933450">
              <a:defRPr sz="1200"/>
            </a:lvl1pPr>
          </a:lstStyle>
          <a:p>
            <a:pPr marL="0" marR="0" lvl="0" indent="0" algn="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TextEdit="1"/>
          </p:cNvSpPr>
          <p:nvPr>
            <p:ph type="sldImg"/>
          </p:nvPr>
        </p:nvSpPr>
        <p:spPr>
          <a:xfrm>
            <a:off x="120015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16425"/>
            <a:ext cx="5168900" cy="4183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lstStyle>
            <a:lvl1pPr defTabSz="933450">
              <a:defRPr sz="1200"/>
            </a:lvl1pPr>
          </a:lstStyle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4150" y="8831263"/>
            <a:ext cx="3054350" cy="4651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397" tIns="46698" rIns="93397" bIns="46698" numCol="1" anchor="b" anchorCtr="0" compatLnSpc="1"/>
          <a:p>
            <a:pPr lvl="0" algn="r" defTabSz="933450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 anchorCtr="0"/>
          <a:p>
            <a:pPr lvl="0"/>
            <a:r>
              <a:rPr lang="zh-CN" altLang="zh-CN" sz="2800" dirty="0"/>
              <a:t>正交函数的概念是</a:t>
            </a:r>
            <a:r>
              <a:rPr lang="zh-CN" altLang="en-US" sz="2800" dirty="0"/>
              <a:t>R</a:t>
            </a:r>
            <a:r>
              <a:rPr lang="en-US" altLang="zh-CN" sz="2800" baseline="30000" dirty="0"/>
              <a:t>n</a:t>
            </a:r>
            <a:r>
              <a:rPr lang="zh-CN" altLang="en-US" sz="2800" dirty="0"/>
              <a:t>中垂直概念的推广。</a:t>
            </a:r>
            <a:r>
              <a:rPr lang="en-US" altLang="zh-CN" sz="2800" dirty="0"/>
              <a:t>R</a:t>
            </a:r>
            <a:r>
              <a:rPr lang="en-US" altLang="zh-CN" sz="2800" baseline="30000" dirty="0"/>
              <a:t>2</a:t>
            </a:r>
            <a:r>
              <a:rPr lang="zh-CN" altLang="en-US" sz="2800" dirty="0"/>
              <a:t>中两条直线</a:t>
            </a:r>
            <a:r>
              <a:rPr lang="en-US" altLang="zh-CN" sz="2800" b="1" i="1" dirty="0"/>
              <a:t>l</a:t>
            </a:r>
            <a:r>
              <a:rPr lang="en-US" altLang="zh-CN" sz="2800" b="1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b="1" i="1" dirty="0"/>
              <a:t>l</a:t>
            </a:r>
            <a:r>
              <a:rPr lang="en-US" altLang="zh-CN" sz="2800" b="1" baseline="-25000" dirty="0"/>
              <a:t>2</a:t>
            </a:r>
            <a:r>
              <a:rPr lang="zh-CN" altLang="en-US" sz="2800" dirty="0"/>
              <a:t>垂直是指它们的斜率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2</a:t>
            </a:r>
            <a:r>
              <a:rPr lang="zh-CN" altLang="en-US" sz="2800" dirty="0"/>
              <a:t>互为负倒数，即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·k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=-1</a:t>
            </a:r>
            <a:r>
              <a:rPr lang="en-US" altLang="zh-CN" sz="2800" dirty="0"/>
              <a:t>。</a:t>
            </a:r>
            <a:r>
              <a:rPr lang="zh-CN" altLang="en-US" sz="2800" dirty="0"/>
              <a:t>而这两条直线的方向向量分别为</a:t>
            </a:r>
            <a:r>
              <a:rPr lang="en-US" altLang="zh-CN" sz="2800" b="1" dirty="0"/>
              <a:t>v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=[1, k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],v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=[1, k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], v</a:t>
            </a:r>
            <a:r>
              <a:rPr lang="en-US" altLang="zh-CN" sz="2800" b="1" baseline="-25000" dirty="0"/>
              <a:t>1</a:t>
            </a:r>
            <a:r>
              <a:rPr lang="zh-CN" altLang="en-US" sz="2800" dirty="0"/>
              <a:t>和</a:t>
            </a:r>
            <a:r>
              <a:rPr lang="en-US" altLang="zh-CN" sz="2800" b="1" dirty="0"/>
              <a:t>v</a:t>
            </a:r>
            <a:r>
              <a:rPr lang="en-US" altLang="zh-CN" sz="2800" b="1" baseline="-25000" dirty="0"/>
              <a:t>2</a:t>
            </a:r>
            <a:r>
              <a:rPr lang="zh-CN" altLang="en-US" sz="2800" dirty="0"/>
              <a:t>的内积(</a:t>
            </a:r>
            <a:r>
              <a:rPr lang="en-US" altLang="zh-CN" sz="2800" b="1" dirty="0"/>
              <a:t>v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,</a:t>
            </a:r>
            <a:r>
              <a:rPr lang="en-US" altLang="zh-CN" sz="2800" b="1" dirty="0"/>
              <a:t>v</a:t>
            </a:r>
            <a:r>
              <a:rPr lang="en-US" altLang="zh-CN" sz="2800" b="1" baseline="-25000" dirty="0"/>
              <a:t>2</a:t>
            </a:r>
            <a:r>
              <a:rPr lang="en-US" altLang="zh-CN" sz="2800" dirty="0"/>
              <a:t>)=1+ </a:t>
            </a:r>
            <a:r>
              <a:rPr lang="en-US" altLang="zh-CN" sz="2800" b="1" dirty="0"/>
              <a:t>k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·k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=</a:t>
            </a:r>
            <a:r>
              <a:rPr lang="en-US" altLang="zh-CN" sz="2800" dirty="0"/>
              <a:t> 0。</a:t>
            </a:r>
            <a:endParaRPr lang="en-US" altLang="zh-CN" sz="2800" dirty="0"/>
          </a:p>
          <a:p>
            <a:pPr lvl="0"/>
            <a:endParaRPr lang="en-US" altLang="zh-CN" sz="2800" b="1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/>
        <p:txBody>
          <a:bodyPr wrap="square" lIns="93397" tIns="46698" rIns="93397" bIns="46698" anchor="t" anchorCtr="0"/>
          <a:p>
            <a:pPr lvl="0"/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5：正交多项式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algn="r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  <a:p>
            <a:pPr lvl="2" indent="-228600"/>
            <a:r>
              <a:rPr lang="en-US" altLang="zh-CN" dirty="0"/>
              <a:t>Third level</a:t>
            </a:r>
            <a:endParaRPr lang="en-US" altLang="zh-CN" dirty="0"/>
          </a:p>
          <a:p>
            <a:pPr lvl="3" indent="-228600"/>
            <a:r>
              <a:rPr lang="en-US" altLang="zh-CN" dirty="0"/>
              <a:t>Fourth level</a:t>
            </a:r>
            <a:endParaRPr lang="en-US" altLang="zh-CN" dirty="0"/>
          </a:p>
          <a:p>
            <a:pPr lvl="4" indent="-22860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+mn-lt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函数的数值逼近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wmf"/><Relationship Id="rId8" Type="http://schemas.openxmlformats.org/officeDocument/2006/relationships/oleObject" Target="../embeddings/oleObject5.bin"/><Relationship Id="rId7" Type="http://schemas.openxmlformats.org/officeDocument/2006/relationships/image" Target="../media/image3.wmf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2" Type="http://schemas.openxmlformats.org/officeDocument/2006/relationships/notesSlide" Target="../notesSlides/notesSlide1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8.wmf"/><Relationship Id="rId15" Type="http://schemas.openxmlformats.org/officeDocument/2006/relationships/notesSlide" Target="../notesSlides/notesSlide3.xml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4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8.wmf"/><Relationship Id="rId11" Type="http://schemas.openxmlformats.org/officeDocument/2006/relationships/notesSlide" Target="../notesSlides/notesSlide6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7.wmf"/><Relationship Id="rId11" Type="http://schemas.openxmlformats.org/officeDocument/2006/relationships/notesSlide" Target="../notesSlides/notesSlide9.xml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2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3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7.bin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/>
          <a:lstStyle/>
          <a:p>
            <a:pPr lvl="0"/>
            <a:r>
              <a:rPr lang="en-US" altLang="zh-CN"/>
              <a:t>5: </a:t>
            </a:r>
            <a:r>
              <a:rPr lang="zh-CN" altLang="en-US"/>
              <a:t>正交</a:t>
            </a:r>
            <a:r>
              <a:rPr lang="zh-CN" altLang="en-US"/>
              <a:t>多项式</a:t>
            </a:r>
            <a:endParaRPr lang="zh-CN" altLang="en-US"/>
          </a:p>
        </p:txBody>
      </p:sp>
      <p:sp>
        <p:nvSpPr>
          <p:cNvPr id="17410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r>
              <a:rPr lang="zh-CN" altLang="zh-CN"/>
              <a:t>*</a:t>
            </a:r>
            <a:endParaRPr lang="zh-CN" altLang="zh-CN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5.</a:t>
            </a:r>
            <a:r>
              <a:rPr lang="en-US" altLang="zh-CN"/>
              <a:t>2</a:t>
            </a:r>
            <a:r>
              <a:rPr lang="zh-CN" altLang="en-US"/>
              <a:t> </a:t>
            </a:r>
            <a:r>
              <a:rPr lang="zh-CN" altLang="zh-CN"/>
              <a:t>正交多项式</a:t>
            </a:r>
            <a:endParaRPr lang="zh-CN" altLang="zh-CN"/>
          </a:p>
        </p:txBody>
      </p:sp>
      <p:graphicFrame>
        <p:nvGraphicFramePr>
          <p:cNvPr id="157702" name="Object 6"/>
          <p:cNvGraphicFramePr/>
          <p:nvPr/>
        </p:nvGraphicFramePr>
        <p:xfrm>
          <a:off x="1076325" y="2463800"/>
          <a:ext cx="62992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957830" imgH="482600" progId="Equation.DSMT4">
                  <p:embed/>
                </p:oleObj>
              </mc:Choice>
              <mc:Fallback>
                <p:oleObj name="" r:id="rId1" imgW="2957830" imgH="482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6325" y="2463800"/>
                        <a:ext cx="6299200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/>
          <p:nvPr/>
        </p:nvGrpSpPr>
        <p:grpSpPr>
          <a:xfrm>
            <a:off x="415925" y="3497263"/>
            <a:ext cx="8313738" cy="1630362"/>
            <a:chOff x="112" y="2233"/>
            <a:chExt cx="5237" cy="1027"/>
          </a:xfrm>
        </p:grpSpPr>
        <p:sp>
          <p:nvSpPr>
            <p:cNvPr id="17414" name="Text Box 7"/>
            <p:cNvSpPr txBox="1"/>
            <p:nvPr/>
          </p:nvSpPr>
          <p:spPr>
            <a:xfrm>
              <a:off x="112" y="2233"/>
              <a:ext cx="5237" cy="10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rPr>
                <a:t>其中        为权函数，则称此函数组为在区间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  <a:r>
                <a:rPr lang="en-US" altLang="zh-CN" i="1" dirty="0">
                  <a:latin typeface="Times New Roman" panose="02020603050405020304" pitchFamily="18" charset="0"/>
                </a:rPr>
                <a:t>a ,b</a:t>
              </a:r>
              <a:r>
                <a:rPr lang="en-US" altLang="zh-CN" dirty="0">
                  <a:latin typeface="Times New Roman" panose="02020603050405020304" pitchFamily="18" charset="0"/>
                </a:rPr>
                <a:t>]</a:t>
              </a:r>
              <a:r>
                <a:rPr lang="en-US" altLang="zh-CN" dirty="0">
                  <a:latin typeface="Comic Sans MS" panose="030F0702030302020204" pitchFamily="66" charset="0"/>
                </a:rPr>
                <a:t> </a:t>
              </a:r>
              <a:r>
                <a:rPr lang="zh-CN" altLang="zh-CN" dirty="0">
                  <a:latin typeface="Comic Sans MS" panose="030F0702030302020204" pitchFamily="66" charset="0"/>
                  <a:ea typeface="宋体" panose="02010600030101010101" pitchFamily="2" charset="-122"/>
                </a:rPr>
                <a:t>上带权   </a:t>
              </a:r>
              <a:r>
                <a: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rPr>
                <a:t>     </a:t>
              </a:r>
              <a:r>
                <a: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的正交函数组, 其中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为正数。若</a:t>
              </a:r>
              <a:r>
                <a:rPr lang="en-US" altLang="zh-CN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latin typeface="Times New Roman" panose="02020603050405020304" pitchFamily="18" charset="0"/>
                </a:rPr>
                <a:t> = 1,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i="1" dirty="0">
                  <a:latin typeface="Times New Roman" panose="02020603050405020304" pitchFamily="18" charset="0"/>
                </a:rPr>
                <a:t>k</a:t>
              </a:r>
              <a:r>
                <a:rPr lang="en-US" altLang="zh-CN" dirty="0">
                  <a:latin typeface="Times New Roman" panose="02020603050405020304" pitchFamily="18" charset="0"/>
                </a:rPr>
                <a:t>=0,1,2,…）</a:t>
              </a:r>
              <a:r>
                <a:rPr lang="zh-CN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称该函数组是标准正交的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15" name="Object 8"/>
            <p:cNvGraphicFramePr/>
            <p:nvPr/>
          </p:nvGraphicFramePr>
          <p:xfrm>
            <a:off x="610" y="2268"/>
            <a:ext cx="56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342900" imgH="203200" progId="Equation.DSMT4">
                    <p:embed/>
                  </p:oleObj>
                </mc:Choice>
                <mc:Fallback>
                  <p:oleObj name="" r:id="rId3" imgW="342900" imgH="2032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0" y="2268"/>
                          <a:ext cx="56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Object 9"/>
            <p:cNvGraphicFramePr/>
            <p:nvPr/>
          </p:nvGraphicFramePr>
          <p:xfrm>
            <a:off x="790" y="2578"/>
            <a:ext cx="56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342900" imgH="203200" progId="Equation.DSMT4">
                    <p:embed/>
                  </p:oleObj>
                </mc:Choice>
                <mc:Fallback>
                  <p:oleObj name="" r:id="rId5" imgW="342900" imgH="2032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0" y="2578"/>
                          <a:ext cx="56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7" name="Text Box 14"/>
          <p:cNvSpPr txBox="1"/>
          <p:nvPr/>
        </p:nvSpPr>
        <p:spPr>
          <a:xfrm>
            <a:off x="455613" y="974725"/>
            <a:ext cx="4854575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3600" b="1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正交函数</a:t>
            </a:r>
            <a:r>
              <a:rPr lang="zh-CN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组及其性质</a:t>
            </a:r>
            <a:endParaRPr lang="zh-CN" altLang="en-US" sz="3600" b="1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441325" y="1684338"/>
            <a:ext cx="7989888" cy="946150"/>
            <a:chOff x="106" y="1061"/>
            <a:chExt cx="5033" cy="596"/>
          </a:xfrm>
        </p:grpSpPr>
        <p:sp>
          <p:nvSpPr>
            <p:cNvPr id="17419" name="Text Box 4"/>
            <p:cNvSpPr txBox="1"/>
            <p:nvPr/>
          </p:nvSpPr>
          <p:spPr>
            <a:xfrm>
              <a:off x="106" y="1061"/>
              <a:ext cx="353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定义 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5.1.1</a:t>
              </a:r>
              <a:r>
                <a: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rPr>
                <a:t>  设有</a:t>
              </a:r>
              <a:r>
                <a:rPr lang="en-US" altLang="en-US" i="1" dirty="0">
                  <a:latin typeface="Times New Roman" panose="02020603050405020304" pitchFamily="18" charset="0"/>
                </a:rPr>
                <a:t>C</a:t>
              </a:r>
              <a:r>
                <a:rPr lang="en-US" altLang="en-US" dirty="0">
                  <a:latin typeface="Times New Roman" panose="02020603050405020304" pitchFamily="18" charset="0"/>
                </a:rPr>
                <a:t>[</a:t>
              </a:r>
              <a:r>
                <a:rPr lang="en-US" altLang="en-US" i="1" dirty="0">
                  <a:latin typeface="Times New Roman" panose="02020603050405020304" pitchFamily="18" charset="0"/>
                </a:rPr>
                <a:t>a , b</a:t>
              </a:r>
              <a:r>
                <a:rPr lang="en-US" altLang="en-US" dirty="0">
                  <a:latin typeface="Times New Roman" panose="02020603050405020304" pitchFamily="18" charset="0"/>
                </a:rPr>
                <a:t>]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中的函数组                                                 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/>
              <a:r>
                <a: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rPr>
                <a:t>若满足</a:t>
              </a:r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20" name="Object 15"/>
            <p:cNvGraphicFramePr/>
            <p:nvPr/>
          </p:nvGraphicFramePr>
          <p:xfrm>
            <a:off x="3550" y="1063"/>
            <a:ext cx="1589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6" imgW="1167765" imgH="241300" progId="Equation.3">
                    <p:embed/>
                  </p:oleObj>
                </mc:Choice>
                <mc:Fallback>
                  <p:oleObj name="" r:id="rId6" imgW="1167765" imgH="2413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50" y="1063"/>
                          <a:ext cx="1589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8"/>
          <p:cNvGrpSpPr/>
          <p:nvPr/>
        </p:nvGrpSpPr>
        <p:grpSpPr>
          <a:xfrm>
            <a:off x="546100" y="5049838"/>
            <a:ext cx="7969250" cy="1004887"/>
            <a:chOff x="546100" y="5049160"/>
            <a:chExt cx="7969250" cy="1005565"/>
          </a:xfrm>
        </p:grpSpPr>
        <p:sp>
          <p:nvSpPr>
            <p:cNvPr id="17422" name="Text Box 10"/>
            <p:cNvSpPr txBox="1"/>
            <p:nvPr/>
          </p:nvSpPr>
          <p:spPr>
            <a:xfrm>
              <a:off x="546100" y="5100638"/>
              <a:ext cx="7969250" cy="9540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定理 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5.1.1</a:t>
              </a:r>
              <a:r>
                <a:rPr lang="zh-CN" altLang="en-US" dirty="0">
                  <a:latin typeface="Comic Sans MS" panose="030F0702030302020204" pitchFamily="66" charset="0"/>
                  <a:ea typeface="宋体" panose="02010600030101010101" pitchFamily="2" charset="-122"/>
                </a:rPr>
                <a:t>设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函数组                                  正交，则它们一定线性无关。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23" name="Object 178"/>
            <p:cNvGraphicFramePr/>
            <p:nvPr/>
          </p:nvGraphicFramePr>
          <p:xfrm>
            <a:off x="3630036" y="5049160"/>
            <a:ext cx="2933700" cy="701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8" imgW="1180465" imgH="279400" progId="Equation.3">
                    <p:embed/>
                  </p:oleObj>
                </mc:Choice>
                <mc:Fallback>
                  <p:oleObj name="" r:id="rId8" imgW="1180465" imgH="2794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630036" y="5049160"/>
                          <a:ext cx="2933700" cy="7016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3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8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Text Box 156"/>
          <p:cNvSpPr txBox="1"/>
          <p:nvPr/>
        </p:nvSpPr>
        <p:spPr>
          <a:xfrm>
            <a:off x="493713" y="1143000"/>
            <a:ext cx="8258175" cy="12747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设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，它们线性无关的充分必要条件是其 </a:t>
            </a:r>
            <a:r>
              <a:rPr lang="en-US" altLang="zh-CN" sz="3200" dirty="0">
                <a:latin typeface="Times New Roman" panose="02020603050405020304" pitchFamily="18" charset="0"/>
              </a:rPr>
              <a:t>Gram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行列式               其中 </a:t>
            </a:r>
            <a:endParaRPr lang="zh-CN" altLang="zh-CN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9460" name="Object 158"/>
          <p:cNvGraphicFramePr/>
          <p:nvPr/>
        </p:nvGraphicFramePr>
        <p:xfrm>
          <a:off x="5027613" y="1846263"/>
          <a:ext cx="1270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08000" imgH="228600" progId="Equation.DSMT4">
                  <p:embed/>
                </p:oleObj>
              </mc:Choice>
              <mc:Fallback>
                <p:oleObj name="" r:id="rId1" imgW="5080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7613" y="1846263"/>
                        <a:ext cx="1270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935" name="Object 159"/>
          <p:cNvGraphicFramePr/>
          <p:nvPr/>
        </p:nvGraphicFramePr>
        <p:xfrm>
          <a:off x="1404938" y="2714625"/>
          <a:ext cx="6067425" cy="235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425700" imgH="939800" progId="Equation.DSMT4">
                  <p:embed/>
                </p:oleObj>
              </mc:Choice>
              <mc:Fallback>
                <p:oleObj name="" r:id="rId3" imgW="2425700" imgH="939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4938" y="2714625"/>
                        <a:ext cx="6067425" cy="235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17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rgbClr val="FF0000"/>
                </a:solidFill>
              </a:rPr>
              <a:t>定理 </a:t>
            </a:r>
            <a:r>
              <a:rPr lang="zh-CN" altLang="en-US" sz="3200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5.1.2</a:t>
            </a:r>
            <a:endParaRPr lang="zh-CN" altLang="en-US" sz="3200" u="none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9463" name="Object 178"/>
          <p:cNvGraphicFramePr/>
          <p:nvPr/>
        </p:nvGraphicFramePr>
        <p:xfrm>
          <a:off x="969963" y="1177925"/>
          <a:ext cx="29337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180465" imgH="279400" progId="Equation.3">
                  <p:embed/>
                </p:oleObj>
              </mc:Choice>
              <mc:Fallback>
                <p:oleObj name="" r:id="rId5" imgW="1180465" imgH="279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9963" y="1177925"/>
                        <a:ext cx="2933700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2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 Box 2"/>
          <p:cNvSpPr txBox="1"/>
          <p:nvPr/>
        </p:nvSpPr>
        <p:spPr>
          <a:xfrm>
            <a:off x="160338" y="925513"/>
            <a:ext cx="8772525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设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是线性无关的函数组, 则由正交结构公式</a:t>
            </a:r>
            <a:endParaRPr lang="zh-CN" altLang="zh-CN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284675" name="Object 3"/>
          <p:cNvGraphicFramePr/>
          <p:nvPr/>
        </p:nvGraphicFramePr>
        <p:xfrm>
          <a:off x="390525" y="2087563"/>
          <a:ext cx="7594600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035300" imgH="939800" progId="Equation.DSMT4">
                  <p:embed/>
                </p:oleObj>
              </mc:Choice>
              <mc:Fallback>
                <p:oleObj name="" r:id="rId1" imgW="3035300" imgH="939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525" y="2087563"/>
                        <a:ext cx="7594600" cy="235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4"/>
          <p:cNvSpPr>
            <a:spLocks noGrp="1"/>
          </p:cNvSpPr>
          <p:nvPr>
            <p:ph type="title"/>
          </p:nvPr>
        </p:nvSpPr>
        <p:spPr>
          <a:xfrm>
            <a:off x="222250" y="92075"/>
            <a:ext cx="2270125" cy="950913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u="none" dirty="0">
                <a:solidFill>
                  <a:srgbClr val="FF0000"/>
                </a:solidFill>
              </a:rPr>
              <a:t>定理 </a:t>
            </a:r>
            <a:r>
              <a:rPr lang="zh-CN" altLang="en-US" sz="3200" u="none" dirty="0">
                <a:solidFill>
                  <a:srgbClr val="FF0000"/>
                </a:solidFill>
                <a:latin typeface="Times New Roman" panose="02020603050405020304" pitchFamily="18" charset="0"/>
              </a:rPr>
              <a:t>5.1.3</a:t>
            </a:r>
            <a:endParaRPr lang="zh-CN" altLang="en-US" sz="3200" u="none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0486" name="Object 5"/>
          <p:cNvGraphicFramePr/>
          <p:nvPr/>
        </p:nvGraphicFramePr>
        <p:xfrm>
          <a:off x="623888" y="909638"/>
          <a:ext cx="12303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495300" imgH="279400" progId="Equation.3">
                  <p:embed/>
                </p:oleObj>
              </mc:Choice>
              <mc:Fallback>
                <p:oleObj name="" r:id="rId3" imgW="495300" imgH="279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888" y="909638"/>
                        <a:ext cx="1230312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236538" y="4689475"/>
            <a:ext cx="8639175" cy="701675"/>
            <a:chOff x="131" y="3162"/>
            <a:chExt cx="5442" cy="442"/>
          </a:xfrm>
        </p:grpSpPr>
        <p:sp>
          <p:nvSpPr>
            <p:cNvPr id="20488" name="Text Box 7"/>
            <p:cNvSpPr txBox="1"/>
            <p:nvPr/>
          </p:nvSpPr>
          <p:spPr>
            <a:xfrm>
              <a:off x="131" y="3180"/>
              <a:ext cx="544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得出的函数组           是正交函数组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且</a:t>
              </a:r>
              <a:endParaRPr lang="zh-CN" altLang="en-US" sz="24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89" name="Object 8"/>
            <p:cNvGraphicFramePr/>
            <p:nvPr/>
          </p:nvGraphicFramePr>
          <p:xfrm>
            <a:off x="1732" y="3162"/>
            <a:ext cx="852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5" imgW="508000" imgH="279400" progId="Equation.3">
                    <p:embed/>
                  </p:oleObj>
                </mc:Choice>
                <mc:Fallback>
                  <p:oleObj name="" r:id="rId5" imgW="508000" imgH="2794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32" y="3162"/>
                          <a:ext cx="852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4681" name="Object 9"/>
          <p:cNvGraphicFramePr/>
          <p:nvPr/>
        </p:nvGraphicFramePr>
        <p:xfrm>
          <a:off x="7192963" y="4667250"/>
          <a:ext cx="12303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495300" imgH="279400" progId="Equation.3">
                  <p:embed/>
                </p:oleObj>
              </mc:Choice>
              <mc:Fallback>
                <p:oleObj name="" r:id="rId7" imgW="495300" imgH="2794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92963" y="4667250"/>
                        <a:ext cx="1230312" cy="70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/>
          <p:nvPr/>
        </p:nvGrpSpPr>
        <p:grpSpPr>
          <a:xfrm>
            <a:off x="242888" y="5419725"/>
            <a:ext cx="5108575" cy="701675"/>
            <a:chOff x="1140" y="3606"/>
            <a:chExt cx="3218" cy="442"/>
          </a:xfrm>
        </p:grpSpPr>
        <p:sp>
          <p:nvSpPr>
            <p:cNvPr id="20492" name="Text Box 11"/>
            <p:cNvSpPr txBox="1"/>
            <p:nvPr/>
          </p:nvSpPr>
          <p:spPr>
            <a:xfrm>
              <a:off x="1140" y="3617"/>
              <a:ext cx="321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与              可互相线性表示 .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93" name="Object 12"/>
            <p:cNvGraphicFramePr/>
            <p:nvPr/>
          </p:nvGraphicFramePr>
          <p:xfrm>
            <a:off x="1482" y="3606"/>
            <a:ext cx="795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9" imgW="508000" imgH="279400" progId="Equation.3">
                    <p:embed/>
                  </p:oleObj>
                </mc:Choice>
                <mc:Fallback>
                  <p:oleObj name="" r:id="rId9" imgW="508000" imgH="2794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482" y="3606"/>
                          <a:ext cx="795" cy="4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4685" name="Object 13"/>
          <p:cNvGraphicFramePr>
            <a:graphicFrameLocks noGrp="1"/>
          </p:cNvGraphicFramePr>
          <p:nvPr>
            <p:ph idx="1"/>
          </p:nvPr>
        </p:nvGraphicFramePr>
        <p:xfrm>
          <a:off x="790575" y="1474788"/>
          <a:ext cx="47323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1" imgW="1841500" imgH="228600" progId="Equation.DSMT4">
                  <p:embed/>
                </p:oleObj>
              </mc:Choice>
              <mc:Fallback>
                <p:oleObj name="" r:id="rId11" imgW="1841500" imgH="2286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0575" y="1474788"/>
                        <a:ext cx="4732338" cy="5873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8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51" name="Text Box 7"/>
          <p:cNvSpPr txBox="1"/>
          <p:nvPr/>
        </p:nvSpPr>
        <p:spPr>
          <a:xfrm>
            <a:off x="198438" y="1619250"/>
            <a:ext cx="86995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定义 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5.1.2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   给定区间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en-US" sz="3200" i="1" dirty="0">
                <a:latin typeface="Times New Roman" panose="02020603050405020304" pitchFamily="18" charset="0"/>
              </a:rPr>
              <a:t>a, b</a:t>
            </a:r>
            <a:r>
              <a:rPr lang="en-US" altLang="en-US" sz="3200" dirty="0">
                <a:latin typeface="Times New Roman" panose="02020603050405020304" pitchFamily="18" charset="0"/>
              </a:rPr>
              <a:t>]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和对应的权函数 </a:t>
            </a:r>
            <a:r>
              <a:rPr lang="en-US" altLang="zh-CN" sz="3200" i="1" dirty="0">
                <a:latin typeface="Times New Roman" panose="02020603050405020304" pitchFamily="18" charset="0"/>
              </a:rPr>
              <a:t>ρ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及多项式序列</a:t>
            </a:r>
            <a:endParaRPr lang="zh-CN" altLang="en-US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59753" name="Object 9"/>
          <p:cNvGraphicFramePr/>
          <p:nvPr/>
        </p:nvGraphicFramePr>
        <p:xfrm>
          <a:off x="487363" y="4008438"/>
          <a:ext cx="7916862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3161030" imgH="482600" progId="Equation.DSMT4">
                  <p:embed/>
                </p:oleObj>
              </mc:Choice>
              <mc:Fallback>
                <p:oleObj name="" r:id="rId1" imgW="3161030" imgH="482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363" y="4008438"/>
                        <a:ext cx="7916862" cy="1204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8" name="Object 14"/>
          <p:cNvGraphicFramePr/>
          <p:nvPr/>
        </p:nvGraphicFramePr>
        <p:xfrm>
          <a:off x="1920875" y="2519363"/>
          <a:ext cx="50990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031365" imgH="444500" progId="Equation.DSMT4">
                  <p:embed/>
                </p:oleObj>
              </mc:Choice>
              <mc:Fallback>
                <p:oleObj name="" r:id="rId3" imgW="2031365" imgH="4445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0875" y="2519363"/>
                        <a:ext cx="5099050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/>
          <p:nvPr/>
        </p:nvGrpSpPr>
        <p:grpSpPr>
          <a:xfrm>
            <a:off x="228600" y="3489325"/>
            <a:ext cx="3835400" cy="620713"/>
            <a:chOff x="144" y="2198"/>
            <a:chExt cx="2416" cy="391"/>
          </a:xfrm>
        </p:grpSpPr>
        <p:sp>
          <p:nvSpPr>
            <p:cNvPr id="21511" name="Text Box 15"/>
            <p:cNvSpPr txBox="1"/>
            <p:nvPr/>
          </p:nvSpPr>
          <p:spPr>
            <a:xfrm>
              <a:off x="144" y="2198"/>
              <a:ext cx="16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其中首项系数</a:t>
              </a:r>
              <a:endParaRPr lang="zh-CN" altLang="en-US" sz="24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12" name="Object 16"/>
            <p:cNvGraphicFramePr/>
            <p:nvPr/>
          </p:nvGraphicFramePr>
          <p:xfrm>
            <a:off x="1805" y="2231"/>
            <a:ext cx="755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5" imgW="482600" imgH="228600" progId="Equation.DSMT4">
                    <p:embed/>
                  </p:oleObj>
                </mc:Choice>
                <mc:Fallback>
                  <p:oleObj name="" r:id="rId5" imgW="482600" imgH="2286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05" y="2231"/>
                          <a:ext cx="755" cy="3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3" name="Rectangle 18"/>
          <p:cNvSpPr>
            <a:spLocks noGrp="1"/>
          </p:cNvSpPr>
          <p:nvPr>
            <p:ph type="title"/>
          </p:nvPr>
        </p:nvSpPr>
        <p:spPr>
          <a:xfrm>
            <a:off x="223838" y="284163"/>
            <a:ext cx="7772400" cy="779462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2.</a:t>
            </a:r>
            <a:r>
              <a:rPr lang="zh-CN" altLang="zh-CN" sz="3600" b="1" u="none" dirty="0"/>
              <a:t>正交多项式及其性质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sp>
        <p:nvSpPr>
          <p:cNvPr id="159764" name="Text Box 20"/>
          <p:cNvSpPr txBox="1"/>
          <p:nvPr/>
        </p:nvSpPr>
        <p:spPr>
          <a:xfrm>
            <a:off x="220663" y="1012825"/>
            <a:ext cx="36607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2.1 </a:t>
            </a:r>
            <a:r>
              <a:rPr lang="zh-CN" altLang="zh-CN" sz="3200" b="1" dirty="0">
                <a:solidFill>
                  <a:schemeClr val="accent2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正交多项式</a:t>
            </a:r>
            <a:r>
              <a:rPr lang="zh-CN" altLang="en-US" sz="3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zh-CN" altLang="en-US" sz="3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9765" name="Text Box 21"/>
          <p:cNvSpPr txBox="1"/>
          <p:nvPr/>
        </p:nvSpPr>
        <p:spPr>
          <a:xfrm>
            <a:off x="4165600" y="3544888"/>
            <a:ext cx="240030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若 </a:t>
            </a:r>
            <a:r>
              <a:rPr lang="zh-CN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2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3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满足</a:t>
            </a:r>
            <a:endParaRPr lang="zh-CN" altLang="en-US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pSp>
        <p:nvGrpSpPr>
          <p:cNvPr id="3" name="Group 25"/>
          <p:cNvGrpSpPr/>
          <p:nvPr/>
        </p:nvGrpSpPr>
        <p:grpSpPr>
          <a:xfrm>
            <a:off x="182563" y="5149850"/>
            <a:ext cx="8342312" cy="1260475"/>
            <a:chOff x="215" y="3394"/>
            <a:chExt cx="5255" cy="794"/>
          </a:xfrm>
        </p:grpSpPr>
        <p:sp>
          <p:nvSpPr>
            <p:cNvPr id="21517" name="Text Box 10"/>
            <p:cNvSpPr txBox="1"/>
            <p:nvPr/>
          </p:nvSpPr>
          <p:spPr>
            <a:xfrm>
              <a:off x="215" y="3394"/>
              <a:ext cx="5255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120000"/>
                </a:lnSpc>
              </a:pPr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则称          为在区间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a ,b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]</a:t>
              </a:r>
              <a:r>
                <a:rPr lang="zh-CN" altLang="zh-CN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上带权</a:t>
              </a:r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ρ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</a:t>
              </a:r>
              <a:r>
                <a:rPr lang="zh-CN" altLang="zh-CN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的正交多项式序列, </a:t>
              </a:r>
              <a:r>
                <a:rPr lang="zh-CN" altLang="zh-CN" sz="3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zh-CN" altLang="zh-CN" sz="3200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zh-CN" sz="32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称为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k 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次正交多项式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 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18" name="Object 23"/>
            <p:cNvGraphicFramePr/>
            <p:nvPr/>
          </p:nvGraphicFramePr>
          <p:xfrm>
            <a:off x="774" y="3422"/>
            <a:ext cx="772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7" imgW="495300" imgH="279400" progId="Equation.3">
                    <p:embed/>
                  </p:oleObj>
                </mc:Choice>
                <mc:Fallback>
                  <p:oleObj name="" r:id="rId7" imgW="495300" imgH="2794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74" y="3422"/>
                          <a:ext cx="772" cy="4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1" grpId="0"/>
      <p:bldP spid="159764" grpId="0"/>
      <p:bldP spid="1597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4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6"/>
          <p:cNvSpPr>
            <a:spLocks noGrp="1"/>
          </p:cNvSpPr>
          <p:nvPr>
            <p:ph type="title"/>
          </p:nvPr>
        </p:nvSpPr>
        <p:spPr>
          <a:xfrm>
            <a:off x="319088" y="392113"/>
            <a:ext cx="8050212" cy="741362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b="1" u="none" dirty="0">
                <a:latin typeface="Times New Roman" panose="02020603050405020304" pitchFamily="18" charset="0"/>
              </a:rPr>
              <a:t>2.2</a:t>
            </a:r>
            <a:r>
              <a:rPr lang="zh-CN" altLang="en-US" sz="3200" b="1" u="none" dirty="0"/>
              <a:t> </a:t>
            </a:r>
            <a:r>
              <a:rPr lang="zh-CN" altLang="zh-CN" sz="3200" b="1" u="none" dirty="0"/>
              <a:t>正交多项式的性质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sp>
        <p:nvSpPr>
          <p:cNvPr id="160775" name="Text Box 7"/>
          <p:cNvSpPr txBox="1"/>
          <p:nvPr/>
        </p:nvSpPr>
        <p:spPr>
          <a:xfrm>
            <a:off x="279400" y="1287463"/>
            <a:ext cx="8467725" cy="1844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定理 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5.1.4</a:t>
            </a:r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次正交多项式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g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与任意次数不超过 </a:t>
            </a:r>
            <a:r>
              <a:rPr lang="en-US" altLang="en-US" sz="3200" i="1" dirty="0">
                <a:latin typeface="Times New Roman" panose="02020603050405020304" pitchFamily="18" charset="0"/>
              </a:rPr>
              <a:t>n - </a:t>
            </a:r>
            <a:r>
              <a:rPr lang="en-US" altLang="en-US" sz="3200" dirty="0">
                <a:latin typeface="Times New Roman" panose="02020603050405020304" pitchFamily="18" charset="0"/>
              </a:rPr>
              <a:t>1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的多项式 </a:t>
            </a:r>
            <a:r>
              <a:rPr lang="en-US" altLang="en-US" sz="3200" i="1" dirty="0">
                <a:latin typeface="Times New Roman" panose="02020603050405020304" pitchFamily="18" charset="0"/>
              </a:rPr>
              <a:t>P</a:t>
            </a:r>
            <a:r>
              <a:rPr lang="en-US" altLang="en-US" sz="3200" dirty="0">
                <a:latin typeface="Times New Roman" panose="02020603050405020304" pitchFamily="18" charset="0"/>
              </a:rPr>
              <a:t>(</a:t>
            </a:r>
            <a:r>
              <a:rPr lang="en-US" altLang="en-US" sz="3200" i="1" dirty="0">
                <a:latin typeface="Times New Roman" panose="02020603050405020304" pitchFamily="18" charset="0"/>
              </a:rPr>
              <a:t>x</a:t>
            </a:r>
            <a:r>
              <a:rPr lang="en-US" altLang="en-US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在区间 [</a:t>
            </a:r>
            <a:r>
              <a:rPr lang="en-US" altLang="en-US" sz="3200" i="1" dirty="0">
                <a:latin typeface="Times New Roman" panose="02020603050405020304" pitchFamily="18" charset="0"/>
              </a:rPr>
              <a:t>a</a:t>
            </a:r>
            <a:r>
              <a:rPr lang="en-US" altLang="en-US" sz="3200" dirty="0">
                <a:latin typeface="Times New Roman" panose="02020603050405020304" pitchFamily="18" charset="0"/>
              </a:rPr>
              <a:t>, </a:t>
            </a:r>
            <a:r>
              <a:rPr lang="en-US" altLang="en-US" sz="3200" i="1" dirty="0">
                <a:latin typeface="Times New Roman" panose="02020603050405020304" pitchFamily="18" charset="0"/>
              </a:rPr>
              <a:t>b</a:t>
            </a:r>
            <a:r>
              <a:rPr lang="en-US" altLang="en-US" sz="3200" dirty="0">
                <a:latin typeface="Times New Roman" panose="02020603050405020304" pitchFamily="18" charset="0"/>
              </a:rPr>
              <a:t>]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上带权 </a:t>
            </a:r>
            <a:r>
              <a:rPr lang="en-US" altLang="zh-CN" sz="3200" i="1" dirty="0">
                <a:latin typeface="Times New Roman" panose="02020603050405020304" pitchFamily="18" charset="0"/>
              </a:rPr>
              <a:t>ρ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正交 . 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80" name="Text Box 12"/>
          <p:cNvSpPr txBox="1"/>
          <p:nvPr/>
        </p:nvSpPr>
        <p:spPr>
          <a:xfrm>
            <a:off x="222250" y="3568700"/>
            <a:ext cx="8620125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定理 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5.1.5</a:t>
            </a:r>
            <a:r>
              <a:rPr lang="zh-CN" altLang="en-US" sz="320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  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次正交多项式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g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(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sym typeface="Symbol" panose="05050102010706020507" pitchFamily="18" charset="2"/>
              </a:rPr>
              <a:t> 1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个零点都是实的单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零点, 且都在区间 (</a:t>
            </a:r>
            <a:r>
              <a:rPr lang="en-US" altLang="en-US" sz="3200" i="1" dirty="0">
                <a:latin typeface="Times New Roman" panose="02020603050405020304" pitchFamily="18" charset="0"/>
              </a:rPr>
              <a:t>a</a:t>
            </a:r>
            <a:r>
              <a:rPr lang="en-US" altLang="en-US" sz="3200" dirty="0">
                <a:latin typeface="Times New Roman" panose="02020603050405020304" pitchFamily="18" charset="0"/>
              </a:rPr>
              <a:t>, </a:t>
            </a:r>
            <a:r>
              <a:rPr lang="en-US" altLang="en-US" sz="3200" i="1" dirty="0">
                <a:latin typeface="Times New Roman" panose="02020603050405020304" pitchFamily="18" charset="0"/>
              </a:rPr>
              <a:t>b</a:t>
            </a:r>
            <a:r>
              <a:rPr lang="en-US" altLang="en-US" sz="3200" dirty="0">
                <a:latin typeface="Times New Roman" panose="02020603050405020304" pitchFamily="18" charset="0"/>
              </a:rPr>
              <a:t>)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内 . 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0780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5" grpId="0"/>
      <p:bldP spid="16078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8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93"/>
          <p:cNvSpPr>
            <a:spLocks noGrp="1"/>
          </p:cNvSpPr>
          <p:nvPr>
            <p:ph type="title"/>
          </p:nvPr>
        </p:nvSpPr>
        <p:spPr>
          <a:xfrm>
            <a:off x="295275" y="236538"/>
            <a:ext cx="7772400" cy="842962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3. </a:t>
            </a:r>
            <a:r>
              <a:rPr lang="en-US" altLang="zh-CN" sz="3600" b="1" u="none" dirty="0">
                <a:latin typeface="Times New Roman" panose="02020603050405020304" pitchFamily="18" charset="0"/>
              </a:rPr>
              <a:t>Legendre</a:t>
            </a:r>
            <a:r>
              <a:rPr lang="en-US" altLang="zh-CN" sz="3600" b="1" u="none" dirty="0"/>
              <a:t> </a:t>
            </a:r>
            <a:r>
              <a:rPr lang="zh-CN" altLang="zh-CN" sz="3600" b="1" u="none" dirty="0"/>
              <a:t>多项式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grpSp>
        <p:nvGrpSpPr>
          <p:cNvPr id="2" name="Group 105"/>
          <p:cNvGrpSpPr/>
          <p:nvPr/>
        </p:nvGrpSpPr>
        <p:grpSpPr>
          <a:xfrm>
            <a:off x="249238" y="949325"/>
            <a:ext cx="8662987" cy="2428875"/>
            <a:chOff x="157" y="598"/>
            <a:chExt cx="5457" cy="1530"/>
          </a:xfrm>
        </p:grpSpPr>
        <p:sp>
          <p:nvSpPr>
            <p:cNvPr id="24581" name="Text Box 94"/>
            <p:cNvSpPr txBox="1"/>
            <p:nvPr/>
          </p:nvSpPr>
          <p:spPr>
            <a:xfrm>
              <a:off x="157" y="598"/>
              <a:ext cx="5457" cy="15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lnSpc>
                  <a:spcPct val="120000"/>
                </a:lnSpc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若区间 [-1 , 1], 权函数               由{1,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aseline="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aseline="30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 …}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经</a:t>
              </a:r>
              <a:r>
                <a:rPr lang="zh-CN" altLang="en-US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正交化结构公式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可得正交多项式族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), 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), …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P</a:t>
              </a:r>
              <a:r>
                <a:rPr lang="en-US" altLang="en-US" sz="3200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) ,…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,</a:t>
              </a:r>
              <a:r>
                <a:rPr lang="en-US" altLang="en-US" sz="32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称这族多项式为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Legendre </a:t>
              </a:r>
              <a:r>
                <a:rPr lang="zh-CN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多项式</a:t>
              </a:r>
              <a:r>
                <a:rPr lang="zh-CN" altLang="zh-CN" sz="32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582" name="Object 95"/>
            <p:cNvGraphicFramePr/>
            <p:nvPr/>
          </p:nvGraphicFramePr>
          <p:xfrm>
            <a:off x="2707" y="682"/>
            <a:ext cx="97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608965" imgH="203200" progId="Equation.DSMT4">
                    <p:embed/>
                  </p:oleObj>
                </mc:Choice>
                <mc:Fallback>
                  <p:oleObj name="" r:id="rId1" imgW="608965" imgH="2032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07" y="682"/>
                          <a:ext cx="970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1890" name="Text Box 98"/>
          <p:cNvSpPr txBox="1"/>
          <p:nvPr/>
        </p:nvSpPr>
        <p:spPr>
          <a:xfrm>
            <a:off x="1460500" y="2843213"/>
            <a:ext cx="27495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其标准形式为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61891" name="Object 99"/>
          <p:cNvGraphicFramePr>
            <a:graphicFrameLocks noChangeAspect="1"/>
          </p:cNvGraphicFramePr>
          <p:nvPr/>
        </p:nvGraphicFramePr>
        <p:xfrm>
          <a:off x="509588" y="3286125"/>
          <a:ext cx="824865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3302000" imgH="419100" progId="Equation.DSMT4">
                  <p:embed/>
                </p:oleObj>
              </mc:Choice>
              <mc:Fallback>
                <p:oleObj name="" r:id="rId3" imgW="3302000" imgH="4191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9588" y="3286125"/>
                        <a:ext cx="8248650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6"/>
          <p:cNvGrpSpPr/>
          <p:nvPr/>
        </p:nvGrpSpPr>
        <p:grpSpPr>
          <a:xfrm>
            <a:off x="457200" y="4135438"/>
            <a:ext cx="7999413" cy="1892300"/>
            <a:chOff x="288" y="2685"/>
            <a:chExt cx="5039" cy="1192"/>
          </a:xfrm>
        </p:grpSpPr>
        <p:graphicFrame>
          <p:nvGraphicFramePr>
            <p:cNvPr id="24586" name="Object 102"/>
            <p:cNvGraphicFramePr>
              <a:graphicFrameLocks noChangeAspect="1"/>
            </p:cNvGraphicFramePr>
            <p:nvPr/>
          </p:nvGraphicFramePr>
          <p:xfrm>
            <a:off x="288" y="2685"/>
            <a:ext cx="5039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3199130" imgH="635000" progId="Equation.DSMT4">
                    <p:embed/>
                  </p:oleObj>
                </mc:Choice>
                <mc:Fallback>
                  <p:oleObj name="" r:id="rId5" imgW="3199130" imgH="6350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" y="2685"/>
                          <a:ext cx="5039" cy="9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7" name="Object 103"/>
            <p:cNvGraphicFramePr>
              <a:graphicFrameLocks noChangeAspect="1"/>
            </p:cNvGraphicFramePr>
            <p:nvPr/>
          </p:nvGraphicFramePr>
          <p:xfrm>
            <a:off x="351" y="3556"/>
            <a:ext cx="145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7" imgW="913765" imgH="203200" progId="Equation.DSMT4">
                    <p:embed/>
                  </p:oleObj>
                </mc:Choice>
                <mc:Fallback>
                  <p:oleObj name="" r:id="rId7" imgW="913765" imgH="2032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1" y="3556"/>
                          <a:ext cx="1456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2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2" name="Text Box 6"/>
          <p:cNvSpPr txBox="1"/>
          <p:nvPr/>
        </p:nvSpPr>
        <p:spPr>
          <a:xfrm>
            <a:off x="49213" y="244475"/>
            <a:ext cx="8301037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2400" dirty="0">
                <a:latin typeface="Comic Sans MS" panose="030F0702030302020204" pitchFamily="66" charset="0"/>
                <a:ea typeface="宋体" panose="02010600030101010101" pitchFamily="2" charset="-122"/>
              </a:rPr>
              <a:t>  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可以证明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多项式有下列递推关系：</a:t>
            </a:r>
            <a:endParaRPr lang="zh-CN" altLang="en-US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162823" name="Object 7"/>
          <p:cNvGraphicFramePr/>
          <p:nvPr/>
        </p:nvGraphicFramePr>
        <p:xfrm>
          <a:off x="396875" y="923925"/>
          <a:ext cx="8396288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3351530" imgH="482600" progId="Equation.DSMT4">
                  <p:embed/>
                </p:oleObj>
              </mc:Choice>
              <mc:Fallback>
                <p:oleObj name="" r:id="rId1" imgW="3351530" imgH="482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875" y="923925"/>
                        <a:ext cx="8396288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506413" y="2085975"/>
            <a:ext cx="7967662" cy="4445000"/>
            <a:chOff x="319" y="1314"/>
            <a:chExt cx="5019" cy="2800"/>
          </a:xfrm>
        </p:grpSpPr>
        <p:graphicFrame>
          <p:nvGraphicFramePr>
            <p:cNvPr id="25606" name="Object 9"/>
            <p:cNvGraphicFramePr>
              <a:graphicFrameLocks noChangeAspect="1"/>
            </p:cNvGraphicFramePr>
            <p:nvPr/>
          </p:nvGraphicFramePr>
          <p:xfrm>
            <a:off x="319" y="1314"/>
            <a:ext cx="2820" cy="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3" imgW="1790700" imgH="1778000" progId="Equation.DSMT4">
                    <p:embed/>
                  </p:oleObj>
                </mc:Choice>
                <mc:Fallback>
                  <p:oleObj name="" r:id="rId3" imgW="1790700" imgH="17780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9" y="1314"/>
                          <a:ext cx="2820" cy="2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7" name="AutoShape 10"/>
            <p:cNvSpPr>
              <a:spLocks noChangeAspect="1"/>
            </p:cNvSpPr>
            <p:nvPr/>
          </p:nvSpPr>
          <p:spPr>
            <a:xfrm>
              <a:off x="3378" y="2354"/>
              <a:ext cx="1960" cy="1275"/>
            </a:xfrm>
            <a:prstGeom prst="cloudCallout">
              <a:avLst>
                <a:gd name="adj1" fmla="val -104440"/>
                <a:gd name="adj2" fmla="val -43963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3200" b="1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由上式可推出</a:t>
              </a:r>
              <a:endParaRPr lang="zh-CN" altLang="en-US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2829" name="Text Box 13"/>
          <p:cNvSpPr txBox="1"/>
          <p:nvPr/>
        </p:nvSpPr>
        <p:spPr>
          <a:xfrm>
            <a:off x="152400" y="2424113"/>
            <a:ext cx="8769350" cy="1260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zh-CN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偶数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时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P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为偶函数；</a:t>
            </a: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奇数时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dirty="0">
                <a:latin typeface="Times New Roman" panose="02020603050405020304" pitchFamily="18" charset="0"/>
              </a:rPr>
              <a:t>Legendre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P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为奇函数。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2829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>
                                            <p:txEl>
                                              <p:charRg st="3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2829">
                                            <p:txEl>
                                              <p:charRg st="35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2" grpId="0"/>
      <p:bldP spid="16282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15"/>
          <p:cNvSpPr>
            <a:spLocks noGrp="1"/>
          </p:cNvSpPr>
          <p:nvPr>
            <p:ph type="title"/>
          </p:nvPr>
        </p:nvSpPr>
        <p:spPr>
          <a:xfrm>
            <a:off x="249238" y="252413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4. </a:t>
            </a:r>
            <a:r>
              <a:rPr lang="zh-CN" altLang="zh-CN" sz="3600" b="1" u="none" dirty="0">
                <a:latin typeface="Times New Roman" panose="02020603050405020304" pitchFamily="18" charset="0"/>
              </a:rPr>
              <a:t>Chebyshev</a:t>
            </a:r>
            <a:r>
              <a:rPr lang="zh-CN" altLang="zh-CN" sz="3600" b="1" u="none" dirty="0"/>
              <a:t> 多项式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sp>
        <p:nvSpPr>
          <p:cNvPr id="163856" name="Text Box 16"/>
          <p:cNvSpPr txBox="1"/>
          <p:nvPr/>
        </p:nvSpPr>
        <p:spPr>
          <a:xfrm>
            <a:off x="228600" y="925513"/>
            <a:ext cx="4856163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若取区间 [-1 , 1], 权函数为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88768" name="Object 0"/>
          <p:cNvGraphicFramePr/>
          <p:nvPr/>
        </p:nvGraphicFramePr>
        <p:xfrm>
          <a:off x="5186363" y="738188"/>
          <a:ext cx="233045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1053465" imgH="431800" progId="Equation.DSMT4">
                  <p:embed/>
                </p:oleObj>
              </mc:Choice>
              <mc:Fallback>
                <p:oleObj name="" r:id="rId1" imgW="1053465" imgH="4318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86363" y="738188"/>
                        <a:ext cx="2330450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8" name="Text Box 18"/>
          <p:cNvSpPr txBox="1"/>
          <p:nvPr/>
        </p:nvSpPr>
        <p:spPr>
          <a:xfrm>
            <a:off x="222250" y="1571625"/>
            <a:ext cx="8458200" cy="1066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由{1,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,…, 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3200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,…}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经正交化结构公式可得一族 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Chebyshev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多项式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67" name="Text Box 27"/>
          <p:cNvSpPr txBox="1"/>
          <p:nvPr/>
        </p:nvSpPr>
        <p:spPr>
          <a:xfrm>
            <a:off x="238125" y="2608263"/>
            <a:ext cx="2749550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其标准形式为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288769" name="Object 1"/>
          <p:cNvGraphicFramePr/>
          <p:nvPr/>
        </p:nvGraphicFramePr>
        <p:xfrm>
          <a:off x="2936875" y="2674938"/>
          <a:ext cx="58229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2705100" imgH="228600" progId="Equation.DSMT4">
                  <p:embed/>
                </p:oleObj>
              </mc:Choice>
              <mc:Fallback>
                <p:oleObj name="" r:id="rId3" imgW="2705100" imgH="2286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875" y="2674938"/>
                        <a:ext cx="5822950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0" name="Object 2"/>
          <p:cNvGraphicFramePr/>
          <p:nvPr/>
        </p:nvGraphicFramePr>
        <p:xfrm>
          <a:off x="414338" y="3154363"/>
          <a:ext cx="5930900" cy="309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2578100" imgH="1346200" progId="Equation.DSMT4">
                  <p:embed/>
                </p:oleObj>
              </mc:Choice>
              <mc:Fallback>
                <p:oleObj name="" r:id="rId5" imgW="2578100" imgH="1346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338" y="3154363"/>
                        <a:ext cx="5930900" cy="3097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8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6" grpId="0"/>
      <p:bldP spid="163858" grpId="0"/>
      <p:bldP spid="1638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页脚占位符 5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0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33" name="Text Box 9"/>
          <p:cNvSpPr txBox="1"/>
          <p:nvPr/>
        </p:nvSpPr>
        <p:spPr>
          <a:xfrm>
            <a:off x="49213" y="423863"/>
            <a:ext cx="8955087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  可以证明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Chebyshev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多项式有下列递推关系：</a:t>
            </a:r>
            <a:endParaRPr lang="zh-CN" altLang="en-US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205834" name="Object 10"/>
          <p:cNvGraphicFramePr/>
          <p:nvPr/>
        </p:nvGraphicFramePr>
        <p:xfrm>
          <a:off x="812800" y="1019175"/>
          <a:ext cx="75834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148330" imgH="482600" progId="Equation.DSMT4">
                  <p:embed/>
                </p:oleObj>
              </mc:Choice>
              <mc:Fallback>
                <p:oleObj name="" r:id="rId1" imgW="3148330" imgH="4826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2800" y="1019175"/>
                        <a:ext cx="7583488" cy="115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39" name="Text Box 15"/>
          <p:cNvSpPr txBox="1"/>
          <p:nvPr/>
        </p:nvSpPr>
        <p:spPr>
          <a:xfrm>
            <a:off x="50800" y="2255838"/>
            <a:ext cx="75946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 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zh-CN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偶数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时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为偶函数；</a:t>
            </a: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    当 </a:t>
            </a:r>
            <a:r>
              <a:rPr lang="en-US" altLang="en-US" sz="3200" i="1" dirty="0">
                <a:latin typeface="Times New Roman" panose="02020603050405020304" pitchFamily="18" charset="0"/>
              </a:rPr>
              <a:t>n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奇数时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 </a:t>
            </a:r>
            <a:r>
              <a:rPr lang="en-US" altLang="zh-CN" sz="320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为奇函数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842" name="Text Box 18"/>
          <p:cNvSpPr txBox="1">
            <a:spLocks noChangeAspect="1"/>
          </p:cNvSpPr>
          <p:nvPr/>
        </p:nvSpPr>
        <p:spPr>
          <a:xfrm>
            <a:off x="63500" y="4933950"/>
            <a:ext cx="68818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  <a:buChar char="p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  </a:t>
            </a:r>
            <a:r>
              <a:rPr lang="en-US" altLang="zh-CN" sz="3200" i="1" dirty="0">
                <a:latin typeface="Times New Roman" panose="02020603050405020304" pitchFamily="18" charset="0"/>
              </a:rPr>
              <a:t>T</a:t>
            </a:r>
            <a:r>
              <a:rPr lang="en-US" altLang="zh-CN" sz="32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</a:rPr>
              <a:t>(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)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在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[-1 , 1] 上有 </a:t>
            </a:r>
            <a:r>
              <a:rPr lang="en-US" altLang="zh-CN" sz="3200" i="1" dirty="0">
                <a:latin typeface="Times New Roman" panose="02020603050405020304" pitchFamily="18" charset="0"/>
              </a:rPr>
              <a:t>n </a:t>
            </a:r>
            <a:r>
              <a:rPr lang="en-US" altLang="zh-CN" sz="3200" dirty="0">
                <a:latin typeface="Times New Roman" panose="02020603050405020304" pitchFamily="18" charset="0"/>
              </a:rPr>
              <a:t>+1</a:t>
            </a:r>
            <a:r>
              <a:rPr lang="en-US" altLang="zh-CN" sz="3200" i="1" dirty="0">
                <a:latin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个极值点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1212850" y="1763713"/>
            <a:ext cx="6340475" cy="3719512"/>
            <a:chOff x="764" y="1111"/>
            <a:chExt cx="3994" cy="2343"/>
          </a:xfrm>
        </p:grpSpPr>
        <p:graphicFrame>
          <p:nvGraphicFramePr>
            <p:cNvPr id="27656" name="Object 12"/>
            <p:cNvGraphicFramePr>
              <a:graphicFrameLocks noChangeAspect="1"/>
            </p:cNvGraphicFramePr>
            <p:nvPr/>
          </p:nvGraphicFramePr>
          <p:xfrm>
            <a:off x="764" y="1632"/>
            <a:ext cx="2362" cy="1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1498600" imgH="1155700" progId="Equation.DSMT4">
                    <p:embed/>
                  </p:oleObj>
                </mc:Choice>
                <mc:Fallback>
                  <p:oleObj name="" r:id="rId3" imgW="1498600" imgH="11557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4" y="1632"/>
                          <a:ext cx="2362" cy="18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7" name="AutoShape 13"/>
            <p:cNvSpPr>
              <a:spLocks noChangeAspect="1"/>
            </p:cNvSpPr>
            <p:nvPr/>
          </p:nvSpPr>
          <p:spPr>
            <a:xfrm>
              <a:off x="2962" y="1111"/>
              <a:ext cx="1796" cy="1166"/>
            </a:xfrm>
            <a:prstGeom prst="cloudCallout">
              <a:avLst>
                <a:gd name="adj1" fmla="val -73606"/>
                <a:gd name="adj2" fmla="val 70667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3200" b="1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由上式可推出</a:t>
              </a:r>
              <a:endPara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05847" name="Object 23"/>
          <p:cNvGraphicFramePr/>
          <p:nvPr/>
        </p:nvGraphicFramePr>
        <p:xfrm>
          <a:off x="1509713" y="5448300"/>
          <a:ext cx="50450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2031365" imgH="431800" progId="Equation.3">
                  <p:embed/>
                </p:oleObj>
              </mc:Choice>
              <mc:Fallback>
                <p:oleObj name="" r:id="rId5" imgW="2031365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9713" y="5448300"/>
                        <a:ext cx="5045075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5"/>
          <p:cNvGrpSpPr/>
          <p:nvPr/>
        </p:nvGrpSpPr>
        <p:grpSpPr>
          <a:xfrm>
            <a:off x="50800" y="3517900"/>
            <a:ext cx="7051675" cy="1576388"/>
            <a:chOff x="50800" y="3517900"/>
            <a:chExt cx="7051930" cy="1577088"/>
          </a:xfrm>
        </p:grpSpPr>
        <p:sp>
          <p:nvSpPr>
            <p:cNvPr id="27660" name="Text Box 16"/>
            <p:cNvSpPr txBox="1">
              <a:spLocks noChangeAspect="1"/>
            </p:cNvSpPr>
            <p:nvPr/>
          </p:nvSpPr>
          <p:spPr>
            <a:xfrm>
              <a:off x="50800" y="3517900"/>
              <a:ext cx="7051930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>
                  <a:schemeClr val="accent2"/>
                </a:buClr>
                <a:buFont typeface="ZapfDingbats" pitchFamily="82" charset="2"/>
                <a:buChar char="p"/>
              </a:pPr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3200" i="1" baseline="-2500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 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在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(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-1, 1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)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内有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n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个不同的零点 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61" name="Object 15"/>
            <p:cNvGraphicFramePr/>
            <p:nvPr/>
          </p:nvGraphicFramePr>
          <p:xfrm>
            <a:off x="1192213" y="4101213"/>
            <a:ext cx="5221287" cy="99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7" imgW="2284730" imgH="431800" progId="Equation.3">
                    <p:embed/>
                  </p:oleObj>
                </mc:Choice>
                <mc:Fallback>
                  <p:oleObj name="" r:id="rId7" imgW="2284730" imgH="4318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92213" y="4101213"/>
                          <a:ext cx="5221287" cy="9937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3" grpId="0"/>
      <p:bldP spid="205839" grpId="0"/>
      <p:bldP spid="2058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4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7"/>
          <p:cNvSpPr>
            <a:spLocks noGrp="1"/>
          </p:cNvSpPr>
          <p:nvPr>
            <p:ph type="title"/>
          </p:nvPr>
        </p:nvSpPr>
        <p:spPr>
          <a:xfrm>
            <a:off x="152400" y="111125"/>
            <a:ext cx="7772400" cy="890588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5.</a:t>
            </a:r>
            <a:r>
              <a:rPr lang="zh-CN" altLang="zh-CN" sz="3600" b="1" u="none" dirty="0">
                <a:latin typeface="Times New Roman" panose="02020603050405020304" pitchFamily="18" charset="0"/>
              </a:rPr>
              <a:t>Hermite</a:t>
            </a:r>
            <a:r>
              <a:rPr lang="zh-CN" altLang="zh-CN" sz="3600" b="1" u="none" dirty="0"/>
              <a:t> 多项式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grpSp>
        <p:nvGrpSpPr>
          <p:cNvPr id="2" name="Group 26"/>
          <p:cNvGrpSpPr/>
          <p:nvPr/>
        </p:nvGrpSpPr>
        <p:grpSpPr>
          <a:xfrm>
            <a:off x="841375" y="777875"/>
            <a:ext cx="7545388" cy="663575"/>
            <a:chOff x="480" y="490"/>
            <a:chExt cx="4753" cy="418"/>
          </a:xfrm>
        </p:grpSpPr>
        <p:sp>
          <p:nvSpPr>
            <p:cNvPr id="28677" name="Text Box 13"/>
            <p:cNvSpPr txBox="1"/>
            <p:nvPr/>
          </p:nvSpPr>
          <p:spPr>
            <a:xfrm>
              <a:off x="480" y="543"/>
              <a:ext cx="475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若取区间 (-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, +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), 权函数为                  。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78" name="Object 14"/>
            <p:cNvGraphicFramePr/>
            <p:nvPr/>
          </p:nvGraphicFramePr>
          <p:xfrm>
            <a:off x="3752" y="490"/>
            <a:ext cx="1120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710565" imgH="254000" progId="Equation.DSMT4">
                    <p:embed/>
                  </p:oleObj>
                </mc:Choice>
                <mc:Fallback>
                  <p:oleObj name="" r:id="rId1" imgW="710565" imgH="2540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52" y="490"/>
                          <a:ext cx="1120" cy="3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879" name="Text Box 15"/>
          <p:cNvSpPr txBox="1"/>
          <p:nvPr/>
        </p:nvSpPr>
        <p:spPr>
          <a:xfrm>
            <a:off x="209550" y="1460500"/>
            <a:ext cx="8713788" cy="676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正交的一族 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Hermite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多项式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标准形式为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4882" name="Object 18"/>
          <p:cNvGraphicFramePr>
            <a:graphicFrameLocks noChangeAspect="1"/>
          </p:cNvGraphicFramePr>
          <p:nvPr/>
        </p:nvGraphicFramePr>
        <p:xfrm>
          <a:off x="1939925" y="2244725"/>
          <a:ext cx="4635500" cy="234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854200" imgH="939800" progId="Equation.DSMT4">
                  <p:embed/>
                </p:oleObj>
              </mc:Choice>
              <mc:Fallback>
                <p:oleObj name="" r:id="rId3" imgW="1854200" imgH="939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9925" y="2244725"/>
                        <a:ext cx="4635500" cy="234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85" name="Object 21"/>
          <p:cNvGraphicFramePr>
            <a:graphicFrameLocks noChangeAspect="1"/>
          </p:cNvGraphicFramePr>
          <p:nvPr/>
        </p:nvGraphicFramePr>
        <p:xfrm>
          <a:off x="182563" y="4437063"/>
          <a:ext cx="8467725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3378200" imgH="508000" progId="Equation.DSMT4">
                  <p:embed/>
                </p:oleObj>
              </mc:Choice>
              <mc:Fallback>
                <p:oleObj name="" r:id="rId5" imgW="3378200" imgH="5080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563" y="4437063"/>
                        <a:ext cx="8467725" cy="1271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8"/>
          <p:cNvGrpSpPr>
            <a:grpSpLocks noChangeAspect="1"/>
          </p:cNvGrpSpPr>
          <p:nvPr/>
        </p:nvGrpSpPr>
        <p:grpSpPr>
          <a:xfrm>
            <a:off x="49213" y="503238"/>
            <a:ext cx="8888412" cy="2070100"/>
            <a:chOff x="31" y="167"/>
            <a:chExt cx="4670" cy="1088"/>
          </a:xfrm>
        </p:grpSpPr>
        <p:sp>
          <p:nvSpPr>
            <p:cNvPr id="29700" name="Text Box 13"/>
            <p:cNvSpPr txBox="1">
              <a:spLocks noChangeAspect="1"/>
            </p:cNvSpPr>
            <p:nvPr/>
          </p:nvSpPr>
          <p:spPr>
            <a:xfrm>
              <a:off x="31" y="167"/>
              <a:ext cx="4462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>
                  <a:schemeClr val="accent2"/>
                </a:buClr>
                <a:buFont typeface="ZapfDingbats" pitchFamily="82" charset="2"/>
                <a:buChar char="p"/>
              </a:pPr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</a:t>
              </a:r>
              <a:r>
                <a:rPr lang="zh-CN" altLang="en-US" sz="24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</a:t>
              </a:r>
              <a:r>
                <a:rPr lang="zh-CN" altLang="en-US" sz="3200" dirty="0">
                  <a:latin typeface="Comic Sans MS" panose="030F0702030302020204" pitchFamily="66" charset="0"/>
                  <a:ea typeface="宋体" panose="02010600030101010101" pitchFamily="2" charset="-122"/>
                </a:rPr>
                <a:t>可以证明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3200" i="1" dirty="0">
                  <a:latin typeface="Times New Roman" panose="02020603050405020304" pitchFamily="18" charset="0"/>
                </a:rPr>
                <a:t>Hermite</a:t>
              </a:r>
              <a:r>
                <a:rPr lang="en-US" altLang="zh-CN" sz="3200" dirty="0">
                  <a:latin typeface="Times New Roman" panose="02020603050405020304" pitchFamily="18" charset="0"/>
                </a:rPr>
                <a:t> </a:t>
              </a:r>
              <a:r>
                <a:rPr lang="zh-CN" altLang="zh-CN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多项式有下列递推关系：</a:t>
              </a:r>
              <a:endParaRPr lang="zh-CN" altLang="en-US" sz="24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9701" name="Object 1"/>
            <p:cNvGraphicFramePr>
              <a:graphicFrameLocks noChangeAspect="1"/>
            </p:cNvGraphicFramePr>
            <p:nvPr/>
          </p:nvGraphicFramePr>
          <p:xfrm>
            <a:off x="330" y="662"/>
            <a:ext cx="4371" cy="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3542030" imgH="482600" progId="Equation.DSMT4">
                    <p:embed/>
                  </p:oleObj>
                </mc:Choice>
                <mc:Fallback>
                  <p:oleObj name="" r:id="rId1" imgW="3542030" imgH="4826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0" y="662"/>
                          <a:ext cx="4371" cy="5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/>
          <p:cNvGrpSpPr/>
          <p:nvPr/>
        </p:nvGrpSpPr>
        <p:grpSpPr>
          <a:xfrm>
            <a:off x="750888" y="2436813"/>
            <a:ext cx="7581900" cy="3436937"/>
            <a:chOff x="473" y="1735"/>
            <a:chExt cx="4776" cy="2165"/>
          </a:xfrm>
        </p:grpSpPr>
        <p:graphicFrame>
          <p:nvGraphicFramePr>
            <p:cNvPr id="29703" name="Object 0"/>
            <p:cNvGraphicFramePr>
              <a:graphicFrameLocks noChangeAspect="1"/>
            </p:cNvGraphicFramePr>
            <p:nvPr/>
          </p:nvGraphicFramePr>
          <p:xfrm>
            <a:off x="473" y="2076"/>
            <a:ext cx="2808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3" imgW="1778000" imgH="1155700" progId="Equation.DSMT4">
                    <p:embed/>
                  </p:oleObj>
                </mc:Choice>
                <mc:Fallback>
                  <p:oleObj name="" r:id="rId3" imgW="1778000" imgH="11557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3" y="2076"/>
                          <a:ext cx="2808" cy="18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4" name="AutoShape 17"/>
            <p:cNvSpPr>
              <a:spLocks noChangeAspect="1"/>
            </p:cNvSpPr>
            <p:nvPr/>
          </p:nvSpPr>
          <p:spPr>
            <a:xfrm>
              <a:off x="3088" y="1735"/>
              <a:ext cx="2161" cy="1238"/>
            </a:xfrm>
            <a:prstGeom prst="cloudCallout">
              <a:avLst>
                <a:gd name="adj1" fmla="val -74157"/>
                <a:gd name="adj2" fmla="val 15269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2400" dirty="0">
                  <a:latin typeface="Comic Sans MS" panose="030F0702030302020204" pitchFamily="66" charset="0"/>
                  <a:ea typeface="宋体" panose="02010600030101010101" pitchFamily="2" charset="-122"/>
                </a:rPr>
                <a:t>  </a:t>
              </a:r>
              <a:r>
                <a:rPr lang="zh-CN" altLang="en-US" sz="3200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由上式可推出：</a:t>
              </a:r>
              <a:endPara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2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7"/>
          <p:cNvSpPr>
            <a:spLocks noGrp="1"/>
          </p:cNvSpPr>
          <p:nvPr>
            <p:ph type="title"/>
          </p:nvPr>
        </p:nvSpPr>
        <p:spPr>
          <a:xfrm>
            <a:off x="215900" y="188913"/>
            <a:ext cx="7772400" cy="606425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b="1" u="none" dirty="0">
                <a:latin typeface="Times New Roman" panose="02020603050405020304" pitchFamily="18" charset="0"/>
              </a:rPr>
              <a:t>6. </a:t>
            </a:r>
            <a:r>
              <a:rPr lang="zh-CN" altLang="zh-CN" sz="3600" b="1" u="none" dirty="0">
                <a:latin typeface="Times New Roman" panose="02020603050405020304" pitchFamily="18" charset="0"/>
              </a:rPr>
              <a:t>Laguerre</a:t>
            </a:r>
            <a:r>
              <a:rPr lang="zh-CN" altLang="zh-CN" sz="3600" b="1" u="none" dirty="0"/>
              <a:t> 多项式</a:t>
            </a:r>
            <a:r>
              <a:rPr lang="zh-CN" altLang="zh-CN" sz="3200" dirty="0"/>
              <a:t>  </a:t>
            </a:r>
            <a:endParaRPr lang="zh-CN" altLang="en-US" b="1" dirty="0"/>
          </a:p>
        </p:txBody>
      </p:sp>
      <p:grpSp>
        <p:nvGrpSpPr>
          <p:cNvPr id="2" name="Group 19"/>
          <p:cNvGrpSpPr/>
          <p:nvPr/>
        </p:nvGrpSpPr>
        <p:grpSpPr>
          <a:xfrm>
            <a:off x="825500" y="846138"/>
            <a:ext cx="7283450" cy="595312"/>
            <a:chOff x="110" y="533"/>
            <a:chExt cx="4588" cy="375"/>
          </a:xfrm>
        </p:grpSpPr>
        <p:sp>
          <p:nvSpPr>
            <p:cNvPr id="30725" name="Text Box 9"/>
            <p:cNvSpPr txBox="1"/>
            <p:nvPr/>
          </p:nvSpPr>
          <p:spPr>
            <a:xfrm>
              <a:off x="110" y="543"/>
              <a:ext cx="45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buClr>
                  <a:schemeClr val="accent2"/>
                </a:buClr>
                <a:buFont typeface="ZapfDingbats" pitchFamily="82" charset="2"/>
              </a:pP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若取区间 (0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 +</a:t>
              </a:r>
              <a:r>
                <a:rPr lang="zh-CN" altLang="en-US" sz="3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,  权函数为                。</a:t>
              </a:r>
              <a:endPara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26" name="Object 15"/>
            <p:cNvGraphicFramePr/>
            <p:nvPr/>
          </p:nvGraphicFramePr>
          <p:xfrm>
            <a:off x="3405" y="533"/>
            <a:ext cx="1043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" imgW="660400" imgH="228600" progId="Equation.DSMT4">
                    <p:embed/>
                  </p:oleObj>
                </mc:Choice>
                <mc:Fallback>
                  <p:oleObj name="" r:id="rId1" imgW="660400" imgH="2286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05" y="533"/>
                          <a:ext cx="1043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7947" name="Text Box 11"/>
          <p:cNvSpPr txBox="1"/>
          <p:nvPr/>
        </p:nvSpPr>
        <p:spPr>
          <a:xfrm>
            <a:off x="255588" y="1524000"/>
            <a:ext cx="8415337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正交的一族 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Laguerre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拉盖尔）多项式</a:t>
            </a: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标准形式为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0413" name="Object 13"/>
          <p:cNvGraphicFramePr>
            <a:graphicFrameLocks noChangeAspect="1"/>
          </p:cNvGraphicFramePr>
          <p:nvPr/>
        </p:nvGraphicFramePr>
        <p:xfrm>
          <a:off x="3060700" y="2427288"/>
          <a:ext cx="384175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1536700" imgH="939800" progId="Equation.DSMT4">
                  <p:embed/>
                </p:oleObj>
              </mc:Choice>
              <mc:Fallback>
                <p:oleObj name="" r:id="rId3" imgW="1536700" imgH="939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60700" y="2427288"/>
                        <a:ext cx="3841750" cy="234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4" name="Object 14"/>
          <p:cNvGraphicFramePr>
            <a:graphicFrameLocks noChangeAspect="1"/>
          </p:cNvGraphicFramePr>
          <p:nvPr/>
        </p:nvGraphicFramePr>
        <p:xfrm>
          <a:off x="363538" y="4673600"/>
          <a:ext cx="744537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2971800" imgH="457200" progId="Equation.DSMT4">
                  <p:embed/>
                </p:oleObj>
              </mc:Choice>
              <mc:Fallback>
                <p:oleObj name="" r:id="rId5" imgW="29718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38" y="4673600"/>
                        <a:ext cx="7445375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7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页脚占位符 4"/>
          <p:cNvSpPr txBox="1">
            <a:spLocks noGrp="1"/>
          </p:cNvSpPr>
          <p:nvPr>
            <p:ph type="ftr" sz="quarter" idx="3"/>
          </p:nvPr>
        </p:nvSpPr>
        <p:spPr bwMode="auto"/>
        <p:txBody>
          <a:bodyPr wrap="square" lIns="91440" tIns="45720" rIns="91440" bIns="45720" numCol="1" anchor="t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5: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正交多项式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zh-CN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6856" name="Text Box 8"/>
          <p:cNvSpPr txBox="1"/>
          <p:nvPr/>
        </p:nvSpPr>
        <p:spPr>
          <a:xfrm>
            <a:off x="239713" y="449263"/>
            <a:ext cx="80994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>
                <a:schemeClr val="accent2"/>
              </a:buClr>
              <a:buFont typeface="ZapfDingbats" pitchFamily="82" charset="2"/>
            </a:pPr>
            <a:r>
              <a: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rPr>
              <a:t>可以证明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i="1" dirty="0">
                <a:latin typeface="Times New Roman" panose="02020603050405020304" pitchFamily="18" charset="0"/>
              </a:rPr>
              <a:t>Laguerre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多项式有下列递推关系：</a:t>
            </a:r>
            <a:endParaRPr lang="zh-CN" altLang="en-US" sz="32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graphicFrame>
        <p:nvGraphicFramePr>
          <p:cNvPr id="206857" name="Object 9"/>
          <p:cNvGraphicFramePr/>
          <p:nvPr/>
        </p:nvGraphicFramePr>
        <p:xfrm>
          <a:off x="427038" y="1193800"/>
          <a:ext cx="8294687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313430" imgH="482600" progId="Equation.DSMT4">
                  <p:embed/>
                </p:oleObj>
              </mc:Choice>
              <mc:Fallback>
                <p:oleObj name="" r:id="rId1" imgW="3313430" imgH="4826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7038" y="1193800"/>
                        <a:ext cx="8294687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460375" y="2533650"/>
            <a:ext cx="8213725" cy="2443163"/>
            <a:chOff x="290" y="1596"/>
            <a:chExt cx="5174" cy="1539"/>
          </a:xfrm>
        </p:grpSpPr>
        <p:graphicFrame>
          <p:nvGraphicFramePr>
            <p:cNvPr id="31750" name="Object 11"/>
            <p:cNvGraphicFramePr>
              <a:graphicFrameLocks noChangeAspect="1"/>
            </p:cNvGraphicFramePr>
            <p:nvPr/>
          </p:nvGraphicFramePr>
          <p:xfrm>
            <a:off x="290" y="1695"/>
            <a:ext cx="3405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2159000" imgH="914400" progId="Equation.DSMT4">
                    <p:embed/>
                  </p:oleObj>
                </mc:Choice>
                <mc:Fallback>
                  <p:oleObj name="" r:id="rId3" imgW="2159000" imgH="9144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0" y="1695"/>
                          <a:ext cx="3405" cy="14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1" name="AutoShape 12"/>
            <p:cNvSpPr>
              <a:spLocks noChangeAspect="1"/>
            </p:cNvSpPr>
            <p:nvPr/>
          </p:nvSpPr>
          <p:spPr>
            <a:xfrm>
              <a:off x="3262" y="1596"/>
              <a:ext cx="2202" cy="1012"/>
            </a:xfrm>
            <a:prstGeom prst="cloudCallout">
              <a:avLst>
                <a:gd name="adj1" fmla="val -78699"/>
                <a:gd name="adj2" fmla="val -889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0" hangingPunct="0"/>
              <a:r>
                <a:rPr lang="zh-CN" altLang="en-US" sz="3200" dirty="0">
                  <a:solidFill>
                    <a:srgbClr val="FF00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由上式可推出：</a:t>
              </a:r>
              <a:endParaRPr lang="zh-CN" altLang="en-US" sz="32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6" grpId="0"/>
    </p:bldLst>
  </p:timing>
</p:sld>
</file>

<file path=ppt/tags/tag1.xml><?xml version="1.0" encoding="utf-8"?>
<p:tagLst xmlns:p="http://schemas.openxmlformats.org/presentationml/2006/main">
  <p:tag name="commondata" val="eyJoZGlkIjoiN2I4NDViNGMzYzEyZjQ3NjA4YTIzYjE4ZDQ4YzJkZGE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1568</Words>
  <Application>WPS 演示</Application>
  <PresentationFormat>全屏显示(4:3)</PresentationFormat>
  <Paragraphs>145</Paragraphs>
  <Slides>13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41</vt:i4>
      </vt:variant>
      <vt:variant>
        <vt:lpstr>幻灯片标题</vt:lpstr>
      </vt:variant>
      <vt:variant>
        <vt:i4>13</vt:i4>
      </vt:variant>
    </vt:vector>
  </HeadingPairs>
  <TitlesOfParts>
    <vt:vector size="64" baseType="lpstr">
      <vt:lpstr>Arial</vt:lpstr>
      <vt:lpstr>宋体</vt:lpstr>
      <vt:lpstr>Wingdings</vt:lpstr>
      <vt:lpstr>Times New Roman</vt:lpstr>
      <vt:lpstr>Comic Sans MS</vt:lpstr>
      <vt:lpstr>ZapfDingbats</vt:lpstr>
      <vt:lpstr>Symbol</vt:lpstr>
      <vt:lpstr>微软雅黑</vt:lpstr>
      <vt:lpstr>Arial Unicode MS</vt:lpstr>
      <vt:lpstr>Default Design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5.2 正交多项式</vt:lpstr>
      <vt:lpstr>定理 5.1.2</vt:lpstr>
      <vt:lpstr>定理 5.1.3</vt:lpstr>
      <vt:lpstr>2.正交多项式及其性质  </vt:lpstr>
      <vt:lpstr>2.2 正交多项式的性质  </vt:lpstr>
      <vt:lpstr>3. Legendre 多项式  </vt:lpstr>
      <vt:lpstr>PowerPoint 演示文稿</vt:lpstr>
      <vt:lpstr>4. Chebyshev 多项式  </vt:lpstr>
      <vt:lpstr>PowerPoint 演示文稿</vt:lpstr>
      <vt:lpstr>5.Hermite 多项式  </vt:lpstr>
      <vt:lpstr>PowerPoint 演示文稿</vt:lpstr>
      <vt:lpstr>6. Laguerre 多项式  </vt:lpstr>
      <vt:lpstr>PowerPoint 演示文稿</vt:lpstr>
    </vt:vector>
  </TitlesOfParts>
  <Company>Tianjin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  函数的数值逼近</dc:title>
  <dc:creator/>
  <cp:lastModifiedBy>xws</cp:lastModifiedBy>
  <cp:revision>305</cp:revision>
  <cp:lastPrinted>2000-10-23T11:49:00Z</cp:lastPrinted>
  <dcterms:created xsi:type="dcterms:W3CDTF">1999-10-08T19:08:00Z</dcterms:created>
  <dcterms:modified xsi:type="dcterms:W3CDTF">2024-10-27T08:44:35Z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5436BBAEEEC148CB89AA8A59F2D4D4D7_13</vt:lpwstr>
  </property>
</Properties>
</file>