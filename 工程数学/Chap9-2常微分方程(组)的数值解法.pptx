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4"/>
  </p:handoutMasterIdLst>
  <p:sldIdLst>
    <p:sldId id="357" r:id="rId3"/>
    <p:sldId id="417" r:id="rId4"/>
    <p:sldId id="418" r:id="rId5"/>
    <p:sldId id="419" r:id="rId6"/>
    <p:sldId id="420" r:id="rId8"/>
    <p:sldId id="421" r:id="rId9"/>
    <p:sldId id="422" r:id="rId10"/>
    <p:sldId id="423" r:id="rId11"/>
    <p:sldId id="424" r:id="rId12"/>
    <p:sldId id="430" r:id="rId13"/>
    <p:sldId id="431" r:id="rId14"/>
    <p:sldId id="432" r:id="rId15"/>
    <p:sldId id="433" r:id="rId16"/>
    <p:sldId id="425" r:id="rId17"/>
    <p:sldId id="426" r:id="rId18"/>
    <p:sldId id="427" r:id="rId19"/>
    <p:sldId id="428" r:id="rId20"/>
    <p:sldId id="429" r:id="rId21"/>
    <p:sldId id="362" r:id="rId22"/>
    <p:sldId id="403" r:id="rId23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CCFFFF"/>
    <a:srgbClr val="33CCCC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7" autoAdjust="0"/>
    <p:restoredTop sz="86438" autoAdjust="0"/>
  </p:normalViewPr>
  <p:slideViewPr>
    <p:cSldViewPr snapToGrid="0">
      <p:cViewPr varScale="1">
        <p:scale>
          <a:sx n="72" d="100"/>
          <a:sy n="72" d="100"/>
        </p:scale>
        <p:origin x="-1710" y="-102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-3330" y="-120"/>
      </p:cViewPr>
      <p:guideLst>
        <p:guide orient="horz" pos="288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9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A63D422-D76F-4D15-BED9-4FC9FC345130}" type="datetimeFigureOut">
              <a:rPr lang="zh-CN" altLang="en-US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8722BA1-2230-4D4E-BAE4-05841A8CA789}" type="slidenum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6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 smtClean="0"/>
              <a:t>Click to edit Master text styles</a:t>
            </a:r>
            <a:endParaRPr lang="en-US" altLang="zh-CN" noProof="0" smtClean="0"/>
          </a:p>
          <a:p>
            <a:pPr lvl="1"/>
            <a:r>
              <a:rPr lang="en-US" altLang="zh-CN" noProof="0" smtClean="0"/>
              <a:t>Second level</a:t>
            </a:r>
            <a:endParaRPr lang="en-US" altLang="zh-CN" noProof="0" smtClean="0"/>
          </a:p>
          <a:p>
            <a:pPr lvl="2"/>
            <a:r>
              <a:rPr lang="en-US" altLang="zh-CN" noProof="0" smtClean="0"/>
              <a:t>Third level</a:t>
            </a:r>
            <a:endParaRPr lang="en-US" altLang="zh-CN" noProof="0" smtClean="0"/>
          </a:p>
          <a:p>
            <a:pPr lvl="3"/>
            <a:r>
              <a:rPr lang="en-US" altLang="zh-CN" noProof="0" smtClean="0"/>
              <a:t>Fourth level</a:t>
            </a:r>
            <a:endParaRPr lang="en-US" altLang="zh-CN" noProof="0" smtClean="0"/>
          </a:p>
          <a:p>
            <a:pPr lvl="4"/>
            <a:r>
              <a:rPr lang="en-US" altLang="zh-CN" noProof="0" smtClean="0"/>
              <a:t>Fifth level</a:t>
            </a:r>
            <a:endParaRPr lang="en-US" altLang="zh-CN" noProof="0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FE13B7D6-0F6D-48D8-9D7E-CEDA7056DC04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05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505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5BE146-A99E-46E2-B5DA-0B52C7F2C81C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1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此矩阵是严格对角占优的（或不可约弱严格对角占优的（</a:t>
            </a:r>
            <a:r>
              <a:rPr lang="en-US" altLang="zh-CN" i="1" smtClean="0"/>
              <a:t>q</a:t>
            </a:r>
            <a:r>
              <a:rPr lang="en-US" altLang="zh-CN" baseline="-25000" smtClean="0"/>
              <a:t>n</a:t>
            </a:r>
            <a:r>
              <a:rPr lang="en-US" altLang="zh-CN" smtClean="0"/>
              <a:t>=0</a:t>
            </a:r>
            <a:r>
              <a:rPr lang="zh-CN" altLang="en-US" smtClean="0"/>
              <a:t>））</a:t>
            </a:r>
            <a:r>
              <a:rPr lang="en-US" altLang="zh-CN" smtClean="0"/>
              <a:t>,</a:t>
            </a:r>
            <a:r>
              <a:rPr lang="zh-CN" altLang="en-US" smtClean="0"/>
              <a:t>所以方程组有解且唯一。更一般地，我们有如下结果。</a:t>
            </a:r>
            <a:endParaRPr lang="zh-CN" altLang="en-US" smtClean="0"/>
          </a:p>
        </p:txBody>
      </p:sp>
      <p:sp>
        <p:nvSpPr>
          <p:cNvPr id="151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948119-DA27-44F0-B8E2-1693DE2D6599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25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不可约弱对角占优</a:t>
            </a:r>
            <a:endParaRPr lang="zh-CN" altLang="en-US" smtClean="0"/>
          </a:p>
        </p:txBody>
      </p:sp>
      <p:sp>
        <p:nvSpPr>
          <p:cNvPr id="152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A2ACCE-2F9C-4A06-823D-0AD053E4534C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系数矩阵为不可约弱对角占优的。</a:t>
            </a:r>
            <a:endParaRPr lang="zh-CN" altLang="en-US" smtClean="0"/>
          </a:p>
        </p:txBody>
      </p:sp>
      <p:sp>
        <p:nvSpPr>
          <p:cNvPr id="153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8664EC-5627-48D1-878B-11B85056B057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6BF565-64B5-4687-B8CE-58BF16CEFEB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A4D2F-977C-4FD9-999B-02E27FE9C53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4D5EA-D518-4900-8043-D5E6326D89F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485A9-8EE8-45EB-8CB4-BFD7976CBD8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1FD4F0-D028-4D37-941A-D8E178FBE78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CE05-4AE0-4394-921F-013BB05B183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92A9D-C59D-4231-BA75-BBB05C991F7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6EE38-D322-477B-A99F-C549EEE9214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09ECD-F988-434B-A57D-FEBB95DEF1D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EC5B7-7105-4A69-A8AF-3443B5C8DAC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1F1A0-E2B7-4BE9-A082-7C730B5F9D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05800" y="6400800"/>
            <a:ext cx="457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CEE5F3A1-2028-4426-855A-737A1B5E79E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u="sng">
          <a:solidFill>
            <a:schemeClr val="accent2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6.wmf"/><Relationship Id="rId1" Type="http://schemas.openxmlformats.org/officeDocument/2006/relationships/oleObject" Target="../embeddings/oleObject6.bin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7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6.w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4.pn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7.png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2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8.png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2.png"/><Relationship Id="rId3" Type="http://schemas.openxmlformats.org/officeDocument/2006/relationships/image" Target="../media/image31.wmf"/><Relationship Id="rId2" Type="http://schemas.openxmlformats.org/officeDocument/2006/relationships/oleObject" Target="../embeddings/oleObject23.bin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15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7.wmf"/><Relationship Id="rId2" Type="http://schemas.openxmlformats.org/officeDocument/2006/relationships/oleObject" Target="../embeddings/oleObject25.bin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9: 常微分方程数值解法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288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7B6C0F-735E-4E49-9521-4E50C631779F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22884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685800" y="2022475"/>
            <a:ext cx="7772400" cy="1747838"/>
          </a:xfrm>
        </p:spPr>
        <p:txBody>
          <a:bodyPr/>
          <a:lstStyle/>
          <a:p>
            <a:r>
              <a:rPr lang="zh-CN" altLang="en-US" sz="4400" b="1" u="none" dirty="0" smtClean="0"/>
              <a:t>第</a:t>
            </a:r>
            <a:r>
              <a:rPr lang="en-US" altLang="zh-CN" sz="4400" b="1" u="none" dirty="0" smtClean="0">
                <a:latin typeface="Times New Roman" panose="02020603050405020304" pitchFamily="18" charset="0"/>
              </a:rPr>
              <a:t>9</a:t>
            </a:r>
            <a:r>
              <a:rPr lang="zh-CN" altLang="en-US" sz="4400" b="1" u="none" dirty="0" smtClean="0"/>
              <a:t>章 常微分方程的数值解法</a:t>
            </a:r>
            <a:endParaRPr lang="zh-CN" altLang="en-US" sz="4400" b="1" u="none" dirty="0" smtClean="0"/>
          </a:p>
        </p:txBody>
      </p:sp>
      <p:sp>
        <p:nvSpPr>
          <p:cNvPr id="122885" name="Rectangle 205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81463"/>
            <a:ext cx="6400800" cy="1579562"/>
          </a:xfrm>
        </p:spPr>
        <p:txBody>
          <a:bodyPr/>
          <a:lstStyle/>
          <a:p>
            <a:endParaRPr lang="zh-CN" altLang="en-US" sz="3600" b="1" smtClean="0">
              <a:ea typeface="华文行楷" panose="02010800040101010101" pitchFamily="2" charset="-122"/>
            </a:endParaRPr>
          </a:p>
          <a:p>
            <a:r>
              <a:rPr lang="zh-CN" altLang="en-US" sz="3600" b="1" smtClean="0">
                <a:ea typeface="华文行楷" panose="02010800040101010101" pitchFamily="2" charset="-122"/>
              </a:rPr>
              <a:t>天津大学数学学院</a:t>
            </a:r>
            <a:endParaRPr lang="zh-CN" altLang="en-US" sz="3600" b="1" smtClean="0"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标题 1"/>
          <p:cNvSpPr>
            <a:spLocks noGrp="1"/>
          </p:cNvSpPr>
          <p:nvPr>
            <p:ph type="title"/>
          </p:nvPr>
        </p:nvSpPr>
        <p:spPr>
          <a:xfrm>
            <a:off x="0" y="573088"/>
            <a:ext cx="9144000" cy="1143000"/>
          </a:xfrm>
        </p:spPr>
        <p:txBody>
          <a:bodyPr/>
          <a:lstStyle/>
          <a:p>
            <a:pPr algn="l"/>
            <a:r>
              <a:rPr lang="en-US" altLang="zh-CN" sz="4000" b="1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§9.5</a:t>
            </a:r>
            <a:r>
              <a:rPr lang="zh-CN" altLang="en-US" sz="4000" b="1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二阶微分方程边值问题的差分解法</a:t>
            </a:r>
            <a:endParaRPr lang="zh-CN" altLang="en-US" sz="4000" b="1" u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1878013"/>
            <a:ext cx="7772400" cy="4648200"/>
          </a:xfrm>
        </p:spPr>
        <p:txBody>
          <a:bodyPr vert="horz"/>
          <a:lstStyle/>
          <a:p>
            <a:r>
              <a:rPr lang="zh-CN" altLang="en-US" sz="3200" b="1" dirty="0" smtClean="0"/>
              <a:t>教学目的</a:t>
            </a:r>
            <a:r>
              <a:rPr lang="en-US" altLang="zh-CN" sz="3200" b="1" dirty="0" smtClean="0"/>
              <a:t>: </a:t>
            </a:r>
            <a:endParaRPr lang="zh-CN" altLang="en-US" sz="3200" b="1" dirty="0" smtClean="0"/>
          </a:p>
          <a:p>
            <a:r>
              <a:rPr lang="zh-CN" altLang="en-US" sz="3200" dirty="0" smtClean="0"/>
              <a:t>本节介绍二阶微分方程边界值问题的数值解法，以二阶线性方程边界值为主要研究对象，将微分方程化为差分方程，并利用三对角方程求解。</a:t>
            </a:r>
            <a:endParaRPr lang="zh-CN" altLang="en-US" sz="3200" dirty="0" smtClean="0"/>
          </a:p>
          <a:p>
            <a:r>
              <a:rPr lang="zh-CN" altLang="en-US" sz="3200" b="1" dirty="0" smtClean="0"/>
              <a:t>本节要点</a:t>
            </a:r>
            <a:r>
              <a:rPr lang="en-US" altLang="zh-CN" sz="3200" b="1" dirty="0" smtClean="0"/>
              <a:t>:</a:t>
            </a:r>
            <a:endParaRPr lang="zh-CN" altLang="en-US" sz="3200" b="1" dirty="0" smtClean="0"/>
          </a:p>
          <a:p>
            <a:r>
              <a:rPr lang="zh-CN" altLang="en-US" sz="3200" dirty="0" smtClean="0"/>
              <a:t>二点边值问题，极值原理</a:t>
            </a:r>
            <a:endParaRPr lang="zh-CN" altLang="en-US" sz="3200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2101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517D94-459B-4558-B1BA-BDCF86FA75E2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3600" b="1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线性方程第一边值问题的差分格式</a:t>
            </a:r>
            <a:endParaRPr lang="zh-CN" altLang="en-US" sz="3600" b="1" u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23" name="内容占位符 2"/>
          <p:cNvSpPr>
            <a:spLocks noGrp="1"/>
          </p:cNvSpPr>
          <p:nvPr>
            <p:ph idx="1"/>
          </p:nvPr>
        </p:nvSpPr>
        <p:spPr>
          <a:xfrm>
            <a:off x="692150" y="1255713"/>
            <a:ext cx="7966075" cy="4879975"/>
          </a:xfrm>
        </p:spPr>
        <p:txBody>
          <a:bodyPr/>
          <a:lstStyle/>
          <a:p>
            <a:pPr marL="0" indent="0">
              <a:buFont typeface="ZapfDingbats" pitchFamily="82" charset="2"/>
              <a:buNone/>
              <a:defRPr/>
            </a:pPr>
            <a:r>
              <a:rPr lang="en-US" altLang="zh-CN" sz="3200" dirty="0" smtClean="0"/>
              <a:t>	</a:t>
            </a:r>
            <a:r>
              <a:rPr lang="zh-CN" altLang="en-US" sz="3200" dirty="0" smtClean="0"/>
              <a:t>高阶常微分方程求解时</a:t>
            </a:r>
            <a:r>
              <a:rPr lang="en-US" altLang="zh-CN" sz="3200" dirty="0" smtClean="0">
                <a:latin typeface="+mn-ea"/>
              </a:rPr>
              <a:t>, </a:t>
            </a:r>
            <a:r>
              <a:rPr lang="zh-CN" altLang="en-US" sz="3200" dirty="0" smtClean="0"/>
              <a:t>需要给出定解条件，定解条件的个数与微分方程的阶数相同。高阶微分方程初值问题的定解条件都是在</a:t>
            </a:r>
            <a:r>
              <a:rPr lang="zh-CN" altLang="en-US" sz="3200" b="1" dirty="0" smtClean="0"/>
              <a:t>一个边界点</a:t>
            </a:r>
            <a:r>
              <a:rPr lang="zh-CN" altLang="en-US" sz="3200" dirty="0" smtClean="0"/>
              <a:t>上给出，所以将其化为一阶微分方程组时，完全等同于一阶微分方程的初值问题。所以也将其称为初值问题。如果的定解条件在不同的</a:t>
            </a:r>
            <a:r>
              <a:rPr lang="zh-CN" altLang="en-US" sz="3200" b="1" dirty="0" smtClean="0"/>
              <a:t>两个边界点</a:t>
            </a:r>
            <a:r>
              <a:rPr lang="zh-CN" altLang="en-US" sz="3200" dirty="0" smtClean="0"/>
              <a:t>上给出时，则称相应的问题为边界值问题。常微分方程的边界值问题亦称为</a:t>
            </a:r>
            <a:r>
              <a:rPr lang="zh-CN" altLang="en-US" sz="3200" b="1" dirty="0" smtClean="0"/>
              <a:t>两点边值问题</a:t>
            </a:r>
            <a:r>
              <a:rPr lang="zh-CN" altLang="en-US" sz="3200" dirty="0" smtClean="0"/>
              <a:t>。</a:t>
            </a:r>
            <a:endParaRPr lang="zh-CN" altLang="en-US" sz="3200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9: 常微分方程数值解法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3125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E5517F-5DE1-4C49-9CB9-34E446A60C5A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二阶常微分方程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显格式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u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421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8D07F2-0193-4C7A-8B1B-5BC9ABA7313B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140290" name="Object 1024"/>
          <p:cNvGraphicFramePr>
            <a:graphicFrameLocks noChangeAspect="1"/>
          </p:cNvGraphicFramePr>
          <p:nvPr/>
        </p:nvGraphicFramePr>
        <p:xfrm>
          <a:off x="2506663" y="1050925"/>
          <a:ext cx="39322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公式" r:id="rId1" imgW="37795200" imgH="4876800" progId="Equation.3">
                  <p:embed/>
                </p:oleObj>
              </mc:Choice>
              <mc:Fallback>
                <p:oleObj name="公式" r:id="rId1" imgW="37795200" imgH="48768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6663" y="1050925"/>
                        <a:ext cx="3932237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84188" y="1525588"/>
            <a:ext cx="6843712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常见的边值问题有以下三种形式：</a:t>
            </a:r>
            <a:endParaRPr lang="zh-CN" altLang="en-US"/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2532063" y="2762250"/>
          <a:ext cx="3013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公式" r:id="rId3" imgW="28956000" imgH="4876800" progId="Equation.3">
                  <p:embed/>
                </p:oleObj>
              </mc:Choice>
              <mc:Fallback>
                <p:oleObj name="公式" r:id="rId3" imgW="28956000" imgH="4876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2063" y="2762250"/>
                        <a:ext cx="3013075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3550" y="4411663"/>
            <a:ext cx="7793038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第三类边界条件 </a:t>
            </a:r>
            <a:r>
              <a:rPr lang="en-US" altLang="zh-CN"/>
              <a:t>(Robin</a:t>
            </a:r>
            <a:r>
              <a:rPr lang="zh-CN" altLang="en-US"/>
              <a:t>边界</a:t>
            </a:r>
            <a:r>
              <a:rPr lang="en-US" altLang="zh-CN"/>
              <a:t>)</a:t>
            </a:r>
            <a:r>
              <a:rPr lang="zh-CN" altLang="en-US"/>
              <a:t>；</a:t>
            </a:r>
            <a:endParaRPr lang="zh-CN" alt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69900" y="2162175"/>
            <a:ext cx="66071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第一类边界条件 </a:t>
            </a:r>
            <a:r>
              <a:rPr lang="en-US" altLang="zh-CN"/>
              <a:t>(Dirichlet</a:t>
            </a:r>
            <a:r>
              <a:rPr lang="zh-CN" altLang="en-US"/>
              <a:t>边界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50850" y="3287713"/>
            <a:ext cx="6089650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第二类边界条件 </a:t>
            </a:r>
            <a:r>
              <a:rPr lang="en-US" altLang="zh-CN"/>
              <a:t>(Neumann</a:t>
            </a:r>
            <a:r>
              <a:rPr lang="zh-CN" altLang="en-US"/>
              <a:t>边界</a:t>
            </a:r>
            <a:r>
              <a:rPr lang="en-US" altLang="zh-CN"/>
              <a:t>)</a:t>
            </a:r>
            <a:endParaRPr lang="zh-CN" altLang="en-US"/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439988" y="3878263"/>
          <a:ext cx="32035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5" imgW="30784800" imgH="4876800" progId="Equation.3">
                  <p:embed/>
                </p:oleObj>
              </mc:Choice>
              <mc:Fallback>
                <p:oleObj name="公式" r:id="rId5" imgW="30784800" imgH="4876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9988" y="3878263"/>
                        <a:ext cx="3203575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6254750" y="2054225"/>
            <a:ext cx="2544763" cy="2308225"/>
          </a:xfrm>
          <a:prstGeom prst="wedgeRoundRectCallout">
            <a:avLst>
              <a:gd name="adj1" fmla="val -68889"/>
              <a:gd name="adj2" fmla="val 63273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/>
          <a:p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相应的问题称为第一类</a:t>
            </a:r>
            <a:r>
              <a:rPr lang="en-US" altLang="zh-CN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,</a:t>
            </a:r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第二类</a:t>
            </a:r>
            <a:r>
              <a:rPr lang="en-US" altLang="zh-CN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,</a:t>
            </a:r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第三类边值问题。</a:t>
            </a:r>
            <a:endParaRPr lang="zh-CN" altLang="en-US" sz="28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40293" name="Object 5"/>
          <p:cNvGraphicFramePr>
            <a:graphicFrameLocks noChangeAspect="1"/>
          </p:cNvGraphicFramePr>
          <p:nvPr/>
        </p:nvGraphicFramePr>
        <p:xfrm>
          <a:off x="1149350" y="5056188"/>
          <a:ext cx="62166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公式" r:id="rId7" imgW="59740800" imgH="5486400" progId="Equation.3">
                  <p:embed/>
                </p:oleObj>
              </mc:Choice>
              <mc:Fallback>
                <p:oleObj name="公式" r:id="rId7" imgW="59740800" imgH="54864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49350" y="5056188"/>
                        <a:ext cx="621665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36563" y="5673725"/>
            <a:ext cx="8707437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r>
              <a:rPr lang="el-GR" altLang="zh-CN" i="1"/>
              <a:t>α</a:t>
            </a:r>
            <a:r>
              <a:rPr lang="el-GR" altLang="zh-CN" baseline="-25000"/>
              <a:t>0</a:t>
            </a:r>
            <a:r>
              <a:rPr lang="el-GR" altLang="zh-CN"/>
              <a:t> ≥ 0,</a:t>
            </a:r>
            <a:r>
              <a:rPr lang="en-US" altLang="zh-CN"/>
              <a:t> </a:t>
            </a:r>
            <a:r>
              <a:rPr lang="el-GR" altLang="zh-CN" i="1"/>
              <a:t>β</a:t>
            </a:r>
            <a:r>
              <a:rPr lang="el-GR" altLang="zh-CN" baseline="-25000"/>
              <a:t>0</a:t>
            </a:r>
            <a:r>
              <a:rPr lang="el-GR" altLang="zh-CN"/>
              <a:t> ≥ 0, </a:t>
            </a:r>
            <a:r>
              <a:rPr lang="el-GR" altLang="zh-CN" i="1"/>
              <a:t>α</a:t>
            </a:r>
            <a:r>
              <a:rPr lang="el-GR" altLang="zh-CN" baseline="-25000"/>
              <a:t>0</a:t>
            </a:r>
            <a:r>
              <a:rPr lang="el-GR" altLang="zh-CN"/>
              <a:t> + </a:t>
            </a:r>
            <a:r>
              <a:rPr lang="el-GR" altLang="zh-CN" i="1"/>
              <a:t>β</a:t>
            </a:r>
            <a:r>
              <a:rPr lang="el-GR" altLang="zh-CN" baseline="-25000"/>
              <a:t>0</a:t>
            </a:r>
            <a:r>
              <a:rPr lang="el-GR" altLang="zh-CN"/>
              <a:t> &gt; 0</a:t>
            </a:r>
            <a:r>
              <a:rPr lang="en-US" altLang="zh-CN"/>
              <a:t>, </a:t>
            </a:r>
            <a:r>
              <a:rPr lang="zh-CN" altLang="en-US"/>
              <a:t>其它参数为常数</a:t>
            </a:r>
            <a:r>
              <a:rPr lang="zh-CN" altLang="el-GR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3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下面，考虑线性常微分方程第一边值问题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523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49297A-9607-48A1-873C-08A3ACDE0D16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141314" name="Object 1024"/>
          <p:cNvGraphicFramePr>
            <a:graphicFrameLocks noChangeAspect="1"/>
          </p:cNvGraphicFramePr>
          <p:nvPr/>
        </p:nvGraphicFramePr>
        <p:xfrm>
          <a:off x="1432560" y="1133475"/>
          <a:ext cx="7023735" cy="131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公式" r:id="rId1" imgW="2438400" imgH="457200" progId="Equation.3">
                  <p:embed/>
                </p:oleObj>
              </mc:Choice>
              <mc:Fallback>
                <p:oleObj name="公式" r:id="rId1" imgW="2438400" imgH="4572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32560" y="1133475"/>
                        <a:ext cx="7023735" cy="13169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17525" y="2484438"/>
            <a:ext cx="8135938" cy="1077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r>
              <a:rPr lang="en-US" altLang="zh-CN" i="1"/>
              <a:t>α</a:t>
            </a:r>
            <a:r>
              <a:rPr lang="en-US" altLang="zh-CN"/>
              <a:t>, </a:t>
            </a:r>
            <a:r>
              <a:rPr lang="en-US" altLang="zh-CN" i="1"/>
              <a:t>β</a:t>
            </a:r>
            <a:r>
              <a:rPr lang="zh-CN" altLang="en-US"/>
              <a:t>为已知常数，</a:t>
            </a:r>
            <a:r>
              <a:rPr lang="en-US" altLang="zh-CN" i="1"/>
              <a:t>q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和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为已知连续函数</a:t>
            </a:r>
            <a:r>
              <a:rPr lang="en-US" altLang="zh-CN"/>
              <a:t>, </a:t>
            </a:r>
            <a:r>
              <a:rPr lang="zh-CN" altLang="en-US"/>
              <a:t>且</a:t>
            </a:r>
            <a:r>
              <a:rPr lang="en-US" altLang="zh-CN" i="1"/>
              <a:t>q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 &gt; 0.</a:t>
            </a:r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03238" y="3597275"/>
            <a:ext cx="8004175" cy="2554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/>
              <a:t>	</a:t>
            </a:r>
            <a:r>
              <a:rPr lang="zh-CN" altLang="en-US"/>
              <a:t>常微分方程边值问题有很多种数值解法，本节只介绍线性微分方程边值问题的差分法。差分方法的基本思想是用数值导数逼近导数，将连续方程离散化，然后求出在节点处的数值解。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线性常微分方程第一边值问题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626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A198B3-10FD-4E63-B469-0CBF76DC0394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141314" name="Object 1024"/>
          <p:cNvGraphicFramePr>
            <a:graphicFrameLocks noChangeAspect="1"/>
          </p:cNvGraphicFramePr>
          <p:nvPr/>
        </p:nvGraphicFramePr>
        <p:xfrm>
          <a:off x="471805" y="1007745"/>
          <a:ext cx="7663180" cy="1437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公式" r:id="rId1" imgW="2438400" imgH="457200" progId="Equation.3">
                  <p:embed/>
                </p:oleObj>
              </mc:Choice>
              <mc:Fallback>
                <p:oleObj name="公式" r:id="rId1" imgW="2438400" imgH="4572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1805" y="1007745"/>
                        <a:ext cx="7663180" cy="14370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36563" y="2444750"/>
            <a:ext cx="8256587" cy="1077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假定方程的解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存在唯一</a:t>
            </a:r>
            <a:r>
              <a:rPr lang="en-US" altLang="zh-CN"/>
              <a:t>, </a:t>
            </a:r>
            <a:r>
              <a:rPr lang="zh-CN" altLang="en-US"/>
              <a:t>把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 b</a:t>
            </a:r>
            <a:r>
              <a:rPr lang="en-US" altLang="zh-CN"/>
              <a:t>]</a:t>
            </a:r>
            <a:r>
              <a:rPr lang="zh-CN" altLang="en-US"/>
              <a:t>区间</a:t>
            </a:r>
            <a:r>
              <a:rPr lang="en-US" altLang="zh-CN" i="1"/>
              <a:t>N</a:t>
            </a:r>
            <a:r>
              <a:rPr lang="zh-CN" altLang="en-US"/>
              <a:t>等分，其节点为</a:t>
            </a:r>
            <a:endParaRPr lang="zh-CN" altLang="en-US"/>
          </a:p>
        </p:txBody>
      </p:sp>
      <p:pic>
        <p:nvPicPr>
          <p:cNvPr id="142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638" y="3489325"/>
            <a:ext cx="7581900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71488" y="4510088"/>
            <a:ext cx="8329612" cy="1077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 x</a:t>
            </a:r>
            <a:r>
              <a:rPr lang="en-US" altLang="zh-CN" baseline="-25000"/>
              <a:t>2</a:t>
            </a:r>
            <a:r>
              <a:rPr lang="en-US" altLang="zh-CN"/>
              <a:t>,· · · ,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zh-CN" altLang="en-US" baseline="-25000"/>
              <a:t>−</a:t>
            </a:r>
            <a:r>
              <a:rPr lang="en-US" altLang="zh-CN" baseline="-25000"/>
              <a:t>1</a:t>
            </a:r>
            <a:r>
              <a:rPr lang="zh-CN" altLang="en-US"/>
              <a:t>称为内节点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0</a:t>
            </a:r>
            <a:r>
              <a:rPr lang="en-US" altLang="zh-CN"/>
              <a:t>(=</a:t>
            </a:r>
            <a:r>
              <a:rPr lang="en-US" altLang="zh-CN" i="1"/>
              <a:t>a</a:t>
            </a:r>
            <a:r>
              <a:rPr lang="en-US" altLang="zh-CN"/>
              <a:t>), 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i="1"/>
              <a:t> </a:t>
            </a:r>
            <a:r>
              <a:rPr lang="en-US" altLang="zh-CN"/>
              <a:t>(=</a:t>
            </a:r>
            <a:r>
              <a:rPr lang="en-US" altLang="zh-CN" i="1"/>
              <a:t>b</a:t>
            </a:r>
            <a:r>
              <a:rPr lang="en-US" altLang="zh-CN"/>
              <a:t>) </a:t>
            </a:r>
            <a:r>
              <a:rPr lang="zh-CN" altLang="en-US"/>
              <a:t>称为边界节点。</a:t>
            </a:r>
            <a:endParaRPr lang="zh-CN" alt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50850" y="5675313"/>
            <a:ext cx="80168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在每个</a:t>
            </a:r>
            <a:r>
              <a:rPr lang="zh-CN" altLang="en-US" b="1"/>
              <a:t>内节点</a:t>
            </a:r>
            <a:r>
              <a:rPr lang="en-US" altLang="zh-CN" b="1" i="1"/>
              <a:t>x</a:t>
            </a:r>
            <a:r>
              <a:rPr lang="en-US" altLang="zh-CN" b="1" i="1" baseline="-25000"/>
              <a:t>n</a:t>
            </a:r>
            <a:r>
              <a:rPr lang="zh-CN" altLang="en-US"/>
              <a:t>处应用三点数值微分公式：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1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在每个</a:t>
            </a:r>
            <a:r>
              <a:rPr lang="zh-CN" altLang="en-US" b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内节点</a:t>
            </a:r>
            <a:r>
              <a:rPr lang="en-US" altLang="zh-CN" b="1" i="1" u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i="1" u="none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处应用三点数值微分公式</a:t>
            </a:r>
            <a:endParaRPr lang="zh-CN" altLang="en-US" u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72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D65E43-5B3C-4EC7-981B-CB72232FED1B}" type="slidenum">
              <a:rPr lang="zh-CN" altLang="en-US" smtClean="0"/>
            </a:fld>
            <a:endParaRPr lang="en-US" altLang="zh-CN" smtClean="0"/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79450" y="1077913"/>
            <a:ext cx="7620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90538" y="1922463"/>
            <a:ext cx="6194425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r>
              <a:rPr lang="el-GR" altLang="zh-CN" i="1"/>
              <a:t>ξ</a:t>
            </a:r>
            <a:r>
              <a:rPr lang="en-US" altLang="zh-CN" i="1" baseline="-25000"/>
              <a:t>n</a:t>
            </a:r>
            <a:r>
              <a:rPr lang="en-US" altLang="zh-CN"/>
              <a:t> ∈ 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baseline="-25000"/>
              <a:t>−1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baseline="-25000"/>
              <a:t>+1</a:t>
            </a:r>
            <a:r>
              <a:rPr lang="en-US" altLang="zh-CN"/>
              <a:t>), </a:t>
            </a:r>
            <a:r>
              <a:rPr lang="zh-CN" altLang="en-US"/>
              <a:t>方程</a:t>
            </a:r>
            <a:endParaRPr lang="zh-CN" altLang="en-US"/>
          </a:p>
        </p:txBody>
      </p:sp>
      <p:graphicFrame>
        <p:nvGraphicFramePr>
          <p:cNvPr id="143363" name="Object 1024"/>
          <p:cNvGraphicFramePr>
            <a:graphicFrameLocks noChangeAspect="1"/>
          </p:cNvGraphicFramePr>
          <p:nvPr/>
        </p:nvGraphicFramePr>
        <p:xfrm>
          <a:off x="5146675" y="1973263"/>
          <a:ext cx="29479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公式" r:id="rId2" imgW="28346400" imgH="4876800" progId="Equation.3">
                  <p:embed/>
                </p:oleObj>
              </mc:Choice>
              <mc:Fallback>
                <p:oleObj name="公式" r:id="rId2" imgW="28346400" imgH="48768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46675" y="1973263"/>
                        <a:ext cx="2947988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7" name="矩形 8"/>
          <p:cNvSpPr>
            <a:spLocks noChangeArrowheads="1"/>
          </p:cNvSpPr>
          <p:nvPr/>
        </p:nvSpPr>
        <p:spPr bwMode="auto">
          <a:xfrm>
            <a:off x="517525" y="2487613"/>
            <a:ext cx="1004888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化为</a:t>
            </a:r>
            <a:endParaRPr lang="zh-CN" altLang="en-US"/>
          </a:p>
        </p:txBody>
      </p:sp>
      <p:graphicFrame>
        <p:nvGraphicFramePr>
          <p:cNvPr id="104449" name="Object 7"/>
          <p:cNvGraphicFramePr>
            <a:graphicFrameLocks noChangeAspect="1"/>
          </p:cNvGraphicFramePr>
          <p:nvPr/>
        </p:nvGraphicFramePr>
        <p:xfrm>
          <a:off x="1216025" y="3025775"/>
          <a:ext cx="6734175" cy="197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公式" r:id="rId4" imgW="67360800" imgH="19812000" progId="Equation.3">
                  <p:embed/>
                </p:oleObj>
              </mc:Choice>
              <mc:Fallback>
                <p:oleObj name="公式" r:id="rId4" imgW="67360800" imgH="198120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6025" y="3025775"/>
                        <a:ext cx="6734175" cy="1979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8" name="矩形 12"/>
          <p:cNvSpPr>
            <a:spLocks noChangeArrowheads="1"/>
          </p:cNvSpPr>
          <p:nvPr/>
        </p:nvSpPr>
        <p:spPr bwMode="auto">
          <a:xfrm>
            <a:off x="530225" y="4927600"/>
            <a:ext cx="8162925" cy="1568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略去等号右端的第二项，并记 </a:t>
            </a:r>
            <a:r>
              <a:rPr lang="en-US" altLang="zh-CN" i="1"/>
              <a:t>q</a:t>
            </a:r>
            <a:r>
              <a:rPr lang="en-US" altLang="zh-CN" i="1" baseline="-25000"/>
              <a:t>n</a:t>
            </a:r>
            <a:r>
              <a:rPr lang="en-US" altLang="zh-CN" i="1"/>
              <a:t> = q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),</a:t>
            </a:r>
            <a:r>
              <a:rPr lang="en-US" altLang="zh-CN" i="1"/>
              <a:t>  f</a:t>
            </a:r>
            <a:r>
              <a:rPr lang="en-US" altLang="zh-CN" i="1" baseline="-25000"/>
              <a:t>n</a:t>
            </a:r>
            <a:r>
              <a:rPr lang="en-US" altLang="zh-CN" i="1"/>
              <a:t> = f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), </a:t>
            </a:r>
            <a:r>
              <a:rPr lang="zh-CN" altLang="en-US"/>
              <a:t>得到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baseline="-25000"/>
              <a:t>+1</a:t>
            </a:r>
            <a:r>
              <a:rPr lang="en-US" altLang="zh-CN"/>
              <a:t>), 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), 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baseline="-25000"/>
              <a:t>−1</a:t>
            </a:r>
            <a:r>
              <a:rPr lang="en-US" altLang="zh-CN"/>
              <a:t>)</a:t>
            </a:r>
            <a:r>
              <a:rPr lang="zh-CN" altLang="en-US"/>
              <a:t>的近似值</a:t>
            </a:r>
            <a:r>
              <a:rPr lang="en-US" altLang="zh-CN" i="1"/>
              <a:t>y</a:t>
            </a:r>
            <a:r>
              <a:rPr lang="en-US" altLang="zh-CN" i="1" baseline="-25000"/>
              <a:t>n</a:t>
            </a:r>
            <a:r>
              <a:rPr lang="en-US" altLang="zh-CN" baseline="-25000"/>
              <a:t>+1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i="1" baseline="-25000"/>
              <a:t>n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i="1" baseline="-25000"/>
              <a:t>n</a:t>
            </a:r>
            <a:r>
              <a:rPr lang="en-US" altLang="zh-CN" baseline="-25000"/>
              <a:t>−1</a:t>
            </a:r>
            <a:r>
              <a:rPr lang="zh-CN" altLang="en-US"/>
              <a:t>满足的方程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4217" grpId="0"/>
      <p:bldP spid="942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10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80375" cy="1143000"/>
          </a:xfrm>
        </p:spPr>
        <p:txBody>
          <a:bodyPr/>
          <a:lstStyle/>
          <a:p>
            <a:pPr algn="l"/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u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u="none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i="1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的近似值 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i="1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u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i="1" u="none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i="1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baseline="-25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 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满足方程</a:t>
            </a:r>
            <a:endParaRPr lang="zh-CN" altLang="en-US" u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831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E77957-0F71-4FF7-9974-E1ECC970C2D6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143364" name="Object 4"/>
          <p:cNvGraphicFramePr>
            <a:graphicFrameLocks noChangeAspect="1"/>
          </p:cNvGraphicFramePr>
          <p:nvPr/>
        </p:nvGraphicFramePr>
        <p:xfrm>
          <a:off x="3914140" y="2546350"/>
          <a:ext cx="35972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公式" r:id="rId1" imgW="1739900" imgH="228600" progId="Equation.3">
                  <p:embed/>
                </p:oleObj>
              </mc:Choice>
              <mc:Fallback>
                <p:oleObj name="公式" r:id="rId1" imgW="1739900" imgH="2286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14140" y="2546350"/>
                        <a:ext cx="3597275" cy="4794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100000">
                            <a:srgbClr val="FFFFFF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11163" y="2473325"/>
            <a:ext cx="3057525" cy="585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利用边界条件得</a:t>
            </a:r>
            <a:endParaRPr lang="zh-CN" altLang="en-US"/>
          </a:p>
        </p:txBody>
      </p:sp>
      <p:graphicFrame>
        <p:nvGraphicFramePr>
          <p:cNvPr id="104449" name="Object 7"/>
          <p:cNvGraphicFramePr>
            <a:graphicFrameLocks noChangeAspect="1"/>
          </p:cNvGraphicFramePr>
          <p:nvPr/>
        </p:nvGraphicFramePr>
        <p:xfrm>
          <a:off x="2025650" y="863600"/>
          <a:ext cx="4265613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公式" r:id="rId3" imgW="42672000" imgH="9448800" progId="Equation.3">
                  <p:embed/>
                </p:oleObj>
              </mc:Choice>
              <mc:Fallback>
                <p:oleObj name="公式" r:id="rId3" imgW="42672000" imgH="94488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25650" y="863600"/>
                        <a:ext cx="4265613" cy="944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23863" y="3151188"/>
            <a:ext cx="8588375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联立</a:t>
            </a:r>
            <a:r>
              <a:rPr lang="en-US" altLang="zh-CN"/>
              <a:t>(5.2)</a:t>
            </a:r>
            <a:r>
              <a:rPr lang="zh-CN" altLang="en-US"/>
              <a:t>和</a:t>
            </a:r>
            <a:r>
              <a:rPr lang="en-US" altLang="zh-CN"/>
              <a:t>(5.3)</a:t>
            </a:r>
            <a:r>
              <a:rPr lang="zh-CN" altLang="en-US"/>
              <a:t>得到线性方程组称为逼近边界问题</a:t>
            </a:r>
            <a:r>
              <a:rPr lang="en-US" altLang="zh-CN"/>
              <a:t>(5.1)</a:t>
            </a:r>
            <a:r>
              <a:rPr lang="zh-CN" altLang="en-US"/>
              <a:t>的</a:t>
            </a:r>
            <a:r>
              <a:rPr lang="zh-CN" altLang="en-US" b="1"/>
              <a:t>差分方程</a:t>
            </a:r>
            <a:r>
              <a:rPr lang="zh-CN" altLang="en-US"/>
              <a:t>或</a:t>
            </a:r>
            <a:r>
              <a:rPr lang="zh-CN" altLang="en-US" b="1"/>
              <a:t>差分方程式</a:t>
            </a:r>
            <a:r>
              <a:rPr lang="zh-CN" altLang="en-US"/>
              <a:t>。</a:t>
            </a:r>
            <a:r>
              <a:rPr lang="en-US" altLang="zh-CN"/>
              <a:t> </a:t>
            </a:r>
            <a:r>
              <a:rPr lang="zh-CN" altLang="en-US"/>
              <a:t>略去的项</a:t>
            </a:r>
            <a:endParaRPr lang="zh-CN" altLang="en-US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2954338" y="4200525"/>
          <a:ext cx="2436812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5" imgW="24384000" imgH="10058400" progId="Equation.3">
                  <p:embed/>
                </p:oleObj>
              </mc:Choice>
              <mc:Fallback>
                <p:oleObj name="公式" r:id="rId5" imgW="24384000" imgH="100584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54338" y="4200525"/>
                        <a:ext cx="2436812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365125" y="5210175"/>
            <a:ext cx="826135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称为差分方程的</a:t>
            </a:r>
            <a:r>
              <a:rPr lang="zh-CN" altLang="en-US" b="1"/>
              <a:t>截断误差</a:t>
            </a:r>
            <a:r>
              <a:rPr lang="zh-CN" altLang="en-US"/>
              <a:t>，差分方程的解</a:t>
            </a:r>
            <a:r>
              <a:rPr lang="en-US" altLang="zh-CN" i="1"/>
              <a:t>y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  y</a:t>
            </a:r>
            <a:r>
              <a:rPr lang="en-US" altLang="zh-CN" baseline="-25000"/>
              <a:t>2</a:t>
            </a:r>
            <a:r>
              <a:rPr lang="en-US" altLang="zh-CN"/>
              <a:t>, · · · , </a:t>
            </a:r>
            <a:r>
              <a:rPr lang="en-US" altLang="zh-CN" i="1"/>
              <a:t>y</a:t>
            </a:r>
            <a:r>
              <a:rPr lang="en-US" altLang="zh-CN" i="1" baseline="-25000"/>
              <a:t>N </a:t>
            </a:r>
            <a:r>
              <a:rPr lang="zh-CN" altLang="en-US"/>
              <a:t>称为</a:t>
            </a:r>
            <a:r>
              <a:rPr lang="zh-CN" altLang="en-US" b="1"/>
              <a:t>差分解</a:t>
            </a:r>
            <a:r>
              <a:rPr lang="zh-CN" altLang="en-US"/>
              <a:t>。</a:t>
            </a:r>
            <a:endParaRPr lang="zh-CN" altLang="en-US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1617345" y="1808480"/>
          <a:ext cx="6688455" cy="48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公式" r:id="rId7" imgW="3340100" imgH="241300" progId="Equation.3">
                  <p:embed/>
                </p:oleObj>
              </mc:Choice>
              <mc:Fallback>
                <p:oleObj name="公式" r:id="rId7" imgW="3340100" imgH="2413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7345" y="1808480"/>
                        <a:ext cx="6688455" cy="48323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令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93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CCEDD0-286F-46A3-8A42-1C7465C8F4F8}" type="slidenum">
              <a:rPr lang="zh-CN" altLang="en-US" smtClean="0"/>
            </a:fld>
            <a:endParaRPr lang="en-US" altLang="zh-CN" smtClean="0"/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14425" y="179388"/>
            <a:ext cx="6019800" cy="132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025" y="2813050"/>
            <a:ext cx="8412163" cy="336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8"/>
          <p:cNvGrpSpPr/>
          <p:nvPr/>
        </p:nvGrpSpPr>
        <p:grpSpPr bwMode="auto">
          <a:xfrm>
            <a:off x="1556564" y="1578662"/>
            <a:ext cx="6749415" cy="1050925"/>
            <a:chOff x="1556564" y="1751698"/>
            <a:chExt cx="6749415" cy="1050732"/>
          </a:xfrm>
        </p:grpSpPr>
        <p:graphicFrame>
          <p:nvGraphicFramePr>
            <p:cNvPr id="104449" name="Object 4"/>
            <p:cNvGraphicFramePr>
              <a:graphicFrameLocks noChangeAspect="1"/>
            </p:cNvGraphicFramePr>
            <p:nvPr/>
          </p:nvGraphicFramePr>
          <p:xfrm>
            <a:off x="1556564" y="1751698"/>
            <a:ext cx="6749415" cy="487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5" name="公式" r:id="rId3" imgW="3340100" imgH="241300" progId="Equation.3">
                    <p:embed/>
                  </p:oleObj>
                </mc:Choice>
                <mc:Fallback>
                  <p:oleObj name="公式" r:id="rId3" imgW="3340100" imgH="241300" progId="Equation.3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56564" y="1751698"/>
                          <a:ext cx="6749415" cy="487590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CC99"/>
                            </a:gs>
                            <a:gs pos="50000">
                              <a:srgbClr val="FFFFFF"/>
                            </a:gs>
                            <a:gs pos="100000">
                              <a:srgbClr val="00CC99"/>
                            </a:gs>
                          </a:gsLst>
                          <a:lin ang="5400000" scaled="1"/>
                          <a:tileRect/>
                        </a:gra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331" name="Object 3"/>
            <p:cNvGraphicFramePr>
              <a:graphicFrameLocks noChangeAspect="1"/>
            </p:cNvGraphicFramePr>
            <p:nvPr/>
          </p:nvGraphicFramePr>
          <p:xfrm>
            <a:off x="4171494" y="2312935"/>
            <a:ext cx="3993515" cy="489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6" name="公式" r:id="rId5" imgW="1892300" imgH="228600" progId="Equation.3">
                    <p:embed/>
                  </p:oleObj>
                </mc:Choice>
                <mc:Fallback>
                  <p:oleObj name="公式" r:id="rId5" imgW="1892300" imgH="228600" progId="Equation.3">
                    <p:embed/>
                    <p:pic>
                      <p:nvPicPr>
                        <p:cNvPr id="0" name="Object 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71494" y="2312935"/>
                          <a:ext cx="3993515" cy="48949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CC99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  <a:tileRect/>
                        </a:gra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284163" y="2147888"/>
            <a:ext cx="34798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将</a:t>
            </a:r>
            <a:r>
              <a:rPr lang="en-US" altLang="zh-CN"/>
              <a:t>(5.2 )–(5.3 )</a:t>
            </a:r>
            <a:r>
              <a:rPr lang="zh-CN" altLang="en-US"/>
              <a:t>写成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 smtClean="0"/>
              <a:t>极值原理</a:t>
            </a:r>
            <a:endParaRPr lang="zh-CN" altLang="en-US" b="1" dirty="0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035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8F981F-D12B-4E02-B87A-98B7742999F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28005" name="矩形 4"/>
          <p:cNvSpPr>
            <a:spLocks noChangeArrowheads="1"/>
          </p:cNvSpPr>
          <p:nvPr/>
        </p:nvSpPr>
        <p:spPr bwMode="auto">
          <a:xfrm>
            <a:off x="536575" y="1173163"/>
            <a:ext cx="8275638" cy="1077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设</a:t>
            </a:r>
            <a:r>
              <a:rPr lang="en-US" altLang="zh-CN" i="1"/>
              <a:t>y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  y</a:t>
            </a:r>
            <a:r>
              <a:rPr lang="en-US" altLang="zh-CN" baseline="-25000"/>
              <a:t>2</a:t>
            </a:r>
            <a:r>
              <a:rPr lang="en-US" altLang="zh-CN"/>
              <a:t>, · · · , </a:t>
            </a:r>
            <a:r>
              <a:rPr lang="en-US" altLang="zh-CN" i="1"/>
              <a:t>y</a:t>
            </a:r>
            <a:r>
              <a:rPr lang="en-US" altLang="zh-CN" i="1" baseline="-25000"/>
              <a:t>N </a:t>
            </a:r>
            <a:r>
              <a:rPr lang="zh-CN" altLang="en-US"/>
              <a:t>是不完全相等的</a:t>
            </a:r>
            <a:r>
              <a:rPr lang="en-US" altLang="zh-CN"/>
              <a:t>N + 1 </a:t>
            </a:r>
            <a:r>
              <a:rPr lang="zh-CN" altLang="en-US"/>
              <a:t>个实数， 记有限差分算子</a:t>
            </a:r>
            <a:endParaRPr lang="zh-CN" alt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968500" y="2346960"/>
          <a:ext cx="651573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公式" r:id="rId1" imgW="3327400" imgH="228600" progId="Equation.3">
                  <p:embed/>
                </p:oleObj>
              </mc:Choice>
              <mc:Fallback>
                <p:oleObj name="公式" r:id="rId1" imgW="3327400" imgH="2286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8500" y="2346960"/>
                        <a:ext cx="6515735" cy="44767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77838" y="2890838"/>
            <a:ext cx="620712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其中系数</a:t>
            </a:r>
            <a:r>
              <a:rPr lang="en-US" altLang="zh-CN" i="1"/>
              <a:t>a</a:t>
            </a:r>
            <a:r>
              <a:rPr lang="en-US" altLang="zh-CN" i="1" baseline="-25000"/>
              <a:t>n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 i="1" baseline="-25000"/>
              <a:t>n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 i="1" baseline="-25000"/>
              <a:t>n</a:t>
            </a:r>
            <a:r>
              <a:rPr lang="zh-CN" altLang="en-US"/>
              <a:t>满足条件</a:t>
            </a:r>
            <a:r>
              <a:rPr lang="en-US" altLang="zh-CN"/>
              <a:t>:</a:t>
            </a: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90538" y="3459163"/>
            <a:ext cx="8096250" cy="20621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pt-BR" altLang="zh-CN"/>
              <a:t>(1)  </a:t>
            </a:r>
            <a:r>
              <a:rPr lang="pt-BR" altLang="zh-CN" i="1"/>
              <a:t>a</a:t>
            </a:r>
            <a:r>
              <a:rPr lang="pt-BR" altLang="zh-CN" baseline="-25000"/>
              <a:t>1</a:t>
            </a:r>
            <a:r>
              <a:rPr lang="pt-BR" altLang="zh-CN"/>
              <a:t> = </a:t>
            </a:r>
            <a:r>
              <a:rPr lang="pt-BR" altLang="zh-CN" i="1"/>
              <a:t>c</a:t>
            </a:r>
            <a:r>
              <a:rPr lang="pt-BR" altLang="zh-CN" i="1" baseline="-25000"/>
              <a:t>N</a:t>
            </a:r>
            <a:r>
              <a:rPr lang="pt-BR" altLang="zh-CN" baseline="-25000"/>
              <a:t>−1</a:t>
            </a:r>
            <a:r>
              <a:rPr lang="pt-BR" altLang="zh-CN"/>
              <a:t> = 0,</a:t>
            </a:r>
            <a:r>
              <a:rPr lang="pt-BR" altLang="zh-CN" i="1"/>
              <a:t>a</a:t>
            </a:r>
            <a:r>
              <a:rPr lang="pt-BR" altLang="zh-CN" i="1" baseline="-25000"/>
              <a:t>n</a:t>
            </a:r>
            <a:r>
              <a:rPr lang="pt-BR" altLang="zh-CN"/>
              <a:t> ≥ 0, </a:t>
            </a:r>
            <a:r>
              <a:rPr lang="pt-BR" altLang="zh-CN" i="1"/>
              <a:t>b</a:t>
            </a:r>
            <a:r>
              <a:rPr lang="pt-BR" altLang="zh-CN" i="1" baseline="-25000"/>
              <a:t>n</a:t>
            </a:r>
            <a:r>
              <a:rPr lang="pt-BR" altLang="zh-CN" i="1"/>
              <a:t> </a:t>
            </a:r>
            <a:r>
              <a:rPr lang="pt-BR" altLang="zh-CN"/>
              <a:t>&gt; 0, </a:t>
            </a:r>
            <a:r>
              <a:rPr lang="pt-BR" altLang="zh-CN" i="1"/>
              <a:t>c</a:t>
            </a:r>
            <a:r>
              <a:rPr lang="pt-BR" altLang="zh-CN" i="1" baseline="-25000"/>
              <a:t>n</a:t>
            </a:r>
            <a:r>
              <a:rPr lang="pt-BR" altLang="zh-CN" i="1"/>
              <a:t> </a:t>
            </a:r>
            <a:r>
              <a:rPr lang="pt-BR" altLang="zh-CN"/>
              <a:t>≥ 0, </a:t>
            </a:r>
            <a:r>
              <a:rPr lang="pt-BR" altLang="zh-CN" i="1"/>
              <a:t>n</a:t>
            </a:r>
            <a:r>
              <a:rPr lang="pt-BR" altLang="zh-CN"/>
              <a:t> = 1, 2, ..., </a:t>
            </a:r>
            <a:r>
              <a:rPr lang="pt-BR" altLang="zh-CN" i="1"/>
              <a:t>N </a:t>
            </a:r>
            <a:r>
              <a:rPr lang="pt-BR" altLang="zh-CN"/>
              <a:t>− 1;</a:t>
            </a:r>
            <a:endParaRPr lang="pt-BR" altLang="zh-CN"/>
          </a:p>
          <a:p>
            <a:r>
              <a:rPr lang="pt-BR" altLang="zh-CN"/>
              <a:t>(2)  </a:t>
            </a:r>
            <a:r>
              <a:rPr lang="pt-BR" altLang="zh-CN" i="1"/>
              <a:t>b</a:t>
            </a:r>
            <a:r>
              <a:rPr lang="pt-BR" altLang="zh-CN" baseline="-25000"/>
              <a:t>1</a:t>
            </a:r>
            <a:r>
              <a:rPr lang="pt-BR" altLang="zh-CN"/>
              <a:t> &gt; </a:t>
            </a:r>
            <a:r>
              <a:rPr lang="pt-BR" altLang="zh-CN" i="1"/>
              <a:t>c</a:t>
            </a:r>
            <a:r>
              <a:rPr lang="pt-BR" altLang="zh-CN" baseline="-25000"/>
              <a:t>1</a:t>
            </a:r>
            <a:r>
              <a:rPr lang="pt-BR" altLang="zh-CN"/>
              <a:t>, </a:t>
            </a:r>
            <a:r>
              <a:rPr lang="pt-BR" altLang="zh-CN" i="1"/>
              <a:t>b</a:t>
            </a:r>
            <a:r>
              <a:rPr lang="pt-BR" altLang="zh-CN" i="1" baseline="-25000"/>
              <a:t>N</a:t>
            </a:r>
            <a:r>
              <a:rPr lang="pt-BR" altLang="zh-CN" baseline="-25000"/>
              <a:t>−1</a:t>
            </a:r>
            <a:r>
              <a:rPr lang="pt-BR" altLang="zh-CN"/>
              <a:t> &gt; </a:t>
            </a:r>
            <a:r>
              <a:rPr lang="pt-BR" altLang="zh-CN" i="1"/>
              <a:t>a</a:t>
            </a:r>
            <a:r>
              <a:rPr lang="pt-BR" altLang="zh-CN" i="1" baseline="-25000"/>
              <a:t>N</a:t>
            </a:r>
            <a:r>
              <a:rPr lang="pt-BR" altLang="zh-CN" baseline="-25000"/>
              <a:t>−1</a:t>
            </a:r>
            <a:r>
              <a:rPr lang="pt-BR" altLang="zh-CN"/>
              <a:t>, </a:t>
            </a:r>
            <a:r>
              <a:rPr lang="pt-BR" altLang="zh-CN" b="1" i="1">
                <a:solidFill>
                  <a:srgbClr val="FF0000"/>
                </a:solidFill>
              </a:rPr>
              <a:t>b</a:t>
            </a:r>
            <a:r>
              <a:rPr lang="pt-BR" altLang="zh-CN" b="1" i="1" baseline="-25000">
                <a:solidFill>
                  <a:srgbClr val="FF0000"/>
                </a:solidFill>
              </a:rPr>
              <a:t>n</a:t>
            </a:r>
            <a:r>
              <a:rPr lang="pt-BR" altLang="zh-CN" b="1">
                <a:solidFill>
                  <a:srgbClr val="FF0000"/>
                </a:solidFill>
              </a:rPr>
              <a:t> ≥ </a:t>
            </a:r>
            <a:r>
              <a:rPr lang="pt-BR" altLang="zh-CN" b="1" i="1">
                <a:solidFill>
                  <a:srgbClr val="FF0000"/>
                </a:solidFill>
              </a:rPr>
              <a:t>a</a:t>
            </a:r>
            <a:r>
              <a:rPr lang="pt-BR" altLang="zh-CN" b="1" i="1" baseline="-25000">
                <a:solidFill>
                  <a:srgbClr val="FF0000"/>
                </a:solidFill>
              </a:rPr>
              <a:t>n</a:t>
            </a:r>
            <a:r>
              <a:rPr lang="pt-BR" altLang="zh-CN" b="1">
                <a:solidFill>
                  <a:srgbClr val="FF0000"/>
                </a:solidFill>
              </a:rPr>
              <a:t> + </a:t>
            </a:r>
            <a:r>
              <a:rPr lang="pt-BR" altLang="zh-CN" b="1" i="1">
                <a:solidFill>
                  <a:srgbClr val="FF0000"/>
                </a:solidFill>
              </a:rPr>
              <a:t>c</a:t>
            </a:r>
            <a:r>
              <a:rPr lang="pt-BR" altLang="zh-CN" b="1" i="1" baseline="-25000">
                <a:solidFill>
                  <a:srgbClr val="FF0000"/>
                </a:solidFill>
              </a:rPr>
              <a:t>n</a:t>
            </a:r>
            <a:r>
              <a:rPr lang="pt-BR" altLang="zh-CN"/>
              <a:t>, </a:t>
            </a:r>
            <a:r>
              <a:rPr lang="pt-BR" altLang="zh-CN" i="1"/>
              <a:t>n</a:t>
            </a:r>
            <a:r>
              <a:rPr lang="pt-BR" altLang="zh-CN"/>
              <a:t> = 2, 3,... , </a:t>
            </a:r>
            <a:r>
              <a:rPr lang="pt-BR" altLang="zh-CN" i="1"/>
              <a:t>N</a:t>
            </a:r>
            <a:r>
              <a:rPr lang="pt-BR" altLang="zh-CN"/>
              <a:t> − 2.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/>
      <p:bldP spid="8" grpId="0"/>
      <p:bldP spid="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标题 1"/>
          <p:cNvSpPr>
            <a:spLocks noGrp="1"/>
          </p:cNvSpPr>
          <p:nvPr>
            <p:ph type="title"/>
          </p:nvPr>
        </p:nvSpPr>
        <p:spPr>
          <a:xfrm>
            <a:off x="533400" y="506413"/>
            <a:ext cx="7772400" cy="1143000"/>
          </a:xfrm>
        </p:spPr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(5.4 )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与成矩阵形式为</a:t>
            </a:r>
            <a:endParaRPr lang="zh-CN" altLang="en-US" u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138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CF4D12D-B829-4B07-82F1-195900313CFB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628650" y="197485"/>
          <a:ext cx="7985125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公式" r:id="rId1" imgW="3327400" imgH="228600" progId="Equation.3">
                  <p:embed/>
                </p:oleObj>
              </mc:Choice>
              <mc:Fallback>
                <p:oleObj name="公式" r:id="rId1" imgW="3327400" imgH="2286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650" y="197485"/>
                        <a:ext cx="7985125" cy="54864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363" y="1458913"/>
            <a:ext cx="7872412" cy="272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09600" y="4351338"/>
            <a:ext cx="7964488" cy="1570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条件</a:t>
            </a:r>
            <a:r>
              <a:rPr lang="en-US" altLang="zh-CN"/>
              <a:t>(2) </a:t>
            </a:r>
            <a:r>
              <a:rPr lang="zh-CN" altLang="en-US"/>
              <a:t>保证了等式右端矩阵是行对角占优的三对角矩阵，且矩阵的每行和最后一行是严格对角占优的</a:t>
            </a:r>
            <a:r>
              <a:rPr lang="en-US" altLang="zh-CN"/>
              <a:t>.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 smtClean="0"/>
              <a:t>极值原理</a:t>
            </a:r>
            <a:endParaRPr lang="zh-CN" altLang="en-US" dirty="0"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240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04A0FA-30F5-4B2C-A9F8-6593BB55BE9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77838" y="1789113"/>
            <a:ext cx="8281987" cy="3784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b="1"/>
              <a:t>引理</a:t>
            </a:r>
            <a:r>
              <a:rPr lang="en-US" altLang="zh-CN" b="1"/>
              <a:t>5.</a:t>
            </a:r>
            <a:r>
              <a:rPr lang="en-US" altLang="zh-CN" b="1"/>
              <a:t>1  </a:t>
            </a:r>
            <a:r>
              <a:rPr lang="zh-CN" altLang="en-US"/>
              <a:t>如果</a:t>
            </a:r>
            <a:endParaRPr lang="zh-CN" altLang="en-US"/>
          </a:p>
          <a:p>
            <a:pPr algn="ctr"/>
            <a:r>
              <a:rPr lang="pt-BR" altLang="zh-CN" i="1"/>
              <a:t>ℓ</a:t>
            </a:r>
            <a:r>
              <a:rPr lang="pt-BR" altLang="zh-CN"/>
              <a:t>(</a:t>
            </a:r>
            <a:r>
              <a:rPr lang="pt-BR" altLang="zh-CN" i="1"/>
              <a:t>y</a:t>
            </a:r>
            <a:r>
              <a:rPr lang="pt-BR" altLang="zh-CN" i="1" baseline="-25000"/>
              <a:t>n</a:t>
            </a:r>
            <a:r>
              <a:rPr lang="pt-BR" altLang="zh-CN"/>
              <a:t>) ≥ 0, </a:t>
            </a:r>
            <a:r>
              <a:rPr lang="pt-BR" altLang="zh-CN" i="1"/>
              <a:t>n</a:t>
            </a:r>
            <a:r>
              <a:rPr lang="pt-BR" altLang="zh-CN"/>
              <a:t> = 1, 2, · · · , </a:t>
            </a:r>
            <a:r>
              <a:rPr lang="pt-BR" altLang="zh-CN" i="1"/>
              <a:t>N</a:t>
            </a:r>
            <a:r>
              <a:rPr lang="pt-BR" altLang="zh-CN"/>
              <a:t> − 1,</a:t>
            </a:r>
            <a:endParaRPr lang="pt-BR" altLang="zh-CN" i="1"/>
          </a:p>
          <a:p>
            <a:pPr>
              <a:lnSpc>
                <a:spcPct val="125000"/>
              </a:lnSpc>
            </a:pPr>
            <a:r>
              <a:rPr lang="zh-CN" altLang="en-US"/>
              <a:t>则</a:t>
            </a:r>
            <a:r>
              <a:rPr lang="en-US" altLang="zh-CN" i="1"/>
              <a:t>y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  y</a:t>
            </a:r>
            <a:r>
              <a:rPr lang="en-US" altLang="zh-CN" baseline="-25000"/>
              <a:t>2</a:t>
            </a:r>
            <a:r>
              <a:rPr lang="en-US" altLang="zh-CN"/>
              <a:t>, · · · , </a:t>
            </a:r>
            <a:r>
              <a:rPr lang="en-US" altLang="zh-CN" i="1"/>
              <a:t>y</a:t>
            </a:r>
            <a:r>
              <a:rPr lang="en-US" altLang="zh-CN" i="1" baseline="-25000"/>
              <a:t>N </a:t>
            </a:r>
            <a:r>
              <a:rPr lang="zh-CN" altLang="en-US"/>
              <a:t>中正的最大值只能是</a:t>
            </a:r>
            <a:r>
              <a:rPr lang="en-US" altLang="zh-CN" i="1"/>
              <a:t>y</a:t>
            </a:r>
            <a:r>
              <a:rPr lang="en-US" altLang="zh-CN" baseline="-25000"/>
              <a:t>0 </a:t>
            </a:r>
            <a:r>
              <a:rPr lang="zh-CN" altLang="en-US"/>
              <a:t>或</a:t>
            </a:r>
            <a:r>
              <a:rPr lang="en-US" altLang="zh-CN" i="1"/>
              <a:t>y</a:t>
            </a:r>
            <a:r>
              <a:rPr lang="en-US" altLang="zh-CN" i="1" baseline="-25000"/>
              <a:t>N </a:t>
            </a:r>
            <a:r>
              <a:rPr lang="zh-CN" altLang="en-US"/>
              <a:t>； 如果</a:t>
            </a:r>
            <a:endParaRPr lang="zh-CN" altLang="en-US"/>
          </a:p>
          <a:p>
            <a:pPr algn="ctr"/>
            <a:r>
              <a:rPr lang="pt-BR" altLang="zh-CN" i="1"/>
              <a:t>ℓ</a:t>
            </a:r>
            <a:r>
              <a:rPr lang="pt-BR" altLang="zh-CN"/>
              <a:t>(</a:t>
            </a:r>
            <a:r>
              <a:rPr lang="pt-BR" altLang="zh-CN" i="1"/>
              <a:t>y</a:t>
            </a:r>
            <a:r>
              <a:rPr lang="pt-BR" altLang="zh-CN" i="1" baseline="-25000"/>
              <a:t>n</a:t>
            </a:r>
            <a:r>
              <a:rPr lang="pt-BR" altLang="zh-CN"/>
              <a:t>) ≤ 0, , n = 1, 2 · · · , </a:t>
            </a:r>
            <a:r>
              <a:rPr lang="pt-BR" altLang="zh-CN" i="1"/>
              <a:t>N</a:t>
            </a:r>
            <a:r>
              <a:rPr lang="pt-BR" altLang="zh-CN"/>
              <a:t> − 1,</a:t>
            </a:r>
            <a:endParaRPr lang="pt-BR" altLang="zh-CN"/>
          </a:p>
          <a:p>
            <a:r>
              <a:rPr lang="zh-CN" altLang="en-US"/>
              <a:t>则</a:t>
            </a:r>
            <a:r>
              <a:rPr lang="en-US" altLang="zh-CN" i="1"/>
              <a:t>y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  y</a:t>
            </a:r>
            <a:r>
              <a:rPr lang="en-US" altLang="zh-CN" baseline="-25000"/>
              <a:t>2</a:t>
            </a:r>
            <a:r>
              <a:rPr lang="en-US" altLang="zh-CN"/>
              <a:t>, · · · , </a:t>
            </a:r>
            <a:r>
              <a:rPr lang="en-US" altLang="zh-CN" i="1"/>
              <a:t>y</a:t>
            </a:r>
            <a:r>
              <a:rPr lang="en-US" altLang="zh-CN" i="1" baseline="-25000"/>
              <a:t>N</a:t>
            </a:r>
            <a:r>
              <a:rPr lang="zh-CN" altLang="en-US"/>
              <a:t>中负的最小值只能是</a:t>
            </a:r>
            <a:r>
              <a:rPr lang="en-US" altLang="zh-CN" i="1"/>
              <a:t>y</a:t>
            </a:r>
            <a:r>
              <a:rPr lang="en-US" altLang="zh-CN" baseline="-25000"/>
              <a:t>0 </a:t>
            </a:r>
            <a:r>
              <a:rPr lang="zh-CN" altLang="en-US"/>
              <a:t>或</a:t>
            </a:r>
            <a:r>
              <a:rPr lang="en-US" altLang="zh-CN" i="1"/>
              <a:t>y</a:t>
            </a:r>
            <a:r>
              <a:rPr lang="en-US" altLang="zh-CN" i="1" baseline="-25000"/>
              <a:t>N  </a:t>
            </a:r>
            <a:r>
              <a:rPr lang="zh-CN" altLang="en-US"/>
              <a:t>。</a:t>
            </a:r>
            <a:endParaRPr lang="zh-CN" altLang="en-US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555625" y="1182688"/>
          <a:ext cx="7980363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公式" r:id="rId1" imgW="79857600" imgH="5486400" progId="Equation.3">
                  <p:embed/>
                </p:oleObj>
              </mc:Choice>
              <mc:Fallback>
                <p:oleObj name="公式" r:id="rId1" imgW="79857600" imgH="54864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5625" y="1182688"/>
                        <a:ext cx="7980363" cy="547687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9" name="标题 1"/>
          <p:cNvSpPr>
            <a:spLocks noGrp="1"/>
          </p:cNvSpPr>
          <p:nvPr>
            <p:ph type="title"/>
          </p:nvPr>
        </p:nvSpPr>
        <p:spPr>
          <a:xfrm>
            <a:off x="414338" y="30163"/>
            <a:ext cx="7772400" cy="1143000"/>
          </a:xfrm>
        </p:spPr>
        <p:txBody>
          <a:bodyPr/>
          <a:lstStyle/>
          <a:p>
            <a:pPr algn="l"/>
            <a:r>
              <a:rPr lang="zh-CN" altLang="en-US" b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推论</a:t>
            </a:r>
            <a:r>
              <a:rPr lang="en-US" altLang="zh-CN" b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en-US" altLang="zh-CN" b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i="1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ℓ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u="none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i="1" u="none" baseline="-25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由式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(5.4 )</a:t>
            </a:r>
            <a:r>
              <a:rPr lang="zh-CN" altLang="en-US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r>
              <a:rPr lang="en-US" altLang="zh-CN" u="none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en-US" u="none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343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58B296-BC21-4621-82B7-B2DAEBC24577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77838" y="1828800"/>
            <a:ext cx="312737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则三对角方程组</a:t>
            </a:r>
            <a:endParaRPr lang="zh-CN" altLang="en-US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486535" y="855980"/>
          <a:ext cx="670052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公式" r:id="rId1" imgW="3327400" imgH="228600" progId="Equation.3">
                  <p:embed/>
                </p:oleObj>
              </mc:Choice>
              <mc:Fallback>
                <p:oleObj name="公式" r:id="rId1" imgW="3327400" imgH="2286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86535" y="855980"/>
                        <a:ext cx="6700520" cy="460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9638" y="1482725"/>
            <a:ext cx="5119687" cy="126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96875" y="2816225"/>
            <a:ext cx="8243888" cy="1077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的解存在且唯一， 其中</a:t>
            </a:r>
            <a:r>
              <a:rPr lang="el-GR" altLang="zh-CN" i="1"/>
              <a:t>α</a:t>
            </a:r>
            <a:r>
              <a:rPr lang="el-GR" altLang="zh-CN"/>
              <a:t>, </a:t>
            </a:r>
            <a:r>
              <a:rPr lang="el-GR" altLang="zh-CN" i="1"/>
              <a:t>β</a:t>
            </a:r>
            <a:r>
              <a:rPr lang="zh-CN" altLang="en-US"/>
              <a:t>和</a:t>
            </a:r>
            <a:r>
              <a:rPr lang="en-US" altLang="zh-CN" i="1"/>
              <a:t>d</a:t>
            </a:r>
            <a:r>
              <a:rPr lang="en-US" altLang="zh-CN" i="1" baseline="-25000"/>
              <a:t>n</a:t>
            </a:r>
            <a:r>
              <a:rPr lang="en-US" altLang="zh-CN"/>
              <a:t>, </a:t>
            </a:r>
            <a:r>
              <a:rPr lang="en-US" altLang="zh-CN" i="1"/>
              <a:t>n</a:t>
            </a:r>
            <a:r>
              <a:rPr lang="en-US" altLang="zh-CN"/>
              <a:t> = 1, 2, … ,</a:t>
            </a:r>
            <a:r>
              <a:rPr lang="en-US" altLang="zh-CN" i="1"/>
              <a:t> N </a:t>
            </a:r>
            <a:r>
              <a:rPr lang="en-US" altLang="zh-CN"/>
              <a:t>− 1</a:t>
            </a:r>
            <a:r>
              <a:rPr lang="zh-CN" altLang="en-US"/>
              <a:t>都是已知常数。</a:t>
            </a:r>
            <a:endParaRPr lang="zh-CN" alt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04800" y="3875088"/>
            <a:ext cx="8640763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/>
              <a:t>	</a:t>
            </a:r>
            <a:r>
              <a:rPr lang="zh-CN" altLang="en-US"/>
              <a:t>应用此推论</a:t>
            </a:r>
            <a:r>
              <a:rPr lang="en-US" altLang="zh-CN"/>
              <a:t>, </a:t>
            </a:r>
            <a:r>
              <a:rPr lang="zh-CN" altLang="en-US"/>
              <a:t>可得下面的结果。</a:t>
            </a:r>
            <a:endParaRPr lang="en-US" altLang="zh-CN"/>
          </a:p>
          <a:p>
            <a:r>
              <a:rPr lang="zh-CN" altLang="en-US" b="1"/>
              <a:t>定理</a:t>
            </a:r>
            <a:r>
              <a:rPr lang="en-US" altLang="zh-CN" b="1"/>
              <a:t>5.</a:t>
            </a:r>
            <a:r>
              <a:rPr lang="en-US" altLang="zh-CN" b="1"/>
              <a:t>1  </a:t>
            </a:r>
            <a:r>
              <a:rPr lang="zh-CN" altLang="en-US"/>
              <a:t>差分方程</a:t>
            </a:r>
            <a:r>
              <a:rPr lang="en-US" altLang="zh-CN"/>
              <a:t>(5.2 )–(5.3 )</a:t>
            </a:r>
            <a:r>
              <a:rPr lang="zh-CN" altLang="en-US"/>
              <a:t>的解存在且唯一。</a:t>
            </a:r>
            <a:endParaRPr lang="zh-CN" altLang="en-US"/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937895" y="4898390"/>
            <a:ext cx="7504430" cy="1502409"/>
            <a:chOff x="993912" y="5067352"/>
            <a:chExt cx="7448683" cy="1302356"/>
          </a:xfrm>
        </p:grpSpPr>
        <p:graphicFrame>
          <p:nvGraphicFramePr>
            <p:cNvPr id="104449" name="Object 4"/>
            <p:cNvGraphicFramePr>
              <a:graphicFrameLocks noChangeAspect="1"/>
            </p:cNvGraphicFramePr>
            <p:nvPr/>
          </p:nvGraphicFramePr>
          <p:xfrm>
            <a:off x="993912" y="5067352"/>
            <a:ext cx="7448683" cy="542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公式" r:id="rId4" imgW="3327400" imgH="241300" progId="Equation.3">
                    <p:embed/>
                  </p:oleObj>
                </mc:Choice>
                <mc:Fallback>
                  <p:oleObj name="公式" r:id="rId4" imgW="3327400" imgH="241300" progId="Equation.3">
                    <p:embed/>
                    <p:pic>
                      <p:nvPicPr>
                        <p:cNvPr id="0" name="Object 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93912" y="5067352"/>
                          <a:ext cx="7448683" cy="542190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CC99"/>
                            </a:gs>
                            <a:gs pos="50000">
                              <a:srgbClr val="FFFFFF"/>
                            </a:gs>
                            <a:gs pos="100000">
                              <a:srgbClr val="00CC99"/>
                            </a:gs>
                          </a:gsLst>
                          <a:lin ang="5400000" scaled="1"/>
                          <a:tileRect/>
                        </a:gra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28" name="Object 5"/>
            <p:cNvGraphicFramePr>
              <a:graphicFrameLocks noChangeAspect="1"/>
            </p:cNvGraphicFramePr>
            <p:nvPr/>
          </p:nvGraphicFramePr>
          <p:xfrm>
            <a:off x="1820213" y="5771373"/>
            <a:ext cx="5667503" cy="598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公式" r:id="rId6" imgW="2209800" imgH="228600" progId="Equation.3">
                    <p:embed/>
                  </p:oleObj>
                </mc:Choice>
                <mc:Fallback>
                  <p:oleObj name="公式" r:id="rId6" imgW="22098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820213" y="5771373"/>
                          <a:ext cx="5667503" cy="598335"/>
                        </a:xfrm>
                        <a:prstGeom prst="rect">
                          <a:avLst/>
                        </a:prstGeom>
                        <a:gradFill rotWithShape="1">
                          <a:gsLst>
                            <a:gs pos="0">
                              <a:srgbClr val="00CC99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  <a:tileRect/>
                        </a:gradFill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  <p:bldP spid="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b="1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3600" b="1" u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一般二阶线性微分方程第一边界值问题</a:t>
            </a:r>
            <a:endParaRPr lang="zh-CN" altLang="en-US" sz="3600" b="1" u="none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445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A9678E-1381-49A0-B694-B4E5D5638456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15950" y="1312863"/>
            <a:ext cx="7945438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一般二阶线性微分方程第一边界值问题为</a:t>
            </a:r>
            <a:endParaRPr lang="zh-CN" altLang="en-US"/>
          </a:p>
        </p:txBody>
      </p:sp>
      <p:graphicFrame>
        <p:nvGraphicFramePr>
          <p:cNvPr id="146434" name="Object 1024"/>
          <p:cNvGraphicFramePr>
            <a:graphicFrameLocks noChangeAspect="1"/>
          </p:cNvGraphicFramePr>
          <p:nvPr/>
        </p:nvGraphicFramePr>
        <p:xfrm>
          <a:off x="615950" y="1898650"/>
          <a:ext cx="667258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公式" r:id="rId1" imgW="3111500" imgH="457200" progId="Equation.3">
                  <p:embed/>
                </p:oleObj>
              </mc:Choice>
              <mc:Fallback>
                <p:oleObj name="公式" r:id="rId1" imgW="3111500" imgH="4572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5950" y="1898650"/>
                        <a:ext cx="6672580" cy="981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71475" y="2935288"/>
            <a:ext cx="8135938" cy="1077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r>
              <a:rPr lang="en-US" altLang="zh-CN" i="1"/>
              <a:t>α</a:t>
            </a:r>
            <a:r>
              <a:rPr lang="en-US" altLang="zh-CN"/>
              <a:t>, </a:t>
            </a:r>
            <a:r>
              <a:rPr lang="en-US" altLang="zh-CN" i="1"/>
              <a:t>β</a:t>
            </a:r>
            <a:r>
              <a:rPr lang="zh-CN" altLang="en-US"/>
              <a:t>为已知常数，</a:t>
            </a:r>
            <a:r>
              <a:rPr lang="en-US" altLang="zh-CN" i="1"/>
              <a:t>p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), </a:t>
            </a:r>
            <a:r>
              <a:rPr lang="en-US" altLang="zh-CN" i="1"/>
              <a:t>q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和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</a:t>
            </a:r>
            <a:r>
              <a:rPr lang="zh-CN" altLang="en-US"/>
              <a:t>为已知连续函数</a:t>
            </a:r>
            <a:r>
              <a:rPr lang="en-US" altLang="zh-CN"/>
              <a:t>, </a:t>
            </a:r>
            <a:r>
              <a:rPr lang="zh-CN" altLang="en-US"/>
              <a:t>且</a:t>
            </a:r>
            <a:r>
              <a:rPr lang="en-US" altLang="zh-CN" i="1"/>
              <a:t>q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/>
              <a:t>) &gt; 0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36563" y="3956050"/>
            <a:ext cx="5421312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把</a:t>
            </a:r>
            <a:r>
              <a:rPr lang="en-US" altLang="zh-CN"/>
              <a:t>[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 b</a:t>
            </a:r>
            <a:r>
              <a:rPr lang="en-US" altLang="zh-CN"/>
              <a:t>]</a:t>
            </a:r>
            <a:r>
              <a:rPr lang="zh-CN" altLang="en-US"/>
              <a:t>区间</a:t>
            </a:r>
            <a:r>
              <a:rPr lang="en-US" altLang="zh-CN" i="1"/>
              <a:t>N</a:t>
            </a:r>
            <a:r>
              <a:rPr lang="zh-CN" altLang="en-US"/>
              <a:t>等分，其节点为</a:t>
            </a:r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2825" y="4522788"/>
            <a:ext cx="6983413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69900" y="5400675"/>
            <a:ext cx="8104188" cy="1077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 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 x</a:t>
            </a:r>
            <a:r>
              <a:rPr lang="en-US" altLang="zh-CN" baseline="-25000"/>
              <a:t>2</a:t>
            </a:r>
            <a:r>
              <a:rPr lang="en-US" altLang="zh-CN"/>
              <a:t>, · · · , 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zh-CN" altLang="en-US" baseline="-25000"/>
              <a:t>−</a:t>
            </a:r>
            <a:r>
              <a:rPr lang="en-US" altLang="zh-CN" baseline="-25000"/>
              <a:t>1 </a:t>
            </a:r>
            <a:r>
              <a:rPr lang="zh-CN" altLang="en-US"/>
              <a:t>称为内节点，</a:t>
            </a:r>
            <a:r>
              <a:rPr lang="en-US" altLang="zh-CN" i="1"/>
              <a:t> x</a:t>
            </a:r>
            <a:r>
              <a:rPr lang="en-US" altLang="zh-CN" baseline="-25000"/>
              <a:t>0</a:t>
            </a:r>
            <a:r>
              <a:rPr lang="en-US" altLang="zh-CN"/>
              <a:t>(=</a:t>
            </a:r>
            <a:r>
              <a:rPr lang="en-US" altLang="zh-CN" i="1"/>
              <a:t>a</a:t>
            </a:r>
            <a:r>
              <a:rPr lang="en-US" altLang="zh-CN"/>
              <a:t>), </a:t>
            </a:r>
            <a:endParaRPr lang="en-US" altLang="zh-CN"/>
          </a:p>
          <a:p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i="1"/>
              <a:t> </a:t>
            </a:r>
            <a:r>
              <a:rPr lang="en-US" altLang="zh-CN"/>
              <a:t>(=</a:t>
            </a:r>
            <a:r>
              <a:rPr lang="en-US" altLang="zh-CN" i="1"/>
              <a:t>b</a:t>
            </a:r>
            <a:r>
              <a:rPr lang="en-US" altLang="zh-CN"/>
              <a:t>) </a:t>
            </a:r>
            <a:r>
              <a:rPr lang="zh-CN" altLang="en-US"/>
              <a:t>称为边界节点。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标题 1"/>
          <p:cNvSpPr>
            <a:spLocks noGrp="1"/>
          </p:cNvSpPr>
          <p:nvPr>
            <p:ph type="title"/>
          </p:nvPr>
        </p:nvSpPr>
        <p:spPr>
          <a:xfrm>
            <a:off x="228600" y="30163"/>
            <a:ext cx="7772400" cy="1143000"/>
          </a:xfrm>
        </p:spPr>
        <p:txBody>
          <a:bodyPr/>
          <a:lstStyle/>
          <a:p>
            <a:r>
              <a:rPr lang="zh-CN" altLang="en-US" u="none" dirty="0" smtClean="0">
                <a:solidFill>
                  <a:schemeClr val="tx1"/>
                </a:solidFill>
              </a:rPr>
              <a:t>一般二阶线性微分方程第一边界值问题为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547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D3DC8B-5DD0-44C8-87A8-2478C7BBD2B6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146434" name="Object 1024"/>
          <p:cNvGraphicFramePr>
            <a:graphicFrameLocks noChangeAspect="1"/>
          </p:cNvGraphicFramePr>
          <p:nvPr/>
        </p:nvGraphicFramePr>
        <p:xfrm>
          <a:off x="788035" y="872490"/>
          <a:ext cx="6653530" cy="978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公式" r:id="rId1" imgW="3111500" imgH="457200" progId="Equation.3">
                  <p:embed/>
                </p:oleObj>
              </mc:Choice>
              <mc:Fallback>
                <p:oleObj name="公式" r:id="rId1" imgW="3111500" imgH="457200" progId="Equation.3">
                  <p:embed/>
                  <p:pic>
                    <p:nvPicPr>
                      <p:cNvPr id="0" name="Object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8035" y="872490"/>
                        <a:ext cx="6653530" cy="97853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63550" y="1978025"/>
            <a:ext cx="8018463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在每个</a:t>
            </a:r>
            <a:r>
              <a:rPr lang="zh-CN" altLang="en-US" b="1"/>
              <a:t>内节点</a:t>
            </a:r>
            <a:r>
              <a:rPr lang="en-US" altLang="zh-CN" b="1" i="1"/>
              <a:t>x</a:t>
            </a:r>
            <a:r>
              <a:rPr lang="en-US" altLang="zh-CN" b="1" i="1" baseline="-25000"/>
              <a:t>n</a:t>
            </a:r>
            <a:r>
              <a:rPr lang="zh-CN" altLang="en-US"/>
              <a:t>处应用三点数值微分公式：</a:t>
            </a:r>
            <a:endParaRPr lang="zh-CN" altLang="en-US"/>
          </a:p>
        </p:txBody>
      </p:sp>
      <p:grpSp>
        <p:nvGrpSpPr>
          <p:cNvPr id="2" name="组合 13"/>
          <p:cNvGrpSpPr/>
          <p:nvPr/>
        </p:nvGrpSpPr>
        <p:grpSpPr bwMode="auto">
          <a:xfrm>
            <a:off x="739775" y="2549525"/>
            <a:ext cx="7626350" cy="1609725"/>
            <a:chOff x="832421" y="3012770"/>
            <a:chExt cx="7626577" cy="1610403"/>
          </a:xfrm>
        </p:grpSpPr>
        <p:pic>
          <p:nvPicPr>
            <p:cNvPr id="105482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38998" y="3012770"/>
              <a:ext cx="76200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5483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32421" y="3830693"/>
              <a:ext cx="6156960" cy="792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63550" y="4070350"/>
            <a:ext cx="8402638" cy="1568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r>
              <a:rPr lang="el-GR" altLang="zh-CN" i="1"/>
              <a:t>ξ</a:t>
            </a:r>
            <a:r>
              <a:rPr lang="en-US" altLang="zh-CN" i="1" baseline="-25000"/>
              <a:t>n</a:t>
            </a:r>
            <a:r>
              <a:rPr lang="en-US" altLang="zh-CN"/>
              <a:t> ,</a:t>
            </a:r>
            <a:r>
              <a:rPr lang="el-GR" altLang="zh-CN" i="1"/>
              <a:t>η</a:t>
            </a:r>
            <a:r>
              <a:rPr lang="en-US" altLang="zh-CN" i="1" baseline="-25000"/>
              <a:t>n</a:t>
            </a:r>
            <a:r>
              <a:rPr lang="en-US" altLang="zh-CN"/>
              <a:t>∈(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baseline="-25000"/>
              <a:t>−1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 baseline="-25000"/>
              <a:t>+1</a:t>
            </a:r>
            <a:r>
              <a:rPr lang="en-US" altLang="zh-CN"/>
              <a:t>)</a:t>
            </a:r>
            <a:r>
              <a:rPr lang="zh-CN" altLang="en-US"/>
              <a:t>。记</a:t>
            </a:r>
            <a:r>
              <a:rPr lang="en-US" altLang="zh-CN" i="1"/>
              <a:t>p</a:t>
            </a:r>
            <a:r>
              <a:rPr lang="en-US" altLang="zh-CN" i="1" baseline="-25000"/>
              <a:t>n</a:t>
            </a:r>
            <a:r>
              <a:rPr lang="en-US" altLang="zh-CN" i="1"/>
              <a:t>=p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),</a:t>
            </a:r>
            <a:r>
              <a:rPr lang="en-US" altLang="zh-CN" i="1"/>
              <a:t>q</a:t>
            </a:r>
            <a:r>
              <a:rPr lang="en-US" altLang="zh-CN" i="1" baseline="-25000"/>
              <a:t>n</a:t>
            </a:r>
            <a:r>
              <a:rPr lang="en-US" altLang="zh-CN" i="1"/>
              <a:t>=q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),</a:t>
            </a:r>
            <a:r>
              <a:rPr lang="en-US" altLang="zh-CN" i="1"/>
              <a:t> f</a:t>
            </a:r>
            <a:r>
              <a:rPr lang="en-US" altLang="zh-CN" i="1" baseline="-25000"/>
              <a:t>n</a:t>
            </a:r>
            <a:r>
              <a:rPr lang="en-US" altLang="zh-CN" i="1"/>
              <a:t>= f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), </a:t>
            </a:r>
            <a:r>
              <a:rPr lang="en-US" altLang="zh-CN" i="1"/>
              <a:t>y</a:t>
            </a:r>
            <a:r>
              <a:rPr lang="en-US" altLang="zh-CN" i="1" baseline="-25000"/>
              <a:t>n</a:t>
            </a:r>
            <a:r>
              <a:rPr lang="zh-CN" altLang="en-US"/>
              <a:t>为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 i="1" baseline="-25000"/>
              <a:t>n</a:t>
            </a:r>
            <a:r>
              <a:rPr lang="en-US" altLang="zh-CN"/>
              <a:t>)</a:t>
            </a:r>
            <a:r>
              <a:rPr lang="zh-CN" altLang="en-US"/>
              <a:t>的近似值，这样方程</a:t>
            </a:r>
            <a:r>
              <a:rPr lang="en-US" altLang="zh-CN"/>
              <a:t>(5.4)</a:t>
            </a:r>
            <a:r>
              <a:rPr lang="zh-CN" altLang="en-US"/>
              <a:t>离散化为</a:t>
            </a:r>
            <a:endParaRPr lang="zh-CN" altLang="en-US"/>
          </a:p>
        </p:txBody>
      </p:sp>
      <p:pic>
        <p:nvPicPr>
          <p:cNvPr id="14746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57288" y="5210175"/>
            <a:ext cx="7407275" cy="112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标题 1"/>
          <p:cNvSpPr>
            <a:spLocks noGrp="1"/>
          </p:cNvSpPr>
          <p:nvPr>
            <p:ph type="title"/>
          </p:nvPr>
        </p:nvSpPr>
        <p:spPr>
          <a:xfrm>
            <a:off x="387350" y="42863"/>
            <a:ext cx="7772400" cy="1143000"/>
          </a:xfrm>
        </p:spPr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经整理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650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CFE339-3678-4D22-AFB6-038B1648C843}" type="slidenum">
              <a:rPr lang="zh-CN" altLang="en-US" smtClean="0"/>
            </a:fld>
            <a:endParaRPr lang="en-US" altLang="zh-CN" smtClean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6125" y="890588"/>
            <a:ext cx="7407275" cy="112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4449" name="Object 2"/>
          <p:cNvGraphicFramePr>
            <a:graphicFrameLocks noChangeAspect="1"/>
          </p:cNvGraphicFramePr>
          <p:nvPr/>
        </p:nvGraphicFramePr>
        <p:xfrm>
          <a:off x="387350" y="2705100"/>
          <a:ext cx="8566150" cy="125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公式" r:id="rId2" imgW="3479800" imgH="508000" progId="Equation.3">
                  <p:embed/>
                </p:oleObj>
              </mc:Choice>
              <mc:Fallback>
                <p:oleObj name="公式" r:id="rId2" imgW="3479800" imgH="5080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7350" y="2705100"/>
                        <a:ext cx="8566150" cy="125031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69900" y="2068513"/>
            <a:ext cx="7427913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由上述差分方程得到下面的差分方程</a:t>
            </a:r>
            <a:endParaRPr lang="zh-CN" altLang="en-US"/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19213" y="4205288"/>
            <a:ext cx="5745162" cy="22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31800" y="4197350"/>
            <a:ext cx="595313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/>
              <a:t>记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标题 1"/>
          <p:cNvSpPr>
            <a:spLocks noGrp="1"/>
          </p:cNvSpPr>
          <p:nvPr>
            <p:ph type="title"/>
          </p:nvPr>
        </p:nvSpPr>
        <p:spPr>
          <a:xfrm>
            <a:off x="387350" y="42863"/>
            <a:ext cx="7772400" cy="1143000"/>
          </a:xfrm>
        </p:spPr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由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752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666128-3C18-45CC-B6F8-D4FE87B4B92D}" type="slidenum">
              <a:rPr lang="zh-CN" altLang="en-US" smtClean="0"/>
            </a:fld>
            <a:endParaRPr lang="en-US" altLang="zh-CN" smtClean="0"/>
          </a:p>
        </p:txBody>
      </p:sp>
      <p:graphicFrame>
        <p:nvGraphicFramePr>
          <p:cNvPr id="104449" name="Object 2"/>
          <p:cNvGraphicFramePr>
            <a:graphicFrameLocks noChangeAspect="1"/>
          </p:cNvGraphicFramePr>
          <p:nvPr/>
        </p:nvGraphicFramePr>
        <p:xfrm>
          <a:off x="1203325" y="200025"/>
          <a:ext cx="5300663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公式" r:id="rId1" imgW="53035200" imgH="12192000" progId="Equation.3">
                  <p:embed/>
                </p:oleObj>
              </mc:Choice>
              <mc:Fallback>
                <p:oleObj name="公式" r:id="rId1" imgW="53035200" imgH="121920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03325" y="200025"/>
                        <a:ext cx="5300663" cy="1216025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00CC99"/>
                          </a:gs>
                          <a:gs pos="50000">
                            <a:srgbClr val="FFFFFF"/>
                          </a:gs>
                          <a:gs pos="100000">
                            <a:srgbClr val="00CC99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77825" y="1419225"/>
            <a:ext cx="5227638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得到三对角型的差分方程组</a:t>
            </a:r>
            <a:endParaRPr lang="zh-CN" altLang="en-US"/>
          </a:p>
        </p:txBody>
      </p:sp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2538" y="4725988"/>
            <a:ext cx="3357562" cy="95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265113" y="4897438"/>
            <a:ext cx="1231900" cy="5857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其中</a:t>
            </a:r>
            <a:endParaRPr lang="zh-CN" altLang="en-US"/>
          </a:p>
        </p:txBody>
      </p:sp>
      <p:pic>
        <p:nvPicPr>
          <p:cNvPr id="149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86288" y="4791075"/>
            <a:ext cx="4171950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14"/>
          <p:cNvGrpSpPr/>
          <p:nvPr/>
        </p:nvGrpSpPr>
        <p:grpSpPr bwMode="auto">
          <a:xfrm>
            <a:off x="676275" y="2011363"/>
            <a:ext cx="8190765" cy="2700337"/>
            <a:chOff x="755171" y="1998801"/>
            <a:chExt cx="8191383" cy="2700338"/>
          </a:xfrm>
        </p:grpSpPr>
        <p:pic>
          <p:nvPicPr>
            <p:cNvPr id="107531" name="Picture 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55171" y="1998801"/>
              <a:ext cx="6958013" cy="2700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7532" name="矩形 13"/>
            <p:cNvSpPr>
              <a:spLocks noChangeArrowheads="1"/>
            </p:cNvSpPr>
            <p:nvPr/>
          </p:nvSpPr>
          <p:spPr bwMode="auto">
            <a:xfrm>
              <a:off x="7985091" y="3030596"/>
              <a:ext cx="961463" cy="5835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/>
                <a:t>(5.6)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u="none" dirty="0" smtClean="0">
                <a:solidFill>
                  <a:schemeClr val="tx1"/>
                </a:solidFill>
              </a:rPr>
              <a:t>根据</a:t>
            </a:r>
            <a:endParaRPr lang="zh-CN" altLang="en-US" u="none" dirty="0" smtClean="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854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8ABD5B-7A24-4223-BC32-EECFCA96FFE1}" type="slidenum">
              <a:rPr lang="zh-CN" altLang="en-US" smtClean="0"/>
            </a:fld>
            <a:endParaRPr lang="en-US" altLang="zh-CN" smtClean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609725" y="454025"/>
            <a:ext cx="574675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71500" y="2924175"/>
            <a:ext cx="8121650" cy="1076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/>
              <a:t>可知，当选择步长满足条件</a:t>
            </a:r>
            <a:r>
              <a:rPr lang="en-US" altLang="zh-CN" i="1"/>
              <a:t>h </a:t>
            </a:r>
            <a:r>
              <a:rPr lang="en-US" altLang="zh-CN"/>
              <a:t>&lt; 2/</a:t>
            </a:r>
            <a:r>
              <a:rPr lang="en-US" altLang="zh-CN" i="1"/>
              <a:t>L</a:t>
            </a:r>
            <a:r>
              <a:rPr lang="zh-CN" altLang="en-US"/>
              <a:t>时</a:t>
            </a:r>
            <a:r>
              <a:rPr lang="en-US" altLang="zh-CN"/>
              <a:t>, </a:t>
            </a:r>
            <a:r>
              <a:rPr lang="zh-CN" altLang="en-US"/>
              <a:t>差分方程</a:t>
            </a:r>
            <a:r>
              <a:rPr lang="en-US" altLang="zh-CN"/>
              <a:t>(5.6)</a:t>
            </a:r>
            <a:r>
              <a:rPr lang="zh-CN" altLang="en-US"/>
              <a:t>存在唯一解，其中</a:t>
            </a:r>
            <a:endParaRPr lang="zh-CN" altLang="en-US"/>
          </a:p>
        </p:txBody>
      </p:sp>
      <p:graphicFrame>
        <p:nvGraphicFramePr>
          <p:cNvPr id="104449" name="Object 3"/>
          <p:cNvGraphicFramePr>
            <a:graphicFrameLocks noChangeAspect="1"/>
          </p:cNvGraphicFramePr>
          <p:nvPr/>
        </p:nvGraphicFramePr>
        <p:xfrm>
          <a:off x="3078163" y="4111625"/>
          <a:ext cx="2376487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公式" r:id="rId2" imgW="23774400" imgH="7315200" progId="Equation.3">
                  <p:embed/>
                </p:oleObj>
              </mc:Choice>
              <mc:Fallback>
                <p:oleObj name="公式" r:id="rId2" imgW="23774400" imgH="73152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8163" y="4111625"/>
                        <a:ext cx="2376487" cy="731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4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C4CE34-D337-4485-BBF2-DDBDF17FE239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34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u="none" dirty="0" smtClean="0"/>
              <a:t>本章小结</a:t>
            </a:r>
            <a:endParaRPr lang="zh-CN" altLang="en-US" sz="4000" b="1" u="none" dirty="0" smtClean="0"/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20775"/>
            <a:ext cx="8093075" cy="5292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smtClean="0"/>
              <a:t>基本知识</a:t>
            </a:r>
            <a:endParaRPr lang="en-US" altLang="zh-CN" sz="2800" b="1" smtClean="0"/>
          </a:p>
          <a:p>
            <a:pPr lvl="1">
              <a:lnSpc>
                <a:spcPct val="90000"/>
              </a:lnSpc>
            </a:pPr>
            <a:r>
              <a:rPr lang="zh-CN" altLang="en-US" b="1" smtClean="0"/>
              <a:t>数值微分</a:t>
            </a:r>
            <a:endParaRPr lang="zh-CN" altLang="en-US" b="1" smtClean="0"/>
          </a:p>
          <a:p>
            <a:pPr lvl="1">
              <a:lnSpc>
                <a:spcPct val="90000"/>
              </a:lnSpc>
            </a:pPr>
            <a:r>
              <a:rPr lang="zh-CN" altLang="en-US" b="1" smtClean="0"/>
              <a:t>建立初值问题数值解的计算格式的方法</a:t>
            </a:r>
            <a:endParaRPr lang="zh-CN" altLang="en-US" b="1" smtClean="0"/>
          </a:p>
          <a:p>
            <a:pPr lvl="2">
              <a:lnSpc>
                <a:spcPct val="90000"/>
              </a:lnSpc>
            </a:pPr>
            <a:r>
              <a:rPr kumimoji="1" lang="zh-CN" altLang="en-US" b="1" smtClean="0">
                <a:latin typeface="Times New Roman" panose="02020603050405020304" pitchFamily="18" charset="0"/>
              </a:rPr>
              <a:t>数值微分方法、</a:t>
            </a:r>
            <a:r>
              <a:rPr kumimoji="1" lang="en-US" altLang="zh-CN" b="1" smtClean="0">
                <a:latin typeface="Times New Roman" panose="02020603050405020304" pitchFamily="18" charset="0"/>
              </a:rPr>
              <a:t>Taylor </a:t>
            </a:r>
            <a:r>
              <a:rPr kumimoji="1" lang="zh-CN" altLang="zh-CN" b="1" smtClean="0">
                <a:latin typeface="Times New Roman" panose="02020603050405020304" pitchFamily="18" charset="0"/>
              </a:rPr>
              <a:t>展开</a:t>
            </a:r>
            <a:r>
              <a:rPr kumimoji="1" lang="zh-CN" altLang="en-US" b="1" smtClean="0">
                <a:latin typeface="Times New Roman" panose="02020603050405020304" pitchFamily="18" charset="0"/>
              </a:rPr>
              <a:t>法和数值积分方法</a:t>
            </a:r>
            <a:endParaRPr kumimoji="1" lang="zh-CN" altLang="en-US" b="1" smtClean="0">
              <a:latin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zh-CN" altLang="zh-CN" b="1" smtClean="0"/>
              <a:t>截断误差与方法的精度</a:t>
            </a:r>
            <a:endParaRPr lang="en-US" altLang="zh-CN" b="1" smtClean="0"/>
          </a:p>
          <a:p>
            <a:pPr lvl="1">
              <a:lnSpc>
                <a:spcPct val="90000"/>
              </a:lnSpc>
            </a:pPr>
            <a:r>
              <a:rPr lang="zh-CN" altLang="en-US" b="1" smtClean="0"/>
              <a:t>单步法的收敛性与稳定性</a:t>
            </a:r>
            <a:endParaRPr lang="zh-CN" altLang="en-US" sz="2800" b="1" smtClean="0"/>
          </a:p>
          <a:p>
            <a:pPr>
              <a:lnSpc>
                <a:spcPct val="90000"/>
              </a:lnSpc>
            </a:pPr>
            <a:r>
              <a:rPr lang="en-US" altLang="zh-CN" sz="2800" b="1" smtClean="0">
                <a:latin typeface="Times New Roman" panose="02020603050405020304" pitchFamily="18" charset="0"/>
              </a:rPr>
              <a:t>Runge-Kutta</a:t>
            </a:r>
            <a:r>
              <a:rPr lang="zh-CN" altLang="zh-CN" sz="2800" b="1" smtClean="0"/>
              <a:t>方法</a:t>
            </a:r>
            <a:endParaRPr lang="zh-CN" altLang="en-US" sz="2800" b="1" smtClean="0"/>
          </a:p>
          <a:p>
            <a:pPr lvl="1">
              <a:lnSpc>
                <a:spcPct val="90000"/>
              </a:lnSpc>
            </a:pPr>
            <a:r>
              <a:rPr lang="zh-CN" altLang="en-US" b="1" smtClean="0"/>
              <a:t>基本思想</a:t>
            </a:r>
            <a:endParaRPr lang="zh-CN" altLang="en-US" b="1" smtClean="0"/>
          </a:p>
          <a:p>
            <a:pPr lvl="1">
              <a:lnSpc>
                <a:spcPct val="90000"/>
              </a:lnSpc>
            </a:pPr>
            <a:r>
              <a:rPr lang="zh-CN" altLang="en-US" b="1" smtClean="0"/>
              <a:t>一阶、二阶、四阶</a:t>
            </a:r>
            <a:r>
              <a:rPr lang="en-US" altLang="zh-CN" b="1" smtClean="0">
                <a:latin typeface="Times New Roman" panose="02020603050405020304" pitchFamily="18" charset="0"/>
              </a:rPr>
              <a:t>Runge-Kutta</a:t>
            </a:r>
            <a:r>
              <a:rPr lang="zh-CN" altLang="zh-CN" b="1" smtClean="0"/>
              <a:t>方法</a:t>
            </a:r>
            <a:endParaRPr lang="zh-CN" altLang="en-US" b="1" smtClean="0"/>
          </a:p>
          <a:p>
            <a:pPr>
              <a:lnSpc>
                <a:spcPct val="90000"/>
              </a:lnSpc>
            </a:pPr>
            <a:r>
              <a:rPr lang="zh-CN" altLang="en-US" sz="2800" b="1" smtClean="0">
                <a:latin typeface="Times New Roman" panose="02020603050405020304" pitchFamily="18" charset="0"/>
              </a:rPr>
              <a:t>一阶常微分方程组、高阶方程（组）的数值解法</a:t>
            </a:r>
            <a:endParaRPr lang="zh-CN" altLang="en-US" sz="2800" b="1" smtClean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smtClean="0"/>
              <a:t>二阶常微分方程两点边值问题的差分解法</a:t>
            </a:r>
            <a:endParaRPr lang="zh-CN" altLang="en-US" sz="2800" b="1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6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6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86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86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ldLvl="3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9: 常微分方程数值解法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5171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9CADB89-DD81-41E9-8523-6787A0C4E9A0}" type="slidenum">
              <a:rPr lang="zh-CN" altLang="en-US" smtClean="0"/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PP_MARK_KEY" val="93e005d0-d2c6-4e0e-ac0b-7497bd6ecbdb"/>
  <p:tag name="COMMONDATA" val="eyJoZGlkIjoiMTViMjMzOWRlZmQ5YjNmOGYzZWQ3MGU4NzZjMDA0Yzc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DDDDDD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EBEBEB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2335</Words>
  <Application>WPS 演示</Application>
  <PresentationFormat>全屏显示(4:3)</PresentationFormat>
  <Paragraphs>222</Paragraphs>
  <Slides>20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20</vt:i4>
      </vt:variant>
    </vt:vector>
  </HeadingPairs>
  <TitlesOfParts>
    <vt:vector size="55" baseType="lpstr">
      <vt:lpstr>Arial</vt:lpstr>
      <vt:lpstr>宋体</vt:lpstr>
      <vt:lpstr>Wingdings</vt:lpstr>
      <vt:lpstr>Times New Roman</vt:lpstr>
      <vt:lpstr>Comic Sans MS</vt:lpstr>
      <vt:lpstr>ZapfDingbats</vt:lpstr>
      <vt:lpstr>华文行楷</vt:lpstr>
      <vt:lpstr>微软雅黑</vt:lpstr>
      <vt:lpstr>Arial Unicode MS</vt:lpstr>
      <vt:lpstr>默认设计模板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第9章 常微分方程的数值解法</vt:lpstr>
      <vt:lpstr>§4.3二阶微分方程边值问题的差分解法</vt:lpstr>
      <vt:lpstr>1. 线性方程第一边值问题的差分格式</vt:lpstr>
      <vt:lpstr>二阶常微分方程(显格式)</vt:lpstr>
      <vt:lpstr>下面，考虑线性常微分方程第一边值问题</vt:lpstr>
      <vt:lpstr>线性常微分方程第一边值问题</vt:lpstr>
      <vt:lpstr>在每个内节点xn处应用三点数值微分公式</vt:lpstr>
      <vt:lpstr>y(xn+1), y(xn), y(xn−1)的近似值 yn+1, yn, yn−1 满足方程</vt:lpstr>
      <vt:lpstr>令</vt:lpstr>
      <vt:lpstr>极值原理</vt:lpstr>
      <vt:lpstr>将(3.4 )与成矩阵形式为</vt:lpstr>
      <vt:lpstr>极值原理</vt:lpstr>
      <vt:lpstr>推论3.1 设ℓ(yn)由式(3.4 )定义,</vt:lpstr>
      <vt:lpstr>2. 一般二阶线性微分方程第一边界值问题</vt:lpstr>
      <vt:lpstr>一般二阶线性微分方程第一边界值问题为</vt:lpstr>
      <vt:lpstr>经整理</vt:lpstr>
      <vt:lpstr>由</vt:lpstr>
      <vt:lpstr>根据</vt:lpstr>
      <vt:lpstr>本章小结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数值积分与数值微分</dc:title>
  <dc:creator>ThinkPad</dc:creator>
  <cp:lastModifiedBy>xws</cp:lastModifiedBy>
  <cp:revision>373</cp:revision>
  <dcterms:created xsi:type="dcterms:W3CDTF">2004-05-04T08:18:00Z</dcterms:created>
  <dcterms:modified xsi:type="dcterms:W3CDTF">2022-11-17T03:25:00Z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80C61734CAC1433580F2501A858BDF1D</vt:lpwstr>
  </property>
  <property fmtid="{D5CDD505-2E9C-101B-9397-08002B2CF9AE}" pid="3" name="KSOProductBuildVer">
    <vt:lpwstr>2052-11.1.0.12598</vt:lpwstr>
  </property>
</Properties>
</file>