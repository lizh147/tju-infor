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handoutMasterIdLst>
    <p:handoutMasterId r:id="rId83"/>
  </p:handoutMasterIdLst>
  <p:sldIdLst>
    <p:sldId id="357" r:id="rId4"/>
    <p:sldId id="256" r:id="rId5"/>
    <p:sldId id="324" r:id="rId7"/>
    <p:sldId id="282" r:id="rId8"/>
    <p:sldId id="358" r:id="rId9"/>
    <p:sldId id="283" r:id="rId10"/>
    <p:sldId id="284" r:id="rId11"/>
    <p:sldId id="325" r:id="rId12"/>
    <p:sldId id="326" r:id="rId13"/>
    <p:sldId id="285" r:id="rId14"/>
    <p:sldId id="286" r:id="rId15"/>
    <p:sldId id="327" r:id="rId16"/>
    <p:sldId id="287" r:id="rId17"/>
    <p:sldId id="288" r:id="rId18"/>
    <p:sldId id="359" r:id="rId19"/>
    <p:sldId id="328" r:id="rId20"/>
    <p:sldId id="289" r:id="rId21"/>
    <p:sldId id="329" r:id="rId22"/>
    <p:sldId id="330" r:id="rId23"/>
    <p:sldId id="363" r:id="rId24"/>
    <p:sldId id="331" r:id="rId25"/>
    <p:sldId id="290" r:id="rId26"/>
    <p:sldId id="360" r:id="rId27"/>
    <p:sldId id="361" r:id="rId28"/>
    <p:sldId id="291" r:id="rId29"/>
    <p:sldId id="336" r:id="rId30"/>
    <p:sldId id="337" r:id="rId31"/>
    <p:sldId id="338" r:id="rId32"/>
    <p:sldId id="339" r:id="rId33"/>
    <p:sldId id="340" r:id="rId34"/>
    <p:sldId id="292" r:id="rId35"/>
    <p:sldId id="341" r:id="rId36"/>
    <p:sldId id="293" r:id="rId37"/>
    <p:sldId id="333" r:id="rId38"/>
    <p:sldId id="334" r:id="rId39"/>
    <p:sldId id="335" r:id="rId40"/>
    <p:sldId id="332" r:id="rId41"/>
    <p:sldId id="294" r:id="rId42"/>
    <p:sldId id="295" r:id="rId43"/>
    <p:sldId id="364" r:id="rId44"/>
    <p:sldId id="296" r:id="rId45"/>
    <p:sldId id="297" r:id="rId46"/>
    <p:sldId id="365" r:id="rId47"/>
    <p:sldId id="366" r:id="rId48"/>
    <p:sldId id="367" r:id="rId49"/>
    <p:sldId id="368" r:id="rId50"/>
    <p:sldId id="369" r:id="rId51"/>
    <p:sldId id="370" r:id="rId52"/>
    <p:sldId id="371" r:id="rId53"/>
    <p:sldId id="372" r:id="rId54"/>
    <p:sldId id="373" r:id="rId55"/>
    <p:sldId id="374" r:id="rId56"/>
    <p:sldId id="375" r:id="rId57"/>
    <p:sldId id="376" r:id="rId58"/>
    <p:sldId id="377" r:id="rId59"/>
    <p:sldId id="378" r:id="rId60"/>
    <p:sldId id="450" r:id="rId61"/>
    <p:sldId id="380" r:id="rId62"/>
    <p:sldId id="381" r:id="rId63"/>
    <p:sldId id="382" r:id="rId64"/>
    <p:sldId id="383" r:id="rId65"/>
    <p:sldId id="384" r:id="rId66"/>
    <p:sldId id="385" r:id="rId67"/>
    <p:sldId id="435" r:id="rId68"/>
    <p:sldId id="436" r:id="rId69"/>
    <p:sldId id="437" r:id="rId70"/>
    <p:sldId id="438" r:id="rId71"/>
    <p:sldId id="439" r:id="rId72"/>
    <p:sldId id="440" r:id="rId73"/>
    <p:sldId id="441" r:id="rId74"/>
    <p:sldId id="442" r:id="rId75"/>
    <p:sldId id="443" r:id="rId76"/>
    <p:sldId id="444" r:id="rId77"/>
    <p:sldId id="445" r:id="rId78"/>
    <p:sldId id="446" r:id="rId79"/>
    <p:sldId id="447" r:id="rId80"/>
    <p:sldId id="448" r:id="rId81"/>
    <p:sldId id="449" r:id="rId82"/>
  </p:sldIdLst>
  <p:sldSz cx="9144000" cy="6858000" type="screen4x3"/>
  <p:notesSz cx="6858000" cy="9144000"/>
  <p:custDataLst>
    <p:tags r:id="rId87"/>
  </p:custDataLst>
  <p:defaultTextStyle>
    <a:defPPr>
      <a:defRPr lang="en-US"/>
    </a:defPPr>
    <a:lvl1pPr marL="0" lvl="0"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DDDDDD"/>
    <a:srgbClr val="FFCCFF"/>
    <a:srgbClr val="FF99CC"/>
    <a:srgbClr val="CCFFFF"/>
    <a:srgbClr val="33CCCC"/>
    <a:srgbClr val="C0C0C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72"/>
    <p:restoredTop sz="94708"/>
  </p:normalViewPr>
  <p:slideViewPr>
    <p:cSldViewPr snapToGrid="0" showGuides="1">
      <p:cViewPr varScale="1">
        <p:scale>
          <a:sx n="66" d="100"/>
          <a:sy n="66" d="100"/>
        </p:scale>
        <p:origin x="-822" y="-114"/>
      </p:cViewPr>
      <p:guideLst>
        <p:guide orient="horz" pos="2160"/>
        <p:guide pos="285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655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7" Type="http://schemas.openxmlformats.org/officeDocument/2006/relationships/tags" Target="tags/tag1.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handoutMaster" Target="handoutMasters/handoutMaster1.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4.wmf"/><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6.wmf"/><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2.wmf"/><Relationship Id="rId1" Type="http://schemas.openxmlformats.org/officeDocument/2006/relationships/image" Target="../media/image2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13.vml.rels><?xml version="1.0" encoding="UTF-8" standalone="yes"?>
<Relationships xmlns="http://schemas.openxmlformats.org/package/2006/relationships"><Relationship Id="rId7" Type="http://schemas.openxmlformats.org/officeDocument/2006/relationships/image" Target="../media/image32.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5.wmf"/><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41.wmf"/><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17.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57.wmf"/><Relationship Id="rId1" Type="http://schemas.openxmlformats.org/officeDocument/2006/relationships/image" Target="../media/image56.w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24.vml.rels><?xml version="1.0" encoding="UTF-8" standalone="yes"?>
<Relationships xmlns="http://schemas.openxmlformats.org/package/2006/relationships"><Relationship Id="rId4" Type="http://schemas.openxmlformats.org/officeDocument/2006/relationships/image" Target="../media/image65.wmf"/><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28.vml.rels><?xml version="1.0" encoding="UTF-8" standalone="yes"?>
<Relationships xmlns="http://schemas.openxmlformats.org/package/2006/relationships"><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29.vml.rels><?xml version="1.0" encoding="UTF-8" standalone="yes"?>
<Relationships xmlns="http://schemas.openxmlformats.org/package/2006/relationships"><Relationship Id="rId5" Type="http://schemas.openxmlformats.org/officeDocument/2006/relationships/image" Target="../media/image79.wmf"/><Relationship Id="rId4" Type="http://schemas.openxmlformats.org/officeDocument/2006/relationships/image" Target="../media/image75.wmf"/><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4.wmf"/><Relationship Id="rId1" Type="http://schemas.openxmlformats.org/officeDocument/2006/relationships/image" Target="../media/image83.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6.wmf"/><Relationship Id="rId1" Type="http://schemas.openxmlformats.org/officeDocument/2006/relationships/image" Target="../media/image85.w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95.wmf"/><Relationship Id="rId8" Type="http://schemas.openxmlformats.org/officeDocument/2006/relationships/image" Target="../media/image94.wmf"/><Relationship Id="rId7" Type="http://schemas.openxmlformats.org/officeDocument/2006/relationships/image" Target="../media/image93.wmf"/><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wmf"/><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35.vml.rels><?xml version="1.0" encoding="UTF-8" standalone="yes"?>
<Relationships xmlns="http://schemas.openxmlformats.org/package/2006/relationships"><Relationship Id="rId5" Type="http://schemas.openxmlformats.org/officeDocument/2006/relationships/image" Target="../media/image101.wmf"/><Relationship Id="rId4" Type="http://schemas.openxmlformats.org/officeDocument/2006/relationships/image" Target="../media/image100.wmf"/><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drawings/_rels/vmlDrawing36.vml.rels><?xml version="1.0" encoding="UTF-8" standalone="yes"?>
<Relationships xmlns="http://schemas.openxmlformats.org/package/2006/relationships"><Relationship Id="rId5" Type="http://schemas.openxmlformats.org/officeDocument/2006/relationships/image" Target="../media/image104.wmf"/><Relationship Id="rId4" Type="http://schemas.openxmlformats.org/officeDocument/2006/relationships/image" Target="../media/image103.wmf"/><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102.wmf"/></Relationships>
</file>

<file path=ppt/drawings/_rels/vmlDrawing37.vml.rels><?xml version="1.0" encoding="UTF-8" standalone="yes"?>
<Relationships xmlns="http://schemas.openxmlformats.org/package/2006/relationships"><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12.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13.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2.wmf"/><Relationship Id="rId1" Type="http://schemas.openxmlformats.org/officeDocument/2006/relationships/image" Target="../media/image118.wmf"/></Relationships>
</file>

<file path=ppt/drawings/_rels/vmlDrawing44.vml.rels><?xml version="1.0" encoding="UTF-8" standalone="yes"?>
<Relationships xmlns="http://schemas.openxmlformats.org/package/2006/relationships"><Relationship Id="rId5" Type="http://schemas.openxmlformats.org/officeDocument/2006/relationships/image" Target="../media/image123.wmf"/><Relationship Id="rId4" Type="http://schemas.openxmlformats.org/officeDocument/2006/relationships/image" Target="../media/image122.wmf"/><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8.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25.wmf"/><Relationship Id="rId1" Type="http://schemas.openxmlformats.org/officeDocument/2006/relationships/image" Target="../media/image124.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26.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27.wmf"/><Relationship Id="rId1" Type="http://schemas.openxmlformats.org/officeDocument/2006/relationships/image" Target="../media/image126.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132.wmf"/><Relationship Id="rId1" Type="http://schemas.openxmlformats.org/officeDocument/2006/relationships/image" Target="../media/image131.wmf"/></Relationships>
</file>

<file path=ppt/drawings/_rels/vmlDrawing50.vml.rels><?xml version="1.0" encoding="UTF-8" standalone="yes"?>
<Relationships xmlns="http://schemas.openxmlformats.org/package/2006/relationships"><Relationship Id="rId4" Type="http://schemas.openxmlformats.org/officeDocument/2006/relationships/image" Target="../media/image136.wmf"/><Relationship Id="rId3" Type="http://schemas.openxmlformats.org/officeDocument/2006/relationships/image" Target="../media/image135.wmf"/><Relationship Id="rId2" Type="http://schemas.openxmlformats.org/officeDocument/2006/relationships/image" Target="../media/image134.wmf"/><Relationship Id="rId1" Type="http://schemas.openxmlformats.org/officeDocument/2006/relationships/image" Target="../media/image133.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138.wmf"/><Relationship Id="rId1" Type="http://schemas.openxmlformats.org/officeDocument/2006/relationships/image" Target="../media/image137.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140.wmf"/><Relationship Id="rId1" Type="http://schemas.openxmlformats.org/officeDocument/2006/relationships/image" Target="../media/image139.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142.wmf"/><Relationship Id="rId1" Type="http://schemas.openxmlformats.org/officeDocument/2006/relationships/image" Target="../media/image141.wmf"/></Relationships>
</file>

<file path=ppt/drawings/_rels/vmlDrawing54.vml.rels><?xml version="1.0" encoding="UTF-8" standalone="yes"?>
<Relationships xmlns="http://schemas.openxmlformats.org/package/2006/relationships"><Relationship Id="rId5" Type="http://schemas.openxmlformats.org/officeDocument/2006/relationships/image" Target="../media/image147.wmf"/><Relationship Id="rId4" Type="http://schemas.openxmlformats.org/officeDocument/2006/relationships/image" Target="../media/image146.wmf"/><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s>
</file>

<file path=ppt/drawings/_rels/vmlDrawing55.vml.rels><?xml version="1.0" encoding="UTF-8" standalone="yes"?>
<Relationships xmlns="http://schemas.openxmlformats.org/package/2006/relationships"><Relationship Id="rId4" Type="http://schemas.openxmlformats.org/officeDocument/2006/relationships/image" Target="../media/image151.wmf"/><Relationship Id="rId3" Type="http://schemas.openxmlformats.org/officeDocument/2006/relationships/image" Target="../media/image150.wmf"/><Relationship Id="rId2" Type="http://schemas.openxmlformats.org/officeDocument/2006/relationships/image" Target="../media/image149.wmf"/><Relationship Id="rId1" Type="http://schemas.openxmlformats.org/officeDocument/2006/relationships/image" Target="../media/image148.wmf"/></Relationships>
</file>

<file path=ppt/drawings/_rels/vmlDrawing56.vml.rels><?xml version="1.0" encoding="UTF-8" standalone="yes"?>
<Relationships xmlns="http://schemas.openxmlformats.org/package/2006/relationships"><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s>
</file>

<file path=ppt/drawings/_rels/vmlDrawing57.vml.rels><?xml version="1.0" encoding="UTF-8" standalone="yes"?>
<Relationships xmlns="http://schemas.openxmlformats.org/package/2006/relationships"><Relationship Id="rId4" Type="http://schemas.openxmlformats.org/officeDocument/2006/relationships/image" Target="../media/image161.wmf"/><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163.wmf"/><Relationship Id="rId1" Type="http://schemas.openxmlformats.org/officeDocument/2006/relationships/image" Target="../media/image162.wmf"/></Relationships>
</file>

<file path=ppt/drawings/_rels/vmlDrawing59.vml.rels><?xml version="1.0" encoding="UTF-8" standalone="yes"?>
<Relationships xmlns="http://schemas.openxmlformats.org/package/2006/relationships"><Relationship Id="rId4" Type="http://schemas.openxmlformats.org/officeDocument/2006/relationships/image" Target="../media/image167.wmf"/><Relationship Id="rId3" Type="http://schemas.openxmlformats.org/officeDocument/2006/relationships/image" Target="../media/image166.wmf"/><Relationship Id="rId2" Type="http://schemas.openxmlformats.org/officeDocument/2006/relationships/image" Target="../media/image165.wmf"/><Relationship Id="rId1" Type="http://schemas.openxmlformats.org/officeDocument/2006/relationships/image" Target="../media/image164.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172.wmf"/><Relationship Id="rId1" Type="http://schemas.openxmlformats.org/officeDocument/2006/relationships/image" Target="../media/image171.wmf"/></Relationships>
</file>

<file path=ppt/drawings/_rels/vmlDrawing62.vml.rels><?xml version="1.0" encoding="UTF-8" standalone="yes"?>
<Relationships xmlns="http://schemas.openxmlformats.org/package/2006/relationships"><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 Id="rId3" Type="http://schemas.openxmlformats.org/officeDocument/2006/relationships/image" Target="../media/image175.wmf"/><Relationship Id="rId2" Type="http://schemas.openxmlformats.org/officeDocument/2006/relationships/image" Target="../media/image174.wmf"/><Relationship Id="rId1" Type="http://schemas.openxmlformats.org/officeDocument/2006/relationships/image" Target="../media/image173.wmf"/></Relationships>
</file>

<file path=ppt/drawings/_rels/vmlDrawing63.vml.rels><?xml version="1.0" encoding="UTF-8" standalone="yes"?>
<Relationships xmlns="http://schemas.openxmlformats.org/package/2006/relationships"><Relationship Id="rId2" Type="http://schemas.openxmlformats.org/officeDocument/2006/relationships/image" Target="../media/image180.wmf"/><Relationship Id="rId1" Type="http://schemas.openxmlformats.org/officeDocument/2006/relationships/image" Target="../media/image179.wmf"/></Relationships>
</file>

<file path=ppt/drawings/_rels/vmlDrawing64.vml.rels><?xml version="1.0" encoding="UTF-8" standalone="yes"?>
<Relationships xmlns="http://schemas.openxmlformats.org/package/2006/relationships"><Relationship Id="rId5" Type="http://schemas.openxmlformats.org/officeDocument/2006/relationships/image" Target="../media/image185.wmf"/><Relationship Id="rId4" Type="http://schemas.openxmlformats.org/officeDocument/2006/relationships/image" Target="../media/image184.wmf"/><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81.wmf"/></Relationships>
</file>

<file path=ppt/drawings/_rels/vmlDrawing65.vml.rels><?xml version="1.0" encoding="UTF-8" standalone="yes"?>
<Relationships xmlns="http://schemas.openxmlformats.org/package/2006/relationships"><Relationship Id="rId4" Type="http://schemas.openxmlformats.org/officeDocument/2006/relationships/image" Target="../media/image189.wmf"/><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190.wmf"/></Relationships>
</file>

<file path=ppt/drawings/_rels/vmlDrawing67.vml.rels><?xml version="1.0" encoding="UTF-8" standalone="yes"?>
<Relationships xmlns="http://schemas.openxmlformats.org/package/2006/relationships"><Relationship Id="rId2" Type="http://schemas.openxmlformats.org/officeDocument/2006/relationships/image" Target="../media/image192.wmf"/><Relationship Id="rId1" Type="http://schemas.openxmlformats.org/officeDocument/2006/relationships/image" Target="../media/image191.w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193.wmf"/></Relationships>
</file>

<file path=ppt/drawings/_rels/vmlDrawing69.vml.rels><?xml version="1.0" encoding="UTF-8" standalone="yes"?>
<Relationships xmlns="http://schemas.openxmlformats.org/package/2006/relationships"><Relationship Id="rId4" Type="http://schemas.openxmlformats.org/officeDocument/2006/relationships/image" Target="../media/image197.wmf"/><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s>
</file>

<file path=ppt/drawings/_rels/vmlDrawing70.vml.rels><?xml version="1.0" encoding="UTF-8" standalone="yes"?>
<Relationships xmlns="http://schemas.openxmlformats.org/package/2006/relationships"><Relationship Id="rId9" Type="http://schemas.openxmlformats.org/officeDocument/2006/relationships/image" Target="../media/image206.wmf"/><Relationship Id="rId8" Type="http://schemas.openxmlformats.org/officeDocument/2006/relationships/image" Target="../media/image205.wmf"/><Relationship Id="rId7" Type="http://schemas.openxmlformats.org/officeDocument/2006/relationships/image" Target="../media/image204.wmf"/><Relationship Id="rId6" Type="http://schemas.openxmlformats.org/officeDocument/2006/relationships/image" Target="../media/image203.wmf"/><Relationship Id="rId5" Type="http://schemas.openxmlformats.org/officeDocument/2006/relationships/image" Target="../media/image202.wmf"/><Relationship Id="rId4" Type="http://schemas.openxmlformats.org/officeDocument/2006/relationships/image" Target="../media/image201.wmf"/><Relationship Id="rId3" Type="http://schemas.openxmlformats.org/officeDocument/2006/relationships/image" Target="../media/image200.wmf"/><Relationship Id="rId2" Type="http://schemas.openxmlformats.org/officeDocument/2006/relationships/image" Target="../media/image199.wmf"/><Relationship Id="rId12" Type="http://schemas.openxmlformats.org/officeDocument/2006/relationships/image" Target="../media/image209.wmf"/><Relationship Id="rId11" Type="http://schemas.openxmlformats.org/officeDocument/2006/relationships/image" Target="../media/image208.wmf"/><Relationship Id="rId10" Type="http://schemas.openxmlformats.org/officeDocument/2006/relationships/image" Target="../media/image207.wmf"/><Relationship Id="rId1" Type="http://schemas.openxmlformats.org/officeDocument/2006/relationships/image" Target="../media/image198.wmf"/></Relationships>
</file>

<file path=ppt/drawings/_rels/vmlDrawing71.vml.rels><?xml version="1.0" encoding="UTF-8" standalone="yes"?>
<Relationships xmlns="http://schemas.openxmlformats.org/package/2006/relationships"><Relationship Id="rId2" Type="http://schemas.openxmlformats.org/officeDocument/2006/relationships/image" Target="../media/image211.wmf"/><Relationship Id="rId1" Type="http://schemas.openxmlformats.org/officeDocument/2006/relationships/image" Target="../media/image210.w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476"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Click to edit Master text styles</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Second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Third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Fourth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Fifth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06499" name="Rectangle 2"/>
          <p:cNvSpPr>
            <a:spLocks noTextEdit="1"/>
          </p:cNvSpPr>
          <p:nvPr>
            <p:ph type="sldImg"/>
          </p:nvPr>
        </p:nvSpPr>
        <p:spPr>
          <a:ln/>
        </p:spPr>
      </p:sp>
      <p:sp>
        <p:nvSpPr>
          <p:cNvPr id="106500" name="Rectangle 3"/>
          <p:cNvSpPr>
            <a:spLocks noGrp="1"/>
          </p:cNvSpPr>
          <p:nvPr>
            <p:ph type="body"/>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p:nvPr>
        </p:nvSpPr>
        <p:spPr>
          <a:ln/>
        </p:spPr>
        <p:txBody>
          <a:bodyPr wrap="square" lIns="91440" tIns="45720" rIns="91440" bIns="45720" anchor="t" anchorCtr="0"/>
          <a:p>
            <a:pPr lvl="0"/>
            <a:r>
              <a:rPr lang="zh-CN" altLang="en-US" b="1" dirty="0"/>
              <a:t>此类问题是自然科学和工程技术领域中常见的数学模型. </a:t>
            </a:r>
            <a:endParaRPr lang="zh-CN" altLang="en-US" dirty="0"/>
          </a:p>
        </p:txBody>
      </p:sp>
      <p:sp>
        <p:nvSpPr>
          <p:cNvPr id="10752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08547" name="Rectangle 2"/>
          <p:cNvSpPr>
            <a:spLocks noTextEdit="1"/>
          </p:cNvSpPr>
          <p:nvPr>
            <p:ph type="sldImg"/>
          </p:nvPr>
        </p:nvSpPr>
        <p:spPr>
          <a:ln/>
        </p:spPr>
      </p:sp>
      <p:sp>
        <p:nvSpPr>
          <p:cNvPr id="108548" name="Rectangle 3"/>
          <p:cNvSpPr>
            <a:spLocks noGrp="1"/>
          </p:cNvSpPr>
          <p:nvPr>
            <p:ph type="body"/>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09571" name="Rectangle 2"/>
          <p:cNvSpPr>
            <a:spLocks noTextEdit="1"/>
          </p:cNvSpPr>
          <p:nvPr>
            <p:ph type="sldImg"/>
          </p:nvPr>
        </p:nvSpPr>
        <p:spPr>
          <a:ln/>
        </p:spPr>
      </p:sp>
      <p:sp>
        <p:nvSpPr>
          <p:cNvPr id="109572" name="Rectangle 3"/>
          <p:cNvSpPr>
            <a:spLocks noGrp="1"/>
          </p:cNvSpPr>
          <p:nvPr>
            <p:ph type="body"/>
          </p:nvPr>
        </p:nvSpPr>
        <p:spPr>
          <a:ln/>
        </p:spPr>
        <p:txBody>
          <a:bodyPr wrap="square" lIns="91440" tIns="45720" rIns="91440" bIns="45720" anchor="t" anchorCtr="0"/>
          <a:p>
            <a:pPr lvl="0"/>
            <a:r>
              <a:rPr lang="zh-CN" altLang="en-US" b="1" dirty="0"/>
              <a:t>当前的整体截断误差</a:t>
            </a:r>
            <a:r>
              <a:rPr lang="en-US" altLang="zh-CN" b="1" dirty="0"/>
              <a:t>=</a:t>
            </a:r>
            <a:r>
              <a:rPr lang="zh-CN" altLang="en-US" b="1" dirty="0"/>
              <a:t>上一步的整体截断误差</a:t>
            </a:r>
            <a:r>
              <a:rPr lang="en-US" altLang="zh-CN" b="1" dirty="0"/>
              <a:t>+</a:t>
            </a:r>
            <a:r>
              <a:rPr lang="zh-CN" altLang="en-US" b="1" dirty="0"/>
              <a:t>上一步整体截断误差引起的导函数</a:t>
            </a:r>
            <a:r>
              <a:rPr lang="en-US" altLang="zh-CN" b="1" dirty="0"/>
              <a:t>f(x,y)</a:t>
            </a:r>
            <a:r>
              <a:rPr lang="zh-CN" altLang="en-US" b="1" dirty="0"/>
              <a:t>的误差</a:t>
            </a:r>
            <a:r>
              <a:rPr lang="en-US" altLang="zh-CN" b="1" dirty="0"/>
              <a:t>+</a:t>
            </a:r>
            <a:r>
              <a:rPr lang="zh-CN" altLang="en-US" b="1" dirty="0"/>
              <a:t>当前的局部截断误差。</a:t>
            </a:r>
            <a:endParaRPr lang="zh-CN" altLang="en-US" b="1" dirty="0"/>
          </a:p>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10595" name="Rectangle 2"/>
          <p:cNvSpPr>
            <a:spLocks noTextEdit="1"/>
          </p:cNvSpPr>
          <p:nvPr>
            <p:ph type="sldImg"/>
          </p:nvPr>
        </p:nvSpPr>
        <p:spPr>
          <a:ln/>
        </p:spPr>
      </p:sp>
      <p:sp>
        <p:nvSpPr>
          <p:cNvPr id="110596" name="Rectangle 3"/>
          <p:cNvSpPr>
            <a:spLocks noGrp="1"/>
          </p:cNvSpPr>
          <p:nvPr>
            <p:ph type="body"/>
          </p:nvPr>
        </p:nvSpPr>
        <p:spPr>
          <a:ln/>
        </p:spPr>
        <p:txBody>
          <a:bodyPr wrap="square" lIns="91440" tIns="45720" rIns="91440" bIns="45720" anchor="t" anchorCtr="0"/>
          <a:p>
            <a:pPr lvl="0"/>
            <a:endParaRPr lang="zh-CN" altLang="en-US" b="1"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p:nvPr>
        </p:nvSpPr>
        <p:spPr>
          <a:ln/>
        </p:spPr>
        <p:txBody>
          <a:bodyPr wrap="square" lIns="91440" tIns="45720" rIns="91440" bIns="45720" anchor="t" anchorCtr="0"/>
          <a:p>
            <a:pPr lvl="0"/>
            <a:r>
              <a:rPr lang="zh-CN" altLang="en-US" b="1" dirty="0"/>
              <a:t>误差控制</a:t>
            </a:r>
            <a:endParaRPr lang="zh-CN" altLang="en-US" dirty="0"/>
          </a:p>
        </p:txBody>
      </p:sp>
      <p:sp>
        <p:nvSpPr>
          <p:cNvPr id="1116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p:nvPr>
        </p:nvSpPr>
        <p:spPr>
          <a:ln/>
        </p:spPr>
        <p:txBody>
          <a:bodyPr wrap="square" lIns="91440" tIns="45720" rIns="91440" bIns="45720" anchor="t" anchorCtr="0"/>
          <a:p>
            <a:pPr lvl="0"/>
            <a:r>
              <a:rPr lang="zh-CN" altLang="en-US" dirty="0"/>
              <a:t>与误差控制</a:t>
            </a:r>
            <a:endParaRPr lang="zh-CN" altLang="en-US" dirty="0"/>
          </a:p>
        </p:txBody>
      </p:sp>
      <p:sp>
        <p:nvSpPr>
          <p:cNvPr id="11264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p:nvPr>
        </p:nvSpPr>
        <p:spPr>
          <a:ln/>
        </p:spPr>
        <p:txBody>
          <a:bodyPr wrap="square" lIns="91440" tIns="45720" rIns="91440" bIns="45720" anchor="t" anchorCtr="0"/>
          <a:p>
            <a:pPr lvl="0"/>
            <a:r>
              <a:rPr lang="zh-CN" altLang="zh-CN" dirty="0"/>
              <a:t>任意固定的节点</a:t>
            </a:r>
            <a:r>
              <a:rPr lang="en-US" altLang="zh-CN" dirty="0"/>
              <a:t>, </a:t>
            </a:r>
            <a:r>
              <a:rPr lang="zh-CN" altLang="en-US" dirty="0"/>
              <a:t>注意区间剖</a:t>
            </a:r>
            <a:r>
              <a:rPr lang="en-US" altLang="zh-CN" dirty="0"/>
              <a:t>(pou)</a:t>
            </a:r>
            <a:r>
              <a:rPr lang="zh-CN" altLang="en-US" dirty="0"/>
              <a:t>分是会加密的</a:t>
            </a:r>
            <a:endParaRPr lang="zh-CN" altLang="en-US" dirty="0"/>
          </a:p>
        </p:txBody>
      </p:sp>
      <p:sp>
        <p:nvSpPr>
          <p:cNvPr id="11366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幻灯片图像占位符 1"/>
          <p:cNvSpPr>
            <a:spLocks noGrp="1" noRot="1" noChangeAspect="1" noTextEdit="1"/>
          </p:cNvSpPr>
          <p:nvPr>
            <p:ph type="sldImg"/>
          </p:nvPr>
        </p:nvSpPr>
        <p:spPr>
          <a:ln/>
        </p:spPr>
      </p:sp>
      <p:sp>
        <p:nvSpPr>
          <p:cNvPr id="114691" name="备注占位符 2"/>
          <p:cNvSpPr>
            <a:spLocks noGrp="1"/>
          </p:cNvSpPr>
          <p:nvPr>
            <p:ph type="body"/>
          </p:nvPr>
        </p:nvSpPr>
        <p:spPr>
          <a:ln/>
        </p:spPr>
        <p:txBody>
          <a:bodyPr wrap="square" lIns="91440" tIns="45720" rIns="91440" bIns="45720" anchor="t" anchorCtr="0"/>
          <a:p>
            <a:pPr lvl="0"/>
            <a:r>
              <a:rPr lang="zh-CN" altLang="en-US" dirty="0"/>
              <a:t>例如</a:t>
            </a:r>
            <a:r>
              <a:rPr lang="en-US" altLang="zh-CN" dirty="0"/>
              <a:t>Eular</a:t>
            </a:r>
            <a:r>
              <a:rPr lang="zh-CN" altLang="en-US" dirty="0"/>
              <a:t>法，</a:t>
            </a:r>
            <a:r>
              <a:rPr lang="en-US" altLang="zh-CN" i="1" dirty="0"/>
              <a:t>y</a:t>
            </a:r>
            <a:r>
              <a:rPr lang="en-US" altLang="zh-CN" i="1" baseline="-25000" dirty="0"/>
              <a:t>n+1</a:t>
            </a:r>
            <a:r>
              <a:rPr lang="en-US" altLang="zh-CN" i="1" dirty="0"/>
              <a:t> </a:t>
            </a:r>
            <a:r>
              <a:rPr lang="en-US" altLang="zh-CN" dirty="0"/>
              <a:t>=</a:t>
            </a:r>
            <a:r>
              <a:rPr lang="en-US" altLang="zh-CN" i="1" dirty="0"/>
              <a:t>y</a:t>
            </a:r>
            <a:r>
              <a:rPr lang="en-US" altLang="zh-CN" i="1" baseline="-25000" dirty="0"/>
              <a:t>n</a:t>
            </a:r>
            <a:r>
              <a:rPr lang="en-US" altLang="zh-CN" dirty="0"/>
              <a:t> + </a:t>
            </a:r>
            <a:r>
              <a:rPr lang="en-US" altLang="zh-CN" i="1" dirty="0"/>
              <a:t>h</a:t>
            </a:r>
            <a:r>
              <a:rPr lang="en-US" altLang="zh-CN" dirty="0"/>
              <a:t> </a:t>
            </a:r>
            <a:r>
              <a:rPr lang="en-US" altLang="zh-CN" i="1" dirty="0"/>
              <a:t>f</a:t>
            </a:r>
            <a:r>
              <a:rPr lang="en-US" altLang="zh-CN" dirty="0"/>
              <a:t>(</a:t>
            </a:r>
            <a:r>
              <a:rPr lang="en-US" altLang="zh-CN" i="1" dirty="0"/>
              <a:t>x</a:t>
            </a:r>
            <a:r>
              <a:rPr lang="en-US" altLang="zh-CN" i="1" baseline="-25000" dirty="0"/>
              <a:t>n</a:t>
            </a:r>
            <a:r>
              <a:rPr lang="en-US" altLang="zh-CN" dirty="0"/>
              <a:t>,</a:t>
            </a:r>
            <a:r>
              <a:rPr lang="en-US" altLang="zh-CN" i="1" dirty="0"/>
              <a:t>y</a:t>
            </a:r>
            <a:r>
              <a:rPr lang="en-US" altLang="zh-CN" i="1" baseline="-25000" dirty="0"/>
              <a:t>n</a:t>
            </a:r>
            <a:r>
              <a:rPr lang="en-US" altLang="zh-CN" dirty="0"/>
              <a:t>)= </a:t>
            </a:r>
            <a:r>
              <a:rPr lang="en-US" altLang="zh-CN" i="1" dirty="0"/>
              <a:t>y</a:t>
            </a:r>
            <a:r>
              <a:rPr lang="en-US" altLang="zh-CN" i="1" baseline="-25000" dirty="0"/>
              <a:t>n</a:t>
            </a:r>
            <a:r>
              <a:rPr lang="en-US" altLang="zh-CN" dirty="0"/>
              <a:t> + </a:t>
            </a:r>
            <a:r>
              <a:rPr lang="en-US" altLang="zh-CN" i="1" dirty="0">
                <a:sym typeface="Symbol" panose="05050102010706020507" pitchFamily="18" charset="2"/>
              </a:rPr>
              <a:t></a:t>
            </a:r>
            <a:r>
              <a:rPr lang="en-US" altLang="zh-CN" i="1" dirty="0"/>
              <a:t>hy</a:t>
            </a:r>
            <a:r>
              <a:rPr lang="en-US" altLang="zh-CN" i="1" baseline="-25000" dirty="0"/>
              <a:t>n </a:t>
            </a:r>
            <a:r>
              <a:rPr lang="en-US" altLang="zh-CN" dirty="0"/>
              <a:t>= (1 + </a:t>
            </a:r>
            <a:r>
              <a:rPr lang="en-US" altLang="zh-CN" i="1" dirty="0">
                <a:sym typeface="Symbol" panose="05050102010706020507" pitchFamily="18" charset="2"/>
              </a:rPr>
              <a:t></a:t>
            </a:r>
            <a:r>
              <a:rPr lang="en-US" altLang="zh-CN" i="1" dirty="0"/>
              <a:t>h</a:t>
            </a:r>
            <a:r>
              <a:rPr lang="en-US" altLang="zh-CN" dirty="0"/>
              <a:t>)</a:t>
            </a:r>
            <a:r>
              <a:rPr lang="en-US" altLang="zh-CN" i="1" dirty="0"/>
              <a:t>y</a:t>
            </a:r>
            <a:r>
              <a:rPr lang="en-US" altLang="zh-CN" i="1" baseline="-25000" dirty="0"/>
              <a:t>n </a:t>
            </a:r>
            <a:r>
              <a:rPr lang="en-US" altLang="zh-CN" dirty="0"/>
              <a:t> =s(u)</a:t>
            </a:r>
            <a:r>
              <a:rPr lang="en-US" altLang="zh-CN" i="1" dirty="0"/>
              <a:t>y</a:t>
            </a:r>
            <a:r>
              <a:rPr lang="en-US" altLang="zh-CN" i="1" baseline="-25000" dirty="0"/>
              <a:t>n</a:t>
            </a:r>
            <a:r>
              <a:rPr lang="en-US" altLang="zh-CN" i="1" dirty="0"/>
              <a:t>, </a:t>
            </a:r>
            <a:r>
              <a:rPr lang="en-US" altLang="zh-CN" dirty="0"/>
              <a:t>s(u)= 1+u, u= 1 + </a:t>
            </a:r>
            <a:r>
              <a:rPr lang="en-US" altLang="zh-CN" i="1" dirty="0">
                <a:sym typeface="Symbol" panose="05050102010706020507" pitchFamily="18" charset="2"/>
              </a:rPr>
              <a:t></a:t>
            </a:r>
            <a:r>
              <a:rPr lang="en-US" altLang="zh-CN" i="1" dirty="0"/>
              <a:t>h.</a:t>
            </a:r>
            <a:r>
              <a:rPr lang="en-US" altLang="zh-CN" i="1" baseline="-25000" dirty="0"/>
              <a:t> </a:t>
            </a:r>
            <a:endParaRPr lang="zh-CN" altLang="en-US" dirty="0"/>
          </a:p>
        </p:txBody>
      </p:sp>
      <p:sp>
        <p:nvSpPr>
          <p:cNvPr id="11469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7" name="日期占位符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7" name="日期占位符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4"/>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5"/>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6"/>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6"/>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7" name="日期占位符 2"/>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3"/>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4"/>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7" name="日期占位符 1"/>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2"/>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3"/>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7" name="日期占位符 4"/>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5"/>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6"/>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7" name="日期占位符 4"/>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5"/>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6"/>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362700" y="228600"/>
            <a:ext cx="1943100" cy="60198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533400" y="228600"/>
            <a:ext cx="5676900" cy="60198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7" name="日期占位符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7" name="日期占位符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4"/>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5"/>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6"/>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6"/>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7" name="日期占位符 2"/>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3"/>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4"/>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7" name="日期占位符 1"/>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2"/>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3"/>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7" name="日期占位符 4"/>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5"/>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6"/>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7" name="日期占位符 4"/>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5"/>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6"/>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362700" y="228600"/>
            <a:ext cx="1943100" cy="60198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533400" y="228600"/>
            <a:ext cx="5676900" cy="60198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4"/>
          <p:cNvSpPr>
            <a:spLocks noGrp="1"/>
          </p:cNvSpPr>
          <p:nvPr>
            <p:ph type="ftr" sz="quarter" idx="3"/>
          </p:nvPr>
        </p:nvSpPr>
        <p:spPr bwMode="auto">
          <a:xfrm>
            <a:off x="5410200" y="64008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305800" y="6400800"/>
            <a:ext cx="457200" cy="457200"/>
          </a:xfrm>
          <a:prstGeom prst="rect">
            <a:avLst/>
          </a:prstGeom>
          <a:ln>
            <a:miter lim="800000"/>
          </a:ln>
        </p:spPr>
        <p:txBody>
          <a:bodyPr vert="horz" wrap="square" lIns="91440" tIns="45720" rIns="91440" bIns="45720" numCol="1" anchor="t" anchorCtr="0" compatLnSpc="1"/>
          <a:p>
            <a:pPr algn="r"/>
            <a:fld id="{9A0DB2DC-4C9A-4742-B13C-FB6460FD3503}" type="slidenum">
              <a:rPr lang="zh-CN" altLang="en-US" dirty="0"/>
            </a:fld>
            <a:endParaRPr lang="zh-CN" altLang="en-US" dirty="0"/>
          </a:p>
        </p:txBody>
      </p:sp>
    </p:spTree>
  </p:cSld>
  <p:clrMapOvr>
    <a:masterClrMapping/>
  </p:clrMapOvr>
  <p:hf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4754" name="Rectangle 2"/>
          <p:cNvSpPr>
            <a:spLocks noGrp="1"/>
          </p:cNvSpPr>
          <p:nvPr>
            <p:ph type="title"/>
          </p:nvPr>
        </p:nvSpPr>
        <p:spPr>
          <a:xfrm>
            <a:off x="533400" y="228600"/>
            <a:ext cx="77724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74755" name="Rectangle 3"/>
          <p:cNvSpPr>
            <a:spLocks noGrp="1"/>
          </p:cNvSpPr>
          <p:nvPr>
            <p:ph type="body"/>
          </p:nvPr>
        </p:nvSpPr>
        <p:spPr>
          <a:xfrm>
            <a:off x="533400" y="1600200"/>
            <a:ext cx="7772400" cy="4648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eaLnBrk="0" hangingPunct="0">
              <a:defRPr sz="14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5410200" y="6400800"/>
            <a:ext cx="28956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400">
                <a:latin typeface="+mn-lt"/>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305800" y="6400800"/>
            <a:ext cx="457200" cy="45720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3200" u="sng">
          <a:solidFill>
            <a:schemeClr val="accent2"/>
          </a:solidFill>
          <a:latin typeface="+mj-lt"/>
          <a:ea typeface="+mj-ea"/>
          <a:cs typeface="+mj-cs"/>
        </a:defRPr>
      </a:lvl1pPr>
      <a:lvl2pPr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5pPr>
      <a:lvl6pPr marL="457200"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6pPr>
      <a:lvl7pPr marL="914400"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7pPr>
      <a:lvl8pPr marL="1371600"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8pPr>
      <a:lvl9pPr marL="1828800"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5000"/>
        <a:buFont typeface="ZapfDingbats" pitchFamily="82" charset="2"/>
        <a:buChar char="r"/>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5pPr>
      <a:lvl6pPr marL="25146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6pPr>
      <a:lvl7pPr marL="29718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7pPr>
      <a:lvl8pPr marL="34290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8pPr>
      <a:lvl9pPr marL="38862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5778" name="Rectangle 2"/>
          <p:cNvSpPr>
            <a:spLocks noGrp="1"/>
          </p:cNvSpPr>
          <p:nvPr>
            <p:ph type="title"/>
          </p:nvPr>
        </p:nvSpPr>
        <p:spPr>
          <a:xfrm>
            <a:off x="533400" y="228600"/>
            <a:ext cx="77724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75779" name="Rectangle 3"/>
          <p:cNvSpPr>
            <a:spLocks noGrp="1"/>
          </p:cNvSpPr>
          <p:nvPr>
            <p:ph type="body"/>
          </p:nvPr>
        </p:nvSpPr>
        <p:spPr>
          <a:xfrm>
            <a:off x="533400" y="1600200"/>
            <a:ext cx="7772400" cy="4648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eaLnBrk="0" hangingPunct="0">
              <a:defRPr sz="14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5410200" y="6400800"/>
            <a:ext cx="28956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400">
                <a:latin typeface="+mn-lt"/>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305800" y="6400800"/>
            <a:ext cx="457200" cy="45720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rtl="0" eaLnBrk="0" fontAlgn="base" hangingPunct="0">
        <a:spcBef>
          <a:spcPct val="0"/>
        </a:spcBef>
        <a:spcAft>
          <a:spcPct val="0"/>
        </a:spcAft>
        <a:defRPr sz="3200" u="sng">
          <a:solidFill>
            <a:schemeClr val="accent2"/>
          </a:solidFill>
          <a:latin typeface="+mj-lt"/>
          <a:ea typeface="+mj-ea"/>
          <a:cs typeface="+mj-cs"/>
        </a:defRPr>
      </a:lvl1pPr>
      <a:lvl2pPr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5pPr>
      <a:lvl6pPr marL="457200"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6pPr>
      <a:lvl7pPr marL="914400"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7pPr>
      <a:lvl8pPr marL="1371600"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8pPr>
      <a:lvl9pPr marL="1828800" algn="ctr" rtl="0" eaLnBrk="0" fontAlgn="base" hangingPunct="0">
        <a:spcBef>
          <a:spcPct val="0"/>
        </a:spcBef>
        <a:spcAft>
          <a:spcPct val="0"/>
        </a:spcAft>
        <a:defRPr sz="3200" u="sng">
          <a:solidFill>
            <a:schemeClr val="accent2"/>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5000"/>
        <a:buFont typeface="ZapfDingbats" pitchFamily="82" charset="2"/>
        <a:buChar char="r"/>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5pPr>
      <a:lvl6pPr marL="25146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6pPr>
      <a:lvl7pPr marL="29718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7pPr>
      <a:lvl8pPr marL="34290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8pPr>
      <a:lvl9pPr marL="38862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wmf"/><Relationship Id="rId7" Type="http://schemas.openxmlformats.org/officeDocument/2006/relationships/oleObject" Target="../embeddings/oleObject4.bin"/><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6.xml"/><Relationship Id="rId2" Type="http://schemas.openxmlformats.org/officeDocument/2006/relationships/image" Target="../media/image5.wmf"/><Relationship Id="rId1"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wmf"/><Relationship Id="rId7" Type="http://schemas.openxmlformats.org/officeDocument/2006/relationships/oleObject" Target="../embeddings/oleObject10.bin"/><Relationship Id="rId6" Type="http://schemas.openxmlformats.org/officeDocument/2006/relationships/image" Target="../media/image8.wmf"/><Relationship Id="rId5" Type="http://schemas.openxmlformats.org/officeDocument/2006/relationships/oleObject" Target="../embeddings/oleObject9.bin"/><Relationship Id="rId4" Type="http://schemas.openxmlformats.org/officeDocument/2006/relationships/image" Target="../media/image7.wmf"/><Relationship Id="rId3" Type="http://schemas.openxmlformats.org/officeDocument/2006/relationships/oleObject" Target="../embeddings/oleObject8.bin"/><Relationship Id="rId2" Type="http://schemas.openxmlformats.org/officeDocument/2006/relationships/image" Target="../media/image6.wmf"/><Relationship Id="rId11" Type="http://schemas.openxmlformats.org/officeDocument/2006/relationships/notesSlide" Target="../notesSlides/notesSlide3.xml"/><Relationship Id="rId10" Type="http://schemas.openxmlformats.org/officeDocument/2006/relationships/vmlDrawing" Target="../drawings/vmlDrawing4.vml"/><Relationship Id="rId1"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6.xml"/><Relationship Id="rId2" Type="http://schemas.openxmlformats.org/officeDocument/2006/relationships/image" Target="../media/image10.wmf"/><Relationship Id="rId1"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14.wmf"/><Relationship Id="rId7" Type="http://schemas.openxmlformats.org/officeDocument/2006/relationships/oleObject" Target="../embeddings/oleObject15.bin"/><Relationship Id="rId6" Type="http://schemas.openxmlformats.org/officeDocument/2006/relationships/image" Target="../media/image13.wmf"/><Relationship Id="rId5" Type="http://schemas.openxmlformats.org/officeDocument/2006/relationships/oleObject" Target="../embeddings/oleObject14.bin"/><Relationship Id="rId4" Type="http://schemas.openxmlformats.org/officeDocument/2006/relationships/image" Target="../media/image12.wmf"/><Relationship Id="rId3" Type="http://schemas.openxmlformats.org/officeDocument/2006/relationships/oleObject" Target="../embeddings/oleObject13.bin"/><Relationship Id="rId2" Type="http://schemas.openxmlformats.org/officeDocument/2006/relationships/image" Target="../media/image11.wmf"/><Relationship Id="rId10" Type="http://schemas.openxmlformats.org/officeDocument/2006/relationships/vmlDrawing" Target="../drawings/vmlDrawing6.vml"/><Relationship Id="rId1"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6.xml"/><Relationship Id="rId6" Type="http://schemas.openxmlformats.org/officeDocument/2006/relationships/image" Target="../media/image9.wmf"/><Relationship Id="rId5" Type="http://schemas.openxmlformats.org/officeDocument/2006/relationships/oleObject" Target="../embeddings/oleObject18.bin"/><Relationship Id="rId4" Type="http://schemas.openxmlformats.org/officeDocument/2006/relationships/image" Target="../media/image16.wmf"/><Relationship Id="rId3" Type="http://schemas.openxmlformats.org/officeDocument/2006/relationships/oleObject" Target="../embeddings/oleObject17.bin"/><Relationship Id="rId2" Type="http://schemas.openxmlformats.org/officeDocument/2006/relationships/image" Target="../media/image15.wmf"/><Relationship Id="rId1" Type="http://schemas.openxmlformats.org/officeDocument/2006/relationships/oleObject" Target="../embeddings/oleObject16.bin"/></Relationships>
</file>

<file path=ppt/slides/_rels/slide11.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21.bin"/><Relationship Id="rId4" Type="http://schemas.openxmlformats.org/officeDocument/2006/relationships/image" Target="../media/image18.wmf"/><Relationship Id="rId3" Type="http://schemas.openxmlformats.org/officeDocument/2006/relationships/oleObject" Target="../embeddings/oleObject20.bin"/><Relationship Id="rId2" Type="http://schemas.openxmlformats.org/officeDocument/2006/relationships/image" Target="../media/image17.wmf"/><Relationship Id="rId1" Type="http://schemas.openxmlformats.org/officeDocument/2006/relationships/oleObject" Target="../embeddings/oleObject19.bin"/></Relationships>
</file>

<file path=ppt/slides/_rels/slide12.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6.xml"/><Relationship Id="rId6" Type="http://schemas.openxmlformats.org/officeDocument/2006/relationships/image" Target="../media/image22.wmf"/><Relationship Id="rId5" Type="http://schemas.openxmlformats.org/officeDocument/2006/relationships/oleObject" Target="../embeddings/oleObject24.bin"/><Relationship Id="rId4" Type="http://schemas.openxmlformats.org/officeDocument/2006/relationships/image" Target="../media/image21.wmf"/><Relationship Id="rId3" Type="http://schemas.openxmlformats.org/officeDocument/2006/relationships/oleObject" Target="../embeddings/oleObject23.bin"/><Relationship Id="rId2" Type="http://schemas.openxmlformats.org/officeDocument/2006/relationships/image" Target="../media/image20.wmf"/><Relationship Id="rId1" Type="http://schemas.openxmlformats.org/officeDocument/2006/relationships/oleObject" Target="../embeddings/oleObject22.bin"/></Relationships>
</file>

<file path=ppt/slides/_rels/slide13.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6.xml"/><Relationship Id="rId6" Type="http://schemas.openxmlformats.org/officeDocument/2006/relationships/image" Target="../media/image24.wmf"/><Relationship Id="rId5" Type="http://schemas.openxmlformats.org/officeDocument/2006/relationships/oleObject" Target="../embeddings/oleObject27.bin"/><Relationship Id="rId4" Type="http://schemas.openxmlformats.org/officeDocument/2006/relationships/image" Target="../media/image22.wmf"/><Relationship Id="rId3" Type="http://schemas.openxmlformats.org/officeDocument/2006/relationships/oleObject" Target="../embeddings/oleObject26.bin"/><Relationship Id="rId2" Type="http://schemas.openxmlformats.org/officeDocument/2006/relationships/image" Target="../media/image23.wmf"/><Relationship Id="rId1" Type="http://schemas.openxmlformats.org/officeDocument/2006/relationships/oleObject" Target="../embeddings/oleObject25.bin"/></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25.wmf"/><Relationship Id="rId3" Type="http://schemas.openxmlformats.org/officeDocument/2006/relationships/oleObject" Target="../embeddings/oleObject29.bin"/><Relationship Id="rId2" Type="http://schemas.openxmlformats.org/officeDocument/2006/relationships/image" Target="../media/image24.wmf"/><Relationship Id="rId1" Type="http://schemas.openxmlformats.org/officeDocument/2006/relationships/oleObject" Target="../embeddings/oleObject28.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6.xml"/><Relationship Id="rId4" Type="http://schemas.openxmlformats.org/officeDocument/2006/relationships/image" Target="../media/image26.wmf"/><Relationship Id="rId3" Type="http://schemas.openxmlformats.org/officeDocument/2006/relationships/oleObject" Target="../embeddings/oleObject31.bin"/><Relationship Id="rId2" Type="http://schemas.openxmlformats.org/officeDocument/2006/relationships/image" Target="../media/image25.wmf"/><Relationship Id="rId1" Type="http://schemas.openxmlformats.org/officeDocument/2006/relationships/oleObject" Target="../embeddings/oleObject30.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36.bin"/><Relationship Id="rId8" Type="http://schemas.openxmlformats.org/officeDocument/2006/relationships/image" Target="../media/image25.wmf"/><Relationship Id="rId7" Type="http://schemas.openxmlformats.org/officeDocument/2006/relationships/oleObject" Target="../embeddings/oleObject35.bin"/><Relationship Id="rId6" Type="http://schemas.openxmlformats.org/officeDocument/2006/relationships/image" Target="../media/image29.wmf"/><Relationship Id="rId5" Type="http://schemas.openxmlformats.org/officeDocument/2006/relationships/oleObject" Target="../embeddings/oleObject34.bin"/><Relationship Id="rId4" Type="http://schemas.openxmlformats.org/officeDocument/2006/relationships/image" Target="../media/image28.wmf"/><Relationship Id="rId3" Type="http://schemas.openxmlformats.org/officeDocument/2006/relationships/oleObject" Target="../embeddings/oleObject33.bin"/><Relationship Id="rId2" Type="http://schemas.openxmlformats.org/officeDocument/2006/relationships/image" Target="../media/image27.wmf"/><Relationship Id="rId16" Type="http://schemas.openxmlformats.org/officeDocument/2006/relationships/vmlDrawing" Target="../drawings/vmlDrawing13.vml"/><Relationship Id="rId15" Type="http://schemas.openxmlformats.org/officeDocument/2006/relationships/slideLayout" Target="../slideLayouts/slideLayout6.xml"/><Relationship Id="rId14" Type="http://schemas.openxmlformats.org/officeDocument/2006/relationships/image" Target="../media/image32.wmf"/><Relationship Id="rId13" Type="http://schemas.openxmlformats.org/officeDocument/2006/relationships/oleObject" Target="../embeddings/oleObject38.bin"/><Relationship Id="rId12" Type="http://schemas.openxmlformats.org/officeDocument/2006/relationships/image" Target="../media/image31.wmf"/><Relationship Id="rId11" Type="http://schemas.openxmlformats.org/officeDocument/2006/relationships/oleObject" Target="../embeddings/oleObject37.bin"/><Relationship Id="rId10" Type="http://schemas.openxmlformats.org/officeDocument/2006/relationships/image" Target="../media/image30.wmf"/><Relationship Id="rId1" Type="http://schemas.openxmlformats.org/officeDocument/2006/relationships/oleObject" Target="../embeddings/oleObject32.bin"/></Relationships>
</file>

<file path=ppt/slides/_rels/slide17.xml.rels><?xml version="1.0" encoding="UTF-8" standalone="yes"?>
<Relationships xmlns="http://schemas.openxmlformats.org/package/2006/relationships"><Relationship Id="rId9" Type="http://schemas.openxmlformats.org/officeDocument/2006/relationships/image" Target="../media/image36.wmf"/><Relationship Id="rId8" Type="http://schemas.openxmlformats.org/officeDocument/2006/relationships/oleObject" Target="../embeddings/oleObject43.bin"/><Relationship Id="rId7" Type="http://schemas.openxmlformats.org/officeDocument/2006/relationships/image" Target="../media/image35.wmf"/><Relationship Id="rId6" Type="http://schemas.openxmlformats.org/officeDocument/2006/relationships/oleObject" Target="../embeddings/oleObject42.bin"/><Relationship Id="rId5" Type="http://schemas.openxmlformats.org/officeDocument/2006/relationships/image" Target="../media/image34.wmf"/><Relationship Id="rId4" Type="http://schemas.openxmlformats.org/officeDocument/2006/relationships/oleObject" Target="../embeddings/oleObject41.bin"/><Relationship Id="rId3" Type="http://schemas.openxmlformats.org/officeDocument/2006/relationships/oleObject" Target="../embeddings/oleObject40.bin"/><Relationship Id="rId2" Type="http://schemas.openxmlformats.org/officeDocument/2006/relationships/image" Target="../media/image33.wmf"/><Relationship Id="rId11" Type="http://schemas.openxmlformats.org/officeDocument/2006/relationships/vmlDrawing" Target="../drawings/vmlDrawing14.vml"/><Relationship Id="rId10" Type="http://schemas.openxmlformats.org/officeDocument/2006/relationships/slideLayout" Target="../slideLayouts/slideLayout2.xml"/><Relationship Id="rId1" Type="http://schemas.openxmlformats.org/officeDocument/2006/relationships/oleObject" Target="../embeddings/oleObject39.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image" Target="../media/image40.wmf"/><Relationship Id="rId7" Type="http://schemas.openxmlformats.org/officeDocument/2006/relationships/oleObject" Target="../embeddings/oleObject47.bin"/><Relationship Id="rId6" Type="http://schemas.openxmlformats.org/officeDocument/2006/relationships/image" Target="../media/image39.wmf"/><Relationship Id="rId5" Type="http://schemas.openxmlformats.org/officeDocument/2006/relationships/oleObject" Target="../embeddings/oleObject46.bin"/><Relationship Id="rId4" Type="http://schemas.openxmlformats.org/officeDocument/2006/relationships/image" Target="../media/image38.wmf"/><Relationship Id="rId3" Type="http://schemas.openxmlformats.org/officeDocument/2006/relationships/oleObject" Target="../embeddings/oleObject45.bin"/><Relationship Id="rId2" Type="http://schemas.openxmlformats.org/officeDocument/2006/relationships/image" Target="../media/image37.wmf"/><Relationship Id="rId12" Type="http://schemas.openxmlformats.org/officeDocument/2006/relationships/vmlDrawing" Target="../drawings/vmlDrawing15.vml"/><Relationship Id="rId11" Type="http://schemas.openxmlformats.org/officeDocument/2006/relationships/slideLayout" Target="../slideLayouts/slideLayout6.xml"/><Relationship Id="rId10" Type="http://schemas.openxmlformats.org/officeDocument/2006/relationships/image" Target="../media/image41.wmf"/><Relationship Id="rId1" Type="http://schemas.openxmlformats.org/officeDocument/2006/relationships/oleObject" Target="../embeddings/oleObject44.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6.xml"/><Relationship Id="rId2" Type="http://schemas.openxmlformats.org/officeDocument/2006/relationships/image" Target="../media/image42.wmf"/><Relationship Id="rId1" Type="http://schemas.openxmlformats.org/officeDocument/2006/relationships/oleObject" Target="../embeddings/oleObject49.bin"/></Relationships>
</file>

<file path=ppt/slides/_rels/slide20.xml.rels><?xml version="1.0" encoding="UTF-8" standalone="yes"?>
<Relationships xmlns="http://schemas.openxmlformats.org/package/2006/relationships"><Relationship Id="rId8" Type="http://schemas.openxmlformats.org/officeDocument/2006/relationships/vmlDrawing" Target="../drawings/vmlDrawing17.vml"/><Relationship Id="rId7" Type="http://schemas.openxmlformats.org/officeDocument/2006/relationships/slideLayout" Target="../slideLayouts/slideLayout6.xml"/><Relationship Id="rId6" Type="http://schemas.openxmlformats.org/officeDocument/2006/relationships/image" Target="../media/image45.wmf"/><Relationship Id="rId5" Type="http://schemas.openxmlformats.org/officeDocument/2006/relationships/oleObject" Target="../embeddings/oleObject52.bin"/><Relationship Id="rId4" Type="http://schemas.openxmlformats.org/officeDocument/2006/relationships/image" Target="../media/image44.wmf"/><Relationship Id="rId3" Type="http://schemas.openxmlformats.org/officeDocument/2006/relationships/oleObject" Target="../embeddings/oleObject51.bin"/><Relationship Id="rId2" Type="http://schemas.openxmlformats.org/officeDocument/2006/relationships/image" Target="../media/image43.wmf"/><Relationship Id="rId1" Type="http://schemas.openxmlformats.org/officeDocument/2006/relationships/oleObject" Target="../embeddings/oleObject50.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46.wmf"/><Relationship Id="rId1" Type="http://schemas.openxmlformats.org/officeDocument/2006/relationships/oleObject" Target="../embeddings/oleObject53.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vmlDrawing" Target="../drawings/vmlDrawing19.vml"/><Relationship Id="rId7" Type="http://schemas.openxmlformats.org/officeDocument/2006/relationships/slideLayout" Target="../slideLayouts/slideLayout6.xml"/><Relationship Id="rId6" Type="http://schemas.openxmlformats.org/officeDocument/2006/relationships/image" Target="../media/image49.wmf"/><Relationship Id="rId5" Type="http://schemas.openxmlformats.org/officeDocument/2006/relationships/oleObject" Target="../embeddings/oleObject56.bin"/><Relationship Id="rId4" Type="http://schemas.openxmlformats.org/officeDocument/2006/relationships/image" Target="../media/image48.wmf"/><Relationship Id="rId3" Type="http://schemas.openxmlformats.org/officeDocument/2006/relationships/oleObject" Target="../embeddings/oleObject55.bin"/><Relationship Id="rId2" Type="http://schemas.openxmlformats.org/officeDocument/2006/relationships/image" Target="../media/image47.wmf"/><Relationship Id="rId1" Type="http://schemas.openxmlformats.org/officeDocument/2006/relationships/oleObject" Target="../embeddings/oleObject54.bin"/></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3.wmf"/><Relationship Id="rId7" Type="http://schemas.openxmlformats.org/officeDocument/2006/relationships/oleObject" Target="../embeddings/oleObject60.bin"/><Relationship Id="rId6" Type="http://schemas.openxmlformats.org/officeDocument/2006/relationships/image" Target="../media/image52.wmf"/><Relationship Id="rId5" Type="http://schemas.openxmlformats.org/officeDocument/2006/relationships/oleObject" Target="../embeddings/oleObject59.bin"/><Relationship Id="rId4" Type="http://schemas.openxmlformats.org/officeDocument/2006/relationships/image" Target="../media/image51.wmf"/><Relationship Id="rId3" Type="http://schemas.openxmlformats.org/officeDocument/2006/relationships/oleObject" Target="../embeddings/oleObject58.bin"/><Relationship Id="rId2" Type="http://schemas.openxmlformats.org/officeDocument/2006/relationships/image" Target="../media/image50.wmf"/><Relationship Id="rId11" Type="http://schemas.openxmlformats.org/officeDocument/2006/relationships/notesSlide" Target="../notesSlides/notesSlide5.xml"/><Relationship Id="rId10" Type="http://schemas.openxmlformats.org/officeDocument/2006/relationships/vmlDrawing" Target="../drawings/vmlDrawing20.vml"/><Relationship Id="rId1" Type="http://schemas.openxmlformats.org/officeDocument/2006/relationships/oleObject" Target="../embeddings/oleObject57.bin"/></Relationships>
</file>

<file path=ppt/slides/_rels/slide26.xml.rels><?xml version="1.0" encoding="UTF-8" standalone="yes"?>
<Relationships xmlns="http://schemas.openxmlformats.org/package/2006/relationships"><Relationship Id="rId8" Type="http://schemas.openxmlformats.org/officeDocument/2006/relationships/vmlDrawing" Target="../drawings/vmlDrawing21.vml"/><Relationship Id="rId7" Type="http://schemas.openxmlformats.org/officeDocument/2006/relationships/slideLayout" Target="../slideLayouts/slideLayout6.xml"/><Relationship Id="rId6" Type="http://schemas.openxmlformats.org/officeDocument/2006/relationships/image" Target="../media/image55.wmf"/><Relationship Id="rId5" Type="http://schemas.openxmlformats.org/officeDocument/2006/relationships/oleObject" Target="../embeddings/oleObject63.bin"/><Relationship Id="rId4" Type="http://schemas.openxmlformats.org/officeDocument/2006/relationships/image" Target="../media/image54.wmf"/><Relationship Id="rId3" Type="http://schemas.openxmlformats.org/officeDocument/2006/relationships/oleObject" Target="../embeddings/oleObject62.bin"/><Relationship Id="rId2" Type="http://schemas.openxmlformats.org/officeDocument/2006/relationships/image" Target="../media/image17.wmf"/><Relationship Id="rId1" Type="http://schemas.openxmlformats.org/officeDocument/2006/relationships/oleObject" Target="../embeddings/oleObject61.bin"/></Relationships>
</file>

<file path=ppt/slides/_rels/slide27.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6.xml"/><Relationship Id="rId6" Type="http://schemas.openxmlformats.org/officeDocument/2006/relationships/image" Target="../media/image17.wmf"/><Relationship Id="rId5" Type="http://schemas.openxmlformats.org/officeDocument/2006/relationships/oleObject" Target="../embeddings/oleObject66.bin"/><Relationship Id="rId4" Type="http://schemas.openxmlformats.org/officeDocument/2006/relationships/image" Target="../media/image57.wmf"/><Relationship Id="rId3" Type="http://schemas.openxmlformats.org/officeDocument/2006/relationships/oleObject" Target="../embeddings/oleObject65.bin"/><Relationship Id="rId2" Type="http://schemas.openxmlformats.org/officeDocument/2006/relationships/image" Target="../media/image56.wmf"/><Relationship Id="rId1" Type="http://schemas.openxmlformats.org/officeDocument/2006/relationships/oleObject" Target="../embeddings/oleObject64.bin"/></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61.wmf"/><Relationship Id="rId7" Type="http://schemas.openxmlformats.org/officeDocument/2006/relationships/oleObject" Target="../embeddings/oleObject70.bin"/><Relationship Id="rId6" Type="http://schemas.openxmlformats.org/officeDocument/2006/relationships/image" Target="../media/image60.wmf"/><Relationship Id="rId5" Type="http://schemas.openxmlformats.org/officeDocument/2006/relationships/oleObject" Target="../embeddings/oleObject69.bin"/><Relationship Id="rId4" Type="http://schemas.openxmlformats.org/officeDocument/2006/relationships/image" Target="../media/image59.wmf"/><Relationship Id="rId3" Type="http://schemas.openxmlformats.org/officeDocument/2006/relationships/oleObject" Target="../embeddings/oleObject68.bin"/><Relationship Id="rId2" Type="http://schemas.openxmlformats.org/officeDocument/2006/relationships/image" Target="../media/image58.wmf"/><Relationship Id="rId10" Type="http://schemas.openxmlformats.org/officeDocument/2006/relationships/vmlDrawing" Target="../drawings/vmlDrawing23.vml"/><Relationship Id="rId1" Type="http://schemas.openxmlformats.org/officeDocument/2006/relationships/oleObject" Target="../embeddings/oleObject67.bin"/></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65.wmf"/><Relationship Id="rId7" Type="http://schemas.openxmlformats.org/officeDocument/2006/relationships/oleObject" Target="../embeddings/oleObject74.bin"/><Relationship Id="rId6" Type="http://schemas.openxmlformats.org/officeDocument/2006/relationships/image" Target="../media/image64.wmf"/><Relationship Id="rId5" Type="http://schemas.openxmlformats.org/officeDocument/2006/relationships/oleObject" Target="../embeddings/oleObject73.bin"/><Relationship Id="rId4" Type="http://schemas.openxmlformats.org/officeDocument/2006/relationships/image" Target="../media/image63.wmf"/><Relationship Id="rId3" Type="http://schemas.openxmlformats.org/officeDocument/2006/relationships/oleObject" Target="../embeddings/oleObject72.bin"/><Relationship Id="rId2" Type="http://schemas.openxmlformats.org/officeDocument/2006/relationships/image" Target="../media/image62.wmf"/><Relationship Id="rId10" Type="http://schemas.openxmlformats.org/officeDocument/2006/relationships/vmlDrawing" Target="../drawings/vmlDrawing24.vml"/><Relationship Id="rId1" Type="http://schemas.openxmlformats.org/officeDocument/2006/relationships/oleObject" Target="../embeddings/oleObject71.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6.xml"/><Relationship Id="rId2" Type="http://schemas.openxmlformats.org/officeDocument/2006/relationships/image" Target="../media/image66.wmf"/><Relationship Id="rId1" Type="http://schemas.openxmlformats.org/officeDocument/2006/relationships/oleObject" Target="../embeddings/oleObject75.bin"/></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2.xml"/><Relationship Id="rId4" Type="http://schemas.openxmlformats.org/officeDocument/2006/relationships/image" Target="../media/image68.wmf"/><Relationship Id="rId3" Type="http://schemas.openxmlformats.org/officeDocument/2006/relationships/oleObject" Target="../embeddings/oleObject77.bin"/><Relationship Id="rId2" Type="http://schemas.openxmlformats.org/officeDocument/2006/relationships/image" Target="../media/image67.wmf"/><Relationship Id="rId1" Type="http://schemas.openxmlformats.org/officeDocument/2006/relationships/oleObject" Target="../embeddings/oleObject76.bin"/></Relationships>
</file>

<file path=ppt/slides/_rels/slide32.xml.rels><?xml version="1.0" encoding="UTF-8" standalone="yes"?>
<Relationships xmlns="http://schemas.openxmlformats.org/package/2006/relationships"><Relationship Id="rId8" Type="http://schemas.openxmlformats.org/officeDocument/2006/relationships/vmlDrawing" Target="../drawings/vmlDrawing27.vml"/><Relationship Id="rId7" Type="http://schemas.openxmlformats.org/officeDocument/2006/relationships/slideLayout" Target="../slideLayouts/slideLayout2.xml"/><Relationship Id="rId6" Type="http://schemas.openxmlformats.org/officeDocument/2006/relationships/image" Target="../media/image71.wmf"/><Relationship Id="rId5" Type="http://schemas.openxmlformats.org/officeDocument/2006/relationships/oleObject" Target="../embeddings/oleObject80.bin"/><Relationship Id="rId4" Type="http://schemas.openxmlformats.org/officeDocument/2006/relationships/image" Target="../media/image70.wmf"/><Relationship Id="rId3" Type="http://schemas.openxmlformats.org/officeDocument/2006/relationships/oleObject" Target="../embeddings/oleObject79.bin"/><Relationship Id="rId2" Type="http://schemas.openxmlformats.org/officeDocument/2006/relationships/image" Target="../media/image69.wmf"/><Relationship Id="rId1" Type="http://schemas.openxmlformats.org/officeDocument/2006/relationships/oleObject" Target="../embeddings/oleObject78.bin"/></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5.wmf"/><Relationship Id="rId7" Type="http://schemas.openxmlformats.org/officeDocument/2006/relationships/oleObject" Target="../embeddings/oleObject84.bin"/><Relationship Id="rId6" Type="http://schemas.openxmlformats.org/officeDocument/2006/relationships/image" Target="../media/image74.wmf"/><Relationship Id="rId5" Type="http://schemas.openxmlformats.org/officeDocument/2006/relationships/oleObject" Target="../embeddings/oleObject83.bin"/><Relationship Id="rId4" Type="http://schemas.openxmlformats.org/officeDocument/2006/relationships/image" Target="../media/image73.wmf"/><Relationship Id="rId3" Type="http://schemas.openxmlformats.org/officeDocument/2006/relationships/oleObject" Target="../embeddings/oleObject82.bin"/><Relationship Id="rId2" Type="http://schemas.openxmlformats.org/officeDocument/2006/relationships/image" Target="../media/image72.wmf"/><Relationship Id="rId10" Type="http://schemas.openxmlformats.org/officeDocument/2006/relationships/vmlDrawing" Target="../drawings/vmlDrawing28.vml"/><Relationship Id="rId1" Type="http://schemas.openxmlformats.org/officeDocument/2006/relationships/oleObject" Target="../embeddings/oleObject81.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89.bin"/><Relationship Id="rId8" Type="http://schemas.openxmlformats.org/officeDocument/2006/relationships/image" Target="../media/image75.wmf"/><Relationship Id="rId7" Type="http://schemas.openxmlformats.org/officeDocument/2006/relationships/oleObject" Target="../embeddings/oleObject88.bin"/><Relationship Id="rId6" Type="http://schemas.openxmlformats.org/officeDocument/2006/relationships/image" Target="../media/image78.wmf"/><Relationship Id="rId5" Type="http://schemas.openxmlformats.org/officeDocument/2006/relationships/oleObject" Target="../embeddings/oleObject87.bin"/><Relationship Id="rId4" Type="http://schemas.openxmlformats.org/officeDocument/2006/relationships/image" Target="../media/image77.wmf"/><Relationship Id="rId3" Type="http://schemas.openxmlformats.org/officeDocument/2006/relationships/oleObject" Target="../embeddings/oleObject86.bin"/><Relationship Id="rId2" Type="http://schemas.openxmlformats.org/officeDocument/2006/relationships/image" Target="../media/image76.wmf"/><Relationship Id="rId12" Type="http://schemas.openxmlformats.org/officeDocument/2006/relationships/vmlDrawing" Target="../drawings/vmlDrawing29.vml"/><Relationship Id="rId11" Type="http://schemas.openxmlformats.org/officeDocument/2006/relationships/slideLayout" Target="../slideLayouts/slideLayout6.xml"/><Relationship Id="rId10" Type="http://schemas.openxmlformats.org/officeDocument/2006/relationships/image" Target="../media/image79.wmf"/><Relationship Id="rId1" Type="http://schemas.openxmlformats.org/officeDocument/2006/relationships/oleObject" Target="../embeddings/oleObject85.bin"/></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30.vml"/><Relationship Id="rId7" Type="http://schemas.openxmlformats.org/officeDocument/2006/relationships/slideLayout" Target="../slideLayouts/slideLayout6.xml"/><Relationship Id="rId6" Type="http://schemas.openxmlformats.org/officeDocument/2006/relationships/image" Target="../media/image82.wmf"/><Relationship Id="rId5" Type="http://schemas.openxmlformats.org/officeDocument/2006/relationships/oleObject" Target="../embeddings/oleObject92.bin"/><Relationship Id="rId4" Type="http://schemas.openxmlformats.org/officeDocument/2006/relationships/image" Target="../media/image81.wmf"/><Relationship Id="rId3" Type="http://schemas.openxmlformats.org/officeDocument/2006/relationships/oleObject" Target="../embeddings/oleObject91.bin"/><Relationship Id="rId2" Type="http://schemas.openxmlformats.org/officeDocument/2006/relationships/image" Target="../media/image80.wmf"/><Relationship Id="rId1" Type="http://schemas.openxmlformats.org/officeDocument/2006/relationships/oleObject" Target="../embeddings/oleObject90.bin"/></Relationships>
</file>

<file path=ppt/slides/_rels/slide36.xml.rels><?xml version="1.0" encoding="UTF-8" standalone="yes"?>
<Relationships xmlns="http://schemas.openxmlformats.org/package/2006/relationships"><Relationship Id="rId8" Type="http://schemas.openxmlformats.org/officeDocument/2006/relationships/vmlDrawing" Target="../drawings/vmlDrawing31.vml"/><Relationship Id="rId7" Type="http://schemas.openxmlformats.org/officeDocument/2006/relationships/slideLayout" Target="../slideLayouts/slideLayout6.xml"/><Relationship Id="rId6" Type="http://schemas.openxmlformats.org/officeDocument/2006/relationships/image" Target="../media/image82.wmf"/><Relationship Id="rId5" Type="http://schemas.openxmlformats.org/officeDocument/2006/relationships/oleObject" Target="../embeddings/oleObject95.bin"/><Relationship Id="rId4" Type="http://schemas.openxmlformats.org/officeDocument/2006/relationships/image" Target="../media/image84.wmf"/><Relationship Id="rId3" Type="http://schemas.openxmlformats.org/officeDocument/2006/relationships/oleObject" Target="../embeddings/oleObject94.bin"/><Relationship Id="rId2" Type="http://schemas.openxmlformats.org/officeDocument/2006/relationships/image" Target="../media/image83.wmf"/><Relationship Id="rId1" Type="http://schemas.openxmlformats.org/officeDocument/2006/relationships/oleObject" Target="../embeddings/oleObject93.bin"/></Relationships>
</file>

<file path=ppt/slides/_rels/slide37.xml.rels><?xml version="1.0" encoding="UTF-8" standalone="yes"?>
<Relationships xmlns="http://schemas.openxmlformats.org/package/2006/relationships"><Relationship Id="rId8" Type="http://schemas.openxmlformats.org/officeDocument/2006/relationships/vmlDrawing" Target="../drawings/vmlDrawing32.vml"/><Relationship Id="rId7" Type="http://schemas.openxmlformats.org/officeDocument/2006/relationships/slideLayout" Target="../slideLayouts/slideLayout6.xml"/><Relationship Id="rId6" Type="http://schemas.openxmlformats.org/officeDocument/2006/relationships/image" Target="../media/image84.wmf"/><Relationship Id="rId5" Type="http://schemas.openxmlformats.org/officeDocument/2006/relationships/oleObject" Target="../embeddings/oleObject98.bin"/><Relationship Id="rId4" Type="http://schemas.openxmlformats.org/officeDocument/2006/relationships/image" Target="../media/image86.wmf"/><Relationship Id="rId3" Type="http://schemas.openxmlformats.org/officeDocument/2006/relationships/oleObject" Target="../embeddings/oleObject97.bin"/><Relationship Id="rId2" Type="http://schemas.openxmlformats.org/officeDocument/2006/relationships/image" Target="../media/image85.wmf"/><Relationship Id="rId1" Type="http://schemas.openxmlformats.org/officeDocument/2006/relationships/oleObject" Target="../embeddings/oleObject96.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03.bin"/><Relationship Id="rId8" Type="http://schemas.openxmlformats.org/officeDocument/2006/relationships/image" Target="../media/image90.wmf"/><Relationship Id="rId7" Type="http://schemas.openxmlformats.org/officeDocument/2006/relationships/oleObject" Target="../embeddings/oleObject102.bin"/><Relationship Id="rId6" Type="http://schemas.openxmlformats.org/officeDocument/2006/relationships/image" Target="../media/image89.wmf"/><Relationship Id="rId5" Type="http://schemas.openxmlformats.org/officeDocument/2006/relationships/oleObject" Target="../embeddings/oleObject101.bin"/><Relationship Id="rId4" Type="http://schemas.openxmlformats.org/officeDocument/2006/relationships/image" Target="../media/image88.wmf"/><Relationship Id="rId3" Type="http://schemas.openxmlformats.org/officeDocument/2006/relationships/oleObject" Target="../embeddings/oleObject100.bin"/><Relationship Id="rId21" Type="http://schemas.openxmlformats.org/officeDocument/2006/relationships/vmlDrawing" Target="../drawings/vmlDrawing33.vml"/><Relationship Id="rId20" Type="http://schemas.openxmlformats.org/officeDocument/2006/relationships/slideLayout" Target="../slideLayouts/slideLayout2.xml"/><Relationship Id="rId2" Type="http://schemas.openxmlformats.org/officeDocument/2006/relationships/image" Target="../media/image87.wmf"/><Relationship Id="rId19" Type="http://schemas.openxmlformats.org/officeDocument/2006/relationships/image" Target="../media/image95.wmf"/><Relationship Id="rId18" Type="http://schemas.openxmlformats.org/officeDocument/2006/relationships/oleObject" Target="../embeddings/oleObject108.bin"/><Relationship Id="rId17" Type="http://schemas.openxmlformats.org/officeDocument/2006/relationships/image" Target="../media/image94.wmf"/><Relationship Id="rId16" Type="http://schemas.openxmlformats.org/officeDocument/2006/relationships/oleObject" Target="../embeddings/oleObject107.bin"/><Relationship Id="rId15" Type="http://schemas.openxmlformats.org/officeDocument/2006/relationships/image" Target="../media/image93.wmf"/><Relationship Id="rId14" Type="http://schemas.openxmlformats.org/officeDocument/2006/relationships/oleObject" Target="../embeddings/oleObject106.bin"/><Relationship Id="rId13" Type="http://schemas.openxmlformats.org/officeDocument/2006/relationships/image" Target="../media/image92.wmf"/><Relationship Id="rId12" Type="http://schemas.openxmlformats.org/officeDocument/2006/relationships/oleObject" Target="../embeddings/oleObject105.bin"/><Relationship Id="rId11" Type="http://schemas.openxmlformats.org/officeDocument/2006/relationships/oleObject" Target="../embeddings/oleObject104.bin"/><Relationship Id="rId10" Type="http://schemas.openxmlformats.org/officeDocument/2006/relationships/image" Target="../media/image91.wmf"/><Relationship Id="rId1" Type="http://schemas.openxmlformats.org/officeDocument/2006/relationships/oleObject" Target="../embeddings/oleObject99.bin"/></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34.vml"/><Relationship Id="rId3" Type="http://schemas.openxmlformats.org/officeDocument/2006/relationships/slideLayout" Target="../slideLayouts/slideLayout2.xml"/><Relationship Id="rId2" Type="http://schemas.openxmlformats.org/officeDocument/2006/relationships/image" Target="../media/image96.wmf"/><Relationship Id="rId1" Type="http://schemas.openxmlformats.org/officeDocument/2006/relationships/oleObject" Target="../embeddings/oleObject109.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114.bin"/><Relationship Id="rId8" Type="http://schemas.openxmlformats.org/officeDocument/2006/relationships/image" Target="../media/image100.wmf"/><Relationship Id="rId7" Type="http://schemas.openxmlformats.org/officeDocument/2006/relationships/oleObject" Target="../embeddings/oleObject113.bin"/><Relationship Id="rId6" Type="http://schemas.openxmlformats.org/officeDocument/2006/relationships/image" Target="../media/image99.wmf"/><Relationship Id="rId5" Type="http://schemas.openxmlformats.org/officeDocument/2006/relationships/oleObject" Target="../embeddings/oleObject112.bin"/><Relationship Id="rId4" Type="http://schemas.openxmlformats.org/officeDocument/2006/relationships/image" Target="../media/image98.wmf"/><Relationship Id="rId3" Type="http://schemas.openxmlformats.org/officeDocument/2006/relationships/oleObject" Target="../embeddings/oleObject111.bin"/><Relationship Id="rId2" Type="http://schemas.openxmlformats.org/officeDocument/2006/relationships/image" Target="../media/image97.wmf"/><Relationship Id="rId12" Type="http://schemas.openxmlformats.org/officeDocument/2006/relationships/vmlDrawing" Target="../drawings/vmlDrawing35.vml"/><Relationship Id="rId11" Type="http://schemas.openxmlformats.org/officeDocument/2006/relationships/slideLayout" Target="../slideLayouts/slideLayout2.xml"/><Relationship Id="rId10" Type="http://schemas.openxmlformats.org/officeDocument/2006/relationships/image" Target="../media/image101.wmf"/><Relationship Id="rId1" Type="http://schemas.openxmlformats.org/officeDocument/2006/relationships/oleObject" Target="../embeddings/oleObject110.bin"/></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119.bin"/><Relationship Id="rId8" Type="http://schemas.openxmlformats.org/officeDocument/2006/relationships/image" Target="../media/image103.wmf"/><Relationship Id="rId7" Type="http://schemas.openxmlformats.org/officeDocument/2006/relationships/oleObject" Target="../embeddings/oleObject118.bin"/><Relationship Id="rId6" Type="http://schemas.openxmlformats.org/officeDocument/2006/relationships/image" Target="../media/image99.wmf"/><Relationship Id="rId5" Type="http://schemas.openxmlformats.org/officeDocument/2006/relationships/oleObject" Target="../embeddings/oleObject117.bin"/><Relationship Id="rId4" Type="http://schemas.openxmlformats.org/officeDocument/2006/relationships/image" Target="../media/image98.wmf"/><Relationship Id="rId3" Type="http://schemas.openxmlformats.org/officeDocument/2006/relationships/oleObject" Target="../embeddings/oleObject116.bin"/><Relationship Id="rId2" Type="http://schemas.openxmlformats.org/officeDocument/2006/relationships/image" Target="../media/image102.wmf"/><Relationship Id="rId12" Type="http://schemas.openxmlformats.org/officeDocument/2006/relationships/vmlDrawing" Target="../drawings/vmlDrawing36.vml"/><Relationship Id="rId11" Type="http://schemas.openxmlformats.org/officeDocument/2006/relationships/slideLayout" Target="../slideLayouts/slideLayout6.xml"/><Relationship Id="rId10" Type="http://schemas.openxmlformats.org/officeDocument/2006/relationships/image" Target="../media/image104.wmf"/><Relationship Id="rId1" Type="http://schemas.openxmlformats.org/officeDocument/2006/relationships/oleObject" Target="../embeddings/oleObject115.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24.bin"/><Relationship Id="rId8" Type="http://schemas.openxmlformats.org/officeDocument/2006/relationships/image" Target="../media/image108.wmf"/><Relationship Id="rId7" Type="http://schemas.openxmlformats.org/officeDocument/2006/relationships/oleObject" Target="../embeddings/oleObject123.bin"/><Relationship Id="rId6" Type="http://schemas.openxmlformats.org/officeDocument/2006/relationships/image" Target="../media/image107.wmf"/><Relationship Id="rId5" Type="http://schemas.openxmlformats.org/officeDocument/2006/relationships/oleObject" Target="../embeddings/oleObject122.bin"/><Relationship Id="rId4" Type="http://schemas.openxmlformats.org/officeDocument/2006/relationships/image" Target="../media/image106.wmf"/><Relationship Id="rId3" Type="http://schemas.openxmlformats.org/officeDocument/2006/relationships/oleObject" Target="../embeddings/oleObject121.bin"/><Relationship Id="rId2" Type="http://schemas.openxmlformats.org/officeDocument/2006/relationships/image" Target="../media/image105.wmf"/><Relationship Id="rId16" Type="http://schemas.openxmlformats.org/officeDocument/2006/relationships/vmlDrawing" Target="../drawings/vmlDrawing37.vml"/><Relationship Id="rId15" Type="http://schemas.openxmlformats.org/officeDocument/2006/relationships/slideLayout" Target="../slideLayouts/slideLayout2.xml"/><Relationship Id="rId14" Type="http://schemas.openxmlformats.org/officeDocument/2006/relationships/oleObject" Target="../embeddings/oleObject127.bin"/><Relationship Id="rId13" Type="http://schemas.openxmlformats.org/officeDocument/2006/relationships/oleObject" Target="../embeddings/oleObject126.bin"/><Relationship Id="rId12" Type="http://schemas.openxmlformats.org/officeDocument/2006/relationships/image" Target="../media/image110.wmf"/><Relationship Id="rId11" Type="http://schemas.openxmlformats.org/officeDocument/2006/relationships/oleObject" Target="../embeddings/oleObject125.bin"/><Relationship Id="rId10" Type="http://schemas.openxmlformats.org/officeDocument/2006/relationships/image" Target="../media/image109.wmf"/><Relationship Id="rId1" Type="http://schemas.openxmlformats.org/officeDocument/2006/relationships/oleObject" Target="../embeddings/oleObject120.bin"/></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38.vml"/><Relationship Id="rId3" Type="http://schemas.openxmlformats.org/officeDocument/2006/relationships/slideLayout" Target="../slideLayouts/slideLayout6.xml"/><Relationship Id="rId2" Type="http://schemas.openxmlformats.org/officeDocument/2006/relationships/image" Target="../media/image111.wmf"/><Relationship Id="rId1" Type="http://schemas.openxmlformats.org/officeDocument/2006/relationships/oleObject" Target="../embeddings/oleObject128.bin"/></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39.vml"/><Relationship Id="rId3" Type="http://schemas.openxmlformats.org/officeDocument/2006/relationships/slideLayout" Target="../slideLayouts/slideLayout2.xml"/><Relationship Id="rId2" Type="http://schemas.openxmlformats.org/officeDocument/2006/relationships/image" Target="../media/image112.wmf"/><Relationship Id="rId1" Type="http://schemas.openxmlformats.org/officeDocument/2006/relationships/oleObject" Target="../embeddings/oleObject129.bin"/></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40.vml"/><Relationship Id="rId3" Type="http://schemas.openxmlformats.org/officeDocument/2006/relationships/slideLayout" Target="../slideLayouts/slideLayout2.xml"/><Relationship Id="rId2" Type="http://schemas.openxmlformats.org/officeDocument/2006/relationships/image" Target="../media/image113.wmf"/><Relationship Id="rId1" Type="http://schemas.openxmlformats.org/officeDocument/2006/relationships/oleObject" Target="../embeddings/oleObject130.bin"/></Relationships>
</file>

<file path=ppt/slides/_rels/slide46.xml.rels><?xml version="1.0" encoding="UTF-8" standalone="yes"?>
<Relationships xmlns="http://schemas.openxmlformats.org/package/2006/relationships"><Relationship Id="rId8" Type="http://schemas.openxmlformats.org/officeDocument/2006/relationships/vmlDrawing" Target="../drawings/vmlDrawing41.vml"/><Relationship Id="rId7" Type="http://schemas.openxmlformats.org/officeDocument/2006/relationships/slideLayout" Target="../slideLayouts/slideLayout2.xml"/><Relationship Id="rId6" Type="http://schemas.openxmlformats.org/officeDocument/2006/relationships/image" Target="../media/image116.wmf"/><Relationship Id="rId5" Type="http://schemas.openxmlformats.org/officeDocument/2006/relationships/oleObject" Target="../embeddings/oleObject133.bin"/><Relationship Id="rId4" Type="http://schemas.openxmlformats.org/officeDocument/2006/relationships/image" Target="../media/image115.wmf"/><Relationship Id="rId3" Type="http://schemas.openxmlformats.org/officeDocument/2006/relationships/oleObject" Target="../embeddings/oleObject132.bin"/><Relationship Id="rId2" Type="http://schemas.openxmlformats.org/officeDocument/2006/relationships/image" Target="../media/image114.wmf"/><Relationship Id="rId1" Type="http://schemas.openxmlformats.org/officeDocument/2006/relationships/oleObject" Target="../embeddings/oleObject131.bin"/></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42.vml"/><Relationship Id="rId3" Type="http://schemas.openxmlformats.org/officeDocument/2006/relationships/slideLayout" Target="../slideLayouts/slideLayout6.xml"/><Relationship Id="rId2" Type="http://schemas.openxmlformats.org/officeDocument/2006/relationships/image" Target="../media/image117.wmf"/><Relationship Id="rId1" Type="http://schemas.openxmlformats.org/officeDocument/2006/relationships/oleObject" Target="../embeddings/oleObject134.bin"/></Relationships>
</file>

<file path=ppt/slides/_rels/slide48.xml.rels><?xml version="1.0" encoding="UTF-8" standalone="yes"?>
<Relationships xmlns="http://schemas.openxmlformats.org/package/2006/relationships"><Relationship Id="rId8" Type="http://schemas.openxmlformats.org/officeDocument/2006/relationships/vmlDrawing" Target="../drawings/vmlDrawing43.vml"/><Relationship Id="rId7" Type="http://schemas.openxmlformats.org/officeDocument/2006/relationships/slideLayout" Target="../slideLayouts/slideLayout6.xml"/><Relationship Id="rId6" Type="http://schemas.openxmlformats.org/officeDocument/2006/relationships/image" Target="../media/image119.wmf"/><Relationship Id="rId5" Type="http://schemas.openxmlformats.org/officeDocument/2006/relationships/oleObject" Target="../embeddings/oleObject137.bin"/><Relationship Id="rId4" Type="http://schemas.openxmlformats.org/officeDocument/2006/relationships/image" Target="../media/image2.wmf"/><Relationship Id="rId3" Type="http://schemas.openxmlformats.org/officeDocument/2006/relationships/oleObject" Target="../embeddings/oleObject136.bin"/><Relationship Id="rId2" Type="http://schemas.openxmlformats.org/officeDocument/2006/relationships/image" Target="../media/image118.wmf"/><Relationship Id="rId1" Type="http://schemas.openxmlformats.org/officeDocument/2006/relationships/oleObject" Target="../embeddings/oleObject135.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142.bin"/><Relationship Id="rId8" Type="http://schemas.openxmlformats.org/officeDocument/2006/relationships/image" Target="../media/image122.wmf"/><Relationship Id="rId7" Type="http://schemas.openxmlformats.org/officeDocument/2006/relationships/oleObject" Target="../embeddings/oleObject141.bin"/><Relationship Id="rId6" Type="http://schemas.openxmlformats.org/officeDocument/2006/relationships/image" Target="../media/image121.wmf"/><Relationship Id="rId5" Type="http://schemas.openxmlformats.org/officeDocument/2006/relationships/oleObject" Target="../embeddings/oleObject140.bin"/><Relationship Id="rId4" Type="http://schemas.openxmlformats.org/officeDocument/2006/relationships/image" Target="../media/image120.wmf"/><Relationship Id="rId3" Type="http://schemas.openxmlformats.org/officeDocument/2006/relationships/oleObject" Target="../embeddings/oleObject139.bin"/><Relationship Id="rId2" Type="http://schemas.openxmlformats.org/officeDocument/2006/relationships/image" Target="../media/image118.wmf"/><Relationship Id="rId12" Type="http://schemas.openxmlformats.org/officeDocument/2006/relationships/vmlDrawing" Target="../drawings/vmlDrawing44.vml"/><Relationship Id="rId11" Type="http://schemas.openxmlformats.org/officeDocument/2006/relationships/slideLayout" Target="../slideLayouts/slideLayout2.xml"/><Relationship Id="rId10" Type="http://schemas.openxmlformats.org/officeDocument/2006/relationships/image" Target="../media/image123.wmf"/><Relationship Id="rId1" Type="http://schemas.openxmlformats.org/officeDocument/2006/relationships/oleObject" Target="../embeddings/oleObject138.bin"/></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45.vml"/><Relationship Id="rId5" Type="http://schemas.openxmlformats.org/officeDocument/2006/relationships/slideLayout" Target="../slideLayouts/slideLayout2.xml"/><Relationship Id="rId4" Type="http://schemas.openxmlformats.org/officeDocument/2006/relationships/image" Target="../media/image125.wmf"/><Relationship Id="rId3" Type="http://schemas.openxmlformats.org/officeDocument/2006/relationships/oleObject" Target="../embeddings/oleObject144.bin"/><Relationship Id="rId2" Type="http://schemas.openxmlformats.org/officeDocument/2006/relationships/image" Target="../media/image124.wmf"/><Relationship Id="rId1" Type="http://schemas.openxmlformats.org/officeDocument/2006/relationships/oleObject" Target="../embeddings/oleObject143.bin"/></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46.vml"/><Relationship Id="rId3" Type="http://schemas.openxmlformats.org/officeDocument/2006/relationships/slideLayout" Target="../slideLayouts/slideLayout6.xml"/><Relationship Id="rId2" Type="http://schemas.openxmlformats.org/officeDocument/2006/relationships/image" Target="../media/image126.wmf"/><Relationship Id="rId1" Type="http://schemas.openxmlformats.org/officeDocument/2006/relationships/oleObject" Target="../embeddings/oleObject145.bin"/></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47.vml"/><Relationship Id="rId5" Type="http://schemas.openxmlformats.org/officeDocument/2006/relationships/slideLayout" Target="../slideLayouts/slideLayout6.xml"/><Relationship Id="rId4" Type="http://schemas.openxmlformats.org/officeDocument/2006/relationships/image" Target="../media/image127.wmf"/><Relationship Id="rId3" Type="http://schemas.openxmlformats.org/officeDocument/2006/relationships/oleObject" Target="../embeddings/oleObject147.bin"/><Relationship Id="rId2" Type="http://schemas.openxmlformats.org/officeDocument/2006/relationships/image" Target="../media/image126.wmf"/><Relationship Id="rId1" Type="http://schemas.openxmlformats.org/officeDocument/2006/relationships/oleObject" Target="../embeddings/oleObject146.bin"/></Relationships>
</file>

<file path=ppt/slides/_rels/slide53.xml.rels><?xml version="1.0" encoding="UTF-8" standalone="yes"?>
<Relationships xmlns="http://schemas.openxmlformats.org/package/2006/relationships"><Relationship Id="rId8" Type="http://schemas.openxmlformats.org/officeDocument/2006/relationships/vmlDrawing" Target="../drawings/vmlDrawing48.vml"/><Relationship Id="rId7" Type="http://schemas.openxmlformats.org/officeDocument/2006/relationships/slideLayout" Target="../slideLayouts/slideLayout6.xml"/><Relationship Id="rId6" Type="http://schemas.openxmlformats.org/officeDocument/2006/relationships/image" Target="../media/image130.wmf"/><Relationship Id="rId5" Type="http://schemas.openxmlformats.org/officeDocument/2006/relationships/oleObject" Target="../embeddings/oleObject150.bin"/><Relationship Id="rId4" Type="http://schemas.openxmlformats.org/officeDocument/2006/relationships/image" Target="../media/image129.wmf"/><Relationship Id="rId3" Type="http://schemas.openxmlformats.org/officeDocument/2006/relationships/oleObject" Target="../embeddings/oleObject149.bin"/><Relationship Id="rId2" Type="http://schemas.openxmlformats.org/officeDocument/2006/relationships/image" Target="../media/image128.wmf"/><Relationship Id="rId1" Type="http://schemas.openxmlformats.org/officeDocument/2006/relationships/oleObject" Target="../embeddings/oleObject148.bin"/></Relationships>
</file>

<file path=ppt/slides/_rels/slide54.xml.rels><?xml version="1.0" encoding="UTF-8" standalone="yes"?>
<Relationships xmlns="http://schemas.openxmlformats.org/package/2006/relationships"><Relationship Id="rId6" Type="http://schemas.openxmlformats.org/officeDocument/2006/relationships/vmlDrawing" Target="../drawings/vmlDrawing49.vml"/><Relationship Id="rId5" Type="http://schemas.openxmlformats.org/officeDocument/2006/relationships/slideLayout" Target="../slideLayouts/slideLayout6.xml"/><Relationship Id="rId4" Type="http://schemas.openxmlformats.org/officeDocument/2006/relationships/image" Target="../media/image132.wmf"/><Relationship Id="rId3" Type="http://schemas.openxmlformats.org/officeDocument/2006/relationships/oleObject" Target="../embeddings/oleObject152.bin"/><Relationship Id="rId2" Type="http://schemas.openxmlformats.org/officeDocument/2006/relationships/image" Target="../media/image131.wmf"/><Relationship Id="rId1" Type="http://schemas.openxmlformats.org/officeDocument/2006/relationships/oleObject" Target="../embeddings/oleObject151.bin"/></Relationships>
</file>

<file path=ppt/slides/_rels/slide55.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136.wmf"/><Relationship Id="rId7" Type="http://schemas.openxmlformats.org/officeDocument/2006/relationships/oleObject" Target="../embeddings/oleObject156.bin"/><Relationship Id="rId6" Type="http://schemas.openxmlformats.org/officeDocument/2006/relationships/image" Target="../media/image135.wmf"/><Relationship Id="rId5" Type="http://schemas.openxmlformats.org/officeDocument/2006/relationships/oleObject" Target="../embeddings/oleObject155.bin"/><Relationship Id="rId4" Type="http://schemas.openxmlformats.org/officeDocument/2006/relationships/image" Target="../media/image134.wmf"/><Relationship Id="rId3" Type="http://schemas.openxmlformats.org/officeDocument/2006/relationships/oleObject" Target="../embeddings/oleObject154.bin"/><Relationship Id="rId2" Type="http://schemas.openxmlformats.org/officeDocument/2006/relationships/image" Target="../media/image133.wmf"/><Relationship Id="rId10" Type="http://schemas.openxmlformats.org/officeDocument/2006/relationships/vmlDrawing" Target="../drawings/vmlDrawing50.vml"/><Relationship Id="rId1" Type="http://schemas.openxmlformats.org/officeDocument/2006/relationships/oleObject" Target="../embeddings/oleObject153.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6" Type="http://schemas.openxmlformats.org/officeDocument/2006/relationships/vmlDrawing" Target="../drawings/vmlDrawing51.vml"/><Relationship Id="rId5" Type="http://schemas.openxmlformats.org/officeDocument/2006/relationships/slideLayout" Target="../slideLayouts/slideLayout6.xml"/><Relationship Id="rId4" Type="http://schemas.openxmlformats.org/officeDocument/2006/relationships/image" Target="../media/image138.wmf"/><Relationship Id="rId3" Type="http://schemas.openxmlformats.org/officeDocument/2006/relationships/oleObject" Target="../embeddings/oleObject158.bin"/><Relationship Id="rId2" Type="http://schemas.openxmlformats.org/officeDocument/2006/relationships/image" Target="../media/image137.wmf"/><Relationship Id="rId1" Type="http://schemas.openxmlformats.org/officeDocument/2006/relationships/oleObject" Target="../embeddings/oleObject157.bin"/></Relationships>
</file>

<file path=ppt/slides/_rels/slide58.xml.rels><?xml version="1.0" encoding="UTF-8" standalone="yes"?>
<Relationships xmlns="http://schemas.openxmlformats.org/package/2006/relationships"><Relationship Id="rId6" Type="http://schemas.openxmlformats.org/officeDocument/2006/relationships/vmlDrawing" Target="../drawings/vmlDrawing52.vml"/><Relationship Id="rId5" Type="http://schemas.openxmlformats.org/officeDocument/2006/relationships/slideLayout" Target="../slideLayouts/slideLayout6.xml"/><Relationship Id="rId4" Type="http://schemas.openxmlformats.org/officeDocument/2006/relationships/image" Target="../media/image140.wmf"/><Relationship Id="rId3" Type="http://schemas.openxmlformats.org/officeDocument/2006/relationships/oleObject" Target="../embeddings/oleObject160.bin"/><Relationship Id="rId2" Type="http://schemas.openxmlformats.org/officeDocument/2006/relationships/image" Target="../media/image139.wmf"/><Relationship Id="rId1" Type="http://schemas.openxmlformats.org/officeDocument/2006/relationships/oleObject" Target="../embeddings/oleObject159.bin"/></Relationships>
</file>

<file path=ppt/slides/_rels/slide59.xml.rels><?xml version="1.0" encoding="UTF-8" standalone="yes"?>
<Relationships xmlns="http://schemas.openxmlformats.org/package/2006/relationships"><Relationship Id="rId6" Type="http://schemas.openxmlformats.org/officeDocument/2006/relationships/vmlDrawing" Target="../drawings/vmlDrawing53.vml"/><Relationship Id="rId5" Type="http://schemas.openxmlformats.org/officeDocument/2006/relationships/slideLayout" Target="../slideLayouts/slideLayout6.xml"/><Relationship Id="rId4" Type="http://schemas.openxmlformats.org/officeDocument/2006/relationships/image" Target="../media/image142.wmf"/><Relationship Id="rId3" Type="http://schemas.openxmlformats.org/officeDocument/2006/relationships/oleObject" Target="../embeddings/oleObject162.bin"/><Relationship Id="rId2" Type="http://schemas.openxmlformats.org/officeDocument/2006/relationships/image" Target="../media/image141.wmf"/><Relationship Id="rId1" Type="http://schemas.openxmlformats.org/officeDocument/2006/relationships/oleObject" Target="../embeddings/oleObject161.bin"/></Relationships>
</file>

<file path=ppt/slides/_rels/slide60.xml.rels><?xml version="1.0" encoding="UTF-8" standalone="yes"?>
<Relationships xmlns="http://schemas.openxmlformats.org/package/2006/relationships"><Relationship Id="rId9" Type="http://schemas.openxmlformats.org/officeDocument/2006/relationships/oleObject" Target="../embeddings/oleObject167.bin"/><Relationship Id="rId8" Type="http://schemas.openxmlformats.org/officeDocument/2006/relationships/image" Target="../media/image146.wmf"/><Relationship Id="rId7" Type="http://schemas.openxmlformats.org/officeDocument/2006/relationships/oleObject" Target="../embeddings/oleObject166.bin"/><Relationship Id="rId6" Type="http://schemas.openxmlformats.org/officeDocument/2006/relationships/image" Target="../media/image145.wmf"/><Relationship Id="rId5" Type="http://schemas.openxmlformats.org/officeDocument/2006/relationships/oleObject" Target="../embeddings/oleObject165.bin"/><Relationship Id="rId4" Type="http://schemas.openxmlformats.org/officeDocument/2006/relationships/image" Target="../media/image144.wmf"/><Relationship Id="rId3" Type="http://schemas.openxmlformats.org/officeDocument/2006/relationships/oleObject" Target="../embeddings/oleObject164.bin"/><Relationship Id="rId2" Type="http://schemas.openxmlformats.org/officeDocument/2006/relationships/image" Target="../media/image143.wmf"/><Relationship Id="rId13" Type="http://schemas.openxmlformats.org/officeDocument/2006/relationships/notesSlide" Target="../notesSlides/notesSlide9.xml"/><Relationship Id="rId12" Type="http://schemas.openxmlformats.org/officeDocument/2006/relationships/vmlDrawing" Target="../drawings/vmlDrawing54.vml"/><Relationship Id="rId11" Type="http://schemas.openxmlformats.org/officeDocument/2006/relationships/slideLayout" Target="../slideLayouts/slideLayout10.xml"/><Relationship Id="rId10" Type="http://schemas.openxmlformats.org/officeDocument/2006/relationships/image" Target="../media/image147.wmf"/><Relationship Id="rId1" Type="http://schemas.openxmlformats.org/officeDocument/2006/relationships/oleObject" Target="../embeddings/oleObject163.bin"/></Relationships>
</file>

<file path=ppt/slides/_rels/slide61.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151.wmf"/><Relationship Id="rId7" Type="http://schemas.openxmlformats.org/officeDocument/2006/relationships/oleObject" Target="../embeddings/oleObject171.bin"/><Relationship Id="rId6" Type="http://schemas.openxmlformats.org/officeDocument/2006/relationships/image" Target="../media/image150.wmf"/><Relationship Id="rId5" Type="http://schemas.openxmlformats.org/officeDocument/2006/relationships/oleObject" Target="../embeddings/oleObject170.bin"/><Relationship Id="rId4" Type="http://schemas.openxmlformats.org/officeDocument/2006/relationships/image" Target="../media/image149.wmf"/><Relationship Id="rId3" Type="http://schemas.openxmlformats.org/officeDocument/2006/relationships/oleObject" Target="../embeddings/oleObject169.bin"/><Relationship Id="rId2" Type="http://schemas.openxmlformats.org/officeDocument/2006/relationships/image" Target="../media/image148.wmf"/><Relationship Id="rId10" Type="http://schemas.openxmlformats.org/officeDocument/2006/relationships/vmlDrawing" Target="../drawings/vmlDrawing55.vml"/><Relationship Id="rId1" Type="http://schemas.openxmlformats.org/officeDocument/2006/relationships/oleObject" Target="../embeddings/oleObject168.bin"/></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176.bin"/><Relationship Id="rId8" Type="http://schemas.openxmlformats.org/officeDocument/2006/relationships/image" Target="../media/image155.wmf"/><Relationship Id="rId7" Type="http://schemas.openxmlformats.org/officeDocument/2006/relationships/oleObject" Target="../embeddings/oleObject175.bin"/><Relationship Id="rId6" Type="http://schemas.openxmlformats.org/officeDocument/2006/relationships/image" Target="../media/image154.wmf"/><Relationship Id="rId5" Type="http://schemas.openxmlformats.org/officeDocument/2006/relationships/oleObject" Target="../embeddings/oleObject174.bin"/><Relationship Id="rId4" Type="http://schemas.openxmlformats.org/officeDocument/2006/relationships/image" Target="../media/image153.wmf"/><Relationship Id="rId3" Type="http://schemas.openxmlformats.org/officeDocument/2006/relationships/oleObject" Target="../embeddings/oleObject173.bin"/><Relationship Id="rId2" Type="http://schemas.openxmlformats.org/officeDocument/2006/relationships/image" Target="../media/image152.wmf"/><Relationship Id="rId14" Type="http://schemas.openxmlformats.org/officeDocument/2006/relationships/vmlDrawing" Target="../drawings/vmlDrawing56.vml"/><Relationship Id="rId13" Type="http://schemas.openxmlformats.org/officeDocument/2006/relationships/slideLayout" Target="../slideLayouts/slideLayout6.xml"/><Relationship Id="rId12" Type="http://schemas.openxmlformats.org/officeDocument/2006/relationships/image" Target="../media/image157.wmf"/><Relationship Id="rId11" Type="http://schemas.openxmlformats.org/officeDocument/2006/relationships/oleObject" Target="../embeddings/oleObject177.bin"/><Relationship Id="rId10" Type="http://schemas.openxmlformats.org/officeDocument/2006/relationships/image" Target="../media/image156.wmf"/><Relationship Id="rId1" Type="http://schemas.openxmlformats.org/officeDocument/2006/relationships/oleObject" Target="../embeddings/oleObject172.bin"/></Relationships>
</file>

<file path=ppt/slides/_rels/slide63.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161.wmf"/><Relationship Id="rId7" Type="http://schemas.openxmlformats.org/officeDocument/2006/relationships/oleObject" Target="../embeddings/oleObject181.bin"/><Relationship Id="rId6" Type="http://schemas.openxmlformats.org/officeDocument/2006/relationships/image" Target="../media/image160.wmf"/><Relationship Id="rId5" Type="http://schemas.openxmlformats.org/officeDocument/2006/relationships/oleObject" Target="../embeddings/oleObject180.bin"/><Relationship Id="rId4" Type="http://schemas.openxmlformats.org/officeDocument/2006/relationships/image" Target="../media/image159.wmf"/><Relationship Id="rId3" Type="http://schemas.openxmlformats.org/officeDocument/2006/relationships/oleObject" Target="../embeddings/oleObject179.bin"/><Relationship Id="rId2" Type="http://schemas.openxmlformats.org/officeDocument/2006/relationships/image" Target="../media/image158.wmf"/><Relationship Id="rId10" Type="http://schemas.openxmlformats.org/officeDocument/2006/relationships/vmlDrawing" Target="../drawings/vmlDrawing57.vml"/><Relationship Id="rId1" Type="http://schemas.openxmlformats.org/officeDocument/2006/relationships/oleObject" Target="../embeddings/oleObject178.bin"/></Relationships>
</file>

<file path=ppt/slides/_rels/slide64.xml.rels><?xml version="1.0" encoding="UTF-8" standalone="yes"?>
<Relationships xmlns="http://schemas.openxmlformats.org/package/2006/relationships"><Relationship Id="rId6" Type="http://schemas.openxmlformats.org/officeDocument/2006/relationships/vmlDrawing" Target="../drawings/vmlDrawing58.vml"/><Relationship Id="rId5" Type="http://schemas.openxmlformats.org/officeDocument/2006/relationships/slideLayout" Target="../slideLayouts/slideLayout13.xml"/><Relationship Id="rId4" Type="http://schemas.openxmlformats.org/officeDocument/2006/relationships/image" Target="../media/image163.wmf"/><Relationship Id="rId3" Type="http://schemas.openxmlformats.org/officeDocument/2006/relationships/oleObject" Target="../embeddings/oleObject183.bin"/><Relationship Id="rId2" Type="http://schemas.openxmlformats.org/officeDocument/2006/relationships/image" Target="../media/image162.wmf"/><Relationship Id="rId1" Type="http://schemas.openxmlformats.org/officeDocument/2006/relationships/oleObject" Target="../embeddings/oleObject182.bin"/></Relationships>
</file>

<file path=ppt/slides/_rels/slide6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image" Target="../media/image167.wmf"/><Relationship Id="rId7" Type="http://schemas.openxmlformats.org/officeDocument/2006/relationships/oleObject" Target="../embeddings/oleObject187.bin"/><Relationship Id="rId6" Type="http://schemas.openxmlformats.org/officeDocument/2006/relationships/image" Target="../media/image166.wmf"/><Relationship Id="rId5" Type="http://schemas.openxmlformats.org/officeDocument/2006/relationships/oleObject" Target="../embeddings/oleObject186.bin"/><Relationship Id="rId4" Type="http://schemas.openxmlformats.org/officeDocument/2006/relationships/image" Target="../media/image165.wmf"/><Relationship Id="rId3" Type="http://schemas.openxmlformats.org/officeDocument/2006/relationships/oleObject" Target="../embeddings/oleObject185.bin"/><Relationship Id="rId2" Type="http://schemas.openxmlformats.org/officeDocument/2006/relationships/image" Target="../media/image164.wmf"/><Relationship Id="rId10" Type="http://schemas.openxmlformats.org/officeDocument/2006/relationships/vmlDrawing" Target="../drawings/vmlDrawing59.vml"/><Relationship Id="rId1" Type="http://schemas.openxmlformats.org/officeDocument/2006/relationships/oleObject" Target="../embeddings/oleObject184.bin"/></Relationships>
</file>

<file path=ppt/slides/_rels/slide66.xml.rels><?xml version="1.0" encoding="UTF-8" standalone="yes"?>
<Relationships xmlns="http://schemas.openxmlformats.org/package/2006/relationships"><Relationship Id="rId8" Type="http://schemas.openxmlformats.org/officeDocument/2006/relationships/vmlDrawing" Target="../drawings/vmlDrawing60.vml"/><Relationship Id="rId7" Type="http://schemas.openxmlformats.org/officeDocument/2006/relationships/slideLayout" Target="../slideLayouts/slideLayout17.xml"/><Relationship Id="rId6" Type="http://schemas.openxmlformats.org/officeDocument/2006/relationships/image" Target="../media/image170.wmf"/><Relationship Id="rId5" Type="http://schemas.openxmlformats.org/officeDocument/2006/relationships/oleObject" Target="../embeddings/oleObject190.bin"/><Relationship Id="rId4" Type="http://schemas.openxmlformats.org/officeDocument/2006/relationships/image" Target="../media/image169.wmf"/><Relationship Id="rId3" Type="http://schemas.openxmlformats.org/officeDocument/2006/relationships/oleObject" Target="../embeddings/oleObject189.bin"/><Relationship Id="rId2" Type="http://schemas.openxmlformats.org/officeDocument/2006/relationships/image" Target="../media/image168.wmf"/><Relationship Id="rId1" Type="http://schemas.openxmlformats.org/officeDocument/2006/relationships/oleObject" Target="../embeddings/oleObject188.bin"/></Relationships>
</file>

<file path=ppt/slides/_rels/slide67.xml.rels><?xml version="1.0" encoding="UTF-8" standalone="yes"?>
<Relationships xmlns="http://schemas.openxmlformats.org/package/2006/relationships"><Relationship Id="rId6" Type="http://schemas.openxmlformats.org/officeDocument/2006/relationships/vmlDrawing" Target="../drawings/vmlDrawing61.vml"/><Relationship Id="rId5" Type="http://schemas.openxmlformats.org/officeDocument/2006/relationships/slideLayout" Target="../slideLayouts/slideLayout17.xml"/><Relationship Id="rId4" Type="http://schemas.openxmlformats.org/officeDocument/2006/relationships/image" Target="../media/image172.wmf"/><Relationship Id="rId3" Type="http://schemas.openxmlformats.org/officeDocument/2006/relationships/oleObject" Target="../embeddings/oleObject192.bin"/><Relationship Id="rId2" Type="http://schemas.openxmlformats.org/officeDocument/2006/relationships/image" Target="../media/image171.wmf"/><Relationship Id="rId1" Type="http://schemas.openxmlformats.org/officeDocument/2006/relationships/oleObject" Target="../embeddings/oleObject191.bin"/></Relationships>
</file>

<file path=ppt/slides/_rels/slide68.xml.rels><?xml version="1.0" encoding="UTF-8" standalone="yes"?>
<Relationships xmlns="http://schemas.openxmlformats.org/package/2006/relationships"><Relationship Id="rId9" Type="http://schemas.openxmlformats.org/officeDocument/2006/relationships/oleObject" Target="../embeddings/oleObject197.bin"/><Relationship Id="rId8" Type="http://schemas.openxmlformats.org/officeDocument/2006/relationships/image" Target="../media/image176.wmf"/><Relationship Id="rId7" Type="http://schemas.openxmlformats.org/officeDocument/2006/relationships/oleObject" Target="../embeddings/oleObject196.bin"/><Relationship Id="rId6" Type="http://schemas.openxmlformats.org/officeDocument/2006/relationships/image" Target="../media/image175.wmf"/><Relationship Id="rId5" Type="http://schemas.openxmlformats.org/officeDocument/2006/relationships/oleObject" Target="../embeddings/oleObject195.bin"/><Relationship Id="rId4" Type="http://schemas.openxmlformats.org/officeDocument/2006/relationships/image" Target="../media/image174.wmf"/><Relationship Id="rId3" Type="http://schemas.openxmlformats.org/officeDocument/2006/relationships/oleObject" Target="../embeddings/oleObject194.bin"/><Relationship Id="rId2" Type="http://schemas.openxmlformats.org/officeDocument/2006/relationships/image" Target="../media/image173.wmf"/><Relationship Id="rId14" Type="http://schemas.openxmlformats.org/officeDocument/2006/relationships/vmlDrawing" Target="../drawings/vmlDrawing62.vml"/><Relationship Id="rId13" Type="http://schemas.openxmlformats.org/officeDocument/2006/relationships/slideLayout" Target="../slideLayouts/slideLayout17.xml"/><Relationship Id="rId12" Type="http://schemas.openxmlformats.org/officeDocument/2006/relationships/image" Target="../media/image178.wmf"/><Relationship Id="rId11" Type="http://schemas.openxmlformats.org/officeDocument/2006/relationships/oleObject" Target="../embeddings/oleObject198.bin"/><Relationship Id="rId10" Type="http://schemas.openxmlformats.org/officeDocument/2006/relationships/image" Target="../media/image177.wmf"/><Relationship Id="rId1" Type="http://schemas.openxmlformats.org/officeDocument/2006/relationships/oleObject" Target="../embeddings/oleObject193.bin"/></Relationships>
</file>

<file path=ppt/slides/_rels/slide69.xml.rels><?xml version="1.0" encoding="UTF-8" standalone="yes"?>
<Relationships xmlns="http://schemas.openxmlformats.org/package/2006/relationships"><Relationship Id="rId6" Type="http://schemas.openxmlformats.org/officeDocument/2006/relationships/vmlDrawing" Target="../drawings/vmlDrawing63.vml"/><Relationship Id="rId5" Type="http://schemas.openxmlformats.org/officeDocument/2006/relationships/slideLayout" Target="../slideLayouts/slideLayout17.xml"/><Relationship Id="rId4" Type="http://schemas.openxmlformats.org/officeDocument/2006/relationships/image" Target="../media/image180.wmf"/><Relationship Id="rId3" Type="http://schemas.openxmlformats.org/officeDocument/2006/relationships/oleObject" Target="../embeddings/oleObject200.bin"/><Relationship Id="rId2" Type="http://schemas.openxmlformats.org/officeDocument/2006/relationships/image" Target="../media/image179.wmf"/><Relationship Id="rId1" Type="http://schemas.openxmlformats.org/officeDocument/2006/relationships/oleObject" Target="../embeddings/oleObject199.bin"/></Relationships>
</file>

<file path=ppt/slides/_rels/slide70.xml.rels><?xml version="1.0" encoding="UTF-8" standalone="yes"?>
<Relationships xmlns="http://schemas.openxmlformats.org/package/2006/relationships"><Relationship Id="rId9" Type="http://schemas.openxmlformats.org/officeDocument/2006/relationships/oleObject" Target="../embeddings/oleObject205.bin"/><Relationship Id="rId8" Type="http://schemas.openxmlformats.org/officeDocument/2006/relationships/image" Target="../media/image184.wmf"/><Relationship Id="rId7" Type="http://schemas.openxmlformats.org/officeDocument/2006/relationships/oleObject" Target="../embeddings/oleObject204.bin"/><Relationship Id="rId6" Type="http://schemas.openxmlformats.org/officeDocument/2006/relationships/image" Target="../media/image183.wmf"/><Relationship Id="rId5" Type="http://schemas.openxmlformats.org/officeDocument/2006/relationships/oleObject" Target="../embeddings/oleObject203.bin"/><Relationship Id="rId4" Type="http://schemas.openxmlformats.org/officeDocument/2006/relationships/image" Target="../media/image182.wmf"/><Relationship Id="rId3" Type="http://schemas.openxmlformats.org/officeDocument/2006/relationships/oleObject" Target="../embeddings/oleObject202.bin"/><Relationship Id="rId2" Type="http://schemas.openxmlformats.org/officeDocument/2006/relationships/image" Target="../media/image181.wmf"/><Relationship Id="rId12" Type="http://schemas.openxmlformats.org/officeDocument/2006/relationships/vmlDrawing" Target="../drawings/vmlDrawing64.vml"/><Relationship Id="rId11" Type="http://schemas.openxmlformats.org/officeDocument/2006/relationships/slideLayout" Target="../slideLayouts/slideLayout17.xml"/><Relationship Id="rId10" Type="http://schemas.openxmlformats.org/officeDocument/2006/relationships/image" Target="../media/image185.wmf"/><Relationship Id="rId1" Type="http://schemas.openxmlformats.org/officeDocument/2006/relationships/oleObject" Target="../embeddings/oleObject201.bin"/></Relationships>
</file>

<file path=ppt/slides/_rels/slide71.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image" Target="../media/image189.wmf"/><Relationship Id="rId7" Type="http://schemas.openxmlformats.org/officeDocument/2006/relationships/oleObject" Target="../embeddings/oleObject209.bin"/><Relationship Id="rId6" Type="http://schemas.openxmlformats.org/officeDocument/2006/relationships/image" Target="../media/image188.wmf"/><Relationship Id="rId5" Type="http://schemas.openxmlformats.org/officeDocument/2006/relationships/oleObject" Target="../embeddings/oleObject208.bin"/><Relationship Id="rId4" Type="http://schemas.openxmlformats.org/officeDocument/2006/relationships/image" Target="../media/image187.wmf"/><Relationship Id="rId3" Type="http://schemas.openxmlformats.org/officeDocument/2006/relationships/oleObject" Target="../embeddings/oleObject207.bin"/><Relationship Id="rId2" Type="http://schemas.openxmlformats.org/officeDocument/2006/relationships/image" Target="../media/image186.wmf"/><Relationship Id="rId10" Type="http://schemas.openxmlformats.org/officeDocument/2006/relationships/vmlDrawing" Target="../drawings/vmlDrawing65.vml"/><Relationship Id="rId1" Type="http://schemas.openxmlformats.org/officeDocument/2006/relationships/oleObject" Target="../embeddings/oleObject206.bin"/></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66.vml"/><Relationship Id="rId3" Type="http://schemas.openxmlformats.org/officeDocument/2006/relationships/slideLayout" Target="../slideLayouts/slideLayout17.xml"/><Relationship Id="rId2" Type="http://schemas.openxmlformats.org/officeDocument/2006/relationships/image" Target="../media/image190.wmf"/><Relationship Id="rId1" Type="http://schemas.openxmlformats.org/officeDocument/2006/relationships/oleObject" Target="../embeddings/oleObject210.bin"/></Relationships>
</file>

<file path=ppt/slides/_rels/slide73.xml.rels><?xml version="1.0" encoding="UTF-8" standalone="yes"?>
<Relationships xmlns="http://schemas.openxmlformats.org/package/2006/relationships"><Relationship Id="rId6" Type="http://schemas.openxmlformats.org/officeDocument/2006/relationships/vmlDrawing" Target="../drawings/vmlDrawing67.vml"/><Relationship Id="rId5" Type="http://schemas.openxmlformats.org/officeDocument/2006/relationships/slideLayout" Target="../slideLayouts/slideLayout13.xml"/><Relationship Id="rId4" Type="http://schemas.openxmlformats.org/officeDocument/2006/relationships/image" Target="../media/image192.wmf"/><Relationship Id="rId3" Type="http://schemas.openxmlformats.org/officeDocument/2006/relationships/oleObject" Target="../embeddings/oleObject212.bin"/><Relationship Id="rId2" Type="http://schemas.openxmlformats.org/officeDocument/2006/relationships/image" Target="../media/image191.wmf"/><Relationship Id="rId1" Type="http://schemas.openxmlformats.org/officeDocument/2006/relationships/oleObject" Target="../embeddings/oleObject211.bin"/></Relationships>
</file>

<file path=ppt/slides/_rels/slide74.xml.rels><?xml version="1.0" encoding="UTF-8" standalone="yes"?>
<Relationships xmlns="http://schemas.openxmlformats.org/package/2006/relationships"><Relationship Id="rId4" Type="http://schemas.openxmlformats.org/officeDocument/2006/relationships/vmlDrawing" Target="../drawings/vmlDrawing68.vml"/><Relationship Id="rId3" Type="http://schemas.openxmlformats.org/officeDocument/2006/relationships/slideLayout" Target="../slideLayouts/slideLayout17.xml"/><Relationship Id="rId2" Type="http://schemas.openxmlformats.org/officeDocument/2006/relationships/image" Target="../media/image193.wmf"/><Relationship Id="rId1" Type="http://schemas.openxmlformats.org/officeDocument/2006/relationships/oleObject" Target="../embeddings/oleObject213.bin"/></Relationships>
</file>

<file path=ppt/slides/_rels/slide7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image" Target="../media/image197.wmf"/><Relationship Id="rId7" Type="http://schemas.openxmlformats.org/officeDocument/2006/relationships/oleObject" Target="../embeddings/oleObject217.bin"/><Relationship Id="rId6" Type="http://schemas.openxmlformats.org/officeDocument/2006/relationships/image" Target="../media/image196.wmf"/><Relationship Id="rId5" Type="http://schemas.openxmlformats.org/officeDocument/2006/relationships/oleObject" Target="../embeddings/oleObject216.bin"/><Relationship Id="rId4" Type="http://schemas.openxmlformats.org/officeDocument/2006/relationships/image" Target="../media/image195.wmf"/><Relationship Id="rId3" Type="http://schemas.openxmlformats.org/officeDocument/2006/relationships/oleObject" Target="../embeddings/oleObject215.bin"/><Relationship Id="rId2" Type="http://schemas.openxmlformats.org/officeDocument/2006/relationships/image" Target="../media/image194.wmf"/><Relationship Id="rId10" Type="http://schemas.openxmlformats.org/officeDocument/2006/relationships/vmlDrawing" Target="../drawings/vmlDrawing69.vml"/><Relationship Id="rId1" Type="http://schemas.openxmlformats.org/officeDocument/2006/relationships/oleObject" Target="../embeddings/oleObject214.bin"/></Relationships>
</file>

<file path=ppt/slides/_rels/slide76.xml.rels><?xml version="1.0" encoding="UTF-8" standalone="yes"?>
<Relationships xmlns="http://schemas.openxmlformats.org/package/2006/relationships"><Relationship Id="rId9" Type="http://schemas.openxmlformats.org/officeDocument/2006/relationships/oleObject" Target="../embeddings/oleObject222.bin"/><Relationship Id="rId8" Type="http://schemas.openxmlformats.org/officeDocument/2006/relationships/image" Target="../media/image201.wmf"/><Relationship Id="rId7" Type="http://schemas.openxmlformats.org/officeDocument/2006/relationships/oleObject" Target="../embeddings/oleObject221.bin"/><Relationship Id="rId6" Type="http://schemas.openxmlformats.org/officeDocument/2006/relationships/image" Target="../media/image200.wmf"/><Relationship Id="rId5" Type="http://schemas.openxmlformats.org/officeDocument/2006/relationships/oleObject" Target="../embeddings/oleObject220.bin"/><Relationship Id="rId4" Type="http://schemas.openxmlformats.org/officeDocument/2006/relationships/image" Target="../media/image199.wmf"/><Relationship Id="rId3" Type="http://schemas.openxmlformats.org/officeDocument/2006/relationships/oleObject" Target="../embeddings/oleObject219.bin"/><Relationship Id="rId26" Type="http://schemas.openxmlformats.org/officeDocument/2006/relationships/vmlDrawing" Target="../drawings/vmlDrawing70.vml"/><Relationship Id="rId25" Type="http://schemas.openxmlformats.org/officeDocument/2006/relationships/slideLayout" Target="../slideLayouts/slideLayout17.xml"/><Relationship Id="rId24" Type="http://schemas.openxmlformats.org/officeDocument/2006/relationships/image" Target="../media/image209.wmf"/><Relationship Id="rId23" Type="http://schemas.openxmlformats.org/officeDocument/2006/relationships/oleObject" Target="../embeddings/oleObject229.bin"/><Relationship Id="rId22" Type="http://schemas.openxmlformats.org/officeDocument/2006/relationships/image" Target="../media/image208.wmf"/><Relationship Id="rId21" Type="http://schemas.openxmlformats.org/officeDocument/2006/relationships/oleObject" Target="../embeddings/oleObject228.bin"/><Relationship Id="rId20" Type="http://schemas.openxmlformats.org/officeDocument/2006/relationships/image" Target="../media/image207.wmf"/><Relationship Id="rId2" Type="http://schemas.openxmlformats.org/officeDocument/2006/relationships/image" Target="../media/image198.wmf"/><Relationship Id="rId19" Type="http://schemas.openxmlformats.org/officeDocument/2006/relationships/oleObject" Target="../embeddings/oleObject227.bin"/><Relationship Id="rId18" Type="http://schemas.openxmlformats.org/officeDocument/2006/relationships/image" Target="../media/image206.wmf"/><Relationship Id="rId17" Type="http://schemas.openxmlformats.org/officeDocument/2006/relationships/oleObject" Target="../embeddings/oleObject226.bin"/><Relationship Id="rId16" Type="http://schemas.openxmlformats.org/officeDocument/2006/relationships/image" Target="../media/image205.wmf"/><Relationship Id="rId15" Type="http://schemas.openxmlformats.org/officeDocument/2006/relationships/oleObject" Target="../embeddings/oleObject225.bin"/><Relationship Id="rId14" Type="http://schemas.openxmlformats.org/officeDocument/2006/relationships/image" Target="../media/image204.wmf"/><Relationship Id="rId13" Type="http://schemas.openxmlformats.org/officeDocument/2006/relationships/oleObject" Target="../embeddings/oleObject224.bin"/><Relationship Id="rId12" Type="http://schemas.openxmlformats.org/officeDocument/2006/relationships/image" Target="../media/image203.wmf"/><Relationship Id="rId11" Type="http://schemas.openxmlformats.org/officeDocument/2006/relationships/oleObject" Target="../embeddings/oleObject223.bin"/><Relationship Id="rId10" Type="http://schemas.openxmlformats.org/officeDocument/2006/relationships/image" Target="../media/image202.wmf"/><Relationship Id="rId1" Type="http://schemas.openxmlformats.org/officeDocument/2006/relationships/oleObject" Target="../embeddings/oleObject218.bin"/></Relationships>
</file>

<file path=ppt/slides/_rels/slide77.xml.rels><?xml version="1.0" encoding="UTF-8" standalone="yes"?>
<Relationships xmlns="http://schemas.openxmlformats.org/package/2006/relationships"><Relationship Id="rId6" Type="http://schemas.openxmlformats.org/officeDocument/2006/relationships/vmlDrawing" Target="../drawings/vmlDrawing71.vml"/><Relationship Id="rId5" Type="http://schemas.openxmlformats.org/officeDocument/2006/relationships/slideLayout" Target="../slideLayouts/slideLayout13.xml"/><Relationship Id="rId4" Type="http://schemas.openxmlformats.org/officeDocument/2006/relationships/image" Target="../media/image211.wmf"/><Relationship Id="rId3" Type="http://schemas.openxmlformats.org/officeDocument/2006/relationships/oleObject" Target="../embeddings/oleObject231.bin"/><Relationship Id="rId2" Type="http://schemas.openxmlformats.org/officeDocument/2006/relationships/image" Target="../media/image210.wmf"/><Relationship Id="rId1" Type="http://schemas.openxmlformats.org/officeDocument/2006/relationships/oleObject" Target="../embeddings/oleObject230.bin"/></Relationships>
</file>

<file path=ppt/slides/_rels/slide78.xml.rels><?xml version="1.0" encoding="UTF-8" standalone="yes"?>
<Relationships xmlns="http://schemas.openxmlformats.org/package/2006/relationships"><Relationship Id="rId4" Type="http://schemas.openxmlformats.org/officeDocument/2006/relationships/vmlDrawing" Target="../drawings/vmlDrawing72.vml"/><Relationship Id="rId3" Type="http://schemas.openxmlformats.org/officeDocument/2006/relationships/slideLayout" Target="../slideLayouts/slideLayout17.xml"/><Relationship Id="rId2" Type="http://schemas.openxmlformats.org/officeDocument/2006/relationships/image" Target="../media/image212.wmf"/><Relationship Id="rId1" Type="http://schemas.openxmlformats.org/officeDocument/2006/relationships/oleObject" Target="../embeddings/oleObject23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9331"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99332" name="Rectangle 2050"/>
          <p:cNvSpPr>
            <a:spLocks noGrp="1"/>
          </p:cNvSpPr>
          <p:nvPr>
            <p:ph type="ctrTitle"/>
          </p:nvPr>
        </p:nvSpPr>
        <p:spPr>
          <a:xfrm>
            <a:off x="685800" y="2022475"/>
            <a:ext cx="7772400" cy="1747838"/>
          </a:xfrm>
          <a:ln/>
        </p:spPr>
        <p:txBody>
          <a:bodyPr vert="horz" wrap="square" lIns="91440" tIns="45720" rIns="91440" bIns="45720" anchor="ctr" anchorCtr="0"/>
          <a:p>
            <a:pPr>
              <a:buClrTx/>
              <a:buSzTx/>
              <a:buFontTx/>
            </a:pPr>
            <a:r>
              <a:rPr lang="zh-CN" altLang="en-US" sz="4400" b="1" u="none" dirty="0"/>
              <a:t>第</a:t>
            </a:r>
            <a:r>
              <a:rPr lang="en-US" altLang="zh-CN" sz="4400" b="1" u="none" dirty="0">
                <a:latin typeface="Times New Roman" panose="02020603050405020304" pitchFamily="18" charset="0"/>
              </a:rPr>
              <a:t>9</a:t>
            </a:r>
            <a:r>
              <a:rPr lang="zh-CN" altLang="en-US" sz="4400" b="1" u="none" dirty="0"/>
              <a:t>章 常微分方程</a:t>
            </a:r>
            <a:r>
              <a:rPr lang="en-US" altLang="zh-CN" sz="4400" b="1" u="none" dirty="0">
                <a:latin typeface="Times New Roman" panose="02020603050405020304" pitchFamily="18" charset="0"/>
              </a:rPr>
              <a:t>(</a:t>
            </a:r>
            <a:r>
              <a:rPr lang="zh-CN" altLang="en-US" sz="4400" b="1" u="none" dirty="0"/>
              <a:t>组</a:t>
            </a:r>
            <a:r>
              <a:rPr lang="en-US" altLang="zh-CN" sz="4400" b="1" u="none" dirty="0">
                <a:latin typeface="Times New Roman" panose="02020603050405020304" pitchFamily="18" charset="0"/>
              </a:rPr>
              <a:t>)</a:t>
            </a:r>
            <a:r>
              <a:rPr lang="zh-CN" altLang="en-US" sz="4400" b="1" u="none" dirty="0"/>
              <a:t>的数值解法</a:t>
            </a:r>
            <a:endParaRPr lang="zh-CN" altLang="en-US" sz="4400" b="1" u="none" dirty="0"/>
          </a:p>
        </p:txBody>
      </p:sp>
      <p:sp>
        <p:nvSpPr>
          <p:cNvPr id="99333" name="Rectangle 2051"/>
          <p:cNvSpPr>
            <a:spLocks noGrp="1"/>
          </p:cNvSpPr>
          <p:nvPr>
            <p:ph type="subTitle" idx="1"/>
          </p:nvPr>
        </p:nvSpPr>
        <p:spPr>
          <a:xfrm>
            <a:off x="1371600" y="4081463"/>
            <a:ext cx="6400800" cy="1579562"/>
          </a:xfrm>
          <a:ln/>
        </p:spPr>
        <p:txBody>
          <a:bodyPr vert="horz" wrap="square" lIns="91440" tIns="45720" rIns="91440" bIns="45720" anchor="t" anchorCtr="0"/>
          <a:p>
            <a:pPr>
              <a:buSzPct val="85000"/>
            </a:pPr>
            <a:endParaRPr lang="zh-CN" altLang="en-US" sz="3600" b="1" dirty="0">
              <a:latin typeface="+mn-lt"/>
              <a:ea typeface="华文行楷" panose="02010800040101010101" pitchFamily="2" charset="-122"/>
              <a:cs typeface="+mn-cs"/>
            </a:endParaRPr>
          </a:p>
          <a:p>
            <a:pPr>
              <a:buSzPct val="85000"/>
            </a:pPr>
            <a:r>
              <a:rPr lang="zh-CN" altLang="en-US" sz="3600" b="1" dirty="0">
                <a:latin typeface="+mn-lt"/>
                <a:ea typeface="华文行楷" panose="02010800040101010101" pitchFamily="2" charset="-122"/>
                <a:cs typeface="+mn-cs"/>
              </a:rPr>
              <a:t>天津大学数学学院</a:t>
            </a:r>
            <a:endParaRPr lang="zh-CN" altLang="en-US" sz="3600" b="1" dirty="0">
              <a:latin typeface="+mn-lt"/>
              <a:ea typeface="华文行楷" panose="0201080004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页脚占位符 5"/>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355" name="灯片编号占位符 6"/>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00356" name="Rectangle 8"/>
          <p:cNvSpPr>
            <a:spLocks noGrp="1"/>
          </p:cNvSpPr>
          <p:nvPr>
            <p:ph type="title"/>
          </p:nvPr>
        </p:nvSpPr>
        <p:spPr>
          <a:xfrm>
            <a:off x="461963" y="355600"/>
            <a:ext cx="8402637" cy="871538"/>
          </a:xfrm>
          <a:ln/>
        </p:spPr>
        <p:txBody>
          <a:bodyPr vert="horz" wrap="square" lIns="91440" tIns="45720" rIns="91440" bIns="45720" anchor="ctr" anchorCtr="0"/>
          <a:p>
            <a:r>
              <a:rPr lang="zh-CN" altLang="en-US" sz="4000" b="1" u="none" dirty="0"/>
              <a:t>第</a:t>
            </a:r>
            <a:r>
              <a:rPr lang="en-US" altLang="zh-CN" sz="4000" b="1" u="none" dirty="0"/>
              <a:t>9</a:t>
            </a:r>
            <a:r>
              <a:rPr lang="zh-CN" altLang="en-US" sz="4000" b="1" u="none" dirty="0"/>
              <a:t>章 常微分方程（组）的数值解法</a:t>
            </a:r>
            <a:endParaRPr lang="zh-CN" altLang="en-US" sz="4000" b="1" u="none" dirty="0"/>
          </a:p>
        </p:txBody>
      </p:sp>
      <p:sp>
        <p:nvSpPr>
          <p:cNvPr id="2057" name="Rectangle 9"/>
          <p:cNvSpPr>
            <a:spLocks noGrp="1"/>
          </p:cNvSpPr>
          <p:nvPr>
            <p:ph sz="half" idx="1"/>
          </p:nvPr>
        </p:nvSpPr>
        <p:spPr>
          <a:xfrm>
            <a:off x="533400" y="1392238"/>
            <a:ext cx="3581400" cy="4648200"/>
          </a:xfrm>
          <a:ln/>
        </p:spPr>
        <p:txBody>
          <a:bodyPr vert="horz" wrap="square" lIns="91440" tIns="45720" rIns="91440" bIns="45720" anchor="t" anchorCtr="0"/>
          <a:p>
            <a:pPr defTabSz="914400">
              <a:buSzPct val="85000"/>
              <a:buFont typeface="ZapfDingbats" pitchFamily="82" charset="2"/>
              <a:buNone/>
              <a:tabLst>
                <a:tab pos="0" algn="l"/>
              </a:tabLst>
            </a:pPr>
            <a:r>
              <a:rPr lang="zh-CN" altLang="en-US" sz="3200" b="1" dirty="0">
                <a:solidFill>
                  <a:srgbClr val="FF0000"/>
                </a:solidFill>
                <a:latin typeface="+mn-lt"/>
                <a:ea typeface="+mn-ea"/>
                <a:cs typeface="+mn-cs"/>
              </a:rPr>
              <a:t>主要目标：</a:t>
            </a:r>
            <a:r>
              <a:rPr lang="zh-CN" altLang="en-US" sz="3200" b="1" dirty="0">
                <a:latin typeface="+mn-lt"/>
                <a:ea typeface="+mn-ea"/>
                <a:cs typeface="+mn-cs"/>
              </a:rPr>
              <a:t> </a:t>
            </a:r>
            <a:endParaRPr lang="zh-CN" altLang="en-US" sz="3200" b="1" dirty="0">
              <a:latin typeface="+mn-lt"/>
              <a:ea typeface="+mn-ea"/>
              <a:cs typeface="+mn-cs"/>
            </a:endParaRPr>
          </a:p>
          <a:p>
            <a:pPr defTabSz="914400">
              <a:buSzPct val="85000"/>
              <a:tabLst>
                <a:tab pos="0" algn="l"/>
              </a:tabLst>
            </a:pPr>
            <a:r>
              <a:rPr lang="zh-CN" altLang="en-US" dirty="0">
                <a:latin typeface="+mn-lt"/>
                <a:ea typeface="+mn-ea"/>
                <a:cs typeface="+mn-cs"/>
              </a:rPr>
              <a:t>掌握常微分方程初值问题数值解法的基本理论</a:t>
            </a:r>
            <a:endParaRPr lang="zh-CN" altLang="en-US" dirty="0">
              <a:latin typeface="+mn-lt"/>
              <a:ea typeface="+mn-ea"/>
              <a:cs typeface="+mn-cs"/>
            </a:endParaRPr>
          </a:p>
          <a:p>
            <a:pPr defTabSz="914400">
              <a:buSzPct val="85000"/>
              <a:tabLst>
                <a:tab pos="0" algn="l"/>
              </a:tabLst>
            </a:pPr>
            <a:r>
              <a:rPr lang="zh-CN" altLang="en-US" dirty="0">
                <a:latin typeface="+mn-lt"/>
                <a:ea typeface="+mn-ea"/>
                <a:cs typeface="+mn-cs"/>
              </a:rPr>
              <a:t>掌握计算机上的常用算法</a:t>
            </a:r>
            <a:endParaRPr lang="zh-CN" altLang="en-US" dirty="0">
              <a:latin typeface="+mn-lt"/>
              <a:ea typeface="+mn-ea"/>
              <a:cs typeface="+mn-cs"/>
            </a:endParaRPr>
          </a:p>
        </p:txBody>
      </p:sp>
      <p:sp>
        <p:nvSpPr>
          <p:cNvPr id="2058" name="Rectangle 10"/>
          <p:cNvSpPr>
            <a:spLocks noGrp="1"/>
          </p:cNvSpPr>
          <p:nvPr>
            <p:ph sz="half" idx="2"/>
          </p:nvPr>
        </p:nvSpPr>
        <p:spPr>
          <a:xfrm>
            <a:off x="4287838" y="1309688"/>
            <a:ext cx="4267200" cy="4648200"/>
          </a:xfrm>
          <a:ln/>
        </p:spPr>
        <p:txBody>
          <a:bodyPr vert="horz" wrap="square" lIns="91440" tIns="45720" rIns="91440" bIns="45720" anchor="t" anchorCtr="0"/>
          <a:p>
            <a:pPr>
              <a:buSzPct val="85000"/>
              <a:buFont typeface="ZapfDingbats" pitchFamily="82" charset="2"/>
              <a:buNone/>
            </a:pPr>
            <a:r>
              <a:rPr lang="zh-CN" altLang="en-US" sz="3200" b="1" dirty="0">
                <a:solidFill>
                  <a:srgbClr val="FF0000"/>
                </a:solidFill>
                <a:latin typeface="+mn-lt"/>
                <a:ea typeface="+mn-ea"/>
                <a:cs typeface="+mn-cs"/>
              </a:rPr>
              <a:t>主要内容：</a:t>
            </a:r>
            <a:endParaRPr lang="zh-CN" altLang="en-US" sz="3200" b="1" dirty="0">
              <a:latin typeface="+mn-lt"/>
              <a:ea typeface="+mn-ea"/>
              <a:cs typeface="+mn-cs"/>
            </a:endParaRPr>
          </a:p>
          <a:p>
            <a:pPr>
              <a:buSzPct val="85000"/>
            </a:pPr>
            <a:r>
              <a:rPr lang="zh-CN" altLang="en-US" dirty="0">
                <a:latin typeface="+mn-lt"/>
                <a:ea typeface="+mn-ea"/>
                <a:cs typeface="+mn-cs"/>
              </a:rPr>
              <a:t>初值问题计算格式的建立</a:t>
            </a:r>
            <a:endParaRPr lang="zh-CN" altLang="en-US" dirty="0">
              <a:latin typeface="+mn-lt"/>
              <a:ea typeface="+mn-ea"/>
              <a:cs typeface="+mn-cs"/>
            </a:endParaRPr>
          </a:p>
          <a:p>
            <a:pPr>
              <a:buSzPct val="85000"/>
            </a:pPr>
            <a:r>
              <a:rPr lang="en-US" altLang="zh-CN" dirty="0">
                <a:latin typeface="+mn-lt"/>
                <a:ea typeface="+mn-ea"/>
                <a:cs typeface="+mn-cs"/>
              </a:rPr>
              <a:t>Runge-Kutta </a:t>
            </a:r>
            <a:r>
              <a:rPr lang="zh-CN" altLang="zh-CN" dirty="0">
                <a:latin typeface="+mn-lt"/>
                <a:ea typeface="+mn-ea"/>
                <a:cs typeface="+mn-cs"/>
              </a:rPr>
              <a:t>方法</a:t>
            </a:r>
            <a:endParaRPr lang="zh-CN" altLang="en-US" dirty="0">
              <a:latin typeface="+mn-lt"/>
              <a:ea typeface="+mn-ea"/>
              <a:cs typeface="+mn-cs"/>
            </a:endParaRPr>
          </a:p>
          <a:p>
            <a:pPr>
              <a:buSzPct val="85000"/>
            </a:pPr>
            <a:r>
              <a:rPr lang="zh-CN" altLang="en-US" dirty="0">
                <a:latin typeface="Times New Roman" panose="02020603050405020304" pitchFamily="18" charset="0"/>
                <a:ea typeface="+mn-ea"/>
                <a:cs typeface="+mn-cs"/>
              </a:rPr>
              <a:t>一阶常微分方程组与高阶方程的数值解法</a:t>
            </a:r>
            <a:endParaRPr lang="zh-CN" altLang="en-US" dirty="0">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7">
                                            <p:txEl>
                                              <p:charRg st="0" end="7"/>
                                            </p:txEl>
                                          </p:spTgt>
                                        </p:tgtEl>
                                        <p:attrNameLst>
                                          <p:attrName>style.visibility</p:attrName>
                                        </p:attrNameLst>
                                      </p:cBhvr>
                                      <p:to>
                                        <p:strVal val="visible"/>
                                      </p:to>
                                    </p:set>
                                    <p:animEffect transition="in" filter="wipe(left)">
                                      <p:cBhvr>
                                        <p:cTn id="7" dur="500"/>
                                        <p:tgtEl>
                                          <p:spTgt spid="2057">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7">
                                            <p:txEl>
                                              <p:charRg st="7" end="28"/>
                                            </p:txEl>
                                          </p:spTgt>
                                        </p:tgtEl>
                                        <p:attrNameLst>
                                          <p:attrName>style.visibility</p:attrName>
                                        </p:attrNameLst>
                                      </p:cBhvr>
                                      <p:to>
                                        <p:strVal val="visible"/>
                                      </p:to>
                                    </p:set>
                                    <p:animEffect transition="in" filter="wipe(left)">
                                      <p:cBhvr>
                                        <p:cTn id="12" dur="500"/>
                                        <p:tgtEl>
                                          <p:spTgt spid="2057">
                                            <p:txEl>
                                              <p:charRg st="7" end="2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57">
                                            <p:txEl>
                                              <p:charRg st="28" end="40"/>
                                            </p:txEl>
                                          </p:spTgt>
                                        </p:tgtEl>
                                        <p:attrNameLst>
                                          <p:attrName>style.visibility</p:attrName>
                                        </p:attrNameLst>
                                      </p:cBhvr>
                                      <p:to>
                                        <p:strVal val="visible"/>
                                      </p:to>
                                    </p:set>
                                    <p:animEffect transition="in" filter="wipe(left)">
                                      <p:cBhvr>
                                        <p:cTn id="17" dur="500"/>
                                        <p:tgtEl>
                                          <p:spTgt spid="2057">
                                            <p:txEl>
                                              <p:charRg st="28" end="4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58">
                                            <p:txEl>
                                              <p:charRg st="0" end="6"/>
                                            </p:txEl>
                                          </p:spTgt>
                                        </p:tgtEl>
                                        <p:attrNameLst>
                                          <p:attrName>style.visibility</p:attrName>
                                        </p:attrNameLst>
                                      </p:cBhvr>
                                      <p:to>
                                        <p:strVal val="visible"/>
                                      </p:to>
                                    </p:set>
                                    <p:animEffect transition="in" filter="wipe(left)">
                                      <p:cBhvr>
                                        <p:cTn id="22" dur="500"/>
                                        <p:tgtEl>
                                          <p:spTgt spid="2058">
                                            <p:txEl>
                                              <p:charRg st="0"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58">
                                            <p:txEl>
                                              <p:charRg st="6" end="18"/>
                                            </p:txEl>
                                          </p:spTgt>
                                        </p:tgtEl>
                                        <p:attrNameLst>
                                          <p:attrName>style.visibility</p:attrName>
                                        </p:attrNameLst>
                                      </p:cBhvr>
                                      <p:to>
                                        <p:strVal val="visible"/>
                                      </p:to>
                                    </p:set>
                                    <p:animEffect transition="in" filter="wipe(left)">
                                      <p:cBhvr>
                                        <p:cTn id="27" dur="500"/>
                                        <p:tgtEl>
                                          <p:spTgt spid="2058">
                                            <p:txEl>
                                              <p:charRg st="6" end="1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58">
                                            <p:txEl>
                                              <p:charRg st="18" end="33"/>
                                            </p:txEl>
                                          </p:spTgt>
                                        </p:tgtEl>
                                        <p:attrNameLst>
                                          <p:attrName>style.visibility</p:attrName>
                                        </p:attrNameLst>
                                      </p:cBhvr>
                                      <p:to>
                                        <p:strVal val="visible"/>
                                      </p:to>
                                    </p:set>
                                    <p:animEffect transition="in" filter="wipe(left)">
                                      <p:cBhvr>
                                        <p:cTn id="32" dur="500"/>
                                        <p:tgtEl>
                                          <p:spTgt spid="2058">
                                            <p:txEl>
                                              <p:charRg st="18" end="3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58">
                                            <p:txEl>
                                              <p:charRg st="33" end="52"/>
                                            </p:txEl>
                                          </p:spTgt>
                                        </p:tgtEl>
                                        <p:attrNameLst>
                                          <p:attrName>style.visibility</p:attrName>
                                        </p:attrNameLst>
                                      </p:cBhvr>
                                      <p:to>
                                        <p:strVal val="visible"/>
                                      </p:to>
                                    </p:set>
                                    <p:animEffect transition="in" filter="wipe(left)">
                                      <p:cBhvr>
                                        <p:cTn id="37" dur="500"/>
                                        <p:tgtEl>
                                          <p:spTgt spid="2058">
                                            <p:txEl>
                                              <p:charRg st="33" end="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bldLvl="2" build="p"/>
      <p:bldP spid="2058" grpId="0" bldLvl="2"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1379"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01380" name="Rectangle 2"/>
          <p:cNvSpPr>
            <a:spLocks noGrp="1"/>
          </p:cNvSpPr>
          <p:nvPr>
            <p:ph type="title"/>
          </p:nvPr>
        </p:nvSpPr>
        <p:spPr>
          <a:xfrm>
            <a:off x="300038" y="228600"/>
            <a:ext cx="8361362" cy="1143000"/>
          </a:xfrm>
          <a:ln/>
        </p:spPr>
        <p:txBody>
          <a:bodyPr vert="horz" wrap="square" lIns="91440" tIns="45720" rIns="91440" bIns="45720" anchor="ctr" anchorCtr="0"/>
          <a:p>
            <a:r>
              <a:rPr lang="zh-CN" altLang="en-US" sz="4000" b="1" u="none" dirty="0"/>
              <a:t>第</a:t>
            </a:r>
            <a:r>
              <a:rPr lang="en-US" altLang="zh-CN" sz="4000" b="1" u="none" dirty="0">
                <a:latin typeface="Times New Roman" panose="02020603050405020304" pitchFamily="18" charset="0"/>
              </a:rPr>
              <a:t>9</a:t>
            </a:r>
            <a:r>
              <a:rPr lang="zh-CN" altLang="en-US" sz="4000" b="1" u="none" dirty="0"/>
              <a:t>章 常微分方程（组）的数值解法</a:t>
            </a:r>
            <a:endParaRPr lang="zh-CN" altLang="en-US" sz="3600" u="none" dirty="0"/>
          </a:p>
        </p:txBody>
      </p:sp>
      <p:sp>
        <p:nvSpPr>
          <p:cNvPr id="133123" name="Rectangle 3"/>
          <p:cNvSpPr>
            <a:spLocks noGrp="1"/>
          </p:cNvSpPr>
          <p:nvPr>
            <p:ph idx="1"/>
          </p:nvPr>
        </p:nvSpPr>
        <p:spPr>
          <a:xfrm>
            <a:off x="533400" y="1222375"/>
            <a:ext cx="8301038" cy="4997450"/>
          </a:xfrm>
          <a:ln/>
        </p:spPr>
        <p:txBody>
          <a:bodyPr vert="horz" wrap="square" lIns="91440" tIns="45720" rIns="91440" bIns="45720" anchor="t" anchorCtr="0"/>
          <a:p>
            <a:pPr marL="0" indent="0">
              <a:lnSpc>
                <a:spcPct val="120000"/>
              </a:lnSpc>
              <a:buNone/>
            </a:pPr>
            <a:r>
              <a:rPr lang="zh-CN" altLang="en-US" sz="3200" dirty="0"/>
              <a:t>       </a:t>
            </a:r>
            <a:r>
              <a:rPr lang="zh-CN" altLang="en-US" sz="3200" b="1" dirty="0"/>
              <a:t>在工程实践和科学研究中会遇到很多微分方程</a:t>
            </a:r>
            <a:r>
              <a:rPr lang="en-US" altLang="zh-CN" sz="3200" b="1" dirty="0">
                <a:latin typeface="Times New Roman" panose="02020603050405020304" pitchFamily="18" charset="0"/>
              </a:rPr>
              <a:t>(</a:t>
            </a:r>
            <a:r>
              <a:rPr lang="zh-CN" altLang="en-US" sz="3200" b="1" dirty="0">
                <a:latin typeface="Times New Roman" panose="02020603050405020304" pitchFamily="18" charset="0"/>
              </a:rPr>
              <a:t>组</a:t>
            </a:r>
            <a:r>
              <a:rPr lang="en-US" altLang="zh-CN" sz="3200" b="1" dirty="0">
                <a:latin typeface="Times New Roman" panose="02020603050405020304" pitchFamily="18" charset="0"/>
              </a:rPr>
              <a:t>)</a:t>
            </a:r>
            <a:r>
              <a:rPr lang="zh-CN" altLang="en-US" sz="3200" b="1" dirty="0">
                <a:latin typeface="Times New Roman" panose="02020603050405020304" pitchFamily="18" charset="0"/>
              </a:rPr>
              <a:t> </a:t>
            </a:r>
            <a:r>
              <a:rPr lang="zh-CN" altLang="en-US" sz="3200" b="1" dirty="0"/>
              <a:t>，它们是描述各种运动现象</a:t>
            </a:r>
            <a:r>
              <a:rPr lang="zh-CN" altLang="en-US" sz="3200" b="1" dirty="0">
                <a:latin typeface="Times New Roman" panose="02020603050405020304" pitchFamily="18" charset="0"/>
              </a:rPr>
              <a:t>常见的数学模型。</a:t>
            </a:r>
            <a:r>
              <a:rPr lang="zh-CN" altLang="en-US" sz="3200" b="1" dirty="0"/>
              <a:t>虽然从理论上可以证明其解的存在性，但其解的解析表达式往往是很难求解的，或者即使可以写出来，但也难于计算，此时，只能借助数值解来解决问题</a:t>
            </a:r>
            <a:r>
              <a:rPr lang="zh-CN" altLang="en-US" sz="3200" b="1" dirty="0">
                <a:latin typeface="Times New Roman" panose="02020603050405020304" pitchFamily="18" charset="0"/>
              </a:rPr>
              <a:t>. </a:t>
            </a:r>
            <a:endParaRPr lang="zh-CN" altLang="en-US" sz="3200" b="1" dirty="0">
              <a:latin typeface="Times New Roman" panose="02020603050405020304" pitchFamily="18" charset="0"/>
            </a:endParaRPr>
          </a:p>
          <a:p>
            <a:pPr marL="0" indent="0">
              <a:lnSpc>
                <a:spcPct val="120000"/>
              </a:lnSpc>
              <a:buNone/>
            </a:pPr>
            <a:r>
              <a:rPr lang="zh-CN" altLang="en-US" sz="3200" b="1" dirty="0">
                <a:latin typeface="Times New Roman" panose="02020603050405020304" pitchFamily="18" charset="0"/>
              </a:rPr>
              <a:t>       本章主要介绍求解常微分方程（组）定解问题的基本理论和数值解法。</a:t>
            </a:r>
            <a:endParaRPr lang="zh-CN" altLang="en-US" sz="28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123">
                                            <p:txEl>
                                              <p:charRg st="0" end="121"/>
                                            </p:txEl>
                                          </p:spTgt>
                                        </p:tgtEl>
                                        <p:attrNameLst>
                                          <p:attrName>style.visibility</p:attrName>
                                        </p:attrNameLst>
                                      </p:cBhvr>
                                      <p:to>
                                        <p:strVal val="visible"/>
                                      </p:to>
                                    </p:set>
                                    <p:animEffect transition="in" filter="dissolve">
                                      <p:cBhvr>
                                        <p:cTn id="7" dur="500"/>
                                        <p:tgtEl>
                                          <p:spTgt spid="133123">
                                            <p:txEl>
                                              <p:charRg st="0" end="1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3123">
                                            <p:txEl>
                                              <p:charRg st="121" end="160"/>
                                            </p:txEl>
                                          </p:spTgt>
                                        </p:tgtEl>
                                        <p:attrNameLst>
                                          <p:attrName>style.visibility</p:attrName>
                                        </p:attrNameLst>
                                      </p:cBhvr>
                                      <p:to>
                                        <p:strVal val="visible"/>
                                      </p:to>
                                    </p:set>
                                    <p:animEffect transition="in" filter="dissolve">
                                      <p:cBhvr>
                                        <p:cTn id="12" dur="500"/>
                                        <p:tgtEl>
                                          <p:spTgt spid="133123">
                                            <p:txEl>
                                              <p:charRg st="121" end="1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pSp>
        <p:nvGrpSpPr>
          <p:cNvPr id="2" name="Group 29"/>
          <p:cNvGrpSpPr/>
          <p:nvPr/>
        </p:nvGrpSpPr>
        <p:grpSpPr>
          <a:xfrm>
            <a:off x="374650" y="3278188"/>
            <a:ext cx="8512175" cy="1274762"/>
            <a:chOff x="147" y="1685"/>
            <a:chExt cx="5362" cy="803"/>
          </a:xfrm>
        </p:grpSpPr>
        <p:graphicFrame>
          <p:nvGraphicFramePr>
            <p:cNvPr id="1029" name="Object 1027"/>
            <p:cNvGraphicFramePr/>
            <p:nvPr/>
          </p:nvGraphicFramePr>
          <p:xfrm>
            <a:off x="1819" y="2170"/>
            <a:ext cx="619" cy="318"/>
          </p:xfrm>
          <a:graphic>
            <a:graphicData uri="http://schemas.openxmlformats.org/presentationml/2006/ole">
              <mc:AlternateContent xmlns:mc="http://schemas.openxmlformats.org/markup-compatibility/2006">
                <mc:Choice xmlns:v="urn:schemas-microsoft-com:vml" Requires="v">
                  <p:oleObj spid="_x0000_s3079" name="" r:id="rId1" imgW="393065" imgH="203200" progId="Equation.DSMT4">
                    <p:embed/>
                  </p:oleObj>
                </mc:Choice>
                <mc:Fallback>
                  <p:oleObj name="" r:id="rId1" imgW="393065" imgH="203200" progId="Equation.DSMT4">
                    <p:embed/>
                    <p:pic>
                      <p:nvPicPr>
                        <p:cNvPr id="0" name="图片 3078"/>
                        <p:cNvPicPr/>
                        <p:nvPr/>
                      </p:nvPicPr>
                      <p:blipFill>
                        <a:blip r:embed="rId2"/>
                        <a:stretch>
                          <a:fillRect/>
                        </a:stretch>
                      </p:blipFill>
                      <p:spPr>
                        <a:xfrm>
                          <a:off x="1819" y="2170"/>
                          <a:ext cx="619" cy="318"/>
                        </a:xfrm>
                        <a:prstGeom prst="rect">
                          <a:avLst/>
                        </a:prstGeom>
                        <a:noFill/>
                        <a:ln w="38100">
                          <a:noFill/>
                          <a:miter/>
                        </a:ln>
                      </p:spPr>
                    </p:pic>
                  </p:oleObj>
                </mc:Fallback>
              </mc:AlternateContent>
            </a:graphicData>
          </a:graphic>
        </p:graphicFrame>
        <p:sp>
          <p:nvSpPr>
            <p:cNvPr id="1039" name="Text Box 14"/>
            <p:cNvSpPr txBox="1"/>
            <p:nvPr/>
          </p:nvSpPr>
          <p:spPr>
            <a:xfrm>
              <a:off x="147" y="1685"/>
              <a:ext cx="5362" cy="802"/>
            </a:xfrm>
            <a:prstGeom prst="rect">
              <a:avLst/>
            </a:prstGeom>
            <a:noFill/>
            <a:ln w="9525">
              <a:noFill/>
            </a:ln>
          </p:spPr>
          <p:txBody>
            <a:bodyPr>
              <a:spAutoFit/>
            </a:bodyPr>
            <a:p>
              <a:pPr>
                <a:lnSpc>
                  <a:spcPct val="120000"/>
                </a:lnSpc>
                <a:buClr>
                  <a:schemeClr val="accent2"/>
                </a:buClr>
                <a:buFont typeface="ZapfDingbats" pitchFamily="82" charset="2"/>
              </a:pPr>
              <a:r>
                <a:rPr lang="zh-CN" altLang="en-US" b="1" dirty="0">
                  <a:latin typeface="Times New Roman" panose="02020603050405020304" pitchFamily="18" charset="0"/>
                </a:rPr>
                <a:t>定义</a:t>
              </a:r>
              <a:r>
                <a:rPr lang="en-US" altLang="zh-CN" b="1" dirty="0">
                  <a:latin typeface="Times New Roman" panose="02020603050405020304" pitchFamily="18" charset="0"/>
                </a:rPr>
                <a:t>9.</a:t>
              </a:r>
              <a:r>
                <a:rPr lang="zh-CN" altLang="en-US" b="1" dirty="0">
                  <a:latin typeface="Times New Roman" panose="02020603050405020304" pitchFamily="18" charset="0"/>
                </a:rPr>
                <a:t>0.1  若存在常数 </a:t>
              </a:r>
              <a:r>
                <a:rPr lang="en-US" altLang="zh-CN" b="1" i="1" dirty="0">
                  <a:latin typeface="Times New Roman" panose="02020603050405020304" pitchFamily="18" charset="0"/>
                </a:rPr>
                <a:t>L</a:t>
              </a:r>
              <a:r>
                <a:rPr lang="en-US" altLang="zh-CN" b="1" dirty="0">
                  <a:latin typeface="Times New Roman" panose="02020603050405020304" pitchFamily="18" charset="0"/>
                </a:rPr>
                <a:t> &gt; 0, </a:t>
              </a:r>
              <a:r>
                <a:rPr lang="zh-CN" altLang="zh-CN" b="1" dirty="0">
                  <a:latin typeface="Times New Roman" panose="02020603050405020304" pitchFamily="18" charset="0"/>
                </a:rPr>
                <a:t>使得对一切的</a:t>
              </a:r>
              <a:r>
                <a:rPr lang="en-US" altLang="zh-CN" b="1" i="1" dirty="0">
                  <a:latin typeface="Times New Roman" panose="02020603050405020304" pitchFamily="18" charset="0"/>
                </a:rPr>
                <a:t>x</a:t>
              </a:r>
              <a:r>
                <a:rPr lang="zh-CN" altLang="en-US" b="1" dirty="0">
                  <a:latin typeface="Times New Roman" panose="02020603050405020304" pitchFamily="18" charset="0"/>
                </a:rPr>
                <a:t>∈[</a:t>
              </a:r>
              <a:r>
                <a:rPr lang="en-US" altLang="zh-CN" b="1" i="1" dirty="0">
                  <a:latin typeface="Times New Roman" panose="02020603050405020304" pitchFamily="18" charset="0"/>
                </a:rPr>
                <a:t>a</a:t>
              </a:r>
              <a:r>
                <a:rPr lang="en-US" altLang="zh-CN" b="1" dirty="0">
                  <a:latin typeface="Times New Roman" panose="02020603050405020304" pitchFamily="18" charset="0"/>
                </a:rPr>
                <a:t> , </a:t>
              </a:r>
              <a:r>
                <a:rPr lang="en-US" altLang="zh-CN" b="1" i="1" dirty="0">
                  <a:latin typeface="Times New Roman" panose="02020603050405020304" pitchFamily="18" charset="0"/>
                </a:rPr>
                <a:t>b</a:t>
              </a:r>
              <a:r>
                <a:rPr lang="en-US" altLang="zh-CN" b="1" dirty="0">
                  <a:latin typeface="Times New Roman" panose="02020603050405020304" pitchFamily="18" charset="0"/>
                </a:rPr>
                <a:t>] </a:t>
              </a:r>
              <a:r>
                <a:rPr lang="zh-CN" altLang="zh-CN" b="1" dirty="0">
                  <a:latin typeface="Times New Roman" panose="02020603050405020304" pitchFamily="18" charset="0"/>
                </a:rPr>
                <a:t>及 </a:t>
              </a:r>
              <a:r>
                <a:rPr lang="en-US" altLang="zh-CN" b="1" i="1" dirty="0">
                  <a:latin typeface="Times New Roman" panose="02020603050405020304" pitchFamily="18" charset="0"/>
                </a:rPr>
                <a:t>y</a:t>
              </a:r>
              <a:r>
                <a:rPr lang="en-US" altLang="zh-CN" b="1" dirty="0">
                  <a:latin typeface="Times New Roman" panose="02020603050405020304" pitchFamily="18" charset="0"/>
                </a:rPr>
                <a:t> ,          , </a:t>
              </a:r>
              <a:r>
                <a:rPr lang="zh-CN" altLang="zh-CN" b="1" dirty="0">
                  <a:latin typeface="Times New Roman" panose="02020603050405020304" pitchFamily="18" charset="0"/>
                </a:rPr>
                <a:t>均有</a:t>
              </a:r>
              <a:r>
                <a:rPr lang="zh-CN" altLang="en-US" b="1" dirty="0">
                  <a:latin typeface="Times New Roman" panose="02020603050405020304" pitchFamily="18" charset="0"/>
                </a:rPr>
                <a:t> </a:t>
              </a:r>
              <a:endParaRPr lang="zh-CN" altLang="en-US" b="1" dirty="0">
                <a:latin typeface="宋体" panose="02010600030101010101" pitchFamily="2" charset="-122"/>
              </a:endParaRPr>
            </a:p>
          </p:txBody>
        </p:sp>
      </p:grpSp>
      <p:graphicFrame>
        <p:nvGraphicFramePr>
          <p:cNvPr id="212992" name="Object 1024"/>
          <p:cNvGraphicFramePr/>
          <p:nvPr/>
        </p:nvGraphicFramePr>
        <p:xfrm>
          <a:off x="2398713" y="4562475"/>
          <a:ext cx="4779962" cy="509588"/>
        </p:xfrm>
        <a:graphic>
          <a:graphicData uri="http://schemas.openxmlformats.org/presentationml/2006/ole">
            <mc:AlternateContent xmlns:mc="http://schemas.openxmlformats.org/markup-compatibility/2006">
              <mc:Choice xmlns:v="urn:schemas-microsoft-com:vml" Requires="v">
                <p:oleObj spid="_x0000_s3078" name="" r:id="rId3" imgW="1890395" imgH="203200" progId="Equation.DSMT4">
                  <p:embed/>
                </p:oleObj>
              </mc:Choice>
              <mc:Fallback>
                <p:oleObj name="" r:id="rId3" imgW="1890395" imgH="203200" progId="Equation.DSMT4">
                  <p:embed/>
                  <p:pic>
                    <p:nvPicPr>
                      <p:cNvPr id="0" name="图片 3077"/>
                      <p:cNvPicPr/>
                      <p:nvPr/>
                    </p:nvPicPr>
                    <p:blipFill>
                      <a:blip r:embed="rId4"/>
                      <a:stretch>
                        <a:fillRect/>
                      </a:stretch>
                    </p:blipFill>
                    <p:spPr>
                      <a:xfrm>
                        <a:off x="2398713" y="4562475"/>
                        <a:ext cx="4779962" cy="509588"/>
                      </a:xfrm>
                      <a:prstGeom prst="rect">
                        <a:avLst/>
                      </a:prstGeom>
                      <a:solidFill>
                        <a:schemeClr val="accent1"/>
                      </a:solidFill>
                      <a:ln w="38100">
                        <a:noFill/>
                        <a:miter/>
                      </a:ln>
                    </p:spPr>
                  </p:pic>
                </p:oleObj>
              </mc:Fallback>
            </mc:AlternateContent>
          </a:graphicData>
        </a:graphic>
      </p:graphicFrame>
      <p:sp>
        <p:nvSpPr>
          <p:cNvPr id="80913" name="Text Box 17"/>
          <p:cNvSpPr txBox="1"/>
          <p:nvPr/>
        </p:nvSpPr>
        <p:spPr>
          <a:xfrm>
            <a:off x="268288" y="5199063"/>
            <a:ext cx="8350250" cy="1260475"/>
          </a:xfrm>
          <a:prstGeom prst="rect">
            <a:avLst/>
          </a:prstGeom>
          <a:noFill/>
          <a:ln w="9525">
            <a:noFill/>
          </a:ln>
        </p:spPr>
        <p:txBody>
          <a:bodyPr>
            <a:spAutoFit/>
          </a:bodyPr>
          <a:p>
            <a:pPr>
              <a:lnSpc>
                <a:spcPct val="120000"/>
              </a:lnSpc>
            </a:pPr>
            <a:r>
              <a:rPr lang="zh-CN" altLang="en-US" b="1" dirty="0">
                <a:latin typeface="Times New Roman" panose="02020603050405020304" pitchFamily="18" charset="0"/>
              </a:rPr>
              <a:t>则称 </a:t>
            </a:r>
            <a:r>
              <a:rPr lang="en-US" altLang="zh-CN" b="1" i="1" dirty="0">
                <a:solidFill>
                  <a:srgbClr val="FF0000"/>
                </a:solidFill>
                <a:latin typeface="Times New Roman" panose="02020603050405020304" pitchFamily="18" charset="0"/>
              </a:rPr>
              <a:t>f</a:t>
            </a:r>
            <a:r>
              <a:rPr lang="en-US" altLang="zh-CN" b="1" dirty="0">
                <a:solidFill>
                  <a:srgbClr val="FF0000"/>
                </a:solidFill>
                <a:latin typeface="Times New Roman" panose="02020603050405020304" pitchFamily="18" charset="0"/>
              </a:rPr>
              <a:t> (</a:t>
            </a:r>
            <a:r>
              <a:rPr lang="en-US" altLang="zh-CN" b="1" i="1" dirty="0">
                <a:solidFill>
                  <a:srgbClr val="FF0000"/>
                </a:solidFill>
                <a:latin typeface="Times New Roman" panose="02020603050405020304" pitchFamily="18" charset="0"/>
              </a:rPr>
              <a:t>x</a:t>
            </a:r>
            <a:r>
              <a:rPr lang="en-US" altLang="zh-CN" b="1" dirty="0">
                <a:solidFill>
                  <a:srgbClr val="FF0000"/>
                </a:solidFill>
                <a:latin typeface="Times New Roman" panose="02020603050405020304" pitchFamily="18" charset="0"/>
              </a:rPr>
              <a:t>, </a:t>
            </a:r>
            <a:r>
              <a:rPr lang="en-US" altLang="zh-CN" b="1" i="1" dirty="0">
                <a:solidFill>
                  <a:srgbClr val="FF0000"/>
                </a:solidFill>
                <a:latin typeface="Times New Roman" panose="02020603050405020304" pitchFamily="18" charset="0"/>
              </a:rPr>
              <a:t>y</a:t>
            </a:r>
            <a:r>
              <a:rPr lang="en-US" altLang="zh-CN" b="1" dirty="0">
                <a:solidFill>
                  <a:srgbClr val="FF0000"/>
                </a:solidFill>
                <a:latin typeface="Times New Roman" panose="02020603050405020304" pitchFamily="18" charset="0"/>
              </a:rPr>
              <a:t>) </a:t>
            </a:r>
            <a:r>
              <a:rPr lang="zh-CN" altLang="zh-CN" b="1" dirty="0">
                <a:solidFill>
                  <a:srgbClr val="FF0000"/>
                </a:solidFill>
                <a:latin typeface="Times New Roman" panose="02020603050405020304" pitchFamily="18" charset="0"/>
              </a:rPr>
              <a:t>在</a:t>
            </a:r>
            <a:r>
              <a:rPr lang="zh-CN" altLang="en-US" b="1" dirty="0">
                <a:solidFill>
                  <a:srgbClr val="FF0000"/>
                </a:solidFill>
                <a:latin typeface="Times New Roman" panose="02020603050405020304" pitchFamily="18" charset="0"/>
              </a:rPr>
              <a:t> </a:t>
            </a:r>
            <a:r>
              <a:rPr lang="en-US" altLang="zh-CN" b="1" dirty="0">
                <a:solidFill>
                  <a:srgbClr val="FF0000"/>
                </a:solidFill>
                <a:latin typeface="Times New Roman" panose="02020603050405020304" pitchFamily="18" charset="0"/>
              </a:rPr>
              <a:t>D </a:t>
            </a:r>
            <a:r>
              <a:rPr lang="zh-CN" altLang="zh-CN" b="1" dirty="0">
                <a:solidFill>
                  <a:srgbClr val="FF0000"/>
                </a:solidFill>
                <a:latin typeface="Times New Roman" panose="02020603050405020304" pitchFamily="18" charset="0"/>
              </a:rPr>
              <a:t>上关于</a:t>
            </a:r>
            <a:r>
              <a:rPr lang="zh-CN" altLang="en-US" b="1" dirty="0">
                <a:solidFill>
                  <a:srgbClr val="FF0000"/>
                </a:solidFill>
                <a:latin typeface="Times New Roman" panose="02020603050405020304" pitchFamily="18" charset="0"/>
              </a:rPr>
              <a:t> </a:t>
            </a:r>
            <a:r>
              <a:rPr lang="en-US" altLang="zh-CN" b="1" i="1" dirty="0">
                <a:solidFill>
                  <a:srgbClr val="FF0000"/>
                </a:solidFill>
                <a:latin typeface="Times New Roman" panose="02020603050405020304" pitchFamily="18" charset="0"/>
              </a:rPr>
              <a:t>y</a:t>
            </a:r>
            <a:r>
              <a:rPr lang="en-US" altLang="zh-CN" b="1" dirty="0">
                <a:solidFill>
                  <a:srgbClr val="FF0000"/>
                </a:solidFill>
                <a:latin typeface="Times New Roman" panose="02020603050405020304" pitchFamily="18" charset="0"/>
              </a:rPr>
              <a:t> </a:t>
            </a:r>
            <a:r>
              <a:rPr lang="zh-CN" altLang="zh-CN" b="1" dirty="0">
                <a:solidFill>
                  <a:srgbClr val="FF0000"/>
                </a:solidFill>
                <a:latin typeface="Times New Roman" panose="02020603050405020304" pitchFamily="18" charset="0"/>
              </a:rPr>
              <a:t>满足</a:t>
            </a:r>
            <a:r>
              <a:rPr lang="zh-CN" altLang="en-US" b="1" dirty="0">
                <a:solidFill>
                  <a:srgbClr val="FF0000"/>
                </a:solidFill>
                <a:latin typeface="Times New Roman" panose="02020603050405020304" pitchFamily="18" charset="0"/>
              </a:rPr>
              <a:t> </a:t>
            </a:r>
            <a:r>
              <a:rPr lang="en-US" altLang="zh-CN" b="1" dirty="0">
                <a:solidFill>
                  <a:srgbClr val="FF0000"/>
                </a:solidFill>
                <a:latin typeface="Times New Roman" panose="02020603050405020304" pitchFamily="18" charset="0"/>
              </a:rPr>
              <a:t>Lipschitz </a:t>
            </a:r>
            <a:r>
              <a:rPr lang="zh-CN" altLang="zh-CN" b="1" dirty="0">
                <a:solidFill>
                  <a:srgbClr val="FF0000"/>
                </a:solidFill>
                <a:latin typeface="Times New Roman" panose="02020603050405020304" pitchFamily="18" charset="0"/>
              </a:rPr>
              <a:t>条件</a:t>
            </a:r>
            <a:r>
              <a:rPr lang="zh-CN" altLang="en-US" b="1" dirty="0">
                <a:latin typeface="Times New Roman" panose="02020603050405020304" pitchFamily="18" charset="0"/>
              </a:rPr>
              <a:t>, 其中 </a:t>
            </a:r>
            <a:r>
              <a:rPr lang="en-US" altLang="zh-CN" b="1" i="1" dirty="0">
                <a:latin typeface="Times New Roman" panose="02020603050405020304" pitchFamily="18" charset="0"/>
              </a:rPr>
              <a:t>L</a:t>
            </a:r>
            <a:r>
              <a:rPr lang="en-US" altLang="zh-CN" b="1" dirty="0">
                <a:latin typeface="Times New Roman" panose="02020603050405020304" pitchFamily="18" charset="0"/>
              </a:rPr>
              <a:t> </a:t>
            </a:r>
            <a:r>
              <a:rPr lang="zh-CN" altLang="zh-CN" b="1" dirty="0">
                <a:latin typeface="Times New Roman" panose="02020603050405020304" pitchFamily="18" charset="0"/>
              </a:rPr>
              <a:t>称为</a:t>
            </a:r>
            <a:r>
              <a:rPr lang="zh-CN" altLang="en-US" b="1" dirty="0">
                <a:latin typeface="Times New Roman" panose="02020603050405020304" pitchFamily="18" charset="0"/>
              </a:rPr>
              <a:t> </a:t>
            </a:r>
            <a:r>
              <a:rPr lang="en-US" altLang="zh-CN" b="1" dirty="0">
                <a:latin typeface="Times New Roman" panose="02020603050405020304" pitchFamily="18" charset="0"/>
              </a:rPr>
              <a:t>Lipschitz </a:t>
            </a:r>
            <a:r>
              <a:rPr lang="zh-CN" altLang="en-US" b="1" dirty="0">
                <a:latin typeface="Times New Roman" panose="02020603050405020304" pitchFamily="18" charset="0"/>
              </a:rPr>
              <a:t>常数.</a:t>
            </a:r>
            <a:endParaRPr lang="zh-CN" altLang="en-US" b="1" dirty="0">
              <a:latin typeface="Times New Roman" panose="02020603050405020304" pitchFamily="18" charset="0"/>
            </a:endParaRPr>
          </a:p>
        </p:txBody>
      </p:sp>
      <p:grpSp>
        <p:nvGrpSpPr>
          <p:cNvPr id="1034" name="Group 30"/>
          <p:cNvGrpSpPr/>
          <p:nvPr/>
        </p:nvGrpSpPr>
        <p:grpSpPr>
          <a:xfrm>
            <a:off x="358775" y="360363"/>
            <a:ext cx="8291513" cy="2862262"/>
            <a:chOff x="227" y="237"/>
            <a:chExt cx="5223" cy="1803"/>
          </a:xfrm>
        </p:grpSpPr>
        <p:sp>
          <p:nvSpPr>
            <p:cNvPr id="1035" name="Text Box 9"/>
            <p:cNvSpPr txBox="1"/>
            <p:nvPr/>
          </p:nvSpPr>
          <p:spPr>
            <a:xfrm>
              <a:off x="240" y="237"/>
              <a:ext cx="5125" cy="365"/>
            </a:xfrm>
            <a:prstGeom prst="rect">
              <a:avLst/>
            </a:prstGeom>
            <a:noFill/>
            <a:ln w="9525">
              <a:noFill/>
            </a:ln>
          </p:spPr>
          <p:txBody>
            <a:bodyPr wrap="none">
              <a:spAutoFit/>
            </a:bodyPr>
            <a:p>
              <a:pPr>
                <a:buClr>
                  <a:schemeClr val="accent2"/>
                </a:buClr>
                <a:buFont typeface="ZapfDingbats" pitchFamily="82" charset="2"/>
              </a:pPr>
              <a:r>
                <a:rPr lang="zh-CN" altLang="en-US" dirty="0">
                  <a:latin typeface="Times New Roman" panose="02020603050405020304" pitchFamily="18" charset="0"/>
                </a:rPr>
                <a:t>        </a:t>
              </a:r>
              <a:r>
                <a:rPr lang="zh-CN" altLang="en-US" b="1" dirty="0">
                  <a:latin typeface="Times New Roman" panose="02020603050405020304" pitchFamily="18" charset="0"/>
                </a:rPr>
                <a:t>我们首先考虑一阶常微分方程</a:t>
              </a:r>
              <a:r>
                <a:rPr lang="zh-CN" altLang="en-US" b="1" dirty="0">
                  <a:solidFill>
                    <a:srgbClr val="FF0000"/>
                  </a:solidFill>
                  <a:latin typeface="Times New Roman" panose="02020603050405020304" pitchFamily="18" charset="0"/>
                </a:rPr>
                <a:t>初值问题</a:t>
              </a:r>
              <a:endParaRPr lang="zh-CN" altLang="en-US" b="1" dirty="0">
                <a:solidFill>
                  <a:srgbClr val="FF0000"/>
                </a:solidFill>
                <a:latin typeface="Times New Roman" panose="02020603050405020304" pitchFamily="18" charset="0"/>
              </a:endParaRPr>
            </a:p>
          </p:txBody>
        </p:sp>
        <p:graphicFrame>
          <p:nvGraphicFramePr>
            <p:cNvPr id="1027" name="Object 1025"/>
            <p:cNvGraphicFramePr/>
            <p:nvPr/>
          </p:nvGraphicFramePr>
          <p:xfrm>
            <a:off x="1361" y="592"/>
            <a:ext cx="2652" cy="761"/>
          </p:xfrm>
          <a:graphic>
            <a:graphicData uri="http://schemas.openxmlformats.org/presentationml/2006/ole">
              <mc:AlternateContent xmlns:mc="http://schemas.openxmlformats.org/markup-compatibility/2006">
                <mc:Choice xmlns:v="urn:schemas-microsoft-com:vml" Requires="v">
                  <p:oleObj spid="_x0000_s3080" name="" r:id="rId5" imgW="1675765" imgH="482600" progId="Equation.DSMT4">
                    <p:embed/>
                  </p:oleObj>
                </mc:Choice>
                <mc:Fallback>
                  <p:oleObj name="" r:id="rId5" imgW="1675765" imgH="482600" progId="Equation.DSMT4">
                    <p:embed/>
                    <p:pic>
                      <p:nvPicPr>
                        <p:cNvPr id="0" name="图片 3079"/>
                        <p:cNvPicPr/>
                        <p:nvPr/>
                      </p:nvPicPr>
                      <p:blipFill>
                        <a:blip r:embed="rId6"/>
                        <a:stretch>
                          <a:fillRect/>
                        </a:stretch>
                      </p:blipFill>
                      <p:spPr>
                        <a:xfrm>
                          <a:off x="1361" y="592"/>
                          <a:ext cx="2652" cy="761"/>
                        </a:xfrm>
                        <a:prstGeom prst="rect">
                          <a:avLst/>
                        </a:prstGeom>
                        <a:noFill/>
                        <a:ln w="38100">
                          <a:noFill/>
                          <a:miter/>
                        </a:ln>
                      </p:spPr>
                    </p:pic>
                  </p:oleObj>
                </mc:Fallback>
              </mc:AlternateContent>
            </a:graphicData>
          </a:graphic>
        </p:graphicFrame>
        <p:sp>
          <p:nvSpPr>
            <p:cNvPr id="1036" name="Text Box 11"/>
            <p:cNvSpPr txBox="1"/>
            <p:nvPr/>
          </p:nvSpPr>
          <p:spPr>
            <a:xfrm>
              <a:off x="264" y="1253"/>
              <a:ext cx="2218" cy="365"/>
            </a:xfrm>
            <a:prstGeom prst="rect">
              <a:avLst/>
            </a:prstGeom>
            <a:noFill/>
            <a:ln w="9525">
              <a:noFill/>
            </a:ln>
          </p:spPr>
          <p:txBody>
            <a:bodyPr wrap="none">
              <a:spAutoFit/>
            </a:bodyPr>
            <a:p>
              <a:r>
                <a:rPr lang="zh-CN" altLang="en-US" b="1" dirty="0">
                  <a:latin typeface="Times New Roman" panose="02020603050405020304" pitchFamily="18" charset="0"/>
                </a:rPr>
                <a:t>其中 </a:t>
              </a:r>
              <a:r>
                <a:rPr lang="en-US" altLang="zh-CN" b="1" i="1" dirty="0">
                  <a:latin typeface="Times New Roman" panose="02020603050405020304" pitchFamily="18" charset="0"/>
                </a:rPr>
                <a:t>f</a:t>
              </a: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dirty="0">
                  <a:latin typeface="Times New Roman" panose="02020603050405020304" pitchFamily="18" charset="0"/>
                </a:rPr>
                <a:t>,</a:t>
              </a:r>
              <a:r>
                <a:rPr lang="en-US" altLang="zh-CN" b="1" i="1" dirty="0">
                  <a:latin typeface="Times New Roman" panose="02020603050405020304" pitchFamily="18" charset="0"/>
                </a:rPr>
                <a:t> y</a:t>
              </a:r>
              <a:r>
                <a:rPr lang="en-US" altLang="zh-CN" b="1" dirty="0">
                  <a:latin typeface="Times New Roman" panose="02020603050405020304" pitchFamily="18" charset="0"/>
                </a:rPr>
                <a:t>)</a:t>
              </a:r>
              <a:r>
                <a:rPr lang="zh-CN" altLang="zh-CN" b="1" dirty="0">
                  <a:latin typeface="Times New Roman" panose="02020603050405020304" pitchFamily="18" charset="0"/>
                </a:rPr>
                <a:t>是区域</a:t>
              </a:r>
              <a:endParaRPr lang="zh-CN" altLang="en-US" b="1" dirty="0">
                <a:latin typeface="Times New Roman" panose="02020603050405020304" pitchFamily="18" charset="0"/>
              </a:endParaRPr>
            </a:p>
          </p:txBody>
        </p:sp>
        <p:graphicFrame>
          <p:nvGraphicFramePr>
            <p:cNvPr id="1028" name="Object 1026"/>
            <p:cNvGraphicFramePr/>
            <p:nvPr/>
          </p:nvGraphicFramePr>
          <p:xfrm>
            <a:off x="2354" y="1293"/>
            <a:ext cx="3083" cy="318"/>
          </p:xfrm>
          <a:graphic>
            <a:graphicData uri="http://schemas.openxmlformats.org/presentationml/2006/ole">
              <mc:AlternateContent xmlns:mc="http://schemas.openxmlformats.org/markup-compatibility/2006">
                <mc:Choice xmlns:v="urn:schemas-microsoft-com:vml" Requires="v">
                  <p:oleObj spid="_x0000_s3081" name="" r:id="rId7" imgW="1953895" imgH="203200" progId="Equation.DSMT4">
                    <p:embed/>
                  </p:oleObj>
                </mc:Choice>
                <mc:Fallback>
                  <p:oleObj name="" r:id="rId7" imgW="1953895" imgH="203200" progId="Equation.DSMT4">
                    <p:embed/>
                    <p:pic>
                      <p:nvPicPr>
                        <p:cNvPr id="0" name="图片 3080"/>
                        <p:cNvPicPr/>
                        <p:nvPr/>
                      </p:nvPicPr>
                      <p:blipFill>
                        <a:blip r:embed="rId8"/>
                        <a:stretch>
                          <a:fillRect/>
                        </a:stretch>
                      </p:blipFill>
                      <p:spPr>
                        <a:xfrm>
                          <a:off x="2354" y="1293"/>
                          <a:ext cx="3083" cy="318"/>
                        </a:xfrm>
                        <a:prstGeom prst="rect">
                          <a:avLst/>
                        </a:prstGeom>
                        <a:noFill/>
                        <a:ln w="38100">
                          <a:noFill/>
                          <a:miter/>
                        </a:ln>
                      </p:spPr>
                    </p:pic>
                  </p:oleObj>
                </mc:Fallback>
              </mc:AlternateContent>
            </a:graphicData>
          </a:graphic>
        </p:graphicFrame>
        <p:sp>
          <p:nvSpPr>
            <p:cNvPr id="1037" name="Text Box 13"/>
            <p:cNvSpPr txBox="1"/>
            <p:nvPr/>
          </p:nvSpPr>
          <p:spPr>
            <a:xfrm>
              <a:off x="227" y="1675"/>
              <a:ext cx="1722" cy="365"/>
            </a:xfrm>
            <a:prstGeom prst="rect">
              <a:avLst/>
            </a:prstGeom>
            <a:noFill/>
            <a:ln w="9525">
              <a:noFill/>
            </a:ln>
          </p:spPr>
          <p:txBody>
            <a:bodyPr wrap="none">
              <a:spAutoFit/>
            </a:bodyPr>
            <a:p>
              <a:r>
                <a:rPr lang="zh-CN" altLang="en-US" b="1" dirty="0">
                  <a:latin typeface="Times New Roman" panose="02020603050405020304" pitchFamily="18" charset="0"/>
                </a:rPr>
                <a:t>上的实值函数.</a:t>
              </a:r>
              <a:endParaRPr lang="zh-CN" altLang="en-US" b="1" dirty="0">
                <a:latin typeface="Times New Roman" panose="02020603050405020304" pitchFamily="18" charset="0"/>
              </a:endParaRPr>
            </a:p>
          </p:txBody>
        </p:sp>
        <p:sp>
          <p:nvSpPr>
            <p:cNvPr id="1038" name="Text Box 24"/>
            <p:cNvSpPr txBox="1"/>
            <p:nvPr/>
          </p:nvSpPr>
          <p:spPr>
            <a:xfrm>
              <a:off x="4652" y="739"/>
              <a:ext cx="798" cy="368"/>
            </a:xfrm>
            <a:prstGeom prst="rect">
              <a:avLst/>
            </a:prstGeom>
            <a:noFill/>
            <a:ln w="9525">
              <a:noFill/>
            </a:ln>
          </p:spPr>
          <p:txBody>
            <a:bodyPr wrap="none">
              <a:spAutoFit/>
            </a:bodyPr>
            <a:p>
              <a:pPr algn="ctr" eaLnBrk="0" hangingPunct="0"/>
              <a:r>
                <a:rPr lang="zh-CN" altLang="en-US" dirty="0">
                  <a:latin typeface="Times New Roman" panose="02020603050405020304" pitchFamily="18" charset="0"/>
                </a:rPr>
                <a:t>(</a:t>
              </a:r>
              <a:r>
                <a:rPr lang="en-US" altLang="zh-CN" dirty="0">
                  <a:latin typeface="Times New Roman" panose="02020603050405020304" pitchFamily="18" charset="0"/>
                </a:rPr>
                <a:t>9.</a:t>
              </a:r>
              <a:r>
                <a:rPr lang="zh-CN" altLang="en-US" dirty="0">
                  <a:latin typeface="Times New Roman" panose="02020603050405020304" pitchFamily="18" charset="0"/>
                </a:rPr>
                <a:t>0.1)</a:t>
              </a:r>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2992"/>
                                        </p:tgtEl>
                                        <p:attrNameLst>
                                          <p:attrName>style.visibility</p:attrName>
                                        </p:attrNameLst>
                                      </p:cBhvr>
                                      <p:to>
                                        <p:strVal val="visible"/>
                                      </p:to>
                                    </p:set>
                                    <p:animEffect transition="in" filter="dissolve">
                                      <p:cBhvr>
                                        <p:cTn id="12" dur="500"/>
                                        <p:tgtEl>
                                          <p:spTgt spid="21299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0913"/>
                                        </p:tgtEl>
                                        <p:attrNameLst>
                                          <p:attrName>style.visibility</p:attrName>
                                        </p:attrNameLst>
                                      </p:cBhvr>
                                      <p:to>
                                        <p:strVal val="visible"/>
                                      </p:to>
                                    </p:set>
                                    <p:animEffect transition="in" filter="dissolve">
                                      <p:cBhvr>
                                        <p:cTn id="17" dur="500"/>
                                        <p:tgtEl>
                                          <p:spTgt spid="80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2053" name="Rectangle 2"/>
          <p:cNvSpPr>
            <a:spLocks noGrp="1"/>
          </p:cNvSpPr>
          <p:nvPr>
            <p:ph type="title"/>
          </p:nvPr>
        </p:nvSpPr>
        <p:spPr>
          <a:xfrm>
            <a:off x="533400" y="387350"/>
            <a:ext cx="7772400" cy="1143000"/>
          </a:xfrm>
          <a:ln/>
        </p:spPr>
        <p:txBody>
          <a:bodyPr vert="horz" wrap="square" lIns="91440" tIns="45720" rIns="91440" bIns="45720" anchor="ctr" anchorCtr="0"/>
          <a:p>
            <a:pPr algn="l"/>
            <a:r>
              <a:rPr lang="zh-CN" altLang="en-US" u="none" dirty="0">
                <a:solidFill>
                  <a:schemeClr val="tx1"/>
                </a:solidFill>
                <a:latin typeface="Times New Roman" panose="02020603050405020304" pitchFamily="18" charset="0"/>
              </a:rPr>
              <a:t>        </a:t>
            </a:r>
            <a:r>
              <a:rPr lang="zh-CN" altLang="en-US" b="1" u="none" dirty="0">
                <a:solidFill>
                  <a:schemeClr val="tx1"/>
                </a:solidFill>
                <a:latin typeface="Times New Roman" panose="02020603050405020304" pitchFamily="18" charset="0"/>
              </a:rPr>
              <a:t>下面</a:t>
            </a:r>
            <a:r>
              <a:rPr lang="zh-CN" altLang="en-US" u="none" dirty="0">
                <a:solidFill>
                  <a:schemeClr val="tx1"/>
                </a:solidFill>
                <a:latin typeface="Times New Roman" panose="02020603050405020304" pitchFamily="18" charset="0"/>
              </a:rPr>
              <a:t>，</a:t>
            </a:r>
            <a:r>
              <a:rPr lang="zh-CN" altLang="en-US" b="1" u="none" dirty="0">
                <a:solidFill>
                  <a:schemeClr val="tx1"/>
                </a:solidFill>
                <a:latin typeface="Times New Roman" panose="02020603050405020304" pitchFamily="18" charset="0"/>
              </a:rPr>
              <a:t>我们给出常微分方程初值问题解的存在惟一性定理。</a:t>
            </a:r>
            <a:endParaRPr lang="zh-CN" altLang="en-US" b="1" u="none" dirty="0">
              <a:solidFill>
                <a:schemeClr val="tx1"/>
              </a:solidFill>
              <a:latin typeface="Times New Roman" panose="02020603050405020304" pitchFamily="18" charset="0"/>
            </a:endParaRPr>
          </a:p>
        </p:txBody>
      </p:sp>
      <p:sp>
        <p:nvSpPr>
          <p:cNvPr id="172035" name="Rectangle 3"/>
          <p:cNvSpPr>
            <a:spLocks noGrp="1"/>
          </p:cNvSpPr>
          <p:nvPr>
            <p:ph idx="1"/>
          </p:nvPr>
        </p:nvSpPr>
        <p:spPr>
          <a:xfrm>
            <a:off x="533400" y="1489075"/>
            <a:ext cx="8035925" cy="4648200"/>
          </a:xfrm>
          <a:ln/>
        </p:spPr>
        <p:txBody>
          <a:bodyPr vert="horz" wrap="square" lIns="91440" tIns="45720" rIns="91440" bIns="45720" anchor="t" anchorCtr="0"/>
          <a:p>
            <a:pPr marL="0" indent="0" eaLnBrk="1" hangingPunct="1">
              <a:lnSpc>
                <a:spcPct val="120000"/>
              </a:lnSpc>
              <a:spcBef>
                <a:spcPct val="0"/>
              </a:spcBef>
              <a:buSzTx/>
              <a:buNone/>
            </a:pPr>
            <a:r>
              <a:rPr lang="zh-CN" altLang="en-US" sz="3200" b="1" dirty="0">
                <a:latin typeface="黑体" panose="02010609060101010101" pitchFamily="49" charset="-122"/>
                <a:ea typeface="黑体" panose="02010609060101010101" pitchFamily="49" charset="-122"/>
              </a:rPr>
              <a:t>定理</a:t>
            </a:r>
            <a:r>
              <a:rPr lang="zh-CN" altLang="en-US" sz="3200" b="1" dirty="0">
                <a:latin typeface="宋体" panose="02010600030101010101" pitchFamily="2" charset="-122"/>
              </a:rPr>
              <a:t> </a:t>
            </a:r>
            <a:r>
              <a:rPr lang="zh-CN" altLang="en-US" sz="3200" b="1" dirty="0">
                <a:latin typeface="Times New Roman" panose="02020603050405020304" pitchFamily="18" charset="0"/>
              </a:rPr>
              <a:t>假设 </a:t>
            </a:r>
            <a:r>
              <a:rPr lang="en-US" altLang="zh-CN" sz="3200" b="1" i="1" dirty="0">
                <a:latin typeface="Times New Roman" panose="02020603050405020304" pitchFamily="18" charset="0"/>
              </a:rPr>
              <a:t>f</a:t>
            </a:r>
            <a:r>
              <a:rPr lang="en-US" altLang="zh-CN" sz="3200" b="1" dirty="0">
                <a:latin typeface="Times New Roman" panose="02020603050405020304" pitchFamily="18" charset="0"/>
              </a:rPr>
              <a:t> </a:t>
            </a:r>
            <a:r>
              <a:rPr lang="zh-CN" altLang="en-US" sz="3200" b="1" dirty="0">
                <a:latin typeface="宋体" panose="02010600030101010101" pitchFamily="2" charset="-122"/>
              </a:rPr>
              <a:t>∈</a:t>
            </a:r>
            <a:r>
              <a:rPr lang="en-US" altLang="zh-CN" sz="3200" b="1" i="1" dirty="0">
                <a:latin typeface="Times New Roman" panose="02020603050405020304" pitchFamily="18" charset="0"/>
              </a:rPr>
              <a:t>C</a:t>
            </a:r>
            <a:r>
              <a:rPr lang="en-US" altLang="zh-CN" sz="3200" b="1" dirty="0">
                <a:latin typeface="Times New Roman" panose="02020603050405020304" pitchFamily="18" charset="0"/>
              </a:rPr>
              <a:t>(</a:t>
            </a:r>
            <a:r>
              <a:rPr lang="en-US" altLang="zh-CN" sz="3200" b="1" i="1" dirty="0">
                <a:latin typeface="Times New Roman" panose="02020603050405020304" pitchFamily="18" charset="0"/>
              </a:rPr>
              <a:t>D</a:t>
            </a:r>
            <a:r>
              <a:rPr lang="en-US" altLang="zh-CN" sz="3200" b="1" dirty="0">
                <a:latin typeface="Times New Roman" panose="02020603050405020304" pitchFamily="18" charset="0"/>
              </a:rPr>
              <a:t>)</a:t>
            </a:r>
            <a:r>
              <a:rPr lang="en-US" altLang="zh-CN" sz="3200" b="1" dirty="0">
                <a:latin typeface="宋体" panose="02010600030101010101" pitchFamily="2" charset="-122"/>
              </a:rPr>
              <a:t>,</a:t>
            </a:r>
            <a:r>
              <a:rPr lang="zh-CN" altLang="en-US" sz="3200" b="1" dirty="0">
                <a:latin typeface="宋体" panose="02010600030101010101" pitchFamily="2" charset="-122"/>
              </a:rPr>
              <a:t>且</a:t>
            </a:r>
            <a:r>
              <a:rPr lang="en-US" altLang="zh-CN" sz="3200" b="1" i="1" dirty="0">
                <a:latin typeface="Times New Roman" panose="02020603050405020304" pitchFamily="18" charset="0"/>
              </a:rPr>
              <a:t>f</a:t>
            </a:r>
            <a:r>
              <a:rPr lang="en-US" altLang="zh-CN" sz="3200" b="1" dirty="0">
                <a:latin typeface="Times New Roman" panose="02020603050405020304" pitchFamily="18" charset="0"/>
              </a:rPr>
              <a:t> (</a:t>
            </a:r>
            <a:r>
              <a:rPr lang="en-US" altLang="zh-CN" sz="3200" b="1" i="1" dirty="0">
                <a:latin typeface="Times New Roman" panose="02020603050405020304" pitchFamily="18" charset="0"/>
              </a:rPr>
              <a:t>x</a:t>
            </a:r>
            <a:r>
              <a:rPr lang="en-US" altLang="zh-CN" sz="3200" b="1" dirty="0">
                <a:latin typeface="Times New Roman" panose="02020603050405020304" pitchFamily="18" charset="0"/>
              </a:rPr>
              <a:t>, </a:t>
            </a:r>
            <a:r>
              <a:rPr lang="en-US" altLang="zh-CN" sz="3200" b="1" i="1" dirty="0">
                <a:latin typeface="Times New Roman" panose="02020603050405020304" pitchFamily="18" charset="0"/>
              </a:rPr>
              <a:t>y</a:t>
            </a:r>
            <a:r>
              <a:rPr lang="en-US" altLang="zh-CN" sz="3200" b="1" dirty="0">
                <a:latin typeface="Times New Roman" panose="02020603050405020304" pitchFamily="18" charset="0"/>
              </a:rPr>
              <a:t>)</a:t>
            </a:r>
            <a:r>
              <a:rPr lang="zh-CN" altLang="en-US" sz="3200" b="1" dirty="0">
                <a:latin typeface="宋体" panose="02010600030101010101" pitchFamily="2" charset="-122"/>
              </a:rPr>
              <a:t>关于</a:t>
            </a:r>
            <a:r>
              <a:rPr lang="zh-CN" altLang="en-US" sz="3200" b="1" dirty="0">
                <a:latin typeface="Times New Roman" panose="02020603050405020304" pitchFamily="18" charset="0"/>
              </a:rPr>
              <a:t> </a:t>
            </a:r>
            <a:r>
              <a:rPr lang="en-US" altLang="zh-CN" sz="3200" b="1" i="1" dirty="0">
                <a:latin typeface="Times New Roman" panose="02020603050405020304" pitchFamily="18" charset="0"/>
              </a:rPr>
              <a:t>y</a:t>
            </a:r>
            <a:r>
              <a:rPr lang="en-US" altLang="zh-CN" sz="3200" b="1" dirty="0">
                <a:latin typeface="Times New Roman" panose="02020603050405020304" pitchFamily="18" charset="0"/>
              </a:rPr>
              <a:t> </a:t>
            </a:r>
            <a:r>
              <a:rPr lang="zh-CN" altLang="zh-CN" sz="3200" b="1" dirty="0">
                <a:latin typeface="Times New Roman" panose="02020603050405020304" pitchFamily="18" charset="0"/>
              </a:rPr>
              <a:t>满足</a:t>
            </a:r>
            <a:r>
              <a:rPr lang="zh-CN" altLang="en-US" sz="3200" b="1" dirty="0">
                <a:latin typeface="Times New Roman" panose="02020603050405020304" pitchFamily="18" charset="0"/>
              </a:rPr>
              <a:t> </a:t>
            </a:r>
            <a:r>
              <a:rPr lang="en-US" altLang="zh-CN" sz="3200" b="1" dirty="0">
                <a:latin typeface="Times New Roman" panose="02020603050405020304" pitchFamily="18" charset="0"/>
              </a:rPr>
              <a:t>Lipschitz </a:t>
            </a:r>
            <a:r>
              <a:rPr lang="zh-CN" altLang="zh-CN" sz="3200" b="1" dirty="0">
                <a:latin typeface="Times New Roman" panose="02020603050405020304" pitchFamily="18" charset="0"/>
              </a:rPr>
              <a:t>条件</a:t>
            </a:r>
            <a:r>
              <a:rPr lang="zh-CN" altLang="en-US" sz="3200" b="1" dirty="0">
                <a:latin typeface="Times New Roman" panose="02020603050405020304" pitchFamily="18" charset="0"/>
              </a:rPr>
              <a:t>, 则一阶常微分方程初值问题(</a:t>
            </a:r>
            <a:r>
              <a:rPr lang="en-US" altLang="zh-CN" sz="3200" b="1" dirty="0">
                <a:latin typeface="Times New Roman" panose="02020603050405020304" pitchFamily="18" charset="0"/>
              </a:rPr>
              <a:t>9.</a:t>
            </a:r>
            <a:r>
              <a:rPr lang="zh-CN" altLang="en-US" sz="3200" b="1" dirty="0">
                <a:latin typeface="Times New Roman" panose="02020603050405020304" pitchFamily="18" charset="0"/>
              </a:rPr>
              <a:t>0.1) </a:t>
            </a:r>
            <a:r>
              <a:rPr lang="zh-CN" altLang="en-US" sz="3200" b="1" dirty="0">
                <a:solidFill>
                  <a:srgbClr val="FF0000"/>
                </a:solidFill>
                <a:latin typeface="Times New Roman" panose="02020603050405020304" pitchFamily="18" charset="0"/>
              </a:rPr>
              <a:t>存在唯一解</a:t>
            </a:r>
            <a:r>
              <a:rPr lang="zh-CN" altLang="en-US" sz="3200" b="1" dirty="0">
                <a:latin typeface="Times New Roman" panose="02020603050405020304" pitchFamily="18" charset="0"/>
              </a:rPr>
              <a:t>.</a:t>
            </a:r>
            <a:endParaRPr lang="zh-CN" altLang="en-US" sz="3200" b="1" dirty="0">
              <a:latin typeface="Times New Roman" panose="02020603050405020304" pitchFamily="18" charset="0"/>
            </a:endParaRPr>
          </a:p>
          <a:p>
            <a:pPr marL="0" indent="0" eaLnBrk="1" hangingPunct="1">
              <a:lnSpc>
                <a:spcPct val="120000"/>
              </a:lnSpc>
              <a:spcBef>
                <a:spcPct val="0"/>
              </a:spcBef>
              <a:buSzTx/>
              <a:buNone/>
            </a:pPr>
            <a:r>
              <a:rPr lang="zh-CN" altLang="en-US" sz="3200" dirty="0">
                <a:latin typeface="Times New Roman" panose="02020603050405020304" pitchFamily="18" charset="0"/>
              </a:rPr>
              <a:t>        </a:t>
            </a:r>
            <a:r>
              <a:rPr lang="zh-CN" altLang="en-US" sz="3200" b="1" dirty="0">
                <a:latin typeface="Times New Roman" panose="02020603050405020304" pitchFamily="18" charset="0"/>
              </a:rPr>
              <a:t>接下来，</a:t>
            </a:r>
            <a:r>
              <a:rPr lang="zh-CN" altLang="zh-CN" sz="3200" b="1" dirty="0">
                <a:latin typeface="Times New Roman" panose="02020603050405020304" pitchFamily="18" charset="0"/>
              </a:rPr>
              <a:t>在此前提下</a:t>
            </a:r>
            <a:r>
              <a:rPr lang="zh-CN" altLang="en-US" sz="3200" b="1" dirty="0">
                <a:latin typeface="Times New Roman" panose="02020603050405020304" pitchFamily="18" charset="0"/>
              </a:rPr>
              <a:t>, </a:t>
            </a:r>
            <a:r>
              <a:rPr lang="zh-CN" altLang="zh-CN" sz="3200" b="1" dirty="0">
                <a:latin typeface="Times New Roman" panose="02020603050405020304" pitchFamily="18" charset="0"/>
              </a:rPr>
              <a:t>我们讨论</a:t>
            </a:r>
            <a:r>
              <a:rPr lang="zh-CN" altLang="en-US" sz="3200" b="1" dirty="0">
                <a:latin typeface="Times New Roman" panose="02020603050405020304" pitchFamily="18" charset="0"/>
              </a:rPr>
              <a:t>上述初值问题 (</a:t>
            </a:r>
            <a:r>
              <a:rPr lang="en-US" altLang="zh-CN" sz="3200" b="1" dirty="0">
                <a:latin typeface="Times New Roman" panose="02020603050405020304" pitchFamily="18" charset="0"/>
              </a:rPr>
              <a:t>9.</a:t>
            </a:r>
            <a:r>
              <a:rPr lang="zh-CN" altLang="en-US" sz="3200" b="1" dirty="0">
                <a:latin typeface="Times New Roman" panose="02020603050405020304" pitchFamily="18" charset="0"/>
              </a:rPr>
              <a:t>0.1) </a:t>
            </a:r>
            <a:r>
              <a:rPr lang="zh-CN" altLang="zh-CN" sz="3200" b="1" dirty="0">
                <a:latin typeface="Times New Roman" panose="02020603050405020304" pitchFamily="18" charset="0"/>
              </a:rPr>
              <a:t>的</a:t>
            </a:r>
            <a:r>
              <a:rPr lang="zh-CN" altLang="en-US" sz="3200" b="1" dirty="0">
                <a:latin typeface="Times New Roman" panose="02020603050405020304" pitchFamily="18" charset="0"/>
              </a:rPr>
              <a:t>数值解法。</a:t>
            </a:r>
            <a:endParaRPr lang="zh-CN" altLang="en-US" sz="3200" b="1" dirty="0"/>
          </a:p>
        </p:txBody>
      </p:sp>
      <p:graphicFrame>
        <p:nvGraphicFramePr>
          <p:cNvPr id="214016" name="Object 1024"/>
          <p:cNvGraphicFramePr/>
          <p:nvPr/>
        </p:nvGraphicFramePr>
        <p:xfrm>
          <a:off x="1970088" y="4686300"/>
          <a:ext cx="4365625" cy="1252538"/>
        </p:xfrm>
        <a:graphic>
          <a:graphicData uri="http://schemas.openxmlformats.org/presentationml/2006/ole">
            <mc:AlternateContent xmlns:mc="http://schemas.openxmlformats.org/markup-compatibility/2006">
              <mc:Choice xmlns:v="urn:schemas-microsoft-com:vml" Requires="v">
                <p:oleObj spid="_x0000_s3076" name="" r:id="rId1" imgW="1675765" imgH="482600" progId="Equation.DSMT4">
                  <p:embed/>
                </p:oleObj>
              </mc:Choice>
              <mc:Fallback>
                <p:oleObj name="" r:id="rId1" imgW="1675765" imgH="482600" progId="Equation.DSMT4">
                  <p:embed/>
                  <p:pic>
                    <p:nvPicPr>
                      <p:cNvPr id="0" name="图片 3075"/>
                      <p:cNvPicPr/>
                      <p:nvPr/>
                    </p:nvPicPr>
                    <p:blipFill>
                      <a:blip r:embed="rId2"/>
                      <a:stretch>
                        <a:fillRect/>
                      </a:stretch>
                    </p:blipFill>
                    <p:spPr>
                      <a:xfrm>
                        <a:off x="1970088" y="4686300"/>
                        <a:ext cx="4365625" cy="1252538"/>
                      </a:xfrm>
                      <a:prstGeom prst="rect">
                        <a:avLst/>
                      </a:prstGeom>
                      <a:gradFill rotWithShape="0">
                        <a:gsLst>
                          <a:gs pos="0">
                            <a:srgbClr val="FFFFFF"/>
                          </a:gs>
                          <a:gs pos="50000">
                            <a:schemeClr val="accent1"/>
                          </a:gs>
                          <a:gs pos="100000">
                            <a:srgbClr val="FFFFFF"/>
                          </a:gs>
                        </a:gsLst>
                        <a:lin ang="5400000" scaled="1"/>
                        <a:tileRect/>
                      </a:gra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2035">
                                            <p:txEl>
                                              <p:charRg st="0" end="73"/>
                                            </p:txEl>
                                          </p:spTgt>
                                        </p:tgtEl>
                                        <p:attrNameLst>
                                          <p:attrName>style.visibility</p:attrName>
                                        </p:attrNameLst>
                                      </p:cBhvr>
                                      <p:to>
                                        <p:strVal val="visible"/>
                                      </p:to>
                                    </p:set>
                                    <p:animEffect transition="in" filter="dissolve">
                                      <p:cBhvr>
                                        <p:cTn id="7" dur="500"/>
                                        <p:tgtEl>
                                          <p:spTgt spid="172035">
                                            <p:txEl>
                                              <p:charRg st="0" end="7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2035">
                                            <p:txEl>
                                              <p:charRg st="73" end="119"/>
                                            </p:txEl>
                                          </p:spTgt>
                                        </p:tgtEl>
                                        <p:attrNameLst>
                                          <p:attrName>style.visibility</p:attrName>
                                        </p:attrNameLst>
                                      </p:cBhvr>
                                      <p:to>
                                        <p:strVal val="visible"/>
                                      </p:to>
                                    </p:set>
                                    <p:animEffect transition="in" filter="dissolve">
                                      <p:cBhvr>
                                        <p:cTn id="12" dur="500"/>
                                        <p:tgtEl>
                                          <p:spTgt spid="172035">
                                            <p:txEl>
                                              <p:charRg st="73" end="1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14016"/>
                                        </p:tgtEl>
                                        <p:attrNameLst>
                                          <p:attrName>style.visibility</p:attrName>
                                        </p:attrNameLst>
                                      </p:cBhvr>
                                      <p:to>
                                        <p:strVal val="visible"/>
                                      </p:to>
                                    </p:set>
                                    <p:animEffect transition="in" filter="box(in)">
                                      <p:cBhvr>
                                        <p:cTn id="17" dur="500"/>
                                        <p:tgtEl>
                                          <p:spTgt spid="214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aphicFrame>
        <p:nvGraphicFramePr>
          <p:cNvPr id="81928" name="Object 8"/>
          <p:cNvGraphicFramePr/>
          <p:nvPr/>
        </p:nvGraphicFramePr>
        <p:xfrm>
          <a:off x="2471738" y="941388"/>
          <a:ext cx="3919537" cy="603250"/>
        </p:xfrm>
        <a:graphic>
          <a:graphicData uri="http://schemas.openxmlformats.org/presentationml/2006/ole">
            <mc:AlternateContent xmlns:mc="http://schemas.openxmlformats.org/markup-compatibility/2006">
              <mc:Choice xmlns:v="urn:schemas-microsoft-com:vml" Requires="v">
                <p:oleObj spid="_x0000_s3077" name="" r:id="rId1" imgW="1993265" imgH="241300" progId="Equation.DSMT4">
                  <p:embed/>
                </p:oleObj>
              </mc:Choice>
              <mc:Fallback>
                <p:oleObj name="" r:id="rId1" imgW="1993265" imgH="241300" progId="Equation.DSMT4">
                  <p:embed/>
                  <p:pic>
                    <p:nvPicPr>
                      <p:cNvPr id="0" name="图片 3076"/>
                      <p:cNvPicPr/>
                      <p:nvPr/>
                    </p:nvPicPr>
                    <p:blipFill>
                      <a:blip r:embed="rId2"/>
                      <a:stretch>
                        <a:fillRect/>
                      </a:stretch>
                    </p:blipFill>
                    <p:spPr>
                      <a:xfrm>
                        <a:off x="2471738" y="941388"/>
                        <a:ext cx="3919537" cy="603250"/>
                      </a:xfrm>
                      <a:prstGeom prst="rect">
                        <a:avLst/>
                      </a:prstGeom>
                      <a:noFill/>
                      <a:ln w="38100">
                        <a:noFill/>
                        <a:miter/>
                      </a:ln>
                    </p:spPr>
                  </p:pic>
                </p:oleObj>
              </mc:Fallback>
            </mc:AlternateContent>
          </a:graphicData>
        </a:graphic>
      </p:graphicFrame>
      <p:sp>
        <p:nvSpPr>
          <p:cNvPr id="81929" name="Text Box 9"/>
          <p:cNvSpPr txBox="1"/>
          <p:nvPr/>
        </p:nvSpPr>
        <p:spPr>
          <a:xfrm>
            <a:off x="325438" y="1508125"/>
            <a:ext cx="8474075" cy="4622800"/>
          </a:xfrm>
          <a:prstGeom prst="rect">
            <a:avLst/>
          </a:prstGeom>
          <a:noFill/>
          <a:ln w="9525">
            <a:noFill/>
          </a:ln>
        </p:spPr>
        <p:txBody>
          <a:bodyPr>
            <a:spAutoFit/>
          </a:bodyPr>
          <a:p>
            <a:pPr>
              <a:lnSpc>
                <a:spcPct val="115000"/>
              </a:lnSpc>
            </a:pPr>
            <a:r>
              <a:rPr lang="zh-CN" altLang="en-US" b="1" dirty="0">
                <a:latin typeface="Times New Roman" panose="02020603050405020304" pitchFamily="18" charset="0"/>
              </a:rPr>
              <a:t>然后在</a:t>
            </a:r>
            <a:r>
              <a:rPr lang="zh-CN" altLang="en-US" b="1" dirty="0">
                <a:solidFill>
                  <a:srgbClr val="FF0000"/>
                </a:solidFill>
                <a:latin typeface="Times New Roman" panose="02020603050405020304" pitchFamily="18" charset="0"/>
                <a:ea typeface="华文隶书" panose="02010800040101010101" pitchFamily="2" charset="-122"/>
              </a:rPr>
              <a:t>节点</a:t>
            </a:r>
            <a:r>
              <a:rPr lang="zh-CN" altLang="en-US" b="1" dirty="0">
                <a:latin typeface="Times New Roman" panose="02020603050405020304" pitchFamily="18" charset="0"/>
              </a:rPr>
              <a:t>上建立逼近于原初值问题的计算格式 (或差分格式), 由此计算出</a:t>
            </a:r>
            <a:r>
              <a:rPr lang="zh-CN" altLang="zh-CN" b="1" dirty="0">
                <a:latin typeface="Times New Roman" panose="02020603050405020304" pitchFamily="18" charset="0"/>
              </a:rPr>
              <a:t>原问题的解 </a:t>
            </a:r>
            <a:r>
              <a:rPr lang="en-US" altLang="zh-CN" b="1" i="1" dirty="0">
                <a:solidFill>
                  <a:srgbClr val="FF0000"/>
                </a:solidFill>
                <a:latin typeface="Times New Roman" panose="02020603050405020304" pitchFamily="18" charset="0"/>
              </a:rPr>
              <a:t>y</a:t>
            </a:r>
            <a:r>
              <a:rPr lang="en-US" altLang="zh-CN" b="1" dirty="0">
                <a:solidFill>
                  <a:srgbClr val="FF0000"/>
                </a:solidFill>
                <a:latin typeface="Times New Roman" panose="02020603050405020304" pitchFamily="18" charset="0"/>
              </a:rPr>
              <a:t>( </a:t>
            </a:r>
            <a:r>
              <a:rPr lang="en-US" altLang="zh-CN" b="1" i="1" dirty="0">
                <a:solidFill>
                  <a:srgbClr val="FF0000"/>
                </a:solidFill>
                <a:latin typeface="Times New Roman" panose="02020603050405020304" pitchFamily="18" charset="0"/>
              </a:rPr>
              <a:t>x </a:t>
            </a:r>
            <a:r>
              <a:rPr lang="en-US" altLang="zh-CN" b="1" dirty="0">
                <a:solidFill>
                  <a:srgbClr val="FF0000"/>
                </a:solidFill>
                <a:latin typeface="Times New Roman" panose="02020603050405020304" pitchFamily="18" charset="0"/>
              </a:rPr>
              <a:t>)</a:t>
            </a:r>
            <a:r>
              <a:rPr lang="en-US" altLang="zh-CN" b="1" dirty="0">
                <a:latin typeface="Times New Roman" panose="02020603050405020304" pitchFamily="18" charset="0"/>
              </a:rPr>
              <a:t> </a:t>
            </a:r>
            <a:r>
              <a:rPr lang="zh-CN" altLang="zh-CN" b="1" dirty="0">
                <a:solidFill>
                  <a:schemeClr val="accent2"/>
                </a:solidFill>
                <a:latin typeface="Times New Roman" panose="02020603050405020304" pitchFamily="18" charset="0"/>
              </a:rPr>
              <a:t>在节点 </a:t>
            </a:r>
            <a:r>
              <a:rPr lang="en-US" altLang="zh-CN" b="1" i="1" dirty="0">
                <a:solidFill>
                  <a:schemeClr val="accent2"/>
                </a:solidFill>
                <a:latin typeface="Times New Roman" panose="02020603050405020304" pitchFamily="18" charset="0"/>
              </a:rPr>
              <a:t>x</a:t>
            </a:r>
            <a:r>
              <a:rPr lang="en-US" altLang="zh-CN" b="1" baseline="-25000" dirty="0">
                <a:solidFill>
                  <a:schemeClr val="accent2"/>
                </a:solidFill>
                <a:latin typeface="Times New Roman" panose="02020603050405020304" pitchFamily="18" charset="0"/>
              </a:rPr>
              <a:t>1 </a:t>
            </a:r>
            <a:r>
              <a:rPr lang="en-US" altLang="zh-CN" b="1" dirty="0">
                <a:solidFill>
                  <a:schemeClr val="accent2"/>
                </a:solidFill>
                <a:latin typeface="Times New Roman" panose="02020603050405020304" pitchFamily="18" charset="0"/>
              </a:rPr>
              <a:t>, </a:t>
            </a:r>
            <a:r>
              <a:rPr lang="en-US" altLang="zh-CN" b="1" i="1" dirty="0">
                <a:solidFill>
                  <a:schemeClr val="accent2"/>
                </a:solidFill>
                <a:latin typeface="Times New Roman" panose="02020603050405020304" pitchFamily="18" charset="0"/>
              </a:rPr>
              <a:t>x</a:t>
            </a:r>
            <a:r>
              <a:rPr lang="en-US" altLang="zh-CN" b="1" baseline="-25000" dirty="0">
                <a:solidFill>
                  <a:schemeClr val="accent2"/>
                </a:solidFill>
                <a:latin typeface="Times New Roman" panose="02020603050405020304" pitchFamily="18" charset="0"/>
              </a:rPr>
              <a:t>2 </a:t>
            </a:r>
            <a:r>
              <a:rPr lang="en-US" altLang="zh-CN" b="1" dirty="0">
                <a:solidFill>
                  <a:schemeClr val="accent2"/>
                </a:solidFill>
                <a:latin typeface="Times New Roman" panose="02020603050405020304" pitchFamily="18" charset="0"/>
              </a:rPr>
              <a:t>, </a:t>
            </a:r>
            <a:r>
              <a:rPr lang="en-US" altLang="zh-CN" b="1" baseline="16000" dirty="0">
                <a:solidFill>
                  <a:schemeClr val="accent2"/>
                </a:solidFill>
                <a:latin typeface="Times New Roman" panose="02020603050405020304" pitchFamily="18" charset="0"/>
              </a:rPr>
              <a:t>. . . </a:t>
            </a:r>
            <a:r>
              <a:rPr lang="en-US" altLang="zh-CN" b="1" dirty="0">
                <a:solidFill>
                  <a:schemeClr val="accent2"/>
                </a:solidFill>
                <a:latin typeface="Times New Roman" panose="02020603050405020304" pitchFamily="18" charset="0"/>
              </a:rPr>
              <a:t>,</a:t>
            </a:r>
            <a:r>
              <a:rPr lang="zh-CN" altLang="en-US" b="1" dirty="0">
                <a:solidFill>
                  <a:schemeClr val="accent2"/>
                </a:solidFill>
                <a:latin typeface="Times New Roman" panose="02020603050405020304" pitchFamily="18" charset="0"/>
              </a:rPr>
              <a:t> </a:t>
            </a:r>
            <a:r>
              <a:rPr lang="en-US" altLang="zh-CN" b="1" i="1" dirty="0">
                <a:solidFill>
                  <a:schemeClr val="accent2"/>
                </a:solidFill>
                <a:latin typeface="Times New Roman" panose="02020603050405020304" pitchFamily="18" charset="0"/>
              </a:rPr>
              <a:t>x</a:t>
            </a:r>
            <a:r>
              <a:rPr lang="en-US" altLang="zh-CN" b="1" i="1" baseline="-25000" dirty="0">
                <a:solidFill>
                  <a:schemeClr val="accent2"/>
                </a:solidFill>
                <a:latin typeface="Times New Roman" panose="02020603050405020304" pitchFamily="18" charset="0"/>
              </a:rPr>
              <a:t>N</a:t>
            </a:r>
            <a:r>
              <a:rPr lang="en-US" altLang="zh-CN" b="1" baseline="16000" dirty="0">
                <a:solidFill>
                  <a:schemeClr val="accent2"/>
                </a:solidFill>
                <a:latin typeface="Times New Roman" panose="02020603050405020304" pitchFamily="18" charset="0"/>
              </a:rPr>
              <a:t> </a:t>
            </a:r>
            <a:r>
              <a:rPr lang="zh-CN" altLang="zh-CN" b="1" dirty="0">
                <a:solidFill>
                  <a:schemeClr val="accent2"/>
                </a:solidFill>
                <a:latin typeface="Times New Roman" panose="02020603050405020304" pitchFamily="18" charset="0"/>
              </a:rPr>
              <a:t>处的近似值</a:t>
            </a:r>
            <a:r>
              <a:rPr lang="en-US" altLang="zh-CN" b="1" dirty="0">
                <a:solidFill>
                  <a:schemeClr val="accent2"/>
                </a:solidFill>
                <a:latin typeface="Times New Roman" panose="02020603050405020304" pitchFamily="18" charset="0"/>
              </a:rPr>
              <a:t>: </a:t>
            </a:r>
            <a:r>
              <a:rPr lang="en-US" altLang="zh-CN" b="1" i="1" dirty="0">
                <a:solidFill>
                  <a:schemeClr val="accent2"/>
                </a:solidFill>
                <a:latin typeface="Times New Roman" panose="02020603050405020304" pitchFamily="18" charset="0"/>
              </a:rPr>
              <a:t>y</a:t>
            </a:r>
            <a:r>
              <a:rPr lang="en-US" altLang="zh-CN" b="1" baseline="-25000" dirty="0">
                <a:solidFill>
                  <a:schemeClr val="accent2"/>
                </a:solidFill>
                <a:latin typeface="Times New Roman" panose="02020603050405020304" pitchFamily="18" charset="0"/>
              </a:rPr>
              <a:t>1 </a:t>
            </a:r>
            <a:r>
              <a:rPr lang="en-US" altLang="zh-CN" b="1" dirty="0">
                <a:solidFill>
                  <a:schemeClr val="accent2"/>
                </a:solidFill>
                <a:latin typeface="Times New Roman" panose="02020603050405020304" pitchFamily="18" charset="0"/>
              </a:rPr>
              <a:t>, </a:t>
            </a:r>
            <a:r>
              <a:rPr lang="en-US" altLang="zh-CN" b="1" i="1" dirty="0">
                <a:solidFill>
                  <a:schemeClr val="accent2"/>
                </a:solidFill>
                <a:latin typeface="Times New Roman" panose="02020603050405020304" pitchFamily="18" charset="0"/>
              </a:rPr>
              <a:t>y</a:t>
            </a:r>
            <a:r>
              <a:rPr lang="en-US" altLang="zh-CN" b="1" baseline="-25000" dirty="0">
                <a:solidFill>
                  <a:schemeClr val="accent2"/>
                </a:solidFill>
                <a:latin typeface="Times New Roman" panose="02020603050405020304" pitchFamily="18" charset="0"/>
              </a:rPr>
              <a:t>2 </a:t>
            </a:r>
            <a:r>
              <a:rPr lang="en-US" altLang="zh-CN" b="1" dirty="0">
                <a:solidFill>
                  <a:schemeClr val="accent2"/>
                </a:solidFill>
                <a:latin typeface="Times New Roman" panose="02020603050405020304" pitchFamily="18" charset="0"/>
              </a:rPr>
              <a:t>, </a:t>
            </a:r>
            <a:r>
              <a:rPr lang="en-US" altLang="zh-CN" b="1" baseline="16000" dirty="0">
                <a:solidFill>
                  <a:schemeClr val="accent2"/>
                </a:solidFill>
                <a:latin typeface="Times New Roman" panose="02020603050405020304" pitchFamily="18" charset="0"/>
              </a:rPr>
              <a:t>. . .</a:t>
            </a:r>
            <a:r>
              <a:rPr lang="en-US" altLang="zh-CN" b="1" dirty="0">
                <a:solidFill>
                  <a:schemeClr val="accent2"/>
                </a:solidFill>
                <a:latin typeface="Times New Roman" panose="02020603050405020304" pitchFamily="18" charset="0"/>
              </a:rPr>
              <a:t>,</a:t>
            </a:r>
            <a:r>
              <a:rPr lang="zh-CN" altLang="en-US" b="1" dirty="0">
                <a:solidFill>
                  <a:schemeClr val="accent2"/>
                </a:solidFill>
                <a:latin typeface="Times New Roman" panose="02020603050405020304" pitchFamily="18" charset="0"/>
              </a:rPr>
              <a:t> </a:t>
            </a:r>
            <a:r>
              <a:rPr lang="en-US" altLang="zh-CN" b="1" i="1" dirty="0">
                <a:solidFill>
                  <a:schemeClr val="accent2"/>
                </a:solidFill>
                <a:latin typeface="Times New Roman" panose="02020603050405020304" pitchFamily="18" charset="0"/>
              </a:rPr>
              <a:t>y</a:t>
            </a:r>
            <a:r>
              <a:rPr lang="en-US" altLang="zh-CN" b="1" i="1" baseline="-25000" dirty="0">
                <a:solidFill>
                  <a:schemeClr val="accent2"/>
                </a:solidFill>
                <a:latin typeface="Times New Roman" panose="02020603050405020304" pitchFamily="18" charset="0"/>
              </a:rPr>
              <a:t>N</a:t>
            </a:r>
            <a:r>
              <a:rPr lang="en-US" altLang="zh-CN" b="1" dirty="0">
                <a:solidFill>
                  <a:schemeClr val="accent2"/>
                </a:solidFill>
                <a:latin typeface="Times New Roman" panose="02020603050405020304" pitchFamily="18" charset="0"/>
              </a:rPr>
              <a:t>，</a:t>
            </a:r>
            <a:r>
              <a:rPr lang="zh-CN" altLang="en-US" b="1" dirty="0">
                <a:latin typeface="Times New Roman" panose="02020603050405020304" pitchFamily="18" charset="0"/>
              </a:rPr>
              <a:t>称它们为</a:t>
            </a:r>
            <a:r>
              <a:rPr lang="zh-CN" altLang="en-US" b="1" dirty="0">
                <a:solidFill>
                  <a:schemeClr val="accent2"/>
                </a:solidFill>
                <a:latin typeface="Times New Roman" panose="02020603050405020304" pitchFamily="18" charset="0"/>
              </a:rPr>
              <a:t>常微分方程初值问题的数值解</a:t>
            </a:r>
            <a:r>
              <a:rPr lang="zh-CN" altLang="en-US" b="1" dirty="0">
                <a:latin typeface="Times New Roman" panose="02020603050405020304" pitchFamily="18" charset="0"/>
              </a:rPr>
              <a:t>.</a:t>
            </a:r>
            <a:r>
              <a:rPr lang="zh-CN" altLang="zh-CN" b="1" dirty="0">
                <a:latin typeface="Times New Roman" panose="02020603050405020304" pitchFamily="18" charset="0"/>
              </a:rPr>
              <a:t> </a:t>
            </a:r>
            <a:r>
              <a:rPr lang="zh-CN" altLang="en-US" b="1" dirty="0">
                <a:latin typeface="Times New Roman" panose="02020603050405020304" pitchFamily="18" charset="0"/>
              </a:rPr>
              <a:t>本章我们特别约定：</a:t>
            </a:r>
            <a:r>
              <a:rPr lang="en-US" altLang="zh-CN" b="1" i="1" dirty="0">
                <a:solidFill>
                  <a:srgbClr val="FF0000"/>
                </a:solidFill>
                <a:latin typeface="Times New Roman" panose="02020603050405020304" pitchFamily="18" charset="0"/>
              </a:rPr>
              <a:t>y</a:t>
            </a:r>
            <a:r>
              <a:rPr lang="en-US" altLang="zh-CN" b="1" dirty="0">
                <a:solidFill>
                  <a:srgbClr val="FF0000"/>
                </a:solidFill>
                <a:latin typeface="Times New Roman" panose="02020603050405020304" pitchFamily="18" charset="0"/>
              </a:rPr>
              <a:t>(</a:t>
            </a:r>
            <a:r>
              <a:rPr lang="en-US" altLang="zh-CN" b="1" i="1" dirty="0">
                <a:solidFill>
                  <a:srgbClr val="FF0000"/>
                </a:solidFill>
                <a:latin typeface="Times New Roman" panose="02020603050405020304" pitchFamily="18" charset="0"/>
              </a:rPr>
              <a:t>x</a:t>
            </a:r>
            <a:r>
              <a:rPr lang="en-US" altLang="zh-CN" b="1" i="1" baseline="-25000" dirty="0">
                <a:solidFill>
                  <a:srgbClr val="FF0000"/>
                </a:solidFill>
                <a:latin typeface="Times New Roman" panose="02020603050405020304" pitchFamily="18" charset="0"/>
              </a:rPr>
              <a:t>k</a:t>
            </a:r>
            <a:r>
              <a:rPr lang="en-US" altLang="zh-CN" b="1" dirty="0">
                <a:solidFill>
                  <a:srgbClr val="FF0000"/>
                </a:solidFill>
                <a:latin typeface="Times New Roman" panose="02020603050405020304" pitchFamily="18" charset="0"/>
              </a:rPr>
              <a:t>)</a:t>
            </a:r>
            <a:r>
              <a:rPr lang="zh-CN" altLang="en-US" b="1" dirty="0">
                <a:solidFill>
                  <a:srgbClr val="FF0000"/>
                </a:solidFill>
                <a:latin typeface="Times New Roman" panose="02020603050405020304" pitchFamily="18" charset="0"/>
              </a:rPr>
              <a:t>表示在节点</a:t>
            </a:r>
            <a:r>
              <a:rPr lang="en-US" altLang="zh-CN" b="1" i="1" dirty="0">
                <a:solidFill>
                  <a:srgbClr val="FF0000"/>
                </a:solidFill>
                <a:latin typeface="Times New Roman" panose="02020603050405020304" pitchFamily="18" charset="0"/>
              </a:rPr>
              <a:t>x</a:t>
            </a:r>
            <a:r>
              <a:rPr lang="en-US" altLang="zh-CN" b="1" i="1" baseline="-25000" dirty="0">
                <a:solidFill>
                  <a:srgbClr val="FF0000"/>
                </a:solidFill>
                <a:latin typeface="Times New Roman" panose="02020603050405020304" pitchFamily="18" charset="0"/>
              </a:rPr>
              <a:t>k</a:t>
            </a:r>
            <a:r>
              <a:rPr lang="zh-CN" altLang="en-US" b="1" dirty="0">
                <a:solidFill>
                  <a:srgbClr val="FF0000"/>
                </a:solidFill>
                <a:latin typeface="Times New Roman" panose="02020603050405020304" pitchFamily="18" charset="0"/>
              </a:rPr>
              <a:t>的真值，</a:t>
            </a:r>
            <a:r>
              <a:rPr lang="en-US" altLang="zh-CN" b="1" i="1" dirty="0">
                <a:solidFill>
                  <a:srgbClr val="FF0000"/>
                </a:solidFill>
                <a:latin typeface="Times New Roman" panose="02020603050405020304" pitchFamily="18" charset="0"/>
              </a:rPr>
              <a:t>y</a:t>
            </a:r>
            <a:r>
              <a:rPr lang="en-US" altLang="zh-CN" b="1" i="1" baseline="-25000" dirty="0">
                <a:solidFill>
                  <a:srgbClr val="FF0000"/>
                </a:solidFill>
                <a:latin typeface="Times New Roman" panose="02020603050405020304" pitchFamily="18" charset="0"/>
              </a:rPr>
              <a:t>k</a:t>
            </a:r>
            <a:r>
              <a:rPr lang="en-US" altLang="zh-CN" b="1" i="1" dirty="0">
                <a:solidFill>
                  <a:srgbClr val="FF0000"/>
                </a:solidFill>
                <a:latin typeface="Times New Roman" panose="02020603050405020304" pitchFamily="18" charset="0"/>
              </a:rPr>
              <a:t> </a:t>
            </a:r>
            <a:r>
              <a:rPr lang="zh-CN" altLang="en-US" b="1" dirty="0">
                <a:solidFill>
                  <a:srgbClr val="FF0000"/>
                </a:solidFill>
                <a:latin typeface="Times New Roman" panose="02020603050405020304" pitchFamily="18" charset="0"/>
              </a:rPr>
              <a:t>表示相应的近似值</a:t>
            </a:r>
            <a:r>
              <a:rPr lang="zh-CN" altLang="en-US" b="1" dirty="0">
                <a:latin typeface="Times New Roman" panose="02020603050405020304" pitchFamily="18" charset="0"/>
              </a:rPr>
              <a:t>。相邻两个节点的距离 </a:t>
            </a:r>
            <a:r>
              <a:rPr lang="en-US" altLang="zh-CN" b="1" i="1" dirty="0">
                <a:latin typeface="Times New Roman" panose="02020603050405020304" pitchFamily="18" charset="0"/>
              </a:rPr>
              <a:t>h</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 </a:t>
            </a: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 </a:t>
            </a:r>
            <a:r>
              <a:rPr lang="zh-CN" altLang="zh-CN" b="1" dirty="0">
                <a:latin typeface="Times New Roman" panose="02020603050405020304" pitchFamily="18" charset="0"/>
              </a:rPr>
              <a:t>称为</a:t>
            </a:r>
            <a:r>
              <a:rPr lang="zh-CN" altLang="zh-CN" b="1" dirty="0">
                <a:solidFill>
                  <a:schemeClr val="accent2"/>
                </a:solidFill>
                <a:latin typeface="Times New Roman" panose="02020603050405020304" pitchFamily="18" charset="0"/>
              </a:rPr>
              <a:t>步长</a:t>
            </a:r>
            <a:r>
              <a:rPr lang="zh-CN" altLang="zh-CN" b="1" dirty="0">
                <a:latin typeface="Times New Roman" panose="02020603050405020304" pitchFamily="18" charset="0"/>
              </a:rPr>
              <a:t>,</a:t>
            </a:r>
            <a:r>
              <a:rPr lang="zh-CN" altLang="en-US" b="1" dirty="0">
                <a:latin typeface="Times New Roman" panose="02020603050405020304" pitchFamily="18" charset="0"/>
              </a:rPr>
              <a:t> </a:t>
            </a:r>
            <a:r>
              <a:rPr lang="zh-CN" altLang="zh-CN" b="1" dirty="0">
                <a:latin typeface="Times New Roman" panose="02020603050405020304" pitchFamily="18" charset="0"/>
              </a:rPr>
              <a:t>通常取定步长</a:t>
            </a:r>
            <a:r>
              <a:rPr lang="zh-CN" altLang="en-US" b="1" dirty="0">
                <a:latin typeface="Times New Roman" panose="02020603050405020304" pitchFamily="18" charset="0"/>
              </a:rPr>
              <a:t>, 即节点 </a:t>
            </a:r>
            <a:endParaRPr lang="en-US" altLang="zh-CN" b="1" dirty="0">
              <a:latin typeface="Times New Roman" panose="02020603050405020304" pitchFamily="18" charset="0"/>
            </a:endParaRPr>
          </a:p>
          <a:p>
            <a:pPr>
              <a:lnSpc>
                <a:spcPct val="115000"/>
              </a:lnSpc>
            </a:pPr>
            <a:r>
              <a:rPr lang="en-US" altLang="zh-CN" b="1" i="1" dirty="0">
                <a:latin typeface="Times New Roman" panose="02020603050405020304" pitchFamily="18" charset="0"/>
              </a:rPr>
              <a:t>          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 </a:t>
            </a: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baseline="-25000" dirty="0">
                <a:latin typeface="Times New Roman" panose="02020603050405020304" pitchFamily="18" charset="0"/>
              </a:rPr>
              <a:t>0 </a:t>
            </a:r>
            <a:r>
              <a:rPr lang="en-US" altLang="zh-CN" b="1" dirty="0">
                <a:latin typeface="Times New Roman" panose="02020603050405020304" pitchFamily="18" charset="0"/>
              </a:rPr>
              <a:t>+ </a:t>
            </a:r>
            <a:r>
              <a:rPr lang="en-US" altLang="zh-CN" b="1" i="1" dirty="0">
                <a:latin typeface="Times New Roman" panose="02020603050405020304" pitchFamily="18" charset="0"/>
              </a:rPr>
              <a:t>nh </a:t>
            </a:r>
            <a:r>
              <a:rPr lang="en-US" altLang="zh-CN" b="1" dirty="0">
                <a:latin typeface="Times New Roman" panose="02020603050405020304" pitchFamily="18" charset="0"/>
              </a:rPr>
              <a:t>, </a:t>
            </a:r>
            <a:r>
              <a:rPr lang="en-US" altLang="zh-CN" b="1" i="1" dirty="0">
                <a:latin typeface="Times New Roman" panose="02020603050405020304" pitchFamily="18" charset="0"/>
              </a:rPr>
              <a:t>h </a:t>
            </a:r>
            <a:r>
              <a:rPr lang="en-US" altLang="zh-CN" b="1" dirty="0">
                <a:latin typeface="Times New Roman" panose="02020603050405020304" pitchFamily="18" charset="0"/>
              </a:rPr>
              <a:t>&gt; 0,</a:t>
            </a:r>
            <a:r>
              <a:rPr lang="en-US" altLang="zh-CN" dirty="0">
                <a:latin typeface="Times New Roman" panose="02020603050405020304" pitchFamily="18" charset="0"/>
              </a:rPr>
              <a:t> </a:t>
            </a:r>
            <a:r>
              <a:rPr lang="en-US" altLang="zh-CN" b="1" i="1" dirty="0">
                <a:latin typeface="Times New Roman" panose="02020603050405020304" pitchFamily="18" charset="0"/>
              </a:rPr>
              <a:t>n</a:t>
            </a:r>
            <a:r>
              <a:rPr lang="en-US" altLang="zh-CN" b="1" dirty="0">
                <a:latin typeface="Times New Roman" panose="02020603050405020304" pitchFamily="18" charset="0"/>
              </a:rPr>
              <a:t> = 0,1, …</a:t>
            </a:r>
            <a:r>
              <a:rPr lang="en-US" altLang="zh-CN" b="1" baseline="16000" dirty="0">
                <a:latin typeface="Times New Roman" panose="02020603050405020304" pitchFamily="18" charset="0"/>
              </a:rPr>
              <a:t> </a:t>
            </a:r>
            <a:r>
              <a:rPr lang="en-US" altLang="zh-CN" b="1" dirty="0">
                <a:latin typeface="Times New Roman" panose="02020603050405020304" pitchFamily="18" charset="0"/>
              </a:rPr>
              <a:t>,</a:t>
            </a:r>
            <a:r>
              <a:rPr lang="zh-CN" altLang="en-US" b="1" dirty="0">
                <a:latin typeface="Times New Roman" panose="02020603050405020304" pitchFamily="18" charset="0"/>
              </a:rPr>
              <a:t> </a:t>
            </a:r>
            <a:r>
              <a:rPr lang="en-US" altLang="zh-CN" b="1" i="1" dirty="0">
                <a:latin typeface="Times New Roman" panose="02020603050405020304" pitchFamily="18" charset="0"/>
              </a:rPr>
              <a:t>N</a:t>
            </a:r>
            <a:r>
              <a:rPr lang="en-US" altLang="zh-CN" b="1" dirty="0">
                <a:latin typeface="Times New Roman" panose="02020603050405020304" pitchFamily="18" charset="0"/>
              </a:rPr>
              <a:t>.</a:t>
            </a:r>
            <a:endParaRPr lang="en-US" altLang="zh-CN" b="1" dirty="0">
              <a:latin typeface="Times New Roman" panose="02020603050405020304" pitchFamily="18" charset="0"/>
            </a:endParaRPr>
          </a:p>
        </p:txBody>
      </p:sp>
      <p:sp>
        <p:nvSpPr>
          <p:cNvPr id="3078" name="Rectangle 15"/>
          <p:cNvSpPr>
            <a:spLocks noGrp="1"/>
          </p:cNvSpPr>
          <p:nvPr>
            <p:ph type="title"/>
          </p:nvPr>
        </p:nvSpPr>
        <p:spPr>
          <a:xfrm>
            <a:off x="265113" y="0"/>
            <a:ext cx="8618537" cy="1143000"/>
          </a:xfrm>
          <a:ln/>
        </p:spPr>
        <p:txBody>
          <a:bodyPr vert="horz" wrap="square" lIns="91440" tIns="45720" rIns="91440" bIns="45720" anchor="ctr" anchorCtr="0"/>
          <a:p>
            <a:pPr algn="l"/>
            <a:r>
              <a:rPr lang="zh-CN" altLang="en-US" u="none" dirty="0">
                <a:solidFill>
                  <a:schemeClr val="tx1"/>
                </a:solidFill>
                <a:latin typeface="Times New Roman" panose="02020603050405020304" pitchFamily="18" charset="0"/>
              </a:rPr>
              <a:t> </a:t>
            </a:r>
            <a:r>
              <a:rPr lang="zh-CN" altLang="zh-CN" b="1" u="none" dirty="0">
                <a:solidFill>
                  <a:schemeClr val="tx1"/>
                </a:solidFill>
                <a:latin typeface="Times New Roman" panose="02020603050405020304" pitchFamily="18" charset="0"/>
              </a:rPr>
              <a:t>其</a:t>
            </a:r>
            <a:r>
              <a:rPr lang="zh-CN" altLang="en-US" b="1" u="none" dirty="0">
                <a:solidFill>
                  <a:schemeClr val="tx1"/>
                </a:solidFill>
                <a:latin typeface="Times New Roman" panose="02020603050405020304" pitchFamily="18" charset="0"/>
              </a:rPr>
              <a:t>基本思想是</a:t>
            </a:r>
            <a:r>
              <a:rPr lang="zh-CN" altLang="zh-CN" b="1" u="none" dirty="0">
                <a:solidFill>
                  <a:schemeClr val="tx1"/>
                </a:solidFill>
                <a:latin typeface="Times New Roman" panose="02020603050405020304" pitchFamily="18" charset="0"/>
              </a:rPr>
              <a:t>在区间</a:t>
            </a:r>
            <a:r>
              <a:rPr lang="zh-CN" altLang="en-US" b="1" u="none" dirty="0">
                <a:solidFill>
                  <a:schemeClr val="tx1"/>
                </a:solidFill>
                <a:latin typeface="Times New Roman" panose="02020603050405020304" pitchFamily="18" charset="0"/>
              </a:rPr>
              <a:t> [</a:t>
            </a:r>
            <a:r>
              <a:rPr lang="en-US" altLang="zh-CN" b="1" i="1" u="none" dirty="0">
                <a:solidFill>
                  <a:schemeClr val="tx1"/>
                </a:solidFill>
                <a:latin typeface="Times New Roman" panose="02020603050405020304" pitchFamily="18" charset="0"/>
              </a:rPr>
              <a:t>a</a:t>
            </a:r>
            <a:r>
              <a:rPr lang="en-US" altLang="zh-CN" b="1" u="none" dirty="0">
                <a:solidFill>
                  <a:schemeClr val="tx1"/>
                </a:solidFill>
                <a:latin typeface="Times New Roman" panose="02020603050405020304" pitchFamily="18" charset="0"/>
              </a:rPr>
              <a:t>, </a:t>
            </a:r>
            <a:r>
              <a:rPr lang="en-US" altLang="zh-CN" b="1" i="1" u="none" dirty="0">
                <a:solidFill>
                  <a:schemeClr val="tx1"/>
                </a:solidFill>
                <a:latin typeface="Times New Roman" panose="02020603050405020304" pitchFamily="18" charset="0"/>
              </a:rPr>
              <a:t>b</a:t>
            </a:r>
            <a:r>
              <a:rPr lang="en-US" altLang="zh-CN" b="1" u="none" dirty="0">
                <a:solidFill>
                  <a:schemeClr val="tx1"/>
                </a:solidFill>
                <a:latin typeface="Times New Roman" panose="02020603050405020304" pitchFamily="18" charset="0"/>
              </a:rPr>
              <a:t>] </a:t>
            </a:r>
            <a:r>
              <a:rPr lang="zh-CN" altLang="zh-CN" b="1" u="none" dirty="0">
                <a:solidFill>
                  <a:schemeClr val="tx1"/>
                </a:solidFill>
                <a:latin typeface="Times New Roman" panose="02020603050405020304" pitchFamily="18" charset="0"/>
              </a:rPr>
              <a:t>上引入一系列节点</a:t>
            </a:r>
            <a:endParaRPr lang="zh-CN" altLang="en-US" b="1" u="none"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1928"/>
                                        </p:tgtEl>
                                        <p:attrNameLst>
                                          <p:attrName>style.visibility</p:attrName>
                                        </p:attrNameLst>
                                      </p:cBhvr>
                                      <p:to>
                                        <p:strVal val="visible"/>
                                      </p:to>
                                    </p:set>
                                    <p:animEffect transition="in" filter="wipe(left)">
                                      <p:cBhvr>
                                        <p:cTn id="7" dur="500"/>
                                        <p:tgtEl>
                                          <p:spTgt spid="8192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wd">
                                    <p:tmPct val="100000"/>
                                  </p:iterate>
                                  <p:childTnLst>
                                    <p:set>
                                      <p:cBhvr>
                                        <p:cTn id="11" dur="1" fill="hold">
                                          <p:stCondLst>
                                            <p:cond delay="0"/>
                                          </p:stCondLst>
                                        </p:cTn>
                                        <p:tgtEl>
                                          <p:spTgt spid="81929"/>
                                        </p:tgtEl>
                                        <p:attrNameLst>
                                          <p:attrName>style.visibility</p:attrName>
                                        </p:attrNameLst>
                                      </p:cBhvr>
                                      <p:to>
                                        <p:strVal val="visible"/>
                                      </p:to>
                                    </p:set>
                                    <p:animEffect transition="in" filter="dissolve">
                                      <p:cBhvr>
                                        <p:cTn id="12" dur="300"/>
                                        <p:tgtEl>
                                          <p:spTgt spid="819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3"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4104" name="Rectangle 133"/>
          <p:cNvSpPr>
            <a:spLocks noGrp="1"/>
          </p:cNvSpPr>
          <p:nvPr>
            <p:ph type="title"/>
          </p:nvPr>
        </p:nvSpPr>
        <p:spPr>
          <a:xfrm>
            <a:off x="623888" y="342900"/>
            <a:ext cx="7772400" cy="581025"/>
          </a:xfrm>
          <a:ln/>
        </p:spPr>
        <p:txBody>
          <a:bodyPr vert="horz" wrap="square" lIns="91440" tIns="45720" rIns="91440" bIns="45720" anchor="ctr" anchorCtr="0"/>
          <a:p>
            <a:r>
              <a:rPr lang="en-US" altLang="zh-CN" sz="3600" b="1" u="none" dirty="0">
                <a:solidFill>
                  <a:srgbClr val="0033CC"/>
                </a:solidFill>
                <a:latin typeface="Times New Roman" panose="02020603050405020304" pitchFamily="18" charset="0"/>
              </a:rPr>
              <a:t>9.</a:t>
            </a:r>
            <a:r>
              <a:rPr lang="zh-CN" altLang="zh-CN" sz="3600" b="1" u="none" dirty="0">
                <a:solidFill>
                  <a:srgbClr val="0033CC"/>
                </a:solidFill>
                <a:latin typeface="Times New Roman" panose="02020603050405020304" pitchFamily="18" charset="0"/>
              </a:rPr>
              <a:t>1</a:t>
            </a:r>
            <a:r>
              <a:rPr lang="zh-CN" altLang="zh-CN" sz="3600" b="1" u="none" dirty="0">
                <a:solidFill>
                  <a:srgbClr val="0033CC"/>
                </a:solidFill>
              </a:rPr>
              <a:t> 初值问题计算格式的建立</a:t>
            </a:r>
            <a:endParaRPr lang="zh-CN" altLang="zh-CN" sz="4000" b="1" u="none" dirty="0"/>
          </a:p>
        </p:txBody>
      </p:sp>
      <p:sp>
        <p:nvSpPr>
          <p:cNvPr id="83078" name="Text Box 134"/>
          <p:cNvSpPr txBox="1"/>
          <p:nvPr/>
        </p:nvSpPr>
        <p:spPr>
          <a:xfrm>
            <a:off x="303213" y="1677988"/>
            <a:ext cx="3243262" cy="579437"/>
          </a:xfrm>
          <a:prstGeom prst="rect">
            <a:avLst/>
          </a:prstGeom>
          <a:noFill/>
          <a:ln w="9525">
            <a:noFill/>
          </a:ln>
        </p:spPr>
        <p:txBody>
          <a:bodyPr wrap="none">
            <a:spAutoFit/>
          </a:bodyPr>
          <a:p>
            <a:pPr>
              <a:buClr>
                <a:schemeClr val="accent2"/>
              </a:buClr>
              <a:buFont typeface="ZapfDingbats" pitchFamily="82" charset="2"/>
            </a:pPr>
            <a:r>
              <a:rPr lang="zh-CN" altLang="en-US" b="1" dirty="0">
                <a:latin typeface="Times New Roman" panose="02020603050405020304" pitchFamily="18" charset="0"/>
              </a:rPr>
              <a:t>1.   </a:t>
            </a:r>
            <a:r>
              <a:rPr lang="zh-CN" altLang="en-US" b="1" dirty="0">
                <a:latin typeface="Times New Roman" panose="02020603050405020304" pitchFamily="18" charset="0"/>
                <a:ea typeface="黑体" panose="02010609060101010101" pitchFamily="49" charset="-122"/>
              </a:rPr>
              <a:t>数值微分方法</a:t>
            </a:r>
            <a:endParaRPr lang="zh-CN" altLang="zh-CN" b="1" dirty="0">
              <a:latin typeface="Times New Roman" panose="02020603050405020304" pitchFamily="18" charset="0"/>
              <a:ea typeface="黑体" panose="02010609060101010101" pitchFamily="49" charset="-122"/>
            </a:endParaRPr>
          </a:p>
        </p:txBody>
      </p:sp>
      <p:sp>
        <p:nvSpPr>
          <p:cNvPr id="83079" name="Text Box 135"/>
          <p:cNvSpPr txBox="1"/>
          <p:nvPr/>
        </p:nvSpPr>
        <p:spPr>
          <a:xfrm>
            <a:off x="287338" y="2176463"/>
            <a:ext cx="8613775" cy="579437"/>
          </a:xfrm>
          <a:prstGeom prst="rect">
            <a:avLst/>
          </a:prstGeom>
          <a:noFill/>
          <a:ln w="9525">
            <a:noFill/>
          </a:ln>
        </p:spPr>
        <p:txBody>
          <a:bodyPr>
            <a:spAutoFit/>
          </a:bodyPr>
          <a:p>
            <a:pPr>
              <a:buClr>
                <a:schemeClr val="accent2"/>
              </a:buClr>
              <a:buSzPct val="80000"/>
              <a:buFont typeface="ZapfDingbats" pitchFamily="82" charset="2"/>
            </a:pPr>
            <a:r>
              <a:rPr lang="zh-CN" altLang="en-US" b="1" dirty="0">
                <a:latin typeface="Times New Roman" panose="02020603050405020304" pitchFamily="18" charset="0"/>
              </a:rPr>
              <a:t>在等距节点下讨论问题. 利用两点数值微分公式</a:t>
            </a:r>
            <a:endParaRPr lang="zh-CN" altLang="en-US" b="1" dirty="0">
              <a:latin typeface="Times New Roman" panose="02020603050405020304" pitchFamily="18" charset="0"/>
            </a:endParaRPr>
          </a:p>
        </p:txBody>
      </p:sp>
      <p:sp>
        <p:nvSpPr>
          <p:cNvPr id="83092" name="Text Box 148"/>
          <p:cNvSpPr txBox="1"/>
          <p:nvPr/>
        </p:nvSpPr>
        <p:spPr>
          <a:xfrm>
            <a:off x="285750" y="1046163"/>
            <a:ext cx="4030345" cy="583565"/>
          </a:xfrm>
          <a:prstGeom prst="rect">
            <a:avLst/>
          </a:prstGeom>
          <a:noFill/>
          <a:ln w="9525">
            <a:noFill/>
          </a:ln>
        </p:spPr>
        <p:txBody>
          <a:bodyPr wrap="none">
            <a:spAutoFit/>
          </a:bodyPr>
          <a:p>
            <a:pPr eaLnBrk="0" hangingPunct="0"/>
            <a:r>
              <a:rPr lang="en-US" altLang="zh-CN" b="1" dirty="0">
                <a:solidFill>
                  <a:srgbClr val="0033CC"/>
                </a:solidFill>
                <a:latin typeface="Times New Roman" panose="02020603050405020304" pitchFamily="18" charset="0"/>
              </a:rPr>
              <a:t>9.</a:t>
            </a:r>
            <a:r>
              <a:rPr lang="zh-CN" altLang="zh-CN" b="1" dirty="0">
                <a:solidFill>
                  <a:srgbClr val="0033CC"/>
                </a:solidFill>
                <a:latin typeface="Times New Roman" panose="02020603050405020304" pitchFamily="18" charset="0"/>
              </a:rPr>
              <a:t>1</a:t>
            </a:r>
            <a:r>
              <a:rPr lang="zh-CN" altLang="en-US" b="1" dirty="0">
                <a:solidFill>
                  <a:srgbClr val="0033CC"/>
                </a:solidFill>
                <a:latin typeface="Times New Roman" panose="02020603050405020304" pitchFamily="18" charset="0"/>
              </a:rPr>
              <a:t>.1</a:t>
            </a:r>
            <a:r>
              <a:rPr lang="zh-CN" altLang="zh-CN" b="1" dirty="0">
                <a:solidFill>
                  <a:srgbClr val="0033CC"/>
                </a:solidFill>
                <a:latin typeface="Comic Sans MS" panose="030F0702030302020204" pitchFamily="66" charset="0"/>
              </a:rPr>
              <a:t> 计算格式的建立</a:t>
            </a:r>
            <a:endParaRPr lang="zh-CN" altLang="en-US" b="1" dirty="0">
              <a:solidFill>
                <a:srgbClr val="0033CC"/>
              </a:solidFill>
              <a:latin typeface="Comic Sans MS" panose="030F0702030302020204" pitchFamily="66" charset="0"/>
            </a:endParaRPr>
          </a:p>
        </p:txBody>
      </p:sp>
      <p:grpSp>
        <p:nvGrpSpPr>
          <p:cNvPr id="2" name="Group 157"/>
          <p:cNvGrpSpPr/>
          <p:nvPr/>
        </p:nvGrpSpPr>
        <p:grpSpPr>
          <a:xfrm>
            <a:off x="269875" y="3954463"/>
            <a:ext cx="7199313" cy="1203325"/>
            <a:chOff x="192" y="2421"/>
            <a:chExt cx="4535" cy="758"/>
          </a:xfrm>
        </p:grpSpPr>
        <p:sp>
          <p:nvSpPr>
            <p:cNvPr id="4113" name="Text Box 138"/>
            <p:cNvSpPr txBox="1"/>
            <p:nvPr/>
          </p:nvSpPr>
          <p:spPr>
            <a:xfrm>
              <a:off x="192" y="2612"/>
              <a:ext cx="3176" cy="368"/>
            </a:xfrm>
            <a:prstGeom prst="rect">
              <a:avLst/>
            </a:prstGeom>
            <a:noFill/>
            <a:ln w="9525">
              <a:noFill/>
            </a:ln>
          </p:spPr>
          <p:txBody>
            <a:bodyPr wrap="none">
              <a:spAutoFit/>
            </a:bodyPr>
            <a:p>
              <a:r>
                <a:rPr lang="zh-CN" altLang="en-US" b="1" dirty="0">
                  <a:latin typeface="Times New Roman" panose="02020603050405020304" pitchFamily="18" charset="0"/>
                </a:rPr>
                <a:t>将上式代入初值问题 (</a:t>
              </a:r>
              <a:r>
                <a:rPr lang="en-US" altLang="zh-CN" b="1" dirty="0">
                  <a:latin typeface="Times New Roman" panose="02020603050405020304" pitchFamily="18" charset="0"/>
                </a:rPr>
                <a:t>9.</a:t>
              </a:r>
              <a:r>
                <a:rPr lang="zh-CN" altLang="en-US" b="1" dirty="0">
                  <a:latin typeface="Times New Roman" panose="02020603050405020304" pitchFamily="18" charset="0"/>
                </a:rPr>
                <a:t>0.1)</a:t>
              </a:r>
              <a:endParaRPr lang="zh-CN" altLang="en-US" b="1" dirty="0">
                <a:latin typeface="Times New Roman" panose="02020603050405020304" pitchFamily="18" charset="0"/>
              </a:endParaRPr>
            </a:p>
          </p:txBody>
        </p:sp>
        <p:graphicFrame>
          <p:nvGraphicFramePr>
            <p:cNvPr id="4101" name="Object 149"/>
            <p:cNvGraphicFramePr/>
            <p:nvPr/>
          </p:nvGraphicFramePr>
          <p:xfrm>
            <a:off x="3485" y="2421"/>
            <a:ext cx="1242" cy="758"/>
          </p:xfrm>
          <a:graphic>
            <a:graphicData uri="http://schemas.openxmlformats.org/presentationml/2006/ole">
              <mc:AlternateContent xmlns:mc="http://schemas.openxmlformats.org/markup-compatibility/2006">
                <mc:Choice xmlns:v="urn:schemas-microsoft-com:vml" Requires="v">
                  <p:oleObj spid="_x0000_s3082" name="" r:id="rId1" imgW="799465" imgH="482600" progId="Equation.3">
                    <p:embed/>
                  </p:oleObj>
                </mc:Choice>
                <mc:Fallback>
                  <p:oleObj name="" r:id="rId1" imgW="799465" imgH="482600" progId="Equation.3">
                    <p:embed/>
                    <p:pic>
                      <p:nvPicPr>
                        <p:cNvPr id="0" name="图片 3081"/>
                        <p:cNvPicPr/>
                        <p:nvPr/>
                      </p:nvPicPr>
                      <p:blipFill>
                        <a:blip r:embed="rId2"/>
                        <a:stretch>
                          <a:fillRect/>
                        </a:stretch>
                      </p:blipFill>
                      <p:spPr>
                        <a:xfrm>
                          <a:off x="3485" y="2421"/>
                          <a:ext cx="1242" cy="758"/>
                        </a:xfrm>
                        <a:prstGeom prst="rect">
                          <a:avLst/>
                        </a:prstGeom>
                        <a:noFill/>
                        <a:ln w="38100">
                          <a:noFill/>
                          <a:miter/>
                        </a:ln>
                      </p:spPr>
                    </p:pic>
                  </p:oleObj>
                </mc:Fallback>
              </mc:AlternateContent>
            </a:graphicData>
          </a:graphic>
        </p:graphicFrame>
      </p:grpSp>
      <p:grpSp>
        <p:nvGrpSpPr>
          <p:cNvPr id="3" name="Group 158"/>
          <p:cNvGrpSpPr/>
          <p:nvPr/>
        </p:nvGrpSpPr>
        <p:grpSpPr>
          <a:xfrm>
            <a:off x="239713" y="4989513"/>
            <a:ext cx="7323137" cy="1376362"/>
            <a:chOff x="191" y="3143"/>
            <a:chExt cx="4613" cy="867"/>
          </a:xfrm>
        </p:grpSpPr>
        <p:graphicFrame>
          <p:nvGraphicFramePr>
            <p:cNvPr id="4100" name="Object 139"/>
            <p:cNvGraphicFramePr/>
            <p:nvPr/>
          </p:nvGraphicFramePr>
          <p:xfrm>
            <a:off x="782" y="3389"/>
            <a:ext cx="4022" cy="621"/>
          </p:xfrm>
          <a:graphic>
            <a:graphicData uri="http://schemas.openxmlformats.org/presentationml/2006/ole">
              <mc:AlternateContent xmlns:mc="http://schemas.openxmlformats.org/markup-compatibility/2006">
                <mc:Choice xmlns:v="urn:schemas-microsoft-com:vml" Requires="v">
                  <p:oleObj spid="_x0000_s3085" name="" r:id="rId3" imgW="2538730" imgH="393700" progId="Equation.DSMT4">
                    <p:embed/>
                  </p:oleObj>
                </mc:Choice>
                <mc:Fallback>
                  <p:oleObj name="" r:id="rId3" imgW="2538730" imgH="393700" progId="Equation.DSMT4">
                    <p:embed/>
                    <p:pic>
                      <p:nvPicPr>
                        <p:cNvPr id="0" name="图片 3084"/>
                        <p:cNvPicPr/>
                        <p:nvPr/>
                      </p:nvPicPr>
                      <p:blipFill>
                        <a:blip r:embed="rId4"/>
                        <a:stretch>
                          <a:fillRect/>
                        </a:stretch>
                      </p:blipFill>
                      <p:spPr>
                        <a:xfrm>
                          <a:off x="782" y="3389"/>
                          <a:ext cx="4022" cy="621"/>
                        </a:xfrm>
                        <a:prstGeom prst="rect">
                          <a:avLst/>
                        </a:prstGeom>
                        <a:noFill/>
                        <a:ln w="38100">
                          <a:noFill/>
                          <a:miter/>
                        </a:ln>
                      </p:spPr>
                    </p:pic>
                  </p:oleObj>
                </mc:Fallback>
              </mc:AlternateContent>
            </a:graphicData>
          </a:graphic>
        </p:graphicFrame>
        <p:sp>
          <p:nvSpPr>
            <p:cNvPr id="4112" name="Text Box 151"/>
            <p:cNvSpPr txBox="1"/>
            <p:nvPr/>
          </p:nvSpPr>
          <p:spPr>
            <a:xfrm>
              <a:off x="191" y="3143"/>
              <a:ext cx="369" cy="365"/>
            </a:xfrm>
            <a:prstGeom prst="rect">
              <a:avLst/>
            </a:prstGeom>
            <a:noFill/>
            <a:ln w="9525">
              <a:noFill/>
            </a:ln>
          </p:spPr>
          <p:txBody>
            <a:bodyPr wrap="none">
              <a:spAutoFit/>
            </a:bodyPr>
            <a:p>
              <a:pPr algn="ctr" eaLnBrk="0" hangingPunct="0"/>
              <a:r>
                <a:rPr lang="zh-CN" altLang="en-US" b="1" dirty="0">
                  <a:latin typeface="Times New Roman" panose="02020603050405020304" pitchFamily="18" charset="0"/>
                </a:rPr>
                <a:t>有</a:t>
              </a:r>
              <a:endParaRPr lang="zh-CN" altLang="en-US" b="1" dirty="0">
                <a:latin typeface="Times New Roman" panose="02020603050405020304" pitchFamily="18" charset="0"/>
              </a:endParaRPr>
            </a:p>
          </p:txBody>
        </p:sp>
      </p:grpSp>
      <p:grpSp>
        <p:nvGrpSpPr>
          <p:cNvPr id="4" name="Group 156"/>
          <p:cNvGrpSpPr/>
          <p:nvPr/>
        </p:nvGrpSpPr>
        <p:grpSpPr>
          <a:xfrm>
            <a:off x="455613" y="2817813"/>
            <a:ext cx="8342313" cy="1344613"/>
            <a:chOff x="287" y="1625"/>
            <a:chExt cx="5255" cy="847"/>
          </a:xfrm>
        </p:grpSpPr>
        <p:graphicFrame>
          <p:nvGraphicFramePr>
            <p:cNvPr id="4099" name="Object 136"/>
            <p:cNvGraphicFramePr/>
            <p:nvPr/>
          </p:nvGraphicFramePr>
          <p:xfrm>
            <a:off x="287" y="1625"/>
            <a:ext cx="5046" cy="621"/>
          </p:xfrm>
          <a:graphic>
            <a:graphicData uri="http://schemas.openxmlformats.org/presentationml/2006/ole">
              <mc:AlternateContent xmlns:mc="http://schemas.openxmlformats.org/markup-compatibility/2006">
                <mc:Choice xmlns:v="urn:schemas-microsoft-com:vml" Requires="v">
                  <p:oleObj spid="_x0000_s3086" name="" r:id="rId5" imgW="3186430" imgH="393700" progId="Equation.DSMT4">
                    <p:embed/>
                  </p:oleObj>
                </mc:Choice>
                <mc:Fallback>
                  <p:oleObj name="" r:id="rId5" imgW="3186430" imgH="393700" progId="Equation.DSMT4">
                    <p:embed/>
                    <p:pic>
                      <p:nvPicPr>
                        <p:cNvPr id="0" name="图片 3085"/>
                        <p:cNvPicPr/>
                        <p:nvPr/>
                      </p:nvPicPr>
                      <p:blipFill>
                        <a:blip r:embed="rId6"/>
                        <a:stretch>
                          <a:fillRect/>
                        </a:stretch>
                      </p:blipFill>
                      <p:spPr>
                        <a:xfrm>
                          <a:off x="287" y="1625"/>
                          <a:ext cx="5046" cy="621"/>
                        </a:xfrm>
                        <a:prstGeom prst="rect">
                          <a:avLst/>
                        </a:prstGeom>
                        <a:noFill/>
                        <a:ln w="38100">
                          <a:noFill/>
                          <a:miter/>
                        </a:ln>
                      </p:spPr>
                    </p:pic>
                  </p:oleObj>
                </mc:Fallback>
              </mc:AlternateContent>
            </a:graphicData>
          </a:graphic>
        </p:graphicFrame>
        <p:sp>
          <p:nvSpPr>
            <p:cNvPr id="4111" name="Text Box 152"/>
            <p:cNvSpPr txBox="1"/>
            <p:nvPr/>
          </p:nvSpPr>
          <p:spPr>
            <a:xfrm>
              <a:off x="4774" y="2143"/>
              <a:ext cx="768" cy="329"/>
            </a:xfrm>
            <a:prstGeom prst="rect">
              <a:avLst/>
            </a:prstGeom>
            <a:noFill/>
            <a:ln w="9525">
              <a:noFill/>
            </a:ln>
          </p:spPr>
          <p:txBody>
            <a:bodyPr wrap="none">
              <a:spAutoFit/>
            </a:bodyPr>
            <a:p>
              <a:pPr algn="ctr" eaLnBrk="0" hangingPunct="0"/>
              <a:r>
                <a:rPr lang="zh-CN" altLang="en-US" sz="2800" dirty="0">
                  <a:latin typeface="Times New Roman" panose="02020603050405020304" pitchFamily="18" charset="0"/>
                </a:rPr>
                <a:t>(</a:t>
              </a:r>
              <a:r>
                <a:rPr lang="en-US" altLang="zh-CN" sz="2800" dirty="0">
                  <a:latin typeface="Times New Roman" panose="02020603050405020304" pitchFamily="18" charset="0"/>
                </a:rPr>
                <a:t>9.</a:t>
              </a:r>
              <a:r>
                <a:rPr lang="zh-CN" altLang="en-US" sz="2800" dirty="0">
                  <a:latin typeface="Times New Roman" panose="02020603050405020304" pitchFamily="18" charset="0"/>
                </a:rPr>
                <a:t>1.1) </a:t>
              </a:r>
              <a:endParaRPr lang="zh-CN" altLang="en-US" sz="2800" dirty="0">
                <a:latin typeface="Times New Roman" panose="02020603050405020304" pitchFamily="18" charset="0"/>
              </a:endParaRPr>
            </a:p>
          </p:txBody>
        </p:sp>
      </p:grpSp>
      <p:graphicFrame>
        <p:nvGraphicFramePr>
          <p:cNvPr id="83103" name="Object 159"/>
          <p:cNvGraphicFramePr/>
          <p:nvPr/>
        </p:nvGraphicFramePr>
        <p:xfrm>
          <a:off x="696913" y="3925888"/>
          <a:ext cx="4210050" cy="1208087"/>
        </p:xfrm>
        <a:graphic>
          <a:graphicData uri="http://schemas.openxmlformats.org/presentationml/2006/ole">
            <mc:AlternateContent xmlns:mc="http://schemas.openxmlformats.org/markup-compatibility/2006">
              <mc:Choice xmlns:v="urn:schemas-microsoft-com:vml" Requires="v">
                <p:oleObj spid="_x0000_s3083" name="" r:id="rId7" imgW="1675765" imgH="482600" progId="Equation.DSMT4">
                  <p:embed/>
                </p:oleObj>
              </mc:Choice>
              <mc:Fallback>
                <p:oleObj name="" r:id="rId7" imgW="1675765" imgH="482600" progId="Equation.DSMT4">
                  <p:embed/>
                  <p:pic>
                    <p:nvPicPr>
                      <p:cNvPr id="0" name="图片 3082"/>
                      <p:cNvPicPr/>
                      <p:nvPr/>
                    </p:nvPicPr>
                    <p:blipFill>
                      <a:blip r:embed="rId8"/>
                      <a:stretch>
                        <a:fillRect/>
                      </a:stretch>
                    </p:blipFill>
                    <p:spPr>
                      <a:xfrm>
                        <a:off x="696913" y="3925888"/>
                        <a:ext cx="4210050" cy="1208087"/>
                      </a:xfrm>
                      <a:prstGeom prst="rect">
                        <a:avLst/>
                      </a:prstGeom>
                      <a:gradFill rotWithShape="0">
                        <a:gsLst>
                          <a:gs pos="0">
                            <a:srgbClr val="FFFFFF"/>
                          </a:gs>
                          <a:gs pos="50000">
                            <a:schemeClr val="accent1"/>
                          </a:gs>
                          <a:gs pos="100000">
                            <a:srgbClr val="FFFFFF"/>
                          </a:gs>
                        </a:gsLst>
                        <a:lin ang="5400000" scaled="1"/>
                        <a:tileRect/>
                      </a:gra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3092"/>
                                        </p:tgtEl>
                                        <p:attrNameLst>
                                          <p:attrName>style.visibility</p:attrName>
                                        </p:attrNameLst>
                                      </p:cBhvr>
                                      <p:to>
                                        <p:strVal val="visible"/>
                                      </p:to>
                                    </p:set>
                                    <p:animEffect transition="in" filter="wipe(left)">
                                      <p:cBhvr>
                                        <p:cTn id="7" dur="500"/>
                                        <p:tgtEl>
                                          <p:spTgt spid="8309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83078"/>
                                        </p:tgtEl>
                                        <p:attrNameLst>
                                          <p:attrName>style.visibility</p:attrName>
                                        </p:attrNameLst>
                                      </p:cBhvr>
                                      <p:to>
                                        <p:strVal val="visible"/>
                                      </p:to>
                                    </p:set>
                                    <p:anim calcmode="lin" valueType="num">
                                      <p:cBhvr additive="base">
                                        <p:cTn id="12" dur="500" fill="hold"/>
                                        <p:tgtEl>
                                          <p:spTgt spid="83078"/>
                                        </p:tgtEl>
                                        <p:attrNameLst>
                                          <p:attrName>ppt_x</p:attrName>
                                        </p:attrNameLst>
                                      </p:cBhvr>
                                      <p:tavLst>
                                        <p:tav tm="0">
                                          <p:val>
                                            <p:strVal val="0-#ppt_w/2"/>
                                          </p:val>
                                        </p:tav>
                                        <p:tav tm="100000">
                                          <p:val>
                                            <p:strVal val="#ppt_x"/>
                                          </p:val>
                                        </p:tav>
                                      </p:tavLst>
                                    </p:anim>
                                    <p:anim calcmode="lin" valueType="num">
                                      <p:cBhvr additive="base">
                                        <p:cTn id="13" dur="500" fill="hold"/>
                                        <p:tgtEl>
                                          <p:spTgt spid="8307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3079"/>
                                        </p:tgtEl>
                                        <p:attrNameLst>
                                          <p:attrName>style.visibility</p:attrName>
                                        </p:attrNameLst>
                                      </p:cBhvr>
                                      <p:to>
                                        <p:strVal val="visible"/>
                                      </p:to>
                                    </p:set>
                                    <p:animEffect transition="in" filter="wipe(left)">
                                      <p:cBhvr>
                                        <p:cTn id="18" dur="500"/>
                                        <p:tgtEl>
                                          <p:spTgt spid="8307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83103"/>
                                        </p:tgtEl>
                                        <p:attrNameLst>
                                          <p:attrName>style.visibility</p:attrName>
                                        </p:attrNameLst>
                                      </p:cBhvr>
                                      <p:to>
                                        <p:strVal val="visible"/>
                                      </p:to>
                                    </p:set>
                                    <p:animEffect transition="in" filter="box(in)">
                                      <p:cBhvr>
                                        <p:cTn id="33" dur="500"/>
                                        <p:tgtEl>
                                          <p:spTgt spid="8310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078" grpId="0"/>
      <p:bldP spid="83079" grpId="0"/>
      <p:bldP spid="8309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5125" name="Rectangle 2"/>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略去余项, 并以数值解 </a:t>
            </a:r>
            <a:r>
              <a:rPr lang="en-US" altLang="en-US" b="1" i="1" u="none" dirty="0">
                <a:solidFill>
                  <a:schemeClr val="tx1"/>
                </a:solidFill>
                <a:latin typeface="Times New Roman" panose="02020603050405020304" pitchFamily="18" charset="0"/>
              </a:rPr>
              <a:t>y</a:t>
            </a:r>
            <a:r>
              <a:rPr lang="en-US" altLang="en-US" b="1" i="1" u="none" baseline="-25000" dirty="0">
                <a:solidFill>
                  <a:schemeClr val="tx1"/>
                </a:solidFill>
                <a:latin typeface="Times New Roman" panose="02020603050405020304" pitchFamily="18" charset="0"/>
              </a:rPr>
              <a:t>n</a:t>
            </a:r>
            <a:r>
              <a:rPr lang="en-US" altLang="en-US" b="1" u="none" baseline="-25000" dirty="0">
                <a:solidFill>
                  <a:schemeClr val="tx1"/>
                </a:solidFill>
                <a:latin typeface="Times New Roman" panose="02020603050405020304" pitchFamily="18" charset="0"/>
              </a:rPr>
              <a:t> </a:t>
            </a:r>
            <a:r>
              <a:rPr lang="en-US" altLang="en-US" b="1" u="none" dirty="0">
                <a:solidFill>
                  <a:schemeClr val="tx1"/>
                </a:solidFill>
                <a:latin typeface="Times New Roman" panose="02020603050405020304" pitchFamily="18" charset="0"/>
              </a:rPr>
              <a:t>,</a:t>
            </a:r>
            <a:r>
              <a:rPr lang="zh-CN" altLang="en-US" b="1" u="none" dirty="0">
                <a:solidFill>
                  <a:schemeClr val="tx1"/>
                </a:solidFill>
                <a:latin typeface="Times New Roman" panose="02020603050405020304" pitchFamily="18" charset="0"/>
              </a:rPr>
              <a:t> </a:t>
            </a:r>
            <a:r>
              <a:rPr lang="en-US" altLang="en-US" b="1" i="1" u="none" dirty="0">
                <a:solidFill>
                  <a:schemeClr val="tx1"/>
                </a:solidFill>
                <a:latin typeface="Times New Roman" panose="02020603050405020304" pitchFamily="18" charset="0"/>
              </a:rPr>
              <a:t>y</a:t>
            </a:r>
            <a:r>
              <a:rPr lang="en-US" altLang="en-US" b="1" i="1" u="none" baseline="-25000" dirty="0">
                <a:solidFill>
                  <a:schemeClr val="tx1"/>
                </a:solidFill>
                <a:latin typeface="Times New Roman" panose="02020603050405020304" pitchFamily="18" charset="0"/>
              </a:rPr>
              <a:t>n</a:t>
            </a:r>
            <a:r>
              <a:rPr lang="en-US" altLang="en-US" b="1" u="none" baseline="-25000" dirty="0">
                <a:solidFill>
                  <a:schemeClr val="tx1"/>
                </a:solidFill>
                <a:latin typeface="Times New Roman" panose="02020603050405020304" pitchFamily="18" charset="0"/>
              </a:rPr>
              <a:t>+1 </a:t>
            </a:r>
            <a:r>
              <a:rPr lang="zh-CN" altLang="en-US" b="1" u="none" dirty="0">
                <a:solidFill>
                  <a:schemeClr val="tx1"/>
                </a:solidFill>
                <a:latin typeface="Times New Roman" panose="02020603050405020304" pitchFamily="18" charset="0"/>
              </a:rPr>
              <a:t>代替 </a:t>
            </a:r>
            <a:r>
              <a:rPr lang="en-US" altLang="zh-CN" b="1" i="1" u="none" dirty="0">
                <a:solidFill>
                  <a:schemeClr val="tx1"/>
                </a:solidFill>
                <a:latin typeface="Times New Roman" panose="02020603050405020304" pitchFamily="18" charset="0"/>
              </a:rPr>
              <a:t>y </a:t>
            </a:r>
            <a:r>
              <a:rPr lang="en-US" altLang="zh-CN" b="1" u="none" dirty="0">
                <a:solidFill>
                  <a:schemeClr val="tx1"/>
                </a:solidFill>
                <a:latin typeface="Times New Roman" panose="02020603050405020304" pitchFamily="18" charset="0"/>
              </a:rPr>
              <a:t>(</a:t>
            </a:r>
            <a:r>
              <a:rPr lang="en-US" altLang="zh-CN" b="1" i="1" u="none" dirty="0">
                <a:solidFill>
                  <a:schemeClr val="tx1"/>
                </a:solidFill>
                <a:latin typeface="Times New Roman" panose="02020603050405020304" pitchFamily="18" charset="0"/>
              </a:rPr>
              <a:t>x</a:t>
            </a:r>
            <a:r>
              <a:rPr lang="en-US" altLang="zh-CN" b="1" i="1" u="none" baseline="-25000" dirty="0">
                <a:solidFill>
                  <a:schemeClr val="tx1"/>
                </a:solidFill>
                <a:latin typeface="Times New Roman" panose="02020603050405020304" pitchFamily="18" charset="0"/>
              </a:rPr>
              <a:t>n</a:t>
            </a:r>
            <a:r>
              <a:rPr lang="en-US" altLang="zh-CN" b="1" u="none" dirty="0">
                <a:solidFill>
                  <a:schemeClr val="tx1"/>
                </a:solidFill>
                <a:latin typeface="Times New Roman" panose="02020603050405020304" pitchFamily="18" charset="0"/>
              </a:rPr>
              <a:t>) </a:t>
            </a:r>
            <a:r>
              <a:rPr lang="zh-CN" altLang="en-US" b="1" u="none" dirty="0">
                <a:solidFill>
                  <a:schemeClr val="tx1"/>
                </a:solidFill>
                <a:latin typeface="Times New Roman" panose="02020603050405020304" pitchFamily="18" charset="0"/>
              </a:rPr>
              <a:t>及 </a:t>
            </a:r>
            <a:r>
              <a:rPr lang="en-US" altLang="zh-CN" b="1" i="1" u="none" dirty="0">
                <a:solidFill>
                  <a:schemeClr val="tx1"/>
                </a:solidFill>
                <a:latin typeface="Times New Roman" panose="02020603050405020304" pitchFamily="18" charset="0"/>
              </a:rPr>
              <a:t>y </a:t>
            </a:r>
            <a:r>
              <a:rPr lang="en-US" altLang="zh-CN" b="1" u="none" dirty="0">
                <a:solidFill>
                  <a:schemeClr val="tx1"/>
                </a:solidFill>
                <a:latin typeface="Times New Roman" panose="02020603050405020304" pitchFamily="18" charset="0"/>
              </a:rPr>
              <a:t>(</a:t>
            </a:r>
            <a:r>
              <a:rPr lang="en-US" altLang="zh-CN" b="1" i="1" u="none" dirty="0">
                <a:solidFill>
                  <a:schemeClr val="tx1"/>
                </a:solidFill>
                <a:latin typeface="Times New Roman" panose="02020603050405020304" pitchFamily="18" charset="0"/>
              </a:rPr>
              <a:t>x</a:t>
            </a:r>
            <a:r>
              <a:rPr lang="en-US" altLang="zh-CN" b="1" i="1" u="none" baseline="-25000" dirty="0">
                <a:solidFill>
                  <a:schemeClr val="tx1"/>
                </a:solidFill>
                <a:latin typeface="Times New Roman" panose="02020603050405020304" pitchFamily="18" charset="0"/>
              </a:rPr>
              <a:t>n</a:t>
            </a:r>
            <a:r>
              <a:rPr lang="en-US" altLang="zh-CN" b="1" u="none" baseline="-25000" dirty="0">
                <a:solidFill>
                  <a:schemeClr val="tx1"/>
                </a:solidFill>
                <a:latin typeface="Times New Roman" panose="02020603050405020304" pitchFamily="18" charset="0"/>
              </a:rPr>
              <a:t>+1</a:t>
            </a:r>
            <a:r>
              <a:rPr lang="en-US" altLang="zh-CN" b="1" u="none" dirty="0">
                <a:solidFill>
                  <a:schemeClr val="tx1"/>
                </a:solidFill>
                <a:latin typeface="Times New Roman" panose="02020603050405020304" pitchFamily="18" charset="0"/>
              </a:rPr>
              <a:t>), </a:t>
            </a:r>
            <a:r>
              <a:rPr lang="zh-CN" altLang="zh-CN" b="1" u="none" dirty="0">
                <a:solidFill>
                  <a:schemeClr val="tx1"/>
                </a:solidFill>
                <a:latin typeface="Times New Roman" panose="02020603050405020304" pitchFamily="18" charset="0"/>
              </a:rPr>
              <a:t>则得</a:t>
            </a:r>
            <a:r>
              <a:rPr lang="zh-CN" altLang="zh-CN" sz="3600" b="1" u="none" dirty="0">
                <a:solidFill>
                  <a:schemeClr val="tx1"/>
                </a:solidFill>
                <a:latin typeface="Times New Roman" panose="02020603050405020304" pitchFamily="18" charset="0"/>
                <a:ea typeface="华文行楷" panose="02010800040101010101" pitchFamily="2" charset="-122"/>
              </a:rPr>
              <a:t>差分方程</a:t>
            </a:r>
            <a:endParaRPr lang="zh-CN" altLang="en-US" sz="3600" b="1" u="none" dirty="0">
              <a:solidFill>
                <a:schemeClr val="tx1"/>
              </a:solidFill>
              <a:latin typeface="Times New Roman" panose="02020603050405020304" pitchFamily="18" charset="0"/>
              <a:ea typeface="华文行楷" panose="02010800040101010101" pitchFamily="2" charset="-122"/>
            </a:endParaRPr>
          </a:p>
        </p:txBody>
      </p:sp>
      <p:sp>
        <p:nvSpPr>
          <p:cNvPr id="134147" name="Text Box 3"/>
          <p:cNvSpPr txBox="1"/>
          <p:nvPr/>
        </p:nvSpPr>
        <p:spPr>
          <a:xfrm>
            <a:off x="388938" y="2192338"/>
            <a:ext cx="3940175" cy="3013075"/>
          </a:xfrm>
          <a:prstGeom prst="rect">
            <a:avLst/>
          </a:prstGeom>
          <a:noFill/>
          <a:ln w="9525">
            <a:noFill/>
          </a:ln>
        </p:spPr>
        <p:txBody>
          <a:bodyPr>
            <a:spAutoFit/>
          </a:bodyPr>
          <a:p>
            <a:pPr>
              <a:lnSpc>
                <a:spcPct val="120000"/>
              </a:lnSpc>
            </a:pPr>
            <a:r>
              <a:rPr lang="zh-CN" altLang="en-US" b="1" dirty="0">
                <a:latin typeface="Times New Roman" panose="02020603050405020304" pitchFamily="18" charset="0"/>
              </a:rPr>
              <a:t>上式称为 </a:t>
            </a:r>
            <a:r>
              <a:rPr lang="en-US" altLang="en-US" b="1" dirty="0">
                <a:solidFill>
                  <a:srgbClr val="FF0000"/>
                </a:solidFill>
                <a:latin typeface="Times New Roman" panose="02020603050405020304" pitchFamily="18" charset="0"/>
              </a:rPr>
              <a:t>Euler </a:t>
            </a:r>
            <a:r>
              <a:rPr lang="zh-CN" altLang="en-US" b="1" dirty="0">
                <a:solidFill>
                  <a:srgbClr val="FF0000"/>
                </a:solidFill>
                <a:latin typeface="Times New Roman" panose="02020603050405020304" pitchFamily="18" charset="0"/>
              </a:rPr>
              <a:t>公式</a:t>
            </a:r>
            <a:r>
              <a:rPr lang="zh-CN" altLang="en-US" b="1" dirty="0">
                <a:latin typeface="Times New Roman" panose="02020603050405020304" pitchFamily="18" charset="0"/>
              </a:rPr>
              <a:t>.  利用此式可由初值 </a:t>
            </a:r>
            <a:r>
              <a:rPr lang="en-US" altLang="zh-CN" b="1" i="1" dirty="0">
                <a:latin typeface="Times New Roman" panose="02020603050405020304" pitchFamily="18" charset="0"/>
              </a:rPr>
              <a:t>y</a:t>
            </a:r>
            <a:r>
              <a:rPr lang="en-US" altLang="zh-CN" b="1" baseline="-25000" dirty="0">
                <a:latin typeface="Times New Roman" panose="02020603050405020304" pitchFamily="18" charset="0"/>
              </a:rPr>
              <a:t>0</a:t>
            </a:r>
            <a:r>
              <a:rPr lang="en-US" altLang="zh-CN" b="1" dirty="0">
                <a:latin typeface="Times New Roman" panose="02020603050405020304" pitchFamily="18" charset="0"/>
              </a:rPr>
              <a:t> </a:t>
            </a:r>
            <a:r>
              <a:rPr lang="zh-CN" altLang="en-US" b="1" dirty="0">
                <a:latin typeface="Times New Roman" panose="02020603050405020304" pitchFamily="18" charset="0"/>
              </a:rPr>
              <a:t>出发按“步进式” 方法,  逐步求得数值解</a:t>
            </a:r>
            <a:r>
              <a:rPr lang="en-US" altLang="zh-CN" b="1" i="1" dirty="0">
                <a:latin typeface="Times New Roman" panose="02020603050405020304" pitchFamily="18" charset="0"/>
              </a:rPr>
              <a:t>y</a:t>
            </a:r>
            <a:r>
              <a:rPr lang="en-US" altLang="zh-CN" b="1" baseline="-25000" dirty="0">
                <a:latin typeface="Times New Roman" panose="02020603050405020304" pitchFamily="18" charset="0"/>
              </a:rPr>
              <a:t>1 </a:t>
            </a:r>
            <a:r>
              <a:rPr lang="en-US" altLang="zh-CN" b="1" dirty="0">
                <a:latin typeface="Times New Roman" panose="02020603050405020304" pitchFamily="18" charset="0"/>
              </a:rPr>
              <a:t>, </a:t>
            </a:r>
            <a:r>
              <a:rPr lang="en-US" altLang="zh-CN" b="1" i="1" dirty="0">
                <a:latin typeface="Times New Roman" panose="02020603050405020304" pitchFamily="18" charset="0"/>
              </a:rPr>
              <a:t>y</a:t>
            </a:r>
            <a:r>
              <a:rPr lang="en-US" altLang="zh-CN" b="1" baseline="-25000" dirty="0">
                <a:latin typeface="Times New Roman" panose="02020603050405020304" pitchFamily="18" charset="0"/>
              </a:rPr>
              <a:t>2 </a:t>
            </a:r>
            <a:r>
              <a:rPr lang="en-US" altLang="zh-CN" b="1" dirty="0">
                <a:latin typeface="Times New Roman" panose="02020603050405020304" pitchFamily="18" charset="0"/>
              </a:rPr>
              <a:t>, </a:t>
            </a:r>
            <a:r>
              <a:rPr lang="en-US" altLang="zh-CN" b="1" baseline="16000" dirty="0">
                <a:latin typeface="Times New Roman" panose="02020603050405020304" pitchFamily="18" charset="0"/>
              </a:rPr>
              <a:t>. . . </a:t>
            </a:r>
            <a:r>
              <a:rPr lang="en-US" altLang="zh-CN" b="1" dirty="0">
                <a:latin typeface="Times New Roman" panose="02020603050405020304" pitchFamily="18" charset="0"/>
              </a:rPr>
              <a:t>,</a:t>
            </a:r>
            <a:r>
              <a:rPr lang="zh-CN" altLang="en-US" b="1" dirty="0">
                <a:latin typeface="Times New Roman" panose="02020603050405020304" pitchFamily="18" charset="0"/>
              </a:rPr>
              <a:t> </a:t>
            </a:r>
            <a:r>
              <a:rPr lang="en-US" altLang="zh-CN" b="1" i="1" dirty="0">
                <a:latin typeface="Times New Roman" panose="02020603050405020304" pitchFamily="18" charset="0"/>
              </a:rPr>
              <a:t>y</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 .</a:t>
            </a:r>
            <a:endParaRPr lang="zh-CN" altLang="en-US" b="1" dirty="0">
              <a:solidFill>
                <a:schemeClr val="accent2"/>
              </a:solidFill>
              <a:latin typeface="Times New Roman" panose="02020603050405020304" pitchFamily="18" charset="0"/>
            </a:endParaRPr>
          </a:p>
        </p:txBody>
      </p:sp>
      <p:graphicFrame>
        <p:nvGraphicFramePr>
          <p:cNvPr id="134149" name="Object 5"/>
          <p:cNvGraphicFramePr/>
          <p:nvPr/>
        </p:nvGraphicFramePr>
        <p:xfrm>
          <a:off x="2085975" y="1453992"/>
          <a:ext cx="5153025" cy="582930"/>
        </p:xfrm>
        <a:graphic>
          <a:graphicData uri="http://schemas.openxmlformats.org/presentationml/2006/ole">
            <mc:AlternateContent xmlns:mc="http://schemas.openxmlformats.org/markup-compatibility/2006">
              <mc:Choice xmlns:v="urn:schemas-microsoft-com:vml" Requires="v">
                <p:oleObj spid="_x0000_s3084" name="" r:id="rId1" imgW="2019300" imgH="228600" progId="Equation.3">
                  <p:embed/>
                </p:oleObj>
              </mc:Choice>
              <mc:Fallback>
                <p:oleObj name="" r:id="rId1" imgW="2019300" imgH="228600" progId="Equation.3">
                  <p:embed/>
                  <p:pic>
                    <p:nvPicPr>
                      <p:cNvPr id="0" name="图片 3083"/>
                      <p:cNvPicPr/>
                      <p:nvPr/>
                    </p:nvPicPr>
                    <p:blipFill>
                      <a:blip r:embed="rId2"/>
                      <a:stretch>
                        <a:fillRect/>
                      </a:stretch>
                    </p:blipFill>
                    <p:spPr>
                      <a:xfrm>
                        <a:off x="2085975" y="1453992"/>
                        <a:ext cx="5153025" cy="582930"/>
                      </a:xfrm>
                      <a:prstGeom prst="rect">
                        <a:avLst/>
                      </a:prstGeom>
                      <a:noFill/>
                      <a:ln w="38100">
                        <a:noFill/>
                        <a:miter/>
                      </a:ln>
                    </p:spPr>
                  </p:pic>
                </p:oleObj>
              </mc:Fallback>
            </mc:AlternateContent>
          </a:graphicData>
        </a:graphic>
      </p:graphicFrame>
      <p:sp>
        <p:nvSpPr>
          <p:cNvPr id="134153" name="AutoShape 9"/>
          <p:cNvSpPr/>
          <p:nvPr/>
        </p:nvSpPr>
        <p:spPr>
          <a:xfrm>
            <a:off x="5045075" y="2598738"/>
            <a:ext cx="3686175" cy="3216275"/>
          </a:xfrm>
          <a:prstGeom prst="wedgeRoundRectCallout">
            <a:avLst>
              <a:gd name="adj1" fmla="val -63051"/>
              <a:gd name="adj2" fmla="val -65796"/>
              <a:gd name="adj3" fmla="val 16667"/>
            </a:avLst>
          </a:prstGeom>
          <a:solidFill>
            <a:schemeClr val="accent1"/>
          </a:solidFill>
          <a:ln w="9525" cap="flat" cmpd="sng">
            <a:solidFill>
              <a:schemeClr val="tx1"/>
            </a:solidFill>
            <a:prstDash val="solid"/>
            <a:miter/>
            <a:headEnd type="none" w="med" len="med"/>
            <a:tailEnd type="none" w="med" len="med"/>
          </a:ln>
        </p:spPr>
        <p:txBody>
          <a:bodyPr/>
          <a:p>
            <a:r>
              <a:rPr lang="zh-CN" altLang="en-US" sz="2800" b="1" dirty="0">
                <a:solidFill>
                  <a:schemeClr val="accent2"/>
                </a:solidFill>
                <a:latin typeface="Times New Roman" panose="02020603050405020304" pitchFamily="18" charset="0"/>
              </a:rPr>
              <a:t>由于计算</a:t>
            </a:r>
            <a:r>
              <a:rPr lang="en-US" altLang="en-US" sz="2800" b="1" i="1" dirty="0">
                <a:solidFill>
                  <a:schemeClr val="accent2"/>
                </a:solidFill>
                <a:latin typeface="Times New Roman" panose="02020603050405020304" pitchFamily="18" charset="0"/>
              </a:rPr>
              <a:t>y</a:t>
            </a:r>
            <a:r>
              <a:rPr lang="en-US" altLang="en-US" sz="2800" b="1" i="1" baseline="-25000" dirty="0">
                <a:solidFill>
                  <a:schemeClr val="accent2"/>
                </a:solidFill>
                <a:latin typeface="Times New Roman" panose="02020603050405020304" pitchFamily="18" charset="0"/>
              </a:rPr>
              <a:t>n</a:t>
            </a:r>
            <a:r>
              <a:rPr lang="en-US" altLang="en-US" sz="2800" b="1" baseline="-25000" dirty="0">
                <a:solidFill>
                  <a:schemeClr val="accent2"/>
                </a:solidFill>
                <a:latin typeface="Times New Roman" panose="02020603050405020304" pitchFamily="18" charset="0"/>
              </a:rPr>
              <a:t>+1</a:t>
            </a:r>
            <a:r>
              <a:rPr lang="zh-CN" altLang="en-US" sz="2800" b="1" dirty="0">
                <a:solidFill>
                  <a:schemeClr val="accent2"/>
                </a:solidFill>
                <a:latin typeface="Times New Roman" panose="02020603050405020304" pitchFamily="18" charset="0"/>
              </a:rPr>
              <a:t>时, 只用到它前一步的结果</a:t>
            </a:r>
            <a:r>
              <a:rPr lang="en-US" altLang="en-US" sz="2800" b="1" i="1" dirty="0">
                <a:solidFill>
                  <a:schemeClr val="accent2"/>
                </a:solidFill>
                <a:latin typeface="Times New Roman" panose="02020603050405020304" pitchFamily="18" charset="0"/>
              </a:rPr>
              <a:t>y</a:t>
            </a:r>
            <a:r>
              <a:rPr lang="en-US" altLang="en-US" sz="2800" b="1" i="1" baseline="-25000" dirty="0">
                <a:solidFill>
                  <a:schemeClr val="accent2"/>
                </a:solidFill>
                <a:latin typeface="Times New Roman" panose="02020603050405020304" pitchFamily="18" charset="0"/>
              </a:rPr>
              <a:t>n</a:t>
            </a:r>
            <a:r>
              <a:rPr lang="en-US" altLang="en-US" sz="2800" b="1" baseline="-25000" dirty="0">
                <a:solidFill>
                  <a:schemeClr val="accent2"/>
                </a:solidFill>
                <a:latin typeface="Times New Roman" panose="02020603050405020304" pitchFamily="18" charset="0"/>
              </a:rPr>
              <a:t> </a:t>
            </a:r>
            <a:r>
              <a:rPr lang="zh-CN" altLang="en-US" sz="2800" b="1" dirty="0">
                <a:solidFill>
                  <a:schemeClr val="accent2"/>
                </a:solidFill>
                <a:latin typeface="Times New Roman" panose="02020603050405020304" pitchFamily="18" charset="0"/>
              </a:rPr>
              <a:t>, 这类公式称为</a:t>
            </a:r>
            <a:r>
              <a:rPr lang="zh-CN" altLang="en-US" sz="2800" b="1" dirty="0">
                <a:solidFill>
                  <a:srgbClr val="FF0000"/>
                </a:solidFill>
                <a:latin typeface="Times New Roman" panose="02020603050405020304" pitchFamily="18" charset="0"/>
              </a:rPr>
              <a:t>单步法</a:t>
            </a:r>
            <a:r>
              <a:rPr lang="zh-CN" altLang="en-US" sz="2800" b="1" dirty="0">
                <a:solidFill>
                  <a:schemeClr val="accent2"/>
                </a:solidFill>
                <a:latin typeface="Times New Roman" panose="02020603050405020304" pitchFamily="18" charset="0"/>
              </a:rPr>
              <a:t>. 又因为其关于</a:t>
            </a:r>
            <a:r>
              <a:rPr lang="en-US" altLang="en-US" sz="2800" b="1" i="1" dirty="0">
                <a:solidFill>
                  <a:schemeClr val="accent2"/>
                </a:solidFill>
                <a:latin typeface="Times New Roman" panose="02020603050405020304" pitchFamily="18" charset="0"/>
              </a:rPr>
              <a:t>y</a:t>
            </a:r>
            <a:r>
              <a:rPr lang="en-US" altLang="en-US" sz="2800" b="1" i="1" baseline="-25000" dirty="0">
                <a:solidFill>
                  <a:schemeClr val="accent2"/>
                </a:solidFill>
                <a:latin typeface="Times New Roman" panose="02020603050405020304" pitchFamily="18" charset="0"/>
              </a:rPr>
              <a:t>n</a:t>
            </a:r>
            <a:r>
              <a:rPr lang="en-US" altLang="en-US" sz="2800" b="1" baseline="-25000" dirty="0">
                <a:solidFill>
                  <a:schemeClr val="accent2"/>
                </a:solidFill>
                <a:latin typeface="Times New Roman" panose="02020603050405020304" pitchFamily="18" charset="0"/>
              </a:rPr>
              <a:t>+1</a:t>
            </a:r>
            <a:r>
              <a:rPr lang="zh-CN" altLang="en-US" sz="2800" b="1" dirty="0">
                <a:solidFill>
                  <a:schemeClr val="accent2"/>
                </a:solidFill>
                <a:latin typeface="Times New Roman" panose="02020603050405020304" pitchFamily="18" charset="0"/>
              </a:rPr>
              <a:t>是显式形式, 故称该</a:t>
            </a:r>
            <a:r>
              <a:rPr lang="en-US" altLang="zh-CN" sz="2800" b="1" dirty="0">
                <a:solidFill>
                  <a:schemeClr val="accent2"/>
                </a:solidFill>
                <a:latin typeface="Times New Roman" panose="02020603050405020304" pitchFamily="18" charset="0"/>
              </a:rPr>
              <a:t>Euler</a:t>
            </a:r>
            <a:r>
              <a:rPr lang="zh-CN" altLang="zh-CN" sz="2800" b="1" dirty="0">
                <a:solidFill>
                  <a:schemeClr val="accent2"/>
                </a:solidFill>
                <a:latin typeface="Times New Roman" panose="02020603050405020304" pitchFamily="18" charset="0"/>
              </a:rPr>
              <a:t>公式为</a:t>
            </a:r>
            <a:r>
              <a:rPr lang="zh-CN" altLang="zh-CN" sz="2800" b="1" dirty="0">
                <a:solidFill>
                  <a:srgbClr val="FF0000"/>
                </a:solidFill>
                <a:latin typeface="Times New Roman" panose="02020603050405020304" pitchFamily="18" charset="0"/>
              </a:rPr>
              <a:t>显格式</a:t>
            </a:r>
            <a:r>
              <a:rPr lang="zh-CN" altLang="en-US" sz="2800" b="1" dirty="0">
                <a:solidFill>
                  <a:schemeClr val="accent2"/>
                </a:solidFill>
                <a:latin typeface="Times New Roman" panose="02020603050405020304" pitchFamily="18" charset="0"/>
              </a:rPr>
              <a:t>.</a:t>
            </a:r>
            <a:endParaRPr lang="zh-CN" altLang="en-US" sz="2800" b="1" dirty="0">
              <a:solidFill>
                <a:schemeClr val="accent2"/>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4149"/>
                                        </p:tgtEl>
                                        <p:attrNameLst>
                                          <p:attrName>style.visibility</p:attrName>
                                        </p:attrNameLst>
                                      </p:cBhvr>
                                      <p:to>
                                        <p:strVal val="visible"/>
                                      </p:to>
                                    </p:set>
                                    <p:animEffect transition="in" filter="dissolve">
                                      <p:cBhvr>
                                        <p:cTn id="7" dur="500"/>
                                        <p:tgtEl>
                                          <p:spTgt spid="1341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34147"/>
                                        </p:tgtEl>
                                        <p:attrNameLst>
                                          <p:attrName>style.visibility</p:attrName>
                                        </p:attrNameLst>
                                      </p:cBhvr>
                                      <p:to>
                                        <p:strVal val="visible"/>
                                      </p:to>
                                    </p:set>
                                    <p:animEffect transition="in" filter="blinds(vertical)">
                                      <p:cBhvr>
                                        <p:cTn id="12" dur="500"/>
                                        <p:tgtEl>
                                          <p:spTgt spid="13414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4153"/>
                                        </p:tgtEl>
                                        <p:attrNameLst>
                                          <p:attrName>style.visibility</p:attrName>
                                        </p:attrNameLst>
                                      </p:cBhvr>
                                      <p:to>
                                        <p:strVal val="visible"/>
                                      </p:to>
                                    </p:set>
                                    <p:animEffect transition="in" filter="dissolve">
                                      <p:cBhvr>
                                        <p:cTn id="17" dur="500"/>
                                        <p:tgtEl>
                                          <p:spTgt spid="134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p:bldP spid="13415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51"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6152" name="Rectangle 2"/>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如果</a:t>
            </a:r>
            <a:r>
              <a:rPr lang="zh-CN" altLang="en-US" b="1" u="none" dirty="0">
                <a:solidFill>
                  <a:schemeClr val="tx2"/>
                </a:solidFill>
                <a:latin typeface="Times New Roman" panose="02020603050405020304" pitchFamily="18" charset="0"/>
              </a:rPr>
              <a:t>利用下列数值微分公式</a:t>
            </a:r>
            <a:endParaRPr lang="zh-CN" altLang="en-US" sz="4000" b="1" dirty="0"/>
          </a:p>
        </p:txBody>
      </p:sp>
      <p:graphicFrame>
        <p:nvGraphicFramePr>
          <p:cNvPr id="135171" name="Object 3"/>
          <p:cNvGraphicFramePr/>
          <p:nvPr/>
        </p:nvGraphicFramePr>
        <p:xfrm>
          <a:off x="631825" y="1298575"/>
          <a:ext cx="8208963" cy="982663"/>
        </p:xfrm>
        <a:graphic>
          <a:graphicData uri="http://schemas.openxmlformats.org/presentationml/2006/ole">
            <mc:AlternateContent xmlns:mc="http://schemas.openxmlformats.org/markup-compatibility/2006">
              <mc:Choice xmlns:v="urn:schemas-microsoft-com:vml" Requires="v">
                <p:oleObj spid="_x0000_s3087" name="" r:id="rId1" imgW="3275330" imgH="393700" progId="Equation.DSMT4">
                  <p:embed/>
                </p:oleObj>
              </mc:Choice>
              <mc:Fallback>
                <p:oleObj name="" r:id="rId1" imgW="3275330" imgH="393700" progId="Equation.DSMT4">
                  <p:embed/>
                  <p:pic>
                    <p:nvPicPr>
                      <p:cNvPr id="0" name="图片 3086"/>
                      <p:cNvPicPr/>
                      <p:nvPr/>
                    </p:nvPicPr>
                    <p:blipFill>
                      <a:blip r:embed="rId2"/>
                      <a:stretch>
                        <a:fillRect/>
                      </a:stretch>
                    </p:blipFill>
                    <p:spPr>
                      <a:xfrm>
                        <a:off x="631825" y="1298575"/>
                        <a:ext cx="8208963" cy="982663"/>
                      </a:xfrm>
                      <a:prstGeom prst="rect">
                        <a:avLst/>
                      </a:prstGeom>
                      <a:noFill/>
                      <a:ln w="38100">
                        <a:noFill/>
                        <a:miter/>
                      </a:ln>
                    </p:spPr>
                  </p:pic>
                </p:oleObj>
              </mc:Fallback>
            </mc:AlternateContent>
          </a:graphicData>
        </a:graphic>
      </p:graphicFrame>
      <p:grpSp>
        <p:nvGrpSpPr>
          <p:cNvPr id="2" name="Group 7"/>
          <p:cNvGrpSpPr/>
          <p:nvPr/>
        </p:nvGrpSpPr>
        <p:grpSpPr>
          <a:xfrm>
            <a:off x="422275" y="2479675"/>
            <a:ext cx="5895975" cy="579438"/>
            <a:chOff x="246" y="1562"/>
            <a:chExt cx="3714" cy="365"/>
          </a:xfrm>
        </p:grpSpPr>
        <p:sp>
          <p:nvSpPr>
            <p:cNvPr id="6155" name="Text Box 4"/>
            <p:cNvSpPr txBox="1"/>
            <p:nvPr/>
          </p:nvSpPr>
          <p:spPr>
            <a:xfrm>
              <a:off x="246" y="1562"/>
              <a:ext cx="3714" cy="365"/>
            </a:xfrm>
            <a:prstGeom prst="rect">
              <a:avLst/>
            </a:prstGeom>
            <a:noFill/>
            <a:ln w="9525">
              <a:noFill/>
            </a:ln>
          </p:spPr>
          <p:txBody>
            <a:bodyPr wrap="none">
              <a:spAutoFit/>
            </a:bodyPr>
            <a:p>
              <a:r>
                <a:rPr lang="zh-CN" altLang="en-US" b="1" dirty="0">
                  <a:latin typeface="Times New Roman" panose="02020603050405020304" pitchFamily="18" charset="0"/>
                </a:rPr>
                <a:t>由</a:t>
              </a:r>
              <a:r>
                <a:rPr lang="zh-CN" altLang="en-US" sz="2800" b="1" dirty="0">
                  <a:latin typeface="Times New Roman" panose="02020603050405020304" pitchFamily="18" charset="0"/>
                </a:rPr>
                <a:t>                                </a:t>
              </a:r>
              <a:r>
                <a:rPr lang="zh-CN" altLang="en-US" b="1" dirty="0">
                  <a:latin typeface="Times New Roman" panose="02020603050405020304" pitchFamily="18" charset="0"/>
                </a:rPr>
                <a:t>类似的可导出</a:t>
              </a:r>
              <a:endParaRPr lang="zh-CN" altLang="en-US" b="1" dirty="0">
                <a:latin typeface="Times New Roman" panose="02020603050405020304" pitchFamily="18" charset="0"/>
              </a:endParaRPr>
            </a:p>
          </p:txBody>
        </p:sp>
        <p:graphicFrame>
          <p:nvGraphicFramePr>
            <p:cNvPr id="6149" name="Object 5"/>
            <p:cNvGraphicFramePr/>
            <p:nvPr/>
          </p:nvGraphicFramePr>
          <p:xfrm>
            <a:off x="564" y="1618"/>
            <a:ext cx="1670" cy="306"/>
          </p:xfrm>
          <a:graphic>
            <a:graphicData uri="http://schemas.openxmlformats.org/presentationml/2006/ole">
              <mc:AlternateContent xmlns:mc="http://schemas.openxmlformats.org/markup-compatibility/2006">
                <mc:Choice xmlns:v="urn:schemas-microsoft-com:vml" Requires="v">
                  <p:oleObj spid="_x0000_s3090" name="" r:id="rId3" imgW="1129030" imgH="203200" progId="Equation.3">
                    <p:embed/>
                  </p:oleObj>
                </mc:Choice>
                <mc:Fallback>
                  <p:oleObj name="" r:id="rId3" imgW="1129030" imgH="203200" progId="Equation.3">
                    <p:embed/>
                    <p:pic>
                      <p:nvPicPr>
                        <p:cNvPr id="0" name="图片 3089"/>
                        <p:cNvPicPr/>
                        <p:nvPr/>
                      </p:nvPicPr>
                      <p:blipFill>
                        <a:blip r:embed="rId4"/>
                        <a:stretch>
                          <a:fillRect/>
                        </a:stretch>
                      </p:blipFill>
                      <p:spPr>
                        <a:xfrm>
                          <a:off x="564" y="1618"/>
                          <a:ext cx="1670" cy="306"/>
                        </a:xfrm>
                        <a:prstGeom prst="rect">
                          <a:avLst/>
                        </a:prstGeom>
                        <a:noFill/>
                        <a:ln w="38100">
                          <a:noFill/>
                          <a:miter/>
                        </a:ln>
                      </p:spPr>
                    </p:pic>
                  </p:oleObj>
                </mc:Fallback>
              </mc:AlternateContent>
            </a:graphicData>
          </a:graphic>
        </p:graphicFrame>
      </p:grpSp>
      <p:graphicFrame>
        <p:nvGraphicFramePr>
          <p:cNvPr id="135177" name="Object 9"/>
          <p:cNvGraphicFramePr/>
          <p:nvPr/>
        </p:nvGraphicFramePr>
        <p:xfrm>
          <a:off x="1800225" y="3221038"/>
          <a:ext cx="3746500" cy="571500"/>
        </p:xfrm>
        <a:graphic>
          <a:graphicData uri="http://schemas.openxmlformats.org/presentationml/2006/ole">
            <mc:AlternateContent xmlns:mc="http://schemas.openxmlformats.org/markup-compatibility/2006">
              <mc:Choice xmlns:v="urn:schemas-microsoft-com:vml" Requires="v">
                <p:oleObj spid="_x0000_s3088" name="" r:id="rId5" imgW="1498600" imgH="228600" progId="Equation.3">
                  <p:embed/>
                </p:oleObj>
              </mc:Choice>
              <mc:Fallback>
                <p:oleObj name="" r:id="rId5" imgW="1498600" imgH="228600" progId="Equation.3">
                  <p:embed/>
                  <p:pic>
                    <p:nvPicPr>
                      <p:cNvPr id="0" name="图片 3087"/>
                      <p:cNvPicPr/>
                      <p:nvPr/>
                    </p:nvPicPr>
                    <p:blipFill>
                      <a:blip r:embed="rId6"/>
                      <a:stretch>
                        <a:fillRect/>
                      </a:stretch>
                    </p:blipFill>
                    <p:spPr>
                      <a:xfrm>
                        <a:off x="1800225" y="3221038"/>
                        <a:ext cx="3746500" cy="571500"/>
                      </a:xfrm>
                      <a:prstGeom prst="rect">
                        <a:avLst/>
                      </a:prstGeom>
                      <a:noFill/>
                      <a:ln w="38100">
                        <a:noFill/>
                        <a:miter/>
                      </a:ln>
                    </p:spPr>
                  </p:pic>
                </p:oleObj>
              </mc:Fallback>
            </mc:AlternateContent>
          </a:graphicData>
        </a:graphic>
      </p:graphicFrame>
      <p:sp>
        <p:nvSpPr>
          <p:cNvPr id="135179" name="Text Box 11"/>
          <p:cNvSpPr txBox="1"/>
          <p:nvPr/>
        </p:nvSpPr>
        <p:spPr>
          <a:xfrm>
            <a:off x="404813" y="4106863"/>
            <a:ext cx="7907337" cy="1844675"/>
          </a:xfrm>
          <a:prstGeom prst="rect">
            <a:avLst/>
          </a:prstGeom>
          <a:noFill/>
          <a:ln w="9525">
            <a:noFill/>
          </a:ln>
        </p:spPr>
        <p:txBody>
          <a:bodyPr>
            <a:spAutoFit/>
          </a:bodyPr>
          <a:p>
            <a:pPr>
              <a:lnSpc>
                <a:spcPct val="120000"/>
              </a:lnSpc>
            </a:pPr>
            <a:r>
              <a:rPr lang="zh-CN" altLang="en-US" b="1" dirty="0">
                <a:latin typeface="Times New Roman" panose="02020603050405020304" pitchFamily="18" charset="0"/>
              </a:rPr>
              <a:t>上述公式称为</a:t>
            </a:r>
            <a:r>
              <a:rPr lang="zh-CN" altLang="en-US" b="1" dirty="0">
                <a:solidFill>
                  <a:srgbClr val="FF0000"/>
                </a:solidFill>
                <a:latin typeface="Times New Roman" panose="02020603050405020304" pitchFamily="18" charset="0"/>
              </a:rPr>
              <a:t>后退的 </a:t>
            </a:r>
            <a:r>
              <a:rPr lang="en-US" altLang="en-US" b="1" dirty="0">
                <a:solidFill>
                  <a:srgbClr val="FF0000"/>
                </a:solidFill>
                <a:latin typeface="Times New Roman" panose="02020603050405020304" pitchFamily="18" charset="0"/>
              </a:rPr>
              <a:t>Euler </a:t>
            </a:r>
            <a:r>
              <a:rPr lang="zh-CN" altLang="en-US" b="1" dirty="0">
                <a:solidFill>
                  <a:srgbClr val="FF0000"/>
                </a:solidFill>
                <a:latin typeface="Times New Roman" panose="02020603050405020304" pitchFamily="18" charset="0"/>
              </a:rPr>
              <a:t>公式</a:t>
            </a:r>
            <a:r>
              <a:rPr lang="zh-CN" altLang="en-US" b="1" dirty="0">
                <a:latin typeface="Times New Roman" panose="02020603050405020304" pitchFamily="18" charset="0"/>
              </a:rPr>
              <a:t>, 此公式为单步法公式. 又因为它关于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+1 </a:t>
            </a:r>
            <a:r>
              <a:rPr lang="zh-CN" altLang="en-US" b="1" dirty="0">
                <a:latin typeface="Times New Roman" panose="02020603050405020304" pitchFamily="18" charset="0"/>
              </a:rPr>
              <a:t>成隐式形式, 所以该公式为</a:t>
            </a:r>
            <a:r>
              <a:rPr lang="zh-CN" altLang="en-US" b="1" dirty="0">
                <a:solidFill>
                  <a:srgbClr val="FF0000"/>
                </a:solidFill>
                <a:latin typeface="Times New Roman" panose="02020603050405020304" pitchFamily="18" charset="0"/>
              </a:rPr>
              <a:t>隐式公式</a:t>
            </a:r>
            <a:r>
              <a:rPr lang="zh-CN" altLang="en-US" b="1" dirty="0">
                <a:latin typeface="Times New Roman" panose="02020603050405020304" pitchFamily="18" charset="0"/>
              </a:rPr>
              <a:t>，简称</a:t>
            </a:r>
            <a:r>
              <a:rPr lang="zh-CN" altLang="en-US" b="1" dirty="0">
                <a:solidFill>
                  <a:srgbClr val="FF0000"/>
                </a:solidFill>
                <a:latin typeface="Times New Roman" panose="02020603050405020304" pitchFamily="18" charset="0"/>
              </a:rPr>
              <a:t>隐格式</a:t>
            </a: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graphicFrame>
        <p:nvGraphicFramePr>
          <p:cNvPr id="135183" name="Object 15"/>
          <p:cNvGraphicFramePr/>
          <p:nvPr/>
        </p:nvGraphicFramePr>
        <p:xfrm>
          <a:off x="4905375" y="196850"/>
          <a:ext cx="4005263" cy="1203325"/>
        </p:xfrm>
        <a:graphic>
          <a:graphicData uri="http://schemas.openxmlformats.org/presentationml/2006/ole">
            <mc:AlternateContent xmlns:mc="http://schemas.openxmlformats.org/markup-compatibility/2006">
              <mc:Choice xmlns:v="urn:schemas-microsoft-com:vml" Requires="v">
                <p:oleObj spid="_x0000_s3092" name="" r:id="rId7" imgW="1624965" imgH="482600" progId="Equation.3">
                  <p:embed/>
                </p:oleObj>
              </mc:Choice>
              <mc:Fallback>
                <p:oleObj name="" r:id="rId7" imgW="1624965" imgH="482600" progId="Equation.3">
                  <p:embed/>
                  <p:pic>
                    <p:nvPicPr>
                      <p:cNvPr id="0" name="图片 3091"/>
                      <p:cNvPicPr/>
                      <p:nvPr/>
                    </p:nvPicPr>
                    <p:blipFill>
                      <a:blip r:embed="rId8"/>
                      <a:stretch>
                        <a:fillRect/>
                      </a:stretch>
                    </p:blipFill>
                    <p:spPr>
                      <a:xfrm>
                        <a:off x="4905375" y="196850"/>
                        <a:ext cx="4005263" cy="1203325"/>
                      </a:xfrm>
                      <a:prstGeom prst="rect">
                        <a:avLst/>
                      </a:prstGeom>
                      <a:gradFill rotWithShape="1">
                        <a:gsLst>
                          <a:gs pos="0">
                            <a:schemeClr val="bg1"/>
                          </a:gs>
                          <a:gs pos="50000">
                            <a:schemeClr val="accent1"/>
                          </a:gs>
                          <a:gs pos="100000">
                            <a:schemeClr val="bg1"/>
                          </a:gs>
                        </a:gsLst>
                        <a:lin ang="5400000" scaled="1"/>
                        <a:tileRect/>
                      </a:gra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5171"/>
                                        </p:tgtEl>
                                        <p:attrNameLst>
                                          <p:attrName>style.visibility</p:attrName>
                                        </p:attrNameLst>
                                      </p:cBhvr>
                                      <p:to>
                                        <p:strVal val="visible"/>
                                      </p:to>
                                    </p:set>
                                    <p:animEffect transition="in" filter="wipe(left)">
                                      <p:cBhvr>
                                        <p:cTn id="7" dur="500"/>
                                        <p:tgtEl>
                                          <p:spTgt spid="13517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8" presetClass="entr" presetSubtype="32" fill="hold" nodeType="clickEffect">
                                  <p:stCondLst>
                                    <p:cond delay="0"/>
                                  </p:stCondLst>
                                  <p:childTnLst>
                                    <p:set>
                                      <p:cBhvr>
                                        <p:cTn id="17" dur="1" fill="hold">
                                          <p:stCondLst>
                                            <p:cond delay="0"/>
                                          </p:stCondLst>
                                        </p:cTn>
                                        <p:tgtEl>
                                          <p:spTgt spid="135183"/>
                                        </p:tgtEl>
                                        <p:attrNameLst>
                                          <p:attrName>style.visibility</p:attrName>
                                        </p:attrNameLst>
                                      </p:cBhvr>
                                      <p:to>
                                        <p:strVal val="visible"/>
                                      </p:to>
                                    </p:set>
                                    <p:animEffect transition="in" filter="diamond(out)">
                                      <p:cBhvr>
                                        <p:cTn id="18" dur="1000"/>
                                        <p:tgtEl>
                                          <p:spTgt spid="13518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35177"/>
                                        </p:tgtEl>
                                        <p:attrNameLst>
                                          <p:attrName>style.visibility</p:attrName>
                                        </p:attrNameLst>
                                      </p:cBhvr>
                                      <p:to>
                                        <p:strVal val="visible"/>
                                      </p:to>
                                    </p:set>
                                    <p:animEffect transition="in" filter="box(in)">
                                      <p:cBhvr>
                                        <p:cTn id="23" dur="500"/>
                                        <p:tgtEl>
                                          <p:spTgt spid="13517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wd">
                                    <p:tmAbs val="300"/>
                                  </p:iterate>
                                  <p:childTnLst>
                                    <p:set>
                                      <p:cBhvr>
                                        <p:cTn id="27" dur="1" fill="hold">
                                          <p:stCondLst>
                                            <p:cond delay="299"/>
                                          </p:stCondLst>
                                        </p:cTn>
                                        <p:tgtEl>
                                          <p:spTgt spid="135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4"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aphicFrame>
        <p:nvGraphicFramePr>
          <p:cNvPr id="84025" name="Object 57"/>
          <p:cNvGraphicFramePr/>
          <p:nvPr/>
        </p:nvGraphicFramePr>
        <p:xfrm>
          <a:off x="608013" y="1370013"/>
          <a:ext cx="8047037" cy="1004887"/>
        </p:xfrm>
        <a:graphic>
          <a:graphicData uri="http://schemas.openxmlformats.org/presentationml/2006/ole">
            <mc:AlternateContent xmlns:mc="http://schemas.openxmlformats.org/markup-compatibility/2006">
              <mc:Choice xmlns:v="urn:schemas-microsoft-com:vml" Requires="v">
                <p:oleObj spid="_x0000_s3091" name="" r:id="rId1" imgW="3352800" imgH="419100" progId="Equation.DSMT4">
                  <p:embed/>
                </p:oleObj>
              </mc:Choice>
              <mc:Fallback>
                <p:oleObj name="" r:id="rId1" imgW="3352800" imgH="419100" progId="Equation.DSMT4">
                  <p:embed/>
                  <p:pic>
                    <p:nvPicPr>
                      <p:cNvPr id="0" name="图片 3090"/>
                      <p:cNvPicPr/>
                      <p:nvPr/>
                    </p:nvPicPr>
                    <p:blipFill>
                      <a:blip r:embed="rId2"/>
                      <a:stretch>
                        <a:fillRect/>
                      </a:stretch>
                    </p:blipFill>
                    <p:spPr>
                      <a:xfrm>
                        <a:off x="608013" y="1370013"/>
                        <a:ext cx="8047037" cy="1004887"/>
                      </a:xfrm>
                      <a:prstGeom prst="rect">
                        <a:avLst/>
                      </a:prstGeom>
                      <a:noFill/>
                      <a:ln w="38100">
                        <a:noFill/>
                        <a:miter/>
                      </a:ln>
                    </p:spPr>
                  </p:pic>
                </p:oleObj>
              </mc:Fallback>
            </mc:AlternateContent>
          </a:graphicData>
        </a:graphic>
      </p:graphicFrame>
      <p:sp>
        <p:nvSpPr>
          <p:cNvPr id="84026" name="Text Box 58"/>
          <p:cNvSpPr txBox="1"/>
          <p:nvPr/>
        </p:nvSpPr>
        <p:spPr>
          <a:xfrm>
            <a:off x="631825" y="2444750"/>
            <a:ext cx="3043238" cy="579438"/>
          </a:xfrm>
          <a:prstGeom prst="rect">
            <a:avLst/>
          </a:prstGeom>
          <a:noFill/>
          <a:ln w="9525">
            <a:noFill/>
          </a:ln>
        </p:spPr>
        <p:txBody>
          <a:bodyPr wrap="none">
            <a:spAutoFit/>
          </a:bodyPr>
          <a:p>
            <a:r>
              <a:rPr lang="zh-CN" altLang="en-US" b="1" dirty="0">
                <a:latin typeface="Times New Roman" panose="02020603050405020304" pitchFamily="18" charset="0"/>
              </a:rPr>
              <a:t>类似地，可导出</a:t>
            </a:r>
            <a:endParaRPr lang="zh-CN" altLang="en-US" b="1" dirty="0">
              <a:latin typeface="Times New Roman" panose="02020603050405020304" pitchFamily="18" charset="0"/>
            </a:endParaRPr>
          </a:p>
        </p:txBody>
      </p:sp>
      <p:sp>
        <p:nvSpPr>
          <p:cNvPr id="84028" name="Text Box 60"/>
          <p:cNvSpPr txBox="1"/>
          <p:nvPr/>
        </p:nvSpPr>
        <p:spPr>
          <a:xfrm>
            <a:off x="487363" y="4114800"/>
            <a:ext cx="8261350" cy="1844675"/>
          </a:xfrm>
          <a:prstGeom prst="rect">
            <a:avLst/>
          </a:prstGeom>
          <a:noFill/>
          <a:ln w="9525">
            <a:noFill/>
          </a:ln>
        </p:spPr>
        <p:txBody>
          <a:bodyPr>
            <a:spAutoFit/>
          </a:bodyPr>
          <a:p>
            <a:pPr>
              <a:lnSpc>
                <a:spcPct val="120000"/>
              </a:lnSpc>
            </a:pPr>
            <a:r>
              <a:rPr lang="zh-CN" altLang="en-US" b="1" dirty="0">
                <a:latin typeface="Times New Roman" panose="02020603050405020304" pitchFamily="18" charset="0"/>
              </a:rPr>
              <a:t>上述公式称为</a:t>
            </a:r>
            <a:r>
              <a:rPr lang="en-US" altLang="en-US" b="1" dirty="0">
                <a:solidFill>
                  <a:schemeClr val="accent2"/>
                </a:solidFill>
                <a:latin typeface="Times New Roman" panose="02020603050405020304" pitchFamily="18" charset="0"/>
              </a:rPr>
              <a:t>Euler</a:t>
            </a:r>
            <a:r>
              <a:rPr lang="zh-CN" altLang="zh-CN" b="1" dirty="0">
                <a:solidFill>
                  <a:schemeClr val="accent2"/>
                </a:solidFill>
                <a:latin typeface="Times New Roman" panose="02020603050405020304" pitchFamily="18" charset="0"/>
              </a:rPr>
              <a:t>两步法</a:t>
            </a:r>
            <a:r>
              <a:rPr lang="zh-CN" altLang="en-US" b="1" dirty="0">
                <a:solidFill>
                  <a:schemeClr val="accent2"/>
                </a:solidFill>
                <a:latin typeface="Times New Roman" panose="02020603050405020304" pitchFamily="18" charset="0"/>
              </a:rPr>
              <a:t>公式</a:t>
            </a:r>
            <a:r>
              <a:rPr lang="zh-CN" altLang="en-US" b="1" dirty="0">
                <a:latin typeface="Times New Roman" panose="02020603050405020304" pitchFamily="18" charset="0"/>
              </a:rPr>
              <a:t>. 这因为，当计算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+1 </a:t>
            </a:r>
            <a:r>
              <a:rPr lang="zh-CN" altLang="en-US" b="1" dirty="0">
                <a:latin typeface="Times New Roman" panose="02020603050405020304" pitchFamily="18" charset="0"/>
              </a:rPr>
              <a:t>时, 要用到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 -1 </a:t>
            </a:r>
            <a:r>
              <a:rPr lang="zh-CN" altLang="en-US" b="1" dirty="0">
                <a:latin typeface="Times New Roman" panose="02020603050405020304" pitchFamily="18" charset="0"/>
              </a:rPr>
              <a:t>与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 </a:t>
            </a:r>
            <a:r>
              <a:rPr lang="zh-CN" altLang="en-US" b="1" dirty="0">
                <a:latin typeface="Times New Roman" panose="02020603050405020304" pitchFamily="18" charset="0"/>
              </a:rPr>
              <a:t>. 显然它也是显格式.</a:t>
            </a:r>
            <a:endParaRPr lang="zh-CN" altLang="en-US" b="1" dirty="0">
              <a:latin typeface="Times New Roman" panose="02020603050405020304" pitchFamily="18" charset="0"/>
            </a:endParaRPr>
          </a:p>
        </p:txBody>
      </p:sp>
      <p:sp>
        <p:nvSpPr>
          <p:cNvPr id="7177" name="Rectangle 65"/>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如果</a:t>
            </a:r>
            <a:r>
              <a:rPr lang="zh-CN" altLang="en-US" b="1" u="none" dirty="0">
                <a:solidFill>
                  <a:schemeClr val="tx2"/>
                </a:solidFill>
                <a:latin typeface="Times New Roman" panose="02020603050405020304" pitchFamily="18" charset="0"/>
              </a:rPr>
              <a:t>利用下列三点数值微分公式</a:t>
            </a:r>
            <a:endParaRPr lang="zh-CN" altLang="en-US" b="1" u="none" dirty="0">
              <a:latin typeface="Times New Roman" panose="02020603050405020304" pitchFamily="18" charset="0"/>
            </a:endParaRPr>
          </a:p>
        </p:txBody>
      </p:sp>
      <p:grpSp>
        <p:nvGrpSpPr>
          <p:cNvPr id="2" name="Group 67"/>
          <p:cNvGrpSpPr/>
          <p:nvPr/>
        </p:nvGrpSpPr>
        <p:grpSpPr>
          <a:xfrm>
            <a:off x="2190750" y="3175000"/>
            <a:ext cx="5927725" cy="620713"/>
            <a:chOff x="1677" y="1960"/>
            <a:chExt cx="3734" cy="391"/>
          </a:xfrm>
        </p:grpSpPr>
        <p:graphicFrame>
          <p:nvGraphicFramePr>
            <p:cNvPr id="7172" name="Object 59"/>
            <p:cNvGraphicFramePr/>
            <p:nvPr/>
          </p:nvGraphicFramePr>
          <p:xfrm>
            <a:off x="1677" y="2004"/>
            <a:ext cx="2267" cy="347"/>
          </p:xfrm>
          <a:graphic>
            <a:graphicData uri="http://schemas.openxmlformats.org/presentationml/2006/ole">
              <mc:AlternateContent xmlns:mc="http://schemas.openxmlformats.org/markup-compatibility/2006">
                <mc:Choice xmlns:v="urn:schemas-microsoft-com:vml" Requires="v">
                  <p:oleObj spid="_x0000_s3089" name="" r:id="rId3" imgW="1498600" imgH="228600" progId="Equation.DSMT4">
                    <p:embed/>
                  </p:oleObj>
                </mc:Choice>
                <mc:Fallback>
                  <p:oleObj name="" r:id="rId3" imgW="1498600" imgH="228600" progId="Equation.DSMT4">
                    <p:embed/>
                    <p:pic>
                      <p:nvPicPr>
                        <p:cNvPr id="0" name="图片 3088"/>
                        <p:cNvPicPr/>
                        <p:nvPr/>
                      </p:nvPicPr>
                      <p:blipFill>
                        <a:blip r:embed="rId4"/>
                        <a:stretch>
                          <a:fillRect/>
                        </a:stretch>
                      </p:blipFill>
                      <p:spPr>
                        <a:xfrm>
                          <a:off x="1677" y="2004"/>
                          <a:ext cx="2267" cy="347"/>
                        </a:xfrm>
                        <a:prstGeom prst="rect">
                          <a:avLst/>
                        </a:prstGeom>
                        <a:noFill/>
                        <a:ln w="38100">
                          <a:noFill/>
                          <a:miter/>
                        </a:ln>
                      </p:spPr>
                    </p:pic>
                  </p:oleObj>
                </mc:Fallback>
              </mc:AlternateContent>
            </a:graphicData>
          </a:graphic>
        </p:graphicFrame>
        <p:sp>
          <p:nvSpPr>
            <p:cNvPr id="7179" name="Text Box 66"/>
            <p:cNvSpPr txBox="1"/>
            <p:nvPr/>
          </p:nvSpPr>
          <p:spPr>
            <a:xfrm>
              <a:off x="4557" y="1960"/>
              <a:ext cx="854" cy="368"/>
            </a:xfrm>
            <a:prstGeom prst="rect">
              <a:avLst/>
            </a:prstGeom>
            <a:noFill/>
            <a:ln w="9525">
              <a:noFill/>
            </a:ln>
          </p:spPr>
          <p:txBody>
            <a:bodyPr wrap="none">
              <a:spAutoFit/>
            </a:bodyPr>
            <a:p>
              <a:pPr algn="ctr" eaLnBrk="0" hangingPunct="0"/>
              <a:r>
                <a:rPr lang="zh-CN" altLang="en-US" dirty="0">
                  <a:latin typeface="Times New Roman" panose="02020603050405020304" pitchFamily="18" charset="0"/>
                </a:rPr>
                <a:t>(</a:t>
              </a:r>
              <a:r>
                <a:rPr lang="en-US" altLang="zh-CN" b="1" dirty="0">
                  <a:latin typeface="Times New Roman" panose="02020603050405020304" pitchFamily="18" charset="0"/>
                </a:rPr>
                <a:t>9.</a:t>
              </a:r>
              <a:r>
                <a:rPr lang="zh-CN" altLang="en-US" b="1" dirty="0">
                  <a:latin typeface="Times New Roman" panose="02020603050405020304" pitchFamily="18" charset="0"/>
                </a:rPr>
                <a:t>1.3</a:t>
              </a:r>
              <a:r>
                <a:rPr lang="zh-CN" altLang="en-US" dirty="0">
                  <a:latin typeface="Times New Roman" panose="02020603050405020304" pitchFamily="18" charset="0"/>
                </a:rPr>
                <a:t>)</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grpSp>
      <p:graphicFrame>
        <p:nvGraphicFramePr>
          <p:cNvPr id="84036" name="Object 68"/>
          <p:cNvGraphicFramePr/>
          <p:nvPr/>
        </p:nvGraphicFramePr>
        <p:xfrm>
          <a:off x="4619625" y="187325"/>
          <a:ext cx="4210050" cy="1208088"/>
        </p:xfrm>
        <a:graphic>
          <a:graphicData uri="http://schemas.openxmlformats.org/presentationml/2006/ole">
            <mc:AlternateContent xmlns:mc="http://schemas.openxmlformats.org/markup-compatibility/2006">
              <mc:Choice xmlns:v="urn:schemas-microsoft-com:vml" Requires="v">
                <p:oleObj spid="_x0000_s3093" name="" r:id="rId5" imgW="1675765" imgH="482600" progId="Equation.DSMT4">
                  <p:embed/>
                </p:oleObj>
              </mc:Choice>
              <mc:Fallback>
                <p:oleObj name="" r:id="rId5" imgW="1675765" imgH="482600" progId="Equation.DSMT4">
                  <p:embed/>
                  <p:pic>
                    <p:nvPicPr>
                      <p:cNvPr id="0" name="图片 3092"/>
                      <p:cNvPicPr/>
                      <p:nvPr/>
                    </p:nvPicPr>
                    <p:blipFill>
                      <a:blip r:embed="rId6"/>
                      <a:stretch>
                        <a:fillRect/>
                      </a:stretch>
                    </p:blipFill>
                    <p:spPr>
                      <a:xfrm>
                        <a:off x="4619625" y="187325"/>
                        <a:ext cx="4210050" cy="1208088"/>
                      </a:xfrm>
                      <a:prstGeom prst="rect">
                        <a:avLst/>
                      </a:prstGeom>
                      <a:gradFill rotWithShape="0">
                        <a:gsLst>
                          <a:gs pos="0">
                            <a:srgbClr val="FFFFFF"/>
                          </a:gs>
                          <a:gs pos="50000">
                            <a:schemeClr val="accent1"/>
                          </a:gs>
                          <a:gs pos="100000">
                            <a:srgbClr val="FFFFFF"/>
                          </a:gs>
                        </a:gsLst>
                        <a:lin ang="5400000" scaled="1"/>
                        <a:tileRect/>
                      </a:gra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4025"/>
                                        </p:tgtEl>
                                        <p:attrNameLst>
                                          <p:attrName>style.visibility</p:attrName>
                                        </p:attrNameLst>
                                      </p:cBhvr>
                                      <p:to>
                                        <p:strVal val="visible"/>
                                      </p:to>
                                    </p:set>
                                    <p:animEffect transition="in" filter="checkerboard(across)">
                                      <p:cBhvr>
                                        <p:cTn id="7" dur="500"/>
                                        <p:tgtEl>
                                          <p:spTgt spid="840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4026"/>
                                        </p:tgtEl>
                                        <p:attrNameLst>
                                          <p:attrName>style.visibility</p:attrName>
                                        </p:attrNameLst>
                                      </p:cBhvr>
                                      <p:to>
                                        <p:strVal val="visible"/>
                                      </p:to>
                                    </p:set>
                                    <p:animEffect transition="in" filter="dissolve">
                                      <p:cBhvr>
                                        <p:cTn id="12" dur="500"/>
                                        <p:tgtEl>
                                          <p:spTgt spid="840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4036"/>
                                        </p:tgtEl>
                                        <p:attrNameLst>
                                          <p:attrName>style.visibility</p:attrName>
                                        </p:attrNameLst>
                                      </p:cBhvr>
                                      <p:to>
                                        <p:strVal val="visible"/>
                                      </p:to>
                                    </p:set>
                                    <p:animEffect transition="in" filter="box(in)">
                                      <p:cBhvr>
                                        <p:cTn id="22" dur="500"/>
                                        <p:tgtEl>
                                          <p:spTgt spid="8403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300"/>
                                  </p:iterate>
                                  <p:childTnLst>
                                    <p:set>
                                      <p:cBhvr>
                                        <p:cTn id="26" dur="1" fill="hold">
                                          <p:stCondLst>
                                            <p:cond delay="299"/>
                                          </p:stCondLst>
                                        </p:cTn>
                                        <p:tgtEl>
                                          <p:spTgt spid="84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26" grpId="0"/>
      <p:bldP spid="8402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98"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85058" name="Rectangle 66"/>
          <p:cNvSpPr/>
          <p:nvPr/>
        </p:nvSpPr>
        <p:spPr>
          <a:xfrm>
            <a:off x="503238" y="1106488"/>
            <a:ext cx="5989637" cy="584200"/>
          </a:xfrm>
          <a:prstGeom prst="rect">
            <a:avLst/>
          </a:prstGeom>
          <a:noFill/>
          <a:ln w="9525">
            <a:noFill/>
          </a:ln>
        </p:spPr>
        <p:txBody>
          <a:bodyPr wrap="none">
            <a:spAutoFit/>
          </a:bodyPr>
          <a:p>
            <a:r>
              <a:rPr lang="zh-CN" altLang="en-US" b="1" dirty="0">
                <a:latin typeface="Times New Roman" panose="02020603050405020304" pitchFamily="18" charset="0"/>
              </a:rPr>
              <a:t>设 </a:t>
            </a:r>
            <a:r>
              <a:rPr lang="en-US" altLang="zh-CN" b="1" i="1" dirty="0">
                <a:latin typeface="Times New Roman" panose="02020603050405020304" pitchFamily="18" charset="0"/>
              </a:rPr>
              <a:t>y</a:t>
            </a:r>
            <a:r>
              <a:rPr lang="en-US" altLang="zh-CN" b="1" dirty="0">
                <a:latin typeface="Times New Roman" panose="02020603050405020304" pitchFamily="18" charset="0"/>
              </a:rPr>
              <a:t> </a:t>
            </a:r>
            <a:r>
              <a:rPr lang="zh-CN" altLang="en-US" b="1" dirty="0">
                <a:latin typeface="宋体" panose="02010600030101010101" pitchFamily="2" charset="-122"/>
              </a:rPr>
              <a:t>∈</a:t>
            </a:r>
            <a:r>
              <a:rPr lang="en-US" altLang="en-US" b="1" i="1" dirty="0">
                <a:latin typeface="Times New Roman" panose="02020603050405020304" pitchFamily="18" charset="0"/>
              </a:rPr>
              <a:t>C</a:t>
            </a:r>
            <a:r>
              <a:rPr lang="en-US" altLang="en-US" b="1" baseline="30000" dirty="0">
                <a:latin typeface="Times New Roman" panose="02020603050405020304" pitchFamily="18" charset="0"/>
              </a:rPr>
              <a:t>2</a:t>
            </a:r>
            <a:r>
              <a:rPr lang="en-US" altLang="en-US" b="1" dirty="0">
                <a:latin typeface="Times New Roman" panose="02020603050405020304" pitchFamily="18" charset="0"/>
              </a:rPr>
              <a:t>[</a:t>
            </a:r>
            <a:r>
              <a:rPr lang="en-US" altLang="en-US" b="1" i="1" dirty="0">
                <a:latin typeface="Times New Roman" panose="02020603050405020304" pitchFamily="18" charset="0"/>
              </a:rPr>
              <a:t>a </a:t>
            </a:r>
            <a:r>
              <a:rPr lang="en-US" altLang="en-US" b="1" dirty="0">
                <a:latin typeface="Times New Roman" panose="02020603050405020304" pitchFamily="18" charset="0"/>
              </a:rPr>
              <a:t>, </a:t>
            </a:r>
            <a:r>
              <a:rPr lang="en-US" altLang="en-US" b="1" i="1" dirty="0">
                <a:latin typeface="Times New Roman" panose="02020603050405020304" pitchFamily="18" charset="0"/>
              </a:rPr>
              <a:t>b</a:t>
            </a:r>
            <a:r>
              <a:rPr lang="en-US" altLang="en-US" b="1" dirty="0">
                <a:latin typeface="Times New Roman" panose="02020603050405020304" pitchFamily="18" charset="0"/>
              </a:rPr>
              <a:t>], </a:t>
            </a:r>
            <a:r>
              <a:rPr lang="zh-CN" altLang="en-US" b="1" dirty="0">
                <a:latin typeface="Times New Roman" panose="02020603050405020304" pitchFamily="18" charset="0"/>
              </a:rPr>
              <a:t>由 </a:t>
            </a:r>
            <a:r>
              <a:rPr lang="en-US" altLang="en-US" b="1" dirty="0">
                <a:latin typeface="Times New Roman" panose="02020603050405020304" pitchFamily="18" charset="0"/>
              </a:rPr>
              <a:t>Taylor </a:t>
            </a:r>
            <a:r>
              <a:rPr lang="zh-CN" altLang="en-US" b="1" dirty="0">
                <a:latin typeface="Times New Roman" panose="02020603050405020304" pitchFamily="18" charset="0"/>
              </a:rPr>
              <a:t>公式有</a:t>
            </a:r>
            <a:endParaRPr lang="zh-CN" altLang="en-US" b="1" dirty="0">
              <a:latin typeface="宋体" panose="02010600030101010101" pitchFamily="2" charset="-122"/>
            </a:endParaRPr>
          </a:p>
        </p:txBody>
      </p:sp>
      <p:grpSp>
        <p:nvGrpSpPr>
          <p:cNvPr id="2" name="Group 77"/>
          <p:cNvGrpSpPr/>
          <p:nvPr/>
        </p:nvGrpSpPr>
        <p:grpSpPr>
          <a:xfrm>
            <a:off x="422275" y="3082925"/>
            <a:ext cx="6086475" cy="579438"/>
            <a:chOff x="354" y="1879"/>
            <a:chExt cx="3705" cy="365"/>
          </a:xfrm>
        </p:grpSpPr>
        <p:sp>
          <p:nvSpPr>
            <p:cNvPr id="8205" name="Rectangle 69"/>
            <p:cNvSpPr/>
            <p:nvPr/>
          </p:nvSpPr>
          <p:spPr>
            <a:xfrm>
              <a:off x="354" y="1879"/>
              <a:ext cx="3705" cy="365"/>
            </a:xfrm>
            <a:prstGeom prst="rect">
              <a:avLst/>
            </a:prstGeom>
            <a:noFill/>
            <a:ln w="9525">
              <a:noFill/>
            </a:ln>
          </p:spPr>
          <p:txBody>
            <a:bodyPr wrap="none">
              <a:spAutoFit/>
            </a:bodyPr>
            <a:p>
              <a:r>
                <a:rPr lang="zh-CN" altLang="en-US" b="1" dirty="0">
                  <a:latin typeface="Times New Roman" panose="02020603050405020304" pitchFamily="18" charset="0"/>
                </a:rPr>
                <a:t>由于                             故上式即为</a:t>
              </a:r>
              <a:r>
                <a:rPr lang="zh-CN" altLang="en-US" sz="2800" dirty="0">
                  <a:latin typeface="Times New Roman" panose="02020603050405020304" pitchFamily="18" charset="0"/>
                </a:rPr>
                <a:t> </a:t>
              </a:r>
              <a:endParaRPr lang="zh-CN" altLang="zh-CN" sz="2800" dirty="0">
                <a:latin typeface="宋体" panose="02010600030101010101" pitchFamily="2" charset="-122"/>
              </a:endParaRPr>
            </a:p>
          </p:txBody>
        </p:sp>
        <p:graphicFrame>
          <p:nvGraphicFramePr>
            <p:cNvPr id="8196" name="Object 70"/>
            <p:cNvGraphicFramePr/>
            <p:nvPr/>
          </p:nvGraphicFramePr>
          <p:xfrm>
            <a:off x="838" y="1920"/>
            <a:ext cx="1814" cy="307"/>
          </p:xfrm>
          <a:graphic>
            <a:graphicData uri="http://schemas.openxmlformats.org/presentationml/2006/ole">
              <mc:AlternateContent xmlns:mc="http://schemas.openxmlformats.org/markup-compatibility/2006">
                <mc:Choice xmlns:v="urn:schemas-microsoft-com:vml" Requires="v">
                  <p:oleObj spid="_x0000_s3076" name="" r:id="rId1" imgW="1192530" imgH="203200" progId="Equation.DSMT4">
                    <p:embed/>
                  </p:oleObj>
                </mc:Choice>
                <mc:Fallback>
                  <p:oleObj name="" r:id="rId1" imgW="1192530" imgH="203200" progId="Equation.DSMT4">
                    <p:embed/>
                    <p:pic>
                      <p:nvPicPr>
                        <p:cNvPr id="0" name="图片 3075"/>
                        <p:cNvPicPr/>
                        <p:nvPr/>
                      </p:nvPicPr>
                      <p:blipFill>
                        <a:blip r:embed="rId2"/>
                        <a:stretch>
                          <a:fillRect/>
                        </a:stretch>
                      </p:blipFill>
                      <p:spPr>
                        <a:xfrm>
                          <a:off x="838" y="1920"/>
                          <a:ext cx="1814" cy="307"/>
                        </a:xfrm>
                        <a:prstGeom prst="rect">
                          <a:avLst/>
                        </a:prstGeom>
                        <a:noFill/>
                        <a:ln w="38100">
                          <a:noFill/>
                          <a:miter/>
                        </a:ln>
                      </p:spPr>
                    </p:pic>
                  </p:oleObj>
                </mc:Fallback>
              </mc:AlternateContent>
            </a:graphicData>
          </a:graphic>
        </p:graphicFrame>
      </p:grpSp>
      <p:sp>
        <p:nvSpPr>
          <p:cNvPr id="85063" name="Rectangle 71"/>
          <p:cNvSpPr/>
          <p:nvPr/>
        </p:nvSpPr>
        <p:spPr>
          <a:xfrm>
            <a:off x="363538" y="4910138"/>
            <a:ext cx="8359775" cy="1260475"/>
          </a:xfrm>
          <a:prstGeom prst="rect">
            <a:avLst/>
          </a:prstGeom>
          <a:noFill/>
          <a:ln w="9525">
            <a:noFill/>
          </a:ln>
        </p:spPr>
        <p:txBody>
          <a:bodyPr>
            <a:spAutoFit/>
          </a:bodyPr>
          <a:p>
            <a:pPr>
              <a:lnSpc>
                <a:spcPct val="120000"/>
              </a:lnSpc>
            </a:pPr>
            <a:r>
              <a:rPr lang="zh-CN" altLang="en-US" b="1" dirty="0">
                <a:latin typeface="Times New Roman" panose="02020603050405020304" pitchFamily="18" charset="0"/>
              </a:rPr>
              <a:t>略去余项, 并以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 </a:t>
            </a:r>
            <a:r>
              <a:rPr lang="en-US" altLang="en-US" b="1" dirty="0">
                <a:latin typeface="Times New Roman" panose="02020603050405020304" pitchFamily="18" charset="0"/>
              </a:rPr>
              <a:t>,</a:t>
            </a:r>
            <a:r>
              <a:rPr lang="zh-CN" altLang="en-US" b="1" dirty="0">
                <a:latin typeface="Times New Roman" panose="02020603050405020304" pitchFamily="18" charset="0"/>
              </a:rPr>
              <a:t>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+1 </a:t>
            </a:r>
            <a:r>
              <a:rPr lang="zh-CN" altLang="en-US" b="1" dirty="0">
                <a:latin typeface="Times New Roman" panose="02020603050405020304" pitchFamily="18" charset="0"/>
              </a:rPr>
              <a:t>代替 </a:t>
            </a:r>
            <a:r>
              <a:rPr lang="en-US" altLang="zh-CN" b="1" i="1" dirty="0">
                <a:latin typeface="Times New Roman" panose="02020603050405020304" pitchFamily="18" charset="0"/>
              </a:rPr>
              <a:t>y </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及 </a:t>
            </a:r>
            <a:r>
              <a:rPr lang="en-US" altLang="zh-CN" b="1" i="1" dirty="0">
                <a:latin typeface="Times New Roman" panose="02020603050405020304" pitchFamily="18" charset="0"/>
              </a:rPr>
              <a:t>y </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a:t>
            </a:r>
            <a:r>
              <a:rPr lang="zh-CN" altLang="en-US" b="1" dirty="0">
                <a:latin typeface="Times New Roman" panose="02020603050405020304" pitchFamily="18" charset="0"/>
              </a:rPr>
              <a:t> 得到的差分方程正是</a:t>
            </a:r>
            <a:r>
              <a:rPr lang="en-US" altLang="zh-CN" b="1" dirty="0">
                <a:latin typeface="Times New Roman" panose="02020603050405020304" pitchFamily="18" charset="0"/>
              </a:rPr>
              <a:t>Euler </a:t>
            </a:r>
            <a:r>
              <a:rPr lang="zh-CN" altLang="en-US" b="1" dirty="0">
                <a:latin typeface="Times New Roman" panose="02020603050405020304" pitchFamily="18" charset="0"/>
              </a:rPr>
              <a:t>公式.</a:t>
            </a:r>
            <a:endParaRPr lang="zh-CN" altLang="en-US" b="1" dirty="0">
              <a:latin typeface="Times New Roman" panose="02020603050405020304" pitchFamily="18" charset="0"/>
            </a:endParaRPr>
          </a:p>
        </p:txBody>
      </p:sp>
      <p:grpSp>
        <p:nvGrpSpPr>
          <p:cNvPr id="3" name="Group 81"/>
          <p:cNvGrpSpPr/>
          <p:nvPr/>
        </p:nvGrpSpPr>
        <p:grpSpPr>
          <a:xfrm>
            <a:off x="652463" y="1746250"/>
            <a:ext cx="8112125" cy="1517650"/>
            <a:chOff x="371" y="1111"/>
            <a:chExt cx="5110" cy="956"/>
          </a:xfrm>
        </p:grpSpPr>
        <p:graphicFrame>
          <p:nvGraphicFramePr>
            <p:cNvPr id="8195" name="Object 68"/>
            <p:cNvGraphicFramePr/>
            <p:nvPr/>
          </p:nvGraphicFramePr>
          <p:xfrm>
            <a:off x="371" y="1111"/>
            <a:ext cx="5008" cy="633"/>
          </p:xfrm>
          <a:graphic>
            <a:graphicData uri="http://schemas.openxmlformats.org/presentationml/2006/ole">
              <mc:AlternateContent xmlns:mc="http://schemas.openxmlformats.org/markup-compatibility/2006">
                <mc:Choice xmlns:v="urn:schemas-microsoft-com:vml" Requires="v">
                  <p:oleObj spid="_x0000_s3077" name="" r:id="rId3" imgW="3314700" imgH="419100" progId="Equation.DSMT4">
                    <p:embed/>
                  </p:oleObj>
                </mc:Choice>
                <mc:Fallback>
                  <p:oleObj name="" r:id="rId3" imgW="3314700" imgH="419100" progId="Equation.DSMT4">
                    <p:embed/>
                    <p:pic>
                      <p:nvPicPr>
                        <p:cNvPr id="0" name="图片 3076"/>
                        <p:cNvPicPr/>
                        <p:nvPr/>
                      </p:nvPicPr>
                      <p:blipFill>
                        <a:blip r:embed="rId4"/>
                        <a:stretch>
                          <a:fillRect/>
                        </a:stretch>
                      </p:blipFill>
                      <p:spPr>
                        <a:xfrm>
                          <a:off x="371" y="1111"/>
                          <a:ext cx="5008" cy="633"/>
                        </a:xfrm>
                        <a:prstGeom prst="rect">
                          <a:avLst/>
                        </a:prstGeom>
                        <a:noFill/>
                        <a:ln w="38100">
                          <a:noFill/>
                          <a:miter/>
                        </a:ln>
                      </p:spPr>
                    </p:pic>
                  </p:oleObj>
                </mc:Fallback>
              </mc:AlternateContent>
            </a:graphicData>
          </a:graphic>
        </p:graphicFrame>
        <p:sp>
          <p:nvSpPr>
            <p:cNvPr id="8204" name="Text Box 78"/>
            <p:cNvSpPr txBox="1"/>
            <p:nvPr/>
          </p:nvSpPr>
          <p:spPr>
            <a:xfrm>
              <a:off x="4713" y="1738"/>
              <a:ext cx="768" cy="329"/>
            </a:xfrm>
            <a:prstGeom prst="rect">
              <a:avLst/>
            </a:prstGeom>
            <a:noFill/>
            <a:ln w="9525">
              <a:noFill/>
            </a:ln>
          </p:spPr>
          <p:txBody>
            <a:bodyPr wrap="none">
              <a:spAutoFit/>
            </a:bodyPr>
            <a:p>
              <a:pPr algn="ctr" eaLnBrk="0" hangingPunct="0"/>
              <a:r>
                <a:rPr lang="zh-CN" altLang="en-US" sz="2800" dirty="0">
                  <a:latin typeface="Times New Roman" panose="02020603050405020304" pitchFamily="18" charset="0"/>
                </a:rPr>
                <a:t>(</a:t>
              </a:r>
              <a:r>
                <a:rPr lang="en-US" altLang="zh-CN" sz="2800" dirty="0">
                  <a:latin typeface="Times New Roman" panose="02020603050405020304" pitchFamily="18" charset="0"/>
                </a:rPr>
                <a:t>9.</a:t>
              </a:r>
              <a:r>
                <a:rPr lang="zh-CN" altLang="en-US" sz="2800" dirty="0">
                  <a:latin typeface="Times New Roman" panose="02020603050405020304" pitchFamily="18" charset="0"/>
                </a:rPr>
                <a:t>1.4) </a:t>
              </a:r>
              <a:endParaRPr lang="zh-CN" altLang="en-US" sz="2800" dirty="0">
                <a:latin typeface="Times New Roman" panose="02020603050405020304" pitchFamily="18" charset="0"/>
              </a:endParaRPr>
            </a:p>
          </p:txBody>
        </p:sp>
      </p:grpSp>
      <p:graphicFrame>
        <p:nvGraphicFramePr>
          <p:cNvPr id="85071" name="Object 79"/>
          <p:cNvGraphicFramePr/>
          <p:nvPr/>
        </p:nvGraphicFramePr>
        <p:xfrm>
          <a:off x="684848" y="3770313"/>
          <a:ext cx="7882255" cy="1047750"/>
        </p:xfrm>
        <a:graphic>
          <a:graphicData uri="http://schemas.openxmlformats.org/presentationml/2006/ole">
            <mc:AlternateContent xmlns:mc="http://schemas.openxmlformats.org/markup-compatibility/2006">
              <mc:Choice xmlns:v="urn:schemas-microsoft-com:vml" Requires="v">
                <p:oleObj spid="_x0000_s3078" name="" r:id="rId5" imgW="3148965" imgH="419100" progId="Equation.3">
                  <p:embed/>
                </p:oleObj>
              </mc:Choice>
              <mc:Fallback>
                <p:oleObj name="" r:id="rId5" imgW="3148965" imgH="419100" progId="Equation.3">
                  <p:embed/>
                  <p:pic>
                    <p:nvPicPr>
                      <p:cNvPr id="0" name="图片 3077"/>
                      <p:cNvPicPr/>
                      <p:nvPr/>
                    </p:nvPicPr>
                    <p:blipFill>
                      <a:blip r:embed="rId6"/>
                      <a:stretch>
                        <a:fillRect/>
                      </a:stretch>
                    </p:blipFill>
                    <p:spPr>
                      <a:xfrm>
                        <a:off x="684848" y="3770313"/>
                        <a:ext cx="7882255" cy="1047750"/>
                      </a:xfrm>
                      <a:prstGeom prst="rect">
                        <a:avLst/>
                      </a:prstGeom>
                      <a:noFill/>
                      <a:ln w="38100">
                        <a:noFill/>
                        <a:miter/>
                      </a:ln>
                    </p:spPr>
                  </p:pic>
                </p:oleObj>
              </mc:Fallback>
            </mc:AlternateContent>
          </a:graphicData>
        </a:graphic>
      </p:graphicFrame>
      <p:sp>
        <p:nvSpPr>
          <p:cNvPr id="8203" name="Rectangle 83"/>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2. </a:t>
            </a:r>
            <a:r>
              <a:rPr lang="en-US" altLang="zh-CN" b="1" u="none" dirty="0">
                <a:solidFill>
                  <a:schemeClr val="tx1"/>
                </a:solidFill>
                <a:latin typeface="Times New Roman" panose="02020603050405020304" pitchFamily="18" charset="0"/>
              </a:rPr>
              <a:t>Taylor </a:t>
            </a:r>
            <a:r>
              <a:rPr lang="zh-CN" altLang="zh-CN" b="1" u="none" dirty="0">
                <a:solidFill>
                  <a:schemeClr val="tx1"/>
                </a:solidFill>
                <a:latin typeface="Times New Roman" panose="02020603050405020304" pitchFamily="18" charset="0"/>
                <a:ea typeface="黑体" panose="02010609060101010101" pitchFamily="49" charset="-122"/>
              </a:rPr>
              <a:t>展开</a:t>
            </a:r>
            <a:r>
              <a:rPr lang="zh-CN" altLang="en-US" b="1" u="none" dirty="0">
                <a:solidFill>
                  <a:schemeClr val="tx1"/>
                </a:solidFill>
                <a:latin typeface="Times New Roman" panose="02020603050405020304" pitchFamily="18" charset="0"/>
                <a:ea typeface="黑体" panose="02010609060101010101" pitchFamily="49" charset="-122"/>
              </a:rPr>
              <a:t>法</a:t>
            </a:r>
            <a:endParaRPr lang="zh-CN" altLang="en-US" b="1" u="none"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85058"/>
                                        </p:tgtEl>
                                        <p:attrNameLst>
                                          <p:attrName>style.visibility</p:attrName>
                                        </p:attrNameLst>
                                      </p:cBhvr>
                                      <p:to>
                                        <p:strVal val="visible"/>
                                      </p:to>
                                    </p:set>
                                    <p:animEffect transition="in" filter="blinds(vertical)">
                                      <p:cBhvr>
                                        <p:cTn id="7" dur="500"/>
                                        <p:tgtEl>
                                          <p:spTgt spid="8505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5071"/>
                                        </p:tgtEl>
                                        <p:attrNameLst>
                                          <p:attrName>style.visibility</p:attrName>
                                        </p:attrNameLst>
                                      </p:cBhvr>
                                      <p:to>
                                        <p:strVal val="visible"/>
                                      </p:to>
                                    </p:set>
                                    <p:anim calcmode="lin" valueType="num">
                                      <p:cBhvr additive="base">
                                        <p:cTn id="22" dur="500" fill="hold"/>
                                        <p:tgtEl>
                                          <p:spTgt spid="85071"/>
                                        </p:tgtEl>
                                        <p:attrNameLst>
                                          <p:attrName>ppt_x</p:attrName>
                                        </p:attrNameLst>
                                      </p:cBhvr>
                                      <p:tavLst>
                                        <p:tav tm="0">
                                          <p:val>
                                            <p:strVal val="#ppt_x"/>
                                          </p:val>
                                        </p:tav>
                                        <p:tav tm="100000">
                                          <p:val>
                                            <p:strVal val="#ppt_x"/>
                                          </p:val>
                                        </p:tav>
                                      </p:tavLst>
                                    </p:anim>
                                    <p:anim calcmode="lin" valueType="num">
                                      <p:cBhvr additive="base">
                                        <p:cTn id="23" dur="500" fill="hold"/>
                                        <p:tgtEl>
                                          <p:spTgt spid="8507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85063"/>
                                        </p:tgtEl>
                                        <p:attrNameLst>
                                          <p:attrName>style.visibility</p:attrName>
                                        </p:attrNameLst>
                                      </p:cBhvr>
                                      <p:to>
                                        <p:strVal val="visible"/>
                                      </p:to>
                                    </p:set>
                                    <p:animEffect transition="in" filter="blinds(vertical)">
                                      <p:cBhvr>
                                        <p:cTn id="28" dur="500"/>
                                        <p:tgtEl>
                                          <p:spTgt spid="85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58" grpId="0"/>
      <p:bldP spid="8506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222"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9223" name="Rectangle 2"/>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3. </a:t>
            </a:r>
            <a:r>
              <a:rPr lang="zh-CN" altLang="en-US" b="1" u="none" dirty="0">
                <a:solidFill>
                  <a:schemeClr val="tx1"/>
                </a:solidFill>
                <a:latin typeface="Times New Roman" panose="02020603050405020304" pitchFamily="18" charset="0"/>
                <a:ea typeface="黑体" panose="02010609060101010101" pitchFamily="49" charset="-122"/>
              </a:rPr>
              <a:t>数值积分方法</a:t>
            </a:r>
            <a:endParaRPr lang="zh-CN" altLang="en-US" b="1" u="none" dirty="0">
              <a:solidFill>
                <a:schemeClr val="tx1"/>
              </a:solidFill>
              <a:latin typeface="Times New Roman" panose="02020603050405020304" pitchFamily="18" charset="0"/>
              <a:ea typeface="黑体" panose="02010609060101010101" pitchFamily="49" charset="-122"/>
            </a:endParaRPr>
          </a:p>
        </p:txBody>
      </p:sp>
      <p:grpSp>
        <p:nvGrpSpPr>
          <p:cNvPr id="2" name="Group 3"/>
          <p:cNvGrpSpPr/>
          <p:nvPr/>
        </p:nvGrpSpPr>
        <p:grpSpPr>
          <a:xfrm>
            <a:off x="601663" y="1279525"/>
            <a:ext cx="8240712" cy="579438"/>
            <a:chOff x="279" y="388"/>
            <a:chExt cx="5191" cy="365"/>
          </a:xfrm>
        </p:grpSpPr>
        <p:sp>
          <p:nvSpPr>
            <p:cNvPr id="9227" name="Rectangle 4"/>
            <p:cNvSpPr/>
            <p:nvPr/>
          </p:nvSpPr>
          <p:spPr>
            <a:xfrm>
              <a:off x="279" y="388"/>
              <a:ext cx="5191" cy="365"/>
            </a:xfrm>
            <a:prstGeom prst="rect">
              <a:avLst/>
            </a:prstGeom>
            <a:noFill/>
            <a:ln w="9525">
              <a:noFill/>
            </a:ln>
          </p:spPr>
          <p:txBody>
            <a:bodyPr wrap="none">
              <a:spAutoFit/>
            </a:bodyPr>
            <a:p>
              <a:r>
                <a:rPr lang="zh-CN" altLang="en-US" b="1" dirty="0">
                  <a:latin typeface="Times New Roman" panose="02020603050405020304" pitchFamily="18" charset="0"/>
                </a:rPr>
                <a:t>对                      ，在区间 [</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 , </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 </a:t>
              </a:r>
              <a:r>
                <a:rPr lang="zh-CN" altLang="zh-CN" b="1" dirty="0">
                  <a:latin typeface="Times New Roman" panose="02020603050405020304" pitchFamily="18" charset="0"/>
                </a:rPr>
                <a:t>上积分，得</a:t>
              </a:r>
              <a:endParaRPr lang="zh-CN" altLang="en-US" b="1" dirty="0">
                <a:latin typeface="宋体" panose="02010600030101010101" pitchFamily="2" charset="-122"/>
              </a:endParaRPr>
            </a:p>
          </p:txBody>
        </p:sp>
        <p:graphicFrame>
          <p:nvGraphicFramePr>
            <p:cNvPr id="9220" name="Object 1026"/>
            <p:cNvGraphicFramePr/>
            <p:nvPr/>
          </p:nvGraphicFramePr>
          <p:xfrm>
            <a:off x="570" y="428"/>
            <a:ext cx="1428" cy="306"/>
          </p:xfrm>
          <a:graphic>
            <a:graphicData uri="http://schemas.openxmlformats.org/presentationml/2006/ole">
              <mc:AlternateContent xmlns:mc="http://schemas.openxmlformats.org/markup-compatibility/2006">
                <mc:Choice xmlns:v="urn:schemas-microsoft-com:vml" Requires="v">
                  <p:oleObj spid="_x0000_s3084" name="" r:id="rId1" imgW="939165" imgH="203200" progId="Equation.DSMT4">
                    <p:embed/>
                  </p:oleObj>
                </mc:Choice>
                <mc:Fallback>
                  <p:oleObj name="" r:id="rId1" imgW="939165" imgH="203200" progId="Equation.DSMT4">
                    <p:embed/>
                    <p:pic>
                      <p:nvPicPr>
                        <p:cNvPr id="0" name="图片 3083"/>
                        <p:cNvPicPr/>
                        <p:nvPr/>
                      </p:nvPicPr>
                      <p:blipFill>
                        <a:blip r:embed="rId2"/>
                        <a:stretch>
                          <a:fillRect/>
                        </a:stretch>
                      </p:blipFill>
                      <p:spPr>
                        <a:xfrm>
                          <a:off x="570" y="428"/>
                          <a:ext cx="1428" cy="306"/>
                        </a:xfrm>
                        <a:prstGeom prst="rect">
                          <a:avLst/>
                        </a:prstGeom>
                        <a:noFill/>
                        <a:ln w="38100">
                          <a:noFill/>
                          <a:miter/>
                        </a:ln>
                      </p:spPr>
                    </p:pic>
                  </p:oleObj>
                </mc:Fallback>
              </mc:AlternateContent>
            </a:graphicData>
          </a:graphic>
        </p:graphicFrame>
      </p:grpSp>
      <p:graphicFrame>
        <p:nvGraphicFramePr>
          <p:cNvPr id="215040" name="Object 1024"/>
          <p:cNvGraphicFramePr/>
          <p:nvPr/>
        </p:nvGraphicFramePr>
        <p:xfrm>
          <a:off x="1765300" y="1973263"/>
          <a:ext cx="5067300" cy="904875"/>
        </p:xfrm>
        <a:graphic>
          <a:graphicData uri="http://schemas.openxmlformats.org/presentationml/2006/ole">
            <mc:AlternateContent xmlns:mc="http://schemas.openxmlformats.org/markup-compatibility/2006">
              <mc:Choice xmlns:v="urn:schemas-microsoft-com:vml" Requires="v">
                <p:oleObj spid="_x0000_s3081" name="" r:id="rId3" imgW="1979295" imgH="355600" progId="Equation.DSMT4">
                  <p:embed/>
                </p:oleObj>
              </mc:Choice>
              <mc:Fallback>
                <p:oleObj name="" r:id="rId3" imgW="1979295" imgH="355600" progId="Equation.DSMT4">
                  <p:embed/>
                  <p:pic>
                    <p:nvPicPr>
                      <p:cNvPr id="0" name="图片 3080"/>
                      <p:cNvPicPr/>
                      <p:nvPr/>
                    </p:nvPicPr>
                    <p:blipFill>
                      <a:blip r:embed="rId4"/>
                      <a:stretch>
                        <a:fillRect/>
                      </a:stretch>
                    </p:blipFill>
                    <p:spPr>
                      <a:xfrm>
                        <a:off x="1765300" y="1973263"/>
                        <a:ext cx="5067300" cy="904875"/>
                      </a:xfrm>
                      <a:prstGeom prst="rect">
                        <a:avLst/>
                      </a:prstGeom>
                      <a:noFill/>
                      <a:ln w="38100">
                        <a:noFill/>
                        <a:miter/>
                      </a:ln>
                    </p:spPr>
                  </p:pic>
                </p:oleObj>
              </mc:Fallback>
            </mc:AlternateContent>
          </a:graphicData>
        </a:graphic>
      </p:graphicFrame>
      <p:sp>
        <p:nvSpPr>
          <p:cNvPr id="137223" name="Rectangle 7"/>
          <p:cNvSpPr/>
          <p:nvPr/>
        </p:nvSpPr>
        <p:spPr>
          <a:xfrm>
            <a:off x="458788" y="3000375"/>
            <a:ext cx="987425" cy="579438"/>
          </a:xfrm>
          <a:prstGeom prst="rect">
            <a:avLst/>
          </a:prstGeom>
          <a:noFill/>
          <a:ln w="9525">
            <a:noFill/>
          </a:ln>
        </p:spPr>
        <p:txBody>
          <a:bodyPr wrap="none">
            <a:spAutoFit/>
          </a:bodyPr>
          <a:p>
            <a:r>
              <a:rPr lang="zh-CN" altLang="en-US" b="1" dirty="0">
                <a:latin typeface="Times New Roman" panose="02020603050405020304" pitchFamily="18" charset="0"/>
              </a:rPr>
              <a:t>则有</a:t>
            </a:r>
            <a:endParaRPr lang="zh-CN" altLang="en-US" b="1" dirty="0">
              <a:latin typeface="Times New Roman" panose="02020603050405020304" pitchFamily="18" charset="0"/>
            </a:endParaRPr>
          </a:p>
        </p:txBody>
      </p:sp>
      <p:graphicFrame>
        <p:nvGraphicFramePr>
          <p:cNvPr id="215041" name="Object 1025"/>
          <p:cNvGraphicFramePr/>
          <p:nvPr/>
        </p:nvGraphicFramePr>
        <p:xfrm>
          <a:off x="1865313" y="2900363"/>
          <a:ext cx="5516562" cy="904875"/>
        </p:xfrm>
        <a:graphic>
          <a:graphicData uri="http://schemas.openxmlformats.org/presentationml/2006/ole">
            <mc:AlternateContent xmlns:mc="http://schemas.openxmlformats.org/markup-compatibility/2006">
              <mc:Choice xmlns:v="urn:schemas-microsoft-com:vml" Requires="v">
                <p:oleObj spid="_x0000_s3083" name="" r:id="rId5" imgW="2157095" imgH="355600" progId="Equation.DSMT4">
                  <p:embed/>
                </p:oleObj>
              </mc:Choice>
              <mc:Fallback>
                <p:oleObj name="" r:id="rId5" imgW="2157095" imgH="355600" progId="Equation.DSMT4">
                  <p:embed/>
                  <p:pic>
                    <p:nvPicPr>
                      <p:cNvPr id="0" name="图片 3082"/>
                      <p:cNvPicPr/>
                      <p:nvPr/>
                    </p:nvPicPr>
                    <p:blipFill>
                      <a:blip r:embed="rId6"/>
                      <a:stretch>
                        <a:fillRect/>
                      </a:stretch>
                    </p:blipFill>
                    <p:spPr>
                      <a:xfrm>
                        <a:off x="1865313" y="2900363"/>
                        <a:ext cx="5516562" cy="904875"/>
                      </a:xfrm>
                      <a:prstGeom prst="rect">
                        <a:avLst/>
                      </a:prstGeom>
                      <a:noFill/>
                      <a:ln w="38100">
                        <a:noFill/>
                        <a:miter/>
                      </a:ln>
                    </p:spPr>
                  </p:pic>
                </p:oleObj>
              </mc:Fallback>
            </mc:AlternateContent>
          </a:graphicData>
        </a:graphic>
      </p:graphicFrame>
      <p:sp>
        <p:nvSpPr>
          <p:cNvPr id="137225" name="Rectangle 9"/>
          <p:cNvSpPr/>
          <p:nvPr/>
        </p:nvSpPr>
        <p:spPr>
          <a:xfrm>
            <a:off x="442913" y="3790950"/>
            <a:ext cx="8172450" cy="1844675"/>
          </a:xfrm>
          <a:prstGeom prst="rect">
            <a:avLst/>
          </a:prstGeom>
          <a:noFill/>
          <a:ln w="9525">
            <a:noFill/>
          </a:ln>
        </p:spPr>
        <p:txBody>
          <a:bodyPr>
            <a:spAutoFit/>
          </a:bodyPr>
          <a:p>
            <a:pPr>
              <a:lnSpc>
                <a:spcPct val="120000"/>
              </a:lnSpc>
            </a:pPr>
            <a:r>
              <a:rPr lang="zh-CN" altLang="en-US" b="1" dirty="0">
                <a:latin typeface="Times New Roman" panose="02020603050405020304" pitchFamily="18" charset="0"/>
              </a:rPr>
              <a:t>对上式中的积分采用不同的数值积分公式可得到不同的差分方程. 例如, 对上式的积分采用左矩形数值积分公式, 可得到 </a:t>
            </a:r>
            <a:r>
              <a:rPr lang="en-US" altLang="zh-CN" b="1" dirty="0">
                <a:latin typeface="Times New Roman" panose="02020603050405020304" pitchFamily="18" charset="0"/>
              </a:rPr>
              <a:t>Euler </a:t>
            </a:r>
            <a:r>
              <a:rPr lang="zh-CN" altLang="zh-CN" b="1" dirty="0">
                <a:latin typeface="Times New Roman" panose="02020603050405020304" pitchFamily="18" charset="0"/>
              </a:rPr>
              <a:t>公式</a:t>
            </a:r>
            <a:r>
              <a:rPr lang="zh-CN" altLang="en-US" b="1" dirty="0">
                <a:latin typeface="Times New Roman" panose="02020603050405020304" pitchFamily="18" charset="0"/>
              </a:rPr>
              <a:t>. </a:t>
            </a:r>
            <a:endParaRPr lang="zh-CN" altLang="en-US"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5040"/>
                                        </p:tgtEl>
                                        <p:attrNameLst>
                                          <p:attrName>style.visibility</p:attrName>
                                        </p:attrNameLst>
                                      </p:cBhvr>
                                      <p:to>
                                        <p:strVal val="visible"/>
                                      </p:to>
                                    </p:set>
                                    <p:animEffect transition="in" filter="dissolve">
                                      <p:cBhvr>
                                        <p:cTn id="12" dur="500"/>
                                        <p:tgtEl>
                                          <p:spTgt spid="21504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7223"/>
                                        </p:tgtEl>
                                        <p:attrNameLst>
                                          <p:attrName>style.visibility</p:attrName>
                                        </p:attrNameLst>
                                      </p:cBhvr>
                                      <p:to>
                                        <p:strVal val="visible"/>
                                      </p:to>
                                    </p:set>
                                    <p:animEffect transition="in" filter="dissolve">
                                      <p:cBhvr>
                                        <p:cTn id="17" dur="500"/>
                                        <p:tgtEl>
                                          <p:spTgt spid="13722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5041"/>
                                        </p:tgtEl>
                                        <p:attrNameLst>
                                          <p:attrName>style.visibility</p:attrName>
                                        </p:attrNameLst>
                                      </p:cBhvr>
                                      <p:to>
                                        <p:strVal val="visible"/>
                                      </p:to>
                                    </p:set>
                                    <p:animEffect transition="in" filter="dissolve">
                                      <p:cBhvr>
                                        <p:cTn id="22" dur="500"/>
                                        <p:tgtEl>
                                          <p:spTgt spid="21504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37225"/>
                                        </p:tgtEl>
                                        <p:attrNameLst>
                                          <p:attrName>style.visibility</p:attrName>
                                        </p:attrNameLst>
                                      </p:cBhvr>
                                      <p:to>
                                        <p:strVal val="visible"/>
                                      </p:to>
                                    </p:set>
                                    <p:animEffect transition="in" filter="wipe(up)">
                                      <p:cBhvr>
                                        <p:cTn id="27" dur="500"/>
                                        <p:tgtEl>
                                          <p:spTgt spid="137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3" grpId="0"/>
      <p:bldP spid="13722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46"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aphicFrame>
        <p:nvGraphicFramePr>
          <p:cNvPr id="86041" name="Object 25"/>
          <p:cNvGraphicFramePr/>
          <p:nvPr/>
        </p:nvGraphicFramePr>
        <p:xfrm>
          <a:off x="673100" y="2222500"/>
          <a:ext cx="7697788" cy="2032000"/>
        </p:xfrm>
        <a:graphic>
          <a:graphicData uri="http://schemas.openxmlformats.org/presentationml/2006/ole">
            <mc:AlternateContent xmlns:mc="http://schemas.openxmlformats.org/markup-compatibility/2006">
              <mc:Choice xmlns:v="urn:schemas-microsoft-com:vml" Requires="v">
                <p:oleObj spid="_x0000_s3082" name="" r:id="rId1" imgW="3072130" imgH="812165" progId="Equation.DSMT4">
                  <p:embed/>
                </p:oleObj>
              </mc:Choice>
              <mc:Fallback>
                <p:oleObj name="" r:id="rId1" imgW="3072130" imgH="812165" progId="Equation.DSMT4">
                  <p:embed/>
                  <p:pic>
                    <p:nvPicPr>
                      <p:cNvPr id="0" name="图片 3081"/>
                      <p:cNvPicPr/>
                      <p:nvPr/>
                    </p:nvPicPr>
                    <p:blipFill>
                      <a:blip r:embed="rId2"/>
                      <a:stretch>
                        <a:fillRect/>
                      </a:stretch>
                    </p:blipFill>
                    <p:spPr>
                      <a:xfrm>
                        <a:off x="673100" y="2222500"/>
                        <a:ext cx="7697788" cy="2032000"/>
                      </a:xfrm>
                      <a:prstGeom prst="rect">
                        <a:avLst/>
                      </a:prstGeom>
                      <a:noFill/>
                      <a:ln w="38100">
                        <a:noFill/>
                        <a:miter/>
                      </a:ln>
                    </p:spPr>
                  </p:pic>
                </p:oleObj>
              </mc:Fallback>
            </mc:AlternateContent>
          </a:graphicData>
        </a:graphic>
      </p:graphicFrame>
      <p:sp>
        <p:nvSpPr>
          <p:cNvPr id="10247" name="Rectangle 33"/>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若对此式的积分采用数值积分梯形公式,</a:t>
            </a:r>
            <a:r>
              <a:rPr lang="zh-CN" altLang="en-US" sz="2800" u="none" dirty="0">
                <a:solidFill>
                  <a:schemeClr val="tx1"/>
                </a:solidFill>
                <a:latin typeface="Times New Roman" panose="02020603050405020304" pitchFamily="18" charset="0"/>
              </a:rPr>
              <a:t> </a:t>
            </a:r>
            <a:endParaRPr lang="zh-CN" altLang="en-US" sz="2800" u="none" dirty="0">
              <a:solidFill>
                <a:schemeClr val="tx1"/>
              </a:solidFill>
              <a:latin typeface="Times New Roman" panose="02020603050405020304" pitchFamily="18" charset="0"/>
            </a:endParaRPr>
          </a:p>
        </p:txBody>
      </p:sp>
      <p:graphicFrame>
        <p:nvGraphicFramePr>
          <p:cNvPr id="10243" name="Object 34"/>
          <p:cNvGraphicFramePr/>
          <p:nvPr/>
        </p:nvGraphicFramePr>
        <p:xfrm>
          <a:off x="1492250" y="1104900"/>
          <a:ext cx="5408613" cy="887413"/>
        </p:xfrm>
        <a:graphic>
          <a:graphicData uri="http://schemas.openxmlformats.org/presentationml/2006/ole">
            <mc:AlternateContent xmlns:mc="http://schemas.openxmlformats.org/markup-compatibility/2006">
              <mc:Choice xmlns:v="urn:schemas-microsoft-com:vml" Requires="v">
                <p:oleObj spid="_x0000_s3079" name="" r:id="rId3" imgW="2157095" imgH="355600" progId="Equation.DSMT4">
                  <p:embed/>
                </p:oleObj>
              </mc:Choice>
              <mc:Fallback>
                <p:oleObj name="" r:id="rId3" imgW="2157095" imgH="355600" progId="Equation.DSMT4">
                  <p:embed/>
                  <p:pic>
                    <p:nvPicPr>
                      <p:cNvPr id="0" name="图片 3078"/>
                      <p:cNvPicPr/>
                      <p:nvPr/>
                    </p:nvPicPr>
                    <p:blipFill>
                      <a:blip r:embed="rId4"/>
                      <a:stretch>
                        <a:fillRect/>
                      </a:stretch>
                    </p:blipFill>
                    <p:spPr>
                      <a:xfrm>
                        <a:off x="1492250" y="1104900"/>
                        <a:ext cx="5408613" cy="887413"/>
                      </a:xfrm>
                      <a:prstGeom prst="rect">
                        <a:avLst/>
                      </a:prstGeom>
                      <a:noFill/>
                      <a:ln w="38100">
                        <a:noFill/>
                        <a:miter/>
                      </a:ln>
                    </p:spPr>
                  </p:pic>
                </p:oleObj>
              </mc:Fallback>
            </mc:AlternateContent>
          </a:graphicData>
        </a:graphic>
      </p:graphicFrame>
      <p:sp>
        <p:nvSpPr>
          <p:cNvPr id="86051" name="Text Box 35"/>
          <p:cNvSpPr txBox="1"/>
          <p:nvPr/>
        </p:nvSpPr>
        <p:spPr>
          <a:xfrm>
            <a:off x="476250" y="1774825"/>
            <a:ext cx="1003300" cy="579438"/>
          </a:xfrm>
          <a:prstGeom prst="rect">
            <a:avLst/>
          </a:prstGeom>
          <a:noFill/>
          <a:ln w="9525">
            <a:noFill/>
          </a:ln>
        </p:spPr>
        <p:txBody>
          <a:bodyPr wrap="none">
            <a:spAutoFit/>
          </a:bodyPr>
          <a:p>
            <a:pPr algn="ctr" eaLnBrk="0" hangingPunct="0"/>
            <a:r>
              <a:rPr lang="zh-CN" altLang="en-US" b="1" dirty="0">
                <a:latin typeface="Times New Roman" panose="02020603050405020304" pitchFamily="18" charset="0"/>
              </a:rPr>
              <a:t>则有</a:t>
            </a:r>
            <a:endParaRPr lang="zh-CN" altLang="en-US" b="1" dirty="0">
              <a:latin typeface="Times New Roman" panose="02020603050405020304" pitchFamily="18" charset="0"/>
            </a:endParaRPr>
          </a:p>
        </p:txBody>
      </p:sp>
      <p:sp>
        <p:nvSpPr>
          <p:cNvPr id="86052" name="Rectangle 36"/>
          <p:cNvSpPr/>
          <p:nvPr/>
        </p:nvSpPr>
        <p:spPr>
          <a:xfrm>
            <a:off x="414338" y="4341813"/>
            <a:ext cx="8339137" cy="1066800"/>
          </a:xfrm>
          <a:prstGeom prst="rect">
            <a:avLst/>
          </a:prstGeom>
          <a:noFill/>
          <a:ln w="9525">
            <a:noFill/>
          </a:ln>
        </p:spPr>
        <p:txBody>
          <a:bodyPr>
            <a:spAutoFit/>
          </a:bodyPr>
          <a:p>
            <a:r>
              <a:rPr lang="zh-CN" altLang="en-US" b="1" dirty="0">
                <a:latin typeface="Times New Roman" panose="02020603050405020304" pitchFamily="18" charset="0"/>
              </a:rPr>
              <a:t>若略去余项, 以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 </a:t>
            </a:r>
            <a:r>
              <a:rPr lang="en-US" altLang="en-US" b="1" dirty="0">
                <a:latin typeface="Times New Roman" panose="02020603050405020304" pitchFamily="18" charset="0"/>
              </a:rPr>
              <a:t>,</a:t>
            </a:r>
            <a:r>
              <a:rPr lang="zh-CN" altLang="en-US" b="1" dirty="0">
                <a:latin typeface="Times New Roman" panose="02020603050405020304" pitchFamily="18" charset="0"/>
              </a:rPr>
              <a:t>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+1 </a:t>
            </a:r>
            <a:r>
              <a:rPr lang="zh-CN" altLang="en-US" b="1" dirty="0">
                <a:latin typeface="Times New Roman" panose="02020603050405020304" pitchFamily="18" charset="0"/>
              </a:rPr>
              <a:t>代替 </a:t>
            </a:r>
            <a:r>
              <a:rPr lang="en-US" altLang="zh-CN" b="1" i="1" dirty="0">
                <a:latin typeface="Times New Roman" panose="02020603050405020304" pitchFamily="18" charset="0"/>
              </a:rPr>
              <a:t>y </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及 </a:t>
            </a:r>
            <a:r>
              <a:rPr lang="en-US" altLang="zh-CN" b="1" i="1" dirty="0">
                <a:latin typeface="Times New Roman" panose="02020603050405020304" pitchFamily="18" charset="0"/>
              </a:rPr>
              <a:t>y </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a:t>
            </a:r>
            <a:r>
              <a:rPr lang="zh-CN" altLang="en-US" b="1" dirty="0">
                <a:latin typeface="Times New Roman" panose="02020603050405020304" pitchFamily="18" charset="0"/>
              </a:rPr>
              <a:t> 得到的差分方程</a:t>
            </a:r>
            <a:endParaRPr lang="zh-CN" altLang="en-US" b="1" dirty="0">
              <a:latin typeface="Times New Roman" panose="02020603050405020304" pitchFamily="18" charset="0"/>
            </a:endParaRPr>
          </a:p>
        </p:txBody>
      </p:sp>
      <p:graphicFrame>
        <p:nvGraphicFramePr>
          <p:cNvPr id="86053" name="Object 37"/>
          <p:cNvGraphicFramePr/>
          <p:nvPr/>
        </p:nvGraphicFramePr>
        <p:xfrm>
          <a:off x="1266825" y="5370513"/>
          <a:ext cx="5956300" cy="982662"/>
        </p:xfrm>
        <a:graphic>
          <a:graphicData uri="http://schemas.openxmlformats.org/presentationml/2006/ole">
            <mc:AlternateContent xmlns:mc="http://schemas.openxmlformats.org/markup-compatibility/2006">
              <mc:Choice xmlns:v="urn:schemas-microsoft-com:vml" Requires="v">
                <p:oleObj spid="_x0000_s3080" name="" r:id="rId5" imgW="2373630" imgH="393700" progId="Equation.DSMT4">
                  <p:embed/>
                </p:oleObj>
              </mc:Choice>
              <mc:Fallback>
                <p:oleObj name="" r:id="rId5" imgW="2373630" imgH="393700" progId="Equation.DSMT4">
                  <p:embed/>
                  <p:pic>
                    <p:nvPicPr>
                      <p:cNvPr id="0" name="图片 3079"/>
                      <p:cNvPicPr/>
                      <p:nvPr/>
                    </p:nvPicPr>
                    <p:blipFill>
                      <a:blip r:embed="rId6"/>
                      <a:stretch>
                        <a:fillRect/>
                      </a:stretch>
                    </p:blipFill>
                    <p:spPr>
                      <a:xfrm>
                        <a:off x="1266825" y="5370513"/>
                        <a:ext cx="5956300" cy="9826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6051"/>
                                        </p:tgtEl>
                                        <p:attrNameLst>
                                          <p:attrName>style.visibility</p:attrName>
                                        </p:attrNameLst>
                                      </p:cBhvr>
                                      <p:to>
                                        <p:strVal val="visible"/>
                                      </p:to>
                                    </p:set>
                                    <p:anim calcmode="lin" valueType="num">
                                      <p:cBhvr additive="base">
                                        <p:cTn id="7" dur="500" fill="hold"/>
                                        <p:tgtEl>
                                          <p:spTgt spid="86051"/>
                                        </p:tgtEl>
                                        <p:attrNameLst>
                                          <p:attrName>ppt_x</p:attrName>
                                        </p:attrNameLst>
                                      </p:cBhvr>
                                      <p:tavLst>
                                        <p:tav tm="0">
                                          <p:val>
                                            <p:strVal val="0-#ppt_w/2"/>
                                          </p:val>
                                        </p:tav>
                                        <p:tav tm="100000">
                                          <p:val>
                                            <p:strVal val="#ppt_x"/>
                                          </p:val>
                                        </p:tav>
                                      </p:tavLst>
                                    </p:anim>
                                    <p:anim calcmode="lin" valueType="num">
                                      <p:cBhvr additive="base">
                                        <p:cTn id="8" dur="500" fill="hold"/>
                                        <p:tgtEl>
                                          <p:spTgt spid="8605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86041"/>
                                        </p:tgtEl>
                                        <p:attrNameLst>
                                          <p:attrName>style.visibility</p:attrName>
                                        </p:attrNameLst>
                                      </p:cBhvr>
                                      <p:to>
                                        <p:strVal val="visible"/>
                                      </p:to>
                                    </p:set>
                                    <p:animEffect transition="in" filter="blinds(vertical)">
                                      <p:cBhvr>
                                        <p:cTn id="13" dur="500"/>
                                        <p:tgtEl>
                                          <p:spTgt spid="86041"/>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86052"/>
                                        </p:tgtEl>
                                        <p:attrNameLst>
                                          <p:attrName>style.visibility</p:attrName>
                                        </p:attrNameLst>
                                      </p:cBhvr>
                                      <p:to>
                                        <p:strVal val="visible"/>
                                      </p:to>
                                    </p:set>
                                    <p:animEffect transition="in" filter="checkerboard(across)">
                                      <p:cBhvr>
                                        <p:cTn id="18" dur="500"/>
                                        <p:tgtEl>
                                          <p:spTgt spid="86052"/>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86053"/>
                                        </p:tgtEl>
                                        <p:attrNameLst>
                                          <p:attrName>style.visibility</p:attrName>
                                        </p:attrNameLst>
                                      </p:cBhvr>
                                      <p:to>
                                        <p:strVal val="visible"/>
                                      </p:to>
                                    </p:set>
                                    <p:animEffect transition="in" filter="box(in)">
                                      <p:cBhvr>
                                        <p:cTn id="23" dur="500"/>
                                        <p:tgtEl>
                                          <p:spTgt spid="86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51" grpId="0"/>
      <p:bldP spid="8605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269"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87071" name="Rectangle 31"/>
          <p:cNvSpPr/>
          <p:nvPr/>
        </p:nvSpPr>
        <p:spPr>
          <a:xfrm>
            <a:off x="477838" y="1285875"/>
            <a:ext cx="8228012" cy="3597275"/>
          </a:xfrm>
          <a:prstGeom prst="rect">
            <a:avLst/>
          </a:prstGeom>
          <a:noFill/>
          <a:ln w="9525">
            <a:noFill/>
          </a:ln>
        </p:spPr>
        <p:txBody>
          <a:bodyPr>
            <a:spAutoFit/>
          </a:bodyPr>
          <a:p>
            <a:pPr>
              <a:lnSpc>
                <a:spcPct val="120000"/>
              </a:lnSpc>
            </a:pPr>
            <a:r>
              <a:rPr lang="zh-CN" altLang="en-US" b="1" dirty="0">
                <a:latin typeface="Times New Roman" panose="02020603050405020304" pitchFamily="18" charset="0"/>
              </a:rPr>
              <a:t>上式称为</a:t>
            </a:r>
            <a:r>
              <a:rPr lang="zh-CN" altLang="en-US" b="1" dirty="0">
                <a:solidFill>
                  <a:schemeClr val="accent2"/>
                </a:solidFill>
                <a:latin typeface="Times New Roman" panose="02020603050405020304" pitchFamily="18" charset="0"/>
              </a:rPr>
              <a:t>梯形公式</a:t>
            </a:r>
            <a:r>
              <a:rPr lang="zh-CN" altLang="en-US" b="1" dirty="0">
                <a:latin typeface="Times New Roman" panose="02020603050405020304" pitchFamily="18" charset="0"/>
              </a:rPr>
              <a:t>. 由于它关于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+1</a:t>
            </a:r>
            <a:r>
              <a:rPr lang="en-US" altLang="en-US" b="1" dirty="0">
                <a:latin typeface="Times New Roman" panose="02020603050405020304" pitchFamily="18" charset="0"/>
              </a:rPr>
              <a:t> </a:t>
            </a:r>
            <a:r>
              <a:rPr lang="zh-CN" altLang="en-US" b="1" dirty="0">
                <a:latin typeface="Times New Roman" panose="02020603050405020304" pitchFamily="18" charset="0"/>
              </a:rPr>
              <a:t>成隐式形式, 故其为</a:t>
            </a:r>
            <a:r>
              <a:rPr lang="zh-CN" altLang="en-US" b="1" dirty="0">
                <a:solidFill>
                  <a:schemeClr val="accent2"/>
                </a:solidFill>
                <a:latin typeface="Times New Roman" panose="02020603050405020304" pitchFamily="18" charset="0"/>
              </a:rPr>
              <a:t>隐格式</a:t>
            </a:r>
            <a:r>
              <a:rPr lang="zh-CN" altLang="en-US" b="1" dirty="0">
                <a:latin typeface="Times New Roman" panose="02020603050405020304" pitchFamily="18" charset="0"/>
              </a:rPr>
              <a:t>. </a:t>
            </a:r>
            <a:endParaRPr lang="zh-CN" altLang="en-US" b="1" dirty="0">
              <a:latin typeface="Times New Roman" panose="02020603050405020304" pitchFamily="18" charset="0"/>
            </a:endParaRPr>
          </a:p>
          <a:p>
            <a:pPr>
              <a:lnSpc>
                <a:spcPct val="120000"/>
              </a:lnSpc>
            </a:pPr>
            <a:r>
              <a:rPr lang="zh-CN" altLang="en-US" b="1" dirty="0">
                <a:latin typeface="Times New Roman" panose="02020603050405020304" pitchFamily="18" charset="0"/>
              </a:rPr>
              <a:t>        隐格式求解比较困难, 当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dirty="0">
                <a:latin typeface="Times New Roman" panose="02020603050405020304" pitchFamily="18" charset="0"/>
              </a:rPr>
              <a:t> </a:t>
            </a:r>
            <a:r>
              <a:rPr lang="zh-CN" altLang="en-US" b="1" dirty="0">
                <a:latin typeface="Times New Roman" panose="02020603050405020304" pitchFamily="18" charset="0"/>
              </a:rPr>
              <a:t>已知时, 要求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+1</a:t>
            </a:r>
            <a:r>
              <a:rPr lang="en-US" altLang="en-US" b="1" dirty="0">
                <a:latin typeface="Times New Roman" panose="02020603050405020304" pitchFamily="18" charset="0"/>
              </a:rPr>
              <a:t> </a:t>
            </a:r>
            <a:r>
              <a:rPr lang="en-US" altLang="zh-CN" b="1" dirty="0">
                <a:latin typeface="Times New Roman" panose="02020603050405020304" pitchFamily="18" charset="0"/>
              </a:rPr>
              <a:t>，</a:t>
            </a:r>
            <a:r>
              <a:rPr lang="zh-CN" altLang="en-US" b="1" dirty="0">
                <a:latin typeface="Times New Roman" panose="02020603050405020304" pitchFamily="18" charset="0"/>
              </a:rPr>
              <a:t>需解关于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+1</a:t>
            </a:r>
            <a:r>
              <a:rPr lang="en-US" altLang="en-US" b="1" dirty="0">
                <a:latin typeface="Times New Roman" panose="02020603050405020304" pitchFamily="18" charset="0"/>
              </a:rPr>
              <a:t> </a:t>
            </a:r>
            <a:r>
              <a:rPr lang="zh-CN" altLang="en-US" b="1" dirty="0">
                <a:latin typeface="Times New Roman" panose="02020603050405020304" pitchFamily="18" charset="0"/>
              </a:rPr>
              <a:t>的非线性方程. 在实际应用时, 上式常与 </a:t>
            </a:r>
            <a:r>
              <a:rPr lang="en-US" altLang="zh-CN" b="1" dirty="0">
                <a:latin typeface="Times New Roman" panose="02020603050405020304" pitchFamily="18" charset="0"/>
              </a:rPr>
              <a:t>Euler </a:t>
            </a:r>
            <a:r>
              <a:rPr lang="zh-CN" altLang="zh-CN" b="1" dirty="0">
                <a:latin typeface="Times New Roman" panose="02020603050405020304" pitchFamily="18" charset="0"/>
              </a:rPr>
              <a:t>公式联合使用</a:t>
            </a:r>
            <a:r>
              <a:rPr lang="zh-CN" altLang="en-US" b="1" dirty="0">
                <a:latin typeface="Times New Roman" panose="02020603050405020304" pitchFamily="18" charset="0"/>
              </a:rPr>
              <a:t>, 构成如下计算格式:</a:t>
            </a:r>
            <a:endParaRPr lang="zh-CN" altLang="en-US" b="1" dirty="0">
              <a:latin typeface="Times New Roman" panose="02020603050405020304" pitchFamily="18" charset="0"/>
            </a:endParaRPr>
          </a:p>
        </p:txBody>
      </p:sp>
      <p:grpSp>
        <p:nvGrpSpPr>
          <p:cNvPr id="11271" name="Group 76"/>
          <p:cNvGrpSpPr/>
          <p:nvPr/>
        </p:nvGrpSpPr>
        <p:grpSpPr>
          <a:xfrm>
            <a:off x="1128713" y="331788"/>
            <a:ext cx="7324725" cy="942975"/>
            <a:chOff x="683" y="314"/>
            <a:chExt cx="4614" cy="594"/>
          </a:xfrm>
        </p:grpSpPr>
        <p:graphicFrame>
          <p:nvGraphicFramePr>
            <p:cNvPr id="11267" name="Object 74"/>
            <p:cNvGraphicFramePr/>
            <p:nvPr/>
          </p:nvGraphicFramePr>
          <p:xfrm>
            <a:off x="683" y="314"/>
            <a:ext cx="3600" cy="594"/>
          </p:xfrm>
          <a:graphic>
            <a:graphicData uri="http://schemas.openxmlformats.org/presentationml/2006/ole">
              <mc:AlternateContent xmlns:mc="http://schemas.openxmlformats.org/markup-compatibility/2006">
                <mc:Choice xmlns:v="urn:schemas-microsoft-com:vml" Requires="v">
                  <p:oleObj spid="_x0000_s3102" name="" r:id="rId1" imgW="2373630" imgH="393700" progId="Equation.DSMT4">
                    <p:embed/>
                  </p:oleObj>
                </mc:Choice>
                <mc:Fallback>
                  <p:oleObj name="" r:id="rId1" imgW="2373630" imgH="393700" progId="Equation.DSMT4">
                    <p:embed/>
                    <p:pic>
                      <p:nvPicPr>
                        <p:cNvPr id="0" name="图片 3101"/>
                        <p:cNvPicPr/>
                        <p:nvPr/>
                      </p:nvPicPr>
                      <p:blipFill>
                        <a:blip r:embed="rId2"/>
                        <a:stretch>
                          <a:fillRect/>
                        </a:stretch>
                      </p:blipFill>
                      <p:spPr>
                        <a:xfrm>
                          <a:off x="683" y="314"/>
                          <a:ext cx="3600" cy="594"/>
                        </a:xfrm>
                        <a:prstGeom prst="rect">
                          <a:avLst/>
                        </a:prstGeom>
                        <a:noFill/>
                        <a:ln w="38100">
                          <a:noFill/>
                          <a:miter/>
                        </a:ln>
                      </p:spPr>
                    </p:pic>
                  </p:oleObj>
                </mc:Fallback>
              </mc:AlternateContent>
            </a:graphicData>
          </a:graphic>
        </p:graphicFrame>
        <p:sp>
          <p:nvSpPr>
            <p:cNvPr id="11272" name="Text Box 75"/>
            <p:cNvSpPr txBox="1"/>
            <p:nvPr/>
          </p:nvSpPr>
          <p:spPr>
            <a:xfrm>
              <a:off x="4585" y="427"/>
              <a:ext cx="712" cy="329"/>
            </a:xfrm>
            <a:prstGeom prst="rect">
              <a:avLst/>
            </a:prstGeom>
            <a:noFill/>
            <a:ln w="9525">
              <a:noFill/>
            </a:ln>
          </p:spPr>
          <p:txBody>
            <a:bodyPr wrap="none">
              <a:spAutoFit/>
            </a:bodyPr>
            <a:p>
              <a:pPr algn="ctr" eaLnBrk="0" hangingPunct="0"/>
              <a:r>
                <a:rPr lang="zh-CN" altLang="en-US" sz="2800" dirty="0">
                  <a:latin typeface="Times New Roman" panose="02020603050405020304" pitchFamily="18" charset="0"/>
                </a:rPr>
                <a:t>(</a:t>
              </a:r>
              <a:r>
                <a:rPr lang="en-US" altLang="zh-CN" sz="2800" dirty="0">
                  <a:latin typeface="Times New Roman" panose="02020603050405020304" pitchFamily="18" charset="0"/>
                </a:rPr>
                <a:t>9.</a:t>
              </a:r>
              <a:r>
                <a:rPr lang="zh-CN" altLang="en-US" sz="2800" dirty="0">
                  <a:latin typeface="Times New Roman" panose="02020603050405020304" pitchFamily="18" charset="0"/>
                </a:rPr>
                <a:t>1.6)</a:t>
              </a:r>
              <a:endParaRPr lang="zh-CN" altLang="en-US" sz="2800" dirty="0">
                <a:latin typeface="Times New Roman" panose="02020603050405020304" pitchFamily="18" charset="0"/>
              </a:endParaRPr>
            </a:p>
          </p:txBody>
        </p:sp>
      </p:grpSp>
      <p:graphicFrame>
        <p:nvGraphicFramePr>
          <p:cNvPr id="87119" name="Object 79"/>
          <p:cNvGraphicFramePr/>
          <p:nvPr/>
        </p:nvGraphicFramePr>
        <p:xfrm>
          <a:off x="385763" y="4829175"/>
          <a:ext cx="8472487" cy="1651000"/>
        </p:xfrm>
        <a:graphic>
          <a:graphicData uri="http://schemas.openxmlformats.org/presentationml/2006/ole">
            <mc:AlternateContent xmlns:mc="http://schemas.openxmlformats.org/markup-compatibility/2006">
              <mc:Choice xmlns:v="urn:schemas-microsoft-com:vml" Requires="v">
                <p:oleObj spid="_x0000_s3100" name="" r:id="rId3" imgW="3389630" imgH="660400" progId="Equation.DSMT4">
                  <p:embed/>
                </p:oleObj>
              </mc:Choice>
              <mc:Fallback>
                <p:oleObj name="" r:id="rId3" imgW="3389630" imgH="660400" progId="Equation.DSMT4">
                  <p:embed/>
                  <p:pic>
                    <p:nvPicPr>
                      <p:cNvPr id="0" name="图片 3099"/>
                      <p:cNvPicPr/>
                      <p:nvPr/>
                    </p:nvPicPr>
                    <p:blipFill>
                      <a:blip r:embed="rId4"/>
                      <a:stretch>
                        <a:fillRect/>
                      </a:stretch>
                    </p:blipFill>
                    <p:spPr>
                      <a:xfrm>
                        <a:off x="385763" y="4829175"/>
                        <a:ext cx="8472487" cy="16510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7071">
                                            <p:txEl>
                                              <p:charRg st="0" end="37"/>
                                            </p:txEl>
                                          </p:spTgt>
                                        </p:tgtEl>
                                        <p:attrNameLst>
                                          <p:attrName>style.visibility</p:attrName>
                                        </p:attrNameLst>
                                      </p:cBhvr>
                                      <p:to>
                                        <p:strVal val="visible"/>
                                      </p:to>
                                    </p:set>
                                    <p:animEffect transition="in" filter="blinds(horizontal)">
                                      <p:cBhvr>
                                        <p:cTn id="7" dur="500"/>
                                        <p:tgtEl>
                                          <p:spTgt spid="87071">
                                            <p:txEl>
                                              <p:charRg st="0" end="3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7071">
                                            <p:txEl>
                                              <p:charRg st="37" end="130"/>
                                            </p:txEl>
                                          </p:spTgt>
                                        </p:tgtEl>
                                        <p:attrNameLst>
                                          <p:attrName>style.visibility</p:attrName>
                                        </p:attrNameLst>
                                      </p:cBhvr>
                                      <p:to>
                                        <p:strVal val="visible"/>
                                      </p:to>
                                    </p:set>
                                    <p:animEffect transition="in" filter="blinds(horizontal)">
                                      <p:cBhvr>
                                        <p:cTn id="12" dur="500"/>
                                        <p:tgtEl>
                                          <p:spTgt spid="87071">
                                            <p:txEl>
                                              <p:charRg st="37" end="1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7119"/>
                                        </p:tgtEl>
                                        <p:attrNameLst>
                                          <p:attrName>style.visibility</p:attrName>
                                        </p:attrNameLst>
                                      </p:cBhvr>
                                      <p:to>
                                        <p:strVal val="visible"/>
                                      </p:to>
                                    </p:set>
                                    <p:animEffect transition="in" filter="blinds(horizontal)">
                                      <p:cBhvr>
                                        <p:cTn id="17" dur="500"/>
                                        <p:tgtEl>
                                          <p:spTgt spid="87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7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293"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2294" name="Rectangle 1026"/>
          <p:cNvSpPr>
            <a:spLocks noGrp="1"/>
          </p:cNvSpPr>
          <p:nvPr>
            <p:ph type="title"/>
          </p:nvPr>
        </p:nvSpPr>
        <p:spPr>
          <a:ln/>
        </p:spPr>
        <p:txBody>
          <a:bodyPr vert="horz" wrap="square" lIns="91440" tIns="45720" rIns="91440" bIns="45720" anchor="ctr" anchorCtr="0"/>
          <a:p>
            <a:pPr algn="l"/>
            <a:r>
              <a:rPr lang="zh-CN" altLang="en-US" b="1" u="none" dirty="0">
                <a:latin typeface="Times New Roman" panose="02020603050405020304" pitchFamily="18" charset="0"/>
              </a:rPr>
              <a:t>隐式梯形公式的迭代格式</a:t>
            </a:r>
            <a:endParaRPr lang="zh-CN" altLang="en-US" b="1" u="none" dirty="0">
              <a:latin typeface="Times New Roman" panose="02020603050405020304" pitchFamily="18" charset="0"/>
            </a:endParaRPr>
          </a:p>
        </p:txBody>
      </p:sp>
      <p:grpSp>
        <p:nvGrpSpPr>
          <p:cNvPr id="2" name="Group 1030"/>
          <p:cNvGrpSpPr/>
          <p:nvPr/>
        </p:nvGrpSpPr>
        <p:grpSpPr>
          <a:xfrm>
            <a:off x="371475" y="1454150"/>
            <a:ext cx="8472488" cy="2255838"/>
            <a:chOff x="234" y="986"/>
            <a:chExt cx="5337" cy="1421"/>
          </a:xfrm>
        </p:grpSpPr>
        <p:graphicFrame>
          <p:nvGraphicFramePr>
            <p:cNvPr id="12291" name="Object 1028"/>
            <p:cNvGraphicFramePr/>
            <p:nvPr/>
          </p:nvGraphicFramePr>
          <p:xfrm>
            <a:off x="234" y="986"/>
            <a:ext cx="5337" cy="1040"/>
          </p:xfrm>
          <a:graphic>
            <a:graphicData uri="http://schemas.openxmlformats.org/presentationml/2006/ole">
              <mc:AlternateContent xmlns:mc="http://schemas.openxmlformats.org/markup-compatibility/2006">
                <mc:Choice xmlns:v="urn:schemas-microsoft-com:vml" Requires="v">
                  <p:oleObj spid="_x0000_s3101" name="" r:id="rId1" imgW="3389630" imgH="660400" progId="Equation.DSMT4">
                    <p:embed/>
                  </p:oleObj>
                </mc:Choice>
                <mc:Fallback>
                  <p:oleObj name="" r:id="rId1" imgW="3389630" imgH="660400" progId="Equation.DSMT4">
                    <p:embed/>
                    <p:pic>
                      <p:nvPicPr>
                        <p:cNvPr id="0" name="图片 3100"/>
                        <p:cNvPicPr/>
                        <p:nvPr/>
                      </p:nvPicPr>
                      <p:blipFill>
                        <a:blip r:embed="rId2"/>
                        <a:stretch>
                          <a:fillRect/>
                        </a:stretch>
                      </p:blipFill>
                      <p:spPr>
                        <a:xfrm>
                          <a:off x="234" y="986"/>
                          <a:ext cx="5337" cy="1040"/>
                        </a:xfrm>
                        <a:prstGeom prst="rect">
                          <a:avLst/>
                        </a:prstGeom>
                        <a:noFill/>
                        <a:ln w="38100">
                          <a:noFill/>
                          <a:miter/>
                        </a:ln>
                      </p:spPr>
                    </p:pic>
                  </p:oleObj>
                </mc:Fallback>
              </mc:AlternateContent>
            </a:graphicData>
          </a:graphic>
        </p:graphicFrame>
        <p:sp>
          <p:nvSpPr>
            <p:cNvPr id="12298" name="Text Box 1029"/>
            <p:cNvSpPr txBox="1"/>
            <p:nvPr/>
          </p:nvSpPr>
          <p:spPr>
            <a:xfrm>
              <a:off x="4476" y="2039"/>
              <a:ext cx="798" cy="368"/>
            </a:xfrm>
            <a:prstGeom prst="rect">
              <a:avLst/>
            </a:prstGeom>
            <a:noFill/>
            <a:ln w="9525">
              <a:noFill/>
            </a:ln>
          </p:spPr>
          <p:txBody>
            <a:bodyPr wrap="none">
              <a:spAutoFit/>
            </a:bodyPr>
            <a:p>
              <a:pPr algn="ctr" eaLnBrk="0" hangingPunct="0"/>
              <a:r>
                <a:rPr lang="zh-CN" altLang="en-US" dirty="0">
                  <a:latin typeface="Times New Roman" panose="02020603050405020304" pitchFamily="18" charset="0"/>
                </a:rPr>
                <a:t>(</a:t>
              </a:r>
              <a:r>
                <a:rPr lang="en-US" altLang="zh-CN" dirty="0">
                  <a:latin typeface="Times New Roman" panose="02020603050405020304" pitchFamily="18" charset="0"/>
                </a:rPr>
                <a:t>9.</a:t>
              </a:r>
              <a:r>
                <a:rPr lang="zh-CN" altLang="en-US" dirty="0">
                  <a:latin typeface="Times New Roman" panose="02020603050405020304" pitchFamily="18" charset="0"/>
                </a:rPr>
                <a:t>1.7)</a:t>
              </a:r>
              <a:endParaRPr lang="zh-CN" altLang="en-US" dirty="0">
                <a:latin typeface="Times New Roman" panose="02020603050405020304" pitchFamily="18" charset="0"/>
              </a:endParaRPr>
            </a:p>
          </p:txBody>
        </p:sp>
      </p:grpSp>
      <p:grpSp>
        <p:nvGrpSpPr>
          <p:cNvPr id="3" name="Group 1031"/>
          <p:cNvGrpSpPr/>
          <p:nvPr/>
        </p:nvGrpSpPr>
        <p:grpSpPr>
          <a:xfrm>
            <a:off x="365125" y="3641725"/>
            <a:ext cx="8326438" cy="1260475"/>
            <a:chOff x="428" y="2944"/>
            <a:chExt cx="5157" cy="794"/>
          </a:xfrm>
        </p:grpSpPr>
        <p:sp>
          <p:nvSpPr>
            <p:cNvPr id="12297" name="Rectangle 1032"/>
            <p:cNvSpPr/>
            <p:nvPr/>
          </p:nvSpPr>
          <p:spPr>
            <a:xfrm>
              <a:off x="428" y="2944"/>
              <a:ext cx="5157" cy="794"/>
            </a:xfrm>
            <a:prstGeom prst="rect">
              <a:avLst/>
            </a:prstGeom>
            <a:noFill/>
            <a:ln w="9525">
              <a:noFill/>
            </a:ln>
          </p:spPr>
          <p:txBody>
            <a:bodyPr>
              <a:spAutoFit/>
            </a:bodyPr>
            <a:p>
              <a:pPr>
                <a:lnSpc>
                  <a:spcPct val="120000"/>
                </a:lnSpc>
              </a:pPr>
              <a:r>
                <a:rPr lang="zh-CN" altLang="zh-CN" b="1" dirty="0">
                  <a:latin typeface="Times New Roman" panose="02020603050405020304" pitchFamily="18" charset="0"/>
                </a:rPr>
                <a:t>由</a:t>
              </a:r>
              <a:r>
                <a:rPr lang="zh-CN" altLang="en-US" b="1" dirty="0">
                  <a:latin typeface="Times New Roman" panose="02020603050405020304" pitchFamily="18" charset="0"/>
                </a:rPr>
                <a:t>上式可以得到一个序列:         ,  </a:t>
              </a:r>
              <a:r>
                <a:rPr lang="en-US" altLang="zh-CN" b="1" i="1" dirty="0">
                  <a:latin typeface="Times New Roman" panose="02020603050405020304" pitchFamily="18" charset="0"/>
                </a:rPr>
                <a:t>k </a:t>
              </a:r>
              <a:r>
                <a:rPr lang="en-US" altLang="zh-CN" b="1" dirty="0">
                  <a:latin typeface="Times New Roman" panose="02020603050405020304" pitchFamily="18" charset="0"/>
                </a:rPr>
                <a:t>= 0,1, </a:t>
              </a:r>
              <a:r>
                <a:rPr lang="zh-CN" altLang="en-US" b="1" dirty="0">
                  <a:latin typeface="Times New Roman" panose="02020603050405020304" pitchFamily="18" charset="0"/>
                </a:rPr>
                <a:t>…</a:t>
              </a:r>
              <a:r>
                <a:rPr lang="en-US" altLang="zh-CN" b="1" dirty="0">
                  <a:latin typeface="Times New Roman" panose="02020603050405020304" pitchFamily="18" charset="0"/>
                </a:rPr>
                <a:t>, </a:t>
              </a:r>
              <a:r>
                <a:rPr lang="zh-CN" altLang="en-US" b="1" dirty="0">
                  <a:latin typeface="Times New Roman" panose="02020603050405020304" pitchFamily="18" charset="0"/>
                </a:rPr>
                <a:t>关于此序列的收敛性, 有如下的定理.</a:t>
              </a:r>
              <a:endParaRPr lang="zh-CN" altLang="en-US" b="1" dirty="0">
                <a:latin typeface="Times New Roman" panose="02020603050405020304" pitchFamily="18" charset="0"/>
              </a:endParaRPr>
            </a:p>
          </p:txBody>
        </p:sp>
        <p:graphicFrame>
          <p:nvGraphicFramePr>
            <p:cNvPr id="12290" name="Object 1033"/>
            <p:cNvGraphicFramePr/>
            <p:nvPr/>
          </p:nvGraphicFramePr>
          <p:xfrm>
            <a:off x="3371" y="2981"/>
            <a:ext cx="596" cy="364"/>
          </p:xfrm>
          <a:graphic>
            <a:graphicData uri="http://schemas.openxmlformats.org/presentationml/2006/ole">
              <mc:AlternateContent xmlns:mc="http://schemas.openxmlformats.org/markup-compatibility/2006">
                <mc:Choice xmlns:v="urn:schemas-microsoft-com:vml" Requires="v">
                  <p:oleObj spid="_x0000_s3103" name="" r:id="rId3" imgW="393700" imgH="241300" progId="Equation.DSMT4">
                    <p:embed/>
                  </p:oleObj>
                </mc:Choice>
                <mc:Fallback>
                  <p:oleObj name="" r:id="rId3" imgW="393700" imgH="241300" progId="Equation.DSMT4">
                    <p:embed/>
                    <p:pic>
                      <p:nvPicPr>
                        <p:cNvPr id="0" name="图片 3102"/>
                        <p:cNvPicPr/>
                        <p:nvPr/>
                      </p:nvPicPr>
                      <p:blipFill>
                        <a:blip r:embed="rId4"/>
                        <a:stretch>
                          <a:fillRect/>
                        </a:stretch>
                      </p:blipFill>
                      <p:spPr>
                        <a:xfrm>
                          <a:off x="3371" y="2981"/>
                          <a:ext cx="596" cy="364"/>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22"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3323" name="Rectangle 2"/>
          <p:cNvSpPr>
            <a:spLocks noGrp="1"/>
          </p:cNvSpPr>
          <p:nvPr>
            <p:ph type="title"/>
          </p:nvPr>
        </p:nvSpPr>
        <p:spPr>
          <a:xfrm>
            <a:off x="461963" y="342900"/>
            <a:ext cx="7772400" cy="1143000"/>
          </a:xfrm>
          <a:ln/>
        </p:spPr>
        <p:txBody>
          <a:bodyPr vert="horz" wrap="square" lIns="91440" tIns="45720" rIns="91440" bIns="45720" anchor="ctr" anchorCtr="0"/>
          <a:p>
            <a:pPr algn="l"/>
            <a:r>
              <a:rPr lang="zh-CN" altLang="en-US" b="1" u="none" dirty="0">
                <a:solidFill>
                  <a:srgbClr val="FF0000"/>
                </a:solidFill>
                <a:latin typeface="Times New Roman" panose="02020603050405020304" pitchFamily="18" charset="0"/>
              </a:rPr>
              <a:t>定理 </a:t>
            </a:r>
            <a:r>
              <a:rPr lang="en-US" altLang="zh-CN" b="1" u="none" dirty="0">
                <a:solidFill>
                  <a:srgbClr val="FF0000"/>
                </a:solidFill>
                <a:latin typeface="Times New Roman" panose="02020603050405020304" pitchFamily="18" charset="0"/>
              </a:rPr>
              <a:t>9.</a:t>
            </a:r>
            <a:r>
              <a:rPr lang="zh-CN" altLang="en-US" b="1" u="none" dirty="0">
                <a:solidFill>
                  <a:srgbClr val="FF0000"/>
                </a:solidFill>
                <a:latin typeface="Times New Roman" panose="02020603050405020304" pitchFamily="18" charset="0"/>
              </a:rPr>
              <a:t>1.1</a:t>
            </a:r>
            <a:r>
              <a:rPr lang="zh-CN" altLang="en-US" u="none" dirty="0">
                <a:solidFill>
                  <a:schemeClr val="tx1"/>
                </a:solidFill>
              </a:rPr>
              <a:t> </a:t>
            </a:r>
            <a:r>
              <a:rPr lang="zh-CN" altLang="en-US" b="1" u="none" dirty="0">
                <a:solidFill>
                  <a:schemeClr val="tx1"/>
                </a:solidFill>
              </a:rPr>
              <a:t>设 </a:t>
            </a:r>
            <a:r>
              <a:rPr lang="en-US" altLang="zh-CN" b="1" i="1" u="none" dirty="0">
                <a:solidFill>
                  <a:schemeClr val="tx1"/>
                </a:solidFill>
                <a:latin typeface="Times New Roman" panose="02020603050405020304" pitchFamily="18" charset="0"/>
              </a:rPr>
              <a:t>f </a:t>
            </a:r>
            <a:r>
              <a:rPr lang="en-US" altLang="zh-CN" b="1" u="none" dirty="0">
                <a:solidFill>
                  <a:schemeClr val="tx1"/>
                </a:solidFill>
                <a:latin typeface="Times New Roman" panose="02020603050405020304" pitchFamily="18" charset="0"/>
              </a:rPr>
              <a:t>(</a:t>
            </a:r>
            <a:r>
              <a:rPr lang="en-US" altLang="zh-CN" b="1" i="1" u="none" dirty="0">
                <a:solidFill>
                  <a:schemeClr val="tx1"/>
                </a:solidFill>
                <a:latin typeface="Times New Roman" panose="02020603050405020304" pitchFamily="18" charset="0"/>
              </a:rPr>
              <a:t>x </a:t>
            </a:r>
            <a:r>
              <a:rPr lang="en-US" altLang="zh-CN" b="1" u="none" dirty="0">
                <a:solidFill>
                  <a:schemeClr val="tx1"/>
                </a:solidFill>
                <a:latin typeface="Times New Roman" panose="02020603050405020304" pitchFamily="18" charset="0"/>
              </a:rPr>
              <a:t>, </a:t>
            </a:r>
            <a:r>
              <a:rPr lang="en-US" altLang="zh-CN" b="1" i="1" u="none" dirty="0">
                <a:solidFill>
                  <a:schemeClr val="tx1"/>
                </a:solidFill>
                <a:latin typeface="Times New Roman" panose="02020603050405020304" pitchFamily="18" charset="0"/>
              </a:rPr>
              <a:t>y</a:t>
            </a:r>
            <a:r>
              <a:rPr lang="en-US" altLang="zh-CN" b="1" u="none" dirty="0">
                <a:solidFill>
                  <a:schemeClr val="tx1"/>
                </a:solidFill>
                <a:latin typeface="Times New Roman" panose="02020603050405020304" pitchFamily="18" charset="0"/>
              </a:rPr>
              <a:t>) </a:t>
            </a:r>
            <a:r>
              <a:rPr lang="zh-CN" altLang="zh-CN" b="1" u="none" dirty="0">
                <a:solidFill>
                  <a:schemeClr val="tx1"/>
                </a:solidFill>
                <a:latin typeface="Times New Roman" panose="02020603050405020304" pitchFamily="18" charset="0"/>
              </a:rPr>
              <a:t>在区域</a:t>
            </a:r>
            <a:r>
              <a:rPr lang="zh-CN" altLang="en-US" b="1" u="none" dirty="0">
                <a:solidFill>
                  <a:schemeClr val="tx1"/>
                </a:solidFill>
                <a:latin typeface="Times New Roman" panose="02020603050405020304" pitchFamily="18" charset="0"/>
              </a:rPr>
              <a:t> </a:t>
            </a:r>
            <a:r>
              <a:rPr lang="en-US" altLang="zh-CN" b="1" u="none" dirty="0">
                <a:solidFill>
                  <a:schemeClr val="tx1"/>
                </a:solidFill>
                <a:latin typeface="Times New Roman" panose="02020603050405020304" pitchFamily="18" charset="0"/>
              </a:rPr>
              <a:t>D </a:t>
            </a:r>
            <a:r>
              <a:rPr lang="zh-CN" altLang="zh-CN" b="1" u="none" dirty="0">
                <a:solidFill>
                  <a:schemeClr val="tx1"/>
                </a:solidFill>
                <a:latin typeface="Times New Roman" panose="02020603050405020304" pitchFamily="18" charset="0"/>
              </a:rPr>
              <a:t>上关于</a:t>
            </a:r>
            <a:r>
              <a:rPr lang="zh-CN" altLang="en-US" b="1" u="none" dirty="0">
                <a:solidFill>
                  <a:schemeClr val="tx1"/>
                </a:solidFill>
                <a:latin typeface="Times New Roman" panose="02020603050405020304" pitchFamily="18" charset="0"/>
              </a:rPr>
              <a:t> </a:t>
            </a:r>
            <a:r>
              <a:rPr lang="en-US" altLang="zh-CN" b="1" i="1" u="none" dirty="0">
                <a:solidFill>
                  <a:schemeClr val="tx1"/>
                </a:solidFill>
                <a:latin typeface="Times New Roman" panose="02020603050405020304" pitchFamily="18" charset="0"/>
              </a:rPr>
              <a:t>y</a:t>
            </a:r>
            <a:r>
              <a:rPr lang="en-US" altLang="zh-CN" b="1" u="none" dirty="0">
                <a:solidFill>
                  <a:schemeClr val="tx1"/>
                </a:solidFill>
                <a:latin typeface="Times New Roman" panose="02020603050405020304" pitchFamily="18" charset="0"/>
              </a:rPr>
              <a:t> </a:t>
            </a:r>
            <a:r>
              <a:rPr lang="zh-CN" altLang="zh-CN" b="1" u="none" dirty="0">
                <a:solidFill>
                  <a:schemeClr val="tx1"/>
                </a:solidFill>
                <a:latin typeface="Times New Roman" panose="02020603050405020304" pitchFamily="18" charset="0"/>
              </a:rPr>
              <a:t>满足</a:t>
            </a:r>
            <a:r>
              <a:rPr lang="zh-CN" altLang="en-US" b="1" u="none" dirty="0">
                <a:solidFill>
                  <a:schemeClr val="tx1"/>
                </a:solidFill>
                <a:latin typeface="Times New Roman" panose="02020603050405020304" pitchFamily="18" charset="0"/>
              </a:rPr>
              <a:t> </a:t>
            </a:r>
            <a:r>
              <a:rPr lang="en-US" altLang="zh-CN" b="1" u="none" dirty="0">
                <a:solidFill>
                  <a:schemeClr val="tx1"/>
                </a:solidFill>
                <a:latin typeface="Times New Roman" panose="02020603050405020304" pitchFamily="18" charset="0"/>
              </a:rPr>
              <a:t>Lipschitz </a:t>
            </a:r>
            <a:r>
              <a:rPr lang="zh-CN" altLang="zh-CN" b="1" u="none" dirty="0">
                <a:solidFill>
                  <a:schemeClr val="tx1"/>
                </a:solidFill>
                <a:latin typeface="Times New Roman" panose="02020603050405020304" pitchFamily="18" charset="0"/>
              </a:rPr>
              <a:t>条件</a:t>
            </a:r>
            <a:r>
              <a:rPr lang="zh-CN" altLang="en-US" b="1" u="none" dirty="0">
                <a:solidFill>
                  <a:schemeClr val="tx1"/>
                </a:solidFill>
                <a:latin typeface="Times New Roman" panose="02020603050405020304" pitchFamily="18" charset="0"/>
              </a:rPr>
              <a:t>, 即</a:t>
            </a:r>
            <a:endParaRPr lang="zh-CN" altLang="en-US" b="1" u="none" dirty="0">
              <a:solidFill>
                <a:schemeClr val="tx1"/>
              </a:solidFill>
              <a:latin typeface="Times New Roman" panose="02020603050405020304" pitchFamily="18" charset="0"/>
            </a:endParaRPr>
          </a:p>
        </p:txBody>
      </p:sp>
      <p:graphicFrame>
        <p:nvGraphicFramePr>
          <p:cNvPr id="139269" name="Object 5"/>
          <p:cNvGraphicFramePr/>
          <p:nvPr/>
        </p:nvGraphicFramePr>
        <p:xfrm>
          <a:off x="1792288" y="1473200"/>
          <a:ext cx="4959350" cy="508000"/>
        </p:xfrm>
        <a:graphic>
          <a:graphicData uri="http://schemas.openxmlformats.org/presentationml/2006/ole">
            <mc:AlternateContent xmlns:mc="http://schemas.openxmlformats.org/markup-compatibility/2006">
              <mc:Choice xmlns:v="urn:schemas-microsoft-com:vml" Requires="v">
                <p:oleObj spid="_x0000_s3106" name="" r:id="rId1" imgW="1966595" imgH="203200" progId="Equation.DSMT4">
                  <p:embed/>
                </p:oleObj>
              </mc:Choice>
              <mc:Fallback>
                <p:oleObj name="" r:id="rId1" imgW="1966595" imgH="203200" progId="Equation.DSMT4">
                  <p:embed/>
                  <p:pic>
                    <p:nvPicPr>
                      <p:cNvPr id="0" name="图片 3105"/>
                      <p:cNvPicPr/>
                      <p:nvPr/>
                    </p:nvPicPr>
                    <p:blipFill>
                      <a:blip r:embed="rId2"/>
                      <a:stretch>
                        <a:fillRect/>
                      </a:stretch>
                    </p:blipFill>
                    <p:spPr>
                      <a:xfrm>
                        <a:off x="1792288" y="1473200"/>
                        <a:ext cx="4959350" cy="508000"/>
                      </a:xfrm>
                      <a:prstGeom prst="rect">
                        <a:avLst/>
                      </a:prstGeom>
                      <a:noFill/>
                      <a:ln w="38100">
                        <a:noFill/>
                        <a:miter/>
                      </a:ln>
                    </p:spPr>
                  </p:pic>
                </p:oleObj>
              </mc:Fallback>
            </mc:AlternateContent>
          </a:graphicData>
        </a:graphic>
      </p:graphicFrame>
      <p:grpSp>
        <p:nvGrpSpPr>
          <p:cNvPr id="2" name="Group 35"/>
          <p:cNvGrpSpPr/>
          <p:nvPr/>
        </p:nvGrpSpPr>
        <p:grpSpPr>
          <a:xfrm>
            <a:off x="342900" y="1887538"/>
            <a:ext cx="8058150" cy="1589088"/>
            <a:chOff x="216" y="1189"/>
            <a:chExt cx="5076" cy="1001"/>
          </a:xfrm>
        </p:grpSpPr>
        <p:grpSp>
          <p:nvGrpSpPr>
            <p:cNvPr id="13329" name="Group 27"/>
            <p:cNvGrpSpPr/>
            <p:nvPr/>
          </p:nvGrpSpPr>
          <p:grpSpPr>
            <a:xfrm>
              <a:off x="216" y="1189"/>
              <a:ext cx="5076" cy="1001"/>
              <a:chOff x="216" y="1189"/>
              <a:chExt cx="5076" cy="1001"/>
            </a:xfrm>
          </p:grpSpPr>
          <p:sp>
            <p:nvSpPr>
              <p:cNvPr id="13330" name="Rectangle 6"/>
              <p:cNvSpPr/>
              <p:nvPr/>
            </p:nvSpPr>
            <p:spPr>
              <a:xfrm>
                <a:off x="216" y="1202"/>
                <a:ext cx="5076" cy="988"/>
              </a:xfrm>
              <a:prstGeom prst="rect">
                <a:avLst/>
              </a:prstGeom>
              <a:noFill/>
              <a:ln w="9525">
                <a:noFill/>
              </a:ln>
            </p:spPr>
            <p:txBody>
              <a:bodyPr>
                <a:spAutoFit/>
              </a:bodyPr>
              <a:p>
                <a:pPr>
                  <a:lnSpc>
                    <a:spcPct val="150000"/>
                  </a:lnSpc>
                </a:pPr>
                <a:r>
                  <a:rPr lang="zh-CN" altLang="en-US" b="1" dirty="0">
                    <a:latin typeface="Times New Roman" panose="02020603050405020304" pitchFamily="18" charset="0"/>
                  </a:rPr>
                  <a:t>其中 </a:t>
                </a:r>
                <a:r>
                  <a:rPr lang="en-US" altLang="zh-CN" b="1" dirty="0">
                    <a:latin typeface="Times New Roman" panose="02020603050405020304" pitchFamily="18" charset="0"/>
                  </a:rPr>
                  <a:t>L </a:t>
                </a:r>
                <a:r>
                  <a:rPr lang="zh-CN" altLang="zh-CN" b="1" dirty="0">
                    <a:latin typeface="Times New Roman" panose="02020603050405020304" pitchFamily="18" charset="0"/>
                  </a:rPr>
                  <a:t>为 </a:t>
                </a:r>
                <a:r>
                  <a:rPr lang="en-US" altLang="zh-CN" b="1" dirty="0">
                    <a:latin typeface="Times New Roman" panose="02020603050405020304" pitchFamily="18" charset="0"/>
                  </a:rPr>
                  <a:t>Lipschitz </a:t>
                </a:r>
                <a:r>
                  <a:rPr lang="zh-CN" altLang="zh-CN" b="1" dirty="0">
                    <a:latin typeface="Times New Roman" panose="02020603050405020304" pitchFamily="18" charset="0"/>
                  </a:rPr>
                  <a:t>常数</a:t>
                </a:r>
                <a:r>
                  <a:rPr lang="zh-CN" altLang="en-US" b="1" dirty="0">
                    <a:latin typeface="Times New Roman" panose="02020603050405020304" pitchFamily="18" charset="0"/>
                  </a:rPr>
                  <a:t>, 当步长             时, 对任意的初值        按格式（</a:t>
                </a:r>
                <a:r>
                  <a:rPr lang="en-US" altLang="zh-CN" b="1" dirty="0">
                    <a:latin typeface="Times New Roman" panose="02020603050405020304" pitchFamily="18" charset="0"/>
                  </a:rPr>
                  <a:t>9.</a:t>
                </a:r>
                <a:r>
                  <a:rPr lang="zh-CN" altLang="en-US" b="1" dirty="0">
                    <a:latin typeface="Times New Roman" panose="02020603050405020304" pitchFamily="18" charset="0"/>
                  </a:rPr>
                  <a:t>1.7）</a:t>
                </a:r>
                <a:endParaRPr lang="zh-CN" altLang="en-US" b="1" dirty="0">
                  <a:latin typeface="Times New Roman" panose="02020603050405020304" pitchFamily="18" charset="0"/>
                </a:endParaRPr>
              </a:p>
            </p:txBody>
          </p:sp>
          <p:graphicFrame>
            <p:nvGraphicFramePr>
              <p:cNvPr id="13320" name="Object 7"/>
              <p:cNvGraphicFramePr/>
              <p:nvPr/>
            </p:nvGraphicFramePr>
            <p:xfrm>
              <a:off x="3953" y="1189"/>
              <a:ext cx="619" cy="619"/>
            </p:xfrm>
            <a:graphic>
              <a:graphicData uri="http://schemas.openxmlformats.org/presentationml/2006/ole">
                <mc:AlternateContent xmlns:mc="http://schemas.openxmlformats.org/markup-compatibility/2006">
                  <mc:Choice xmlns:v="urn:schemas-microsoft-com:vml" Requires="v">
                    <p:oleObj spid="_x0000_s3104" name="" r:id="rId3" imgW="393700" imgH="393700" progId="Equation.DSMT4">
                      <p:embed/>
                    </p:oleObj>
                  </mc:Choice>
                  <mc:Fallback>
                    <p:oleObj name="" r:id="rId3" imgW="393700" imgH="393700" progId="Equation.DSMT4">
                      <p:embed/>
                      <p:pic>
                        <p:nvPicPr>
                          <p:cNvPr id="0" name="图片 3103"/>
                          <p:cNvPicPr/>
                          <p:nvPr/>
                        </p:nvPicPr>
                        <p:blipFill>
                          <a:blip r:embed="rId4"/>
                          <a:stretch>
                            <a:fillRect/>
                          </a:stretch>
                        </p:blipFill>
                        <p:spPr>
                          <a:xfrm>
                            <a:off x="3953" y="1189"/>
                            <a:ext cx="619" cy="619"/>
                          </a:xfrm>
                          <a:prstGeom prst="rect">
                            <a:avLst/>
                          </a:prstGeom>
                          <a:noFill/>
                          <a:ln w="38100">
                            <a:noFill/>
                            <a:miter/>
                          </a:ln>
                        </p:spPr>
                      </p:pic>
                    </p:oleObj>
                  </mc:Fallback>
                </mc:AlternateContent>
              </a:graphicData>
            </a:graphic>
          </p:graphicFrame>
        </p:grpSp>
        <p:graphicFrame>
          <p:nvGraphicFramePr>
            <p:cNvPr id="13319" name="Object 8"/>
            <p:cNvGraphicFramePr/>
            <p:nvPr/>
          </p:nvGraphicFramePr>
          <p:xfrm>
            <a:off x="1876" y="1781"/>
            <a:ext cx="422" cy="382"/>
          </p:xfrm>
          <a:graphic>
            <a:graphicData uri="http://schemas.openxmlformats.org/presentationml/2006/ole">
              <mc:AlternateContent xmlns:mc="http://schemas.openxmlformats.org/markup-compatibility/2006">
                <mc:Choice xmlns:v="urn:schemas-microsoft-com:vml" Requires="v">
                  <p:oleObj spid="_x0000_s3105" name="" r:id="rId5" imgW="266065" imgH="241300" progId="Equation.DSMT4">
                    <p:embed/>
                  </p:oleObj>
                </mc:Choice>
                <mc:Fallback>
                  <p:oleObj name="" r:id="rId5" imgW="266065" imgH="241300" progId="Equation.DSMT4">
                    <p:embed/>
                    <p:pic>
                      <p:nvPicPr>
                        <p:cNvPr id="0" name="图片 3104"/>
                        <p:cNvPicPr/>
                        <p:nvPr/>
                      </p:nvPicPr>
                      <p:blipFill>
                        <a:blip r:embed="rId6"/>
                        <a:stretch>
                          <a:fillRect/>
                        </a:stretch>
                      </p:blipFill>
                      <p:spPr>
                        <a:xfrm>
                          <a:off x="1876" y="1781"/>
                          <a:ext cx="422" cy="382"/>
                        </a:xfrm>
                        <a:prstGeom prst="rect">
                          <a:avLst/>
                        </a:prstGeom>
                        <a:noFill/>
                        <a:ln w="38100">
                          <a:noFill/>
                          <a:miter/>
                        </a:ln>
                      </p:spPr>
                    </p:pic>
                  </p:oleObj>
                </mc:Fallback>
              </mc:AlternateContent>
            </a:graphicData>
          </a:graphic>
        </p:graphicFrame>
      </p:grpSp>
      <p:graphicFrame>
        <p:nvGraphicFramePr>
          <p:cNvPr id="139276" name="Object 12"/>
          <p:cNvGraphicFramePr/>
          <p:nvPr/>
        </p:nvGraphicFramePr>
        <p:xfrm>
          <a:off x="400050" y="3370263"/>
          <a:ext cx="8472488" cy="1651000"/>
        </p:xfrm>
        <a:graphic>
          <a:graphicData uri="http://schemas.openxmlformats.org/presentationml/2006/ole">
            <mc:AlternateContent xmlns:mc="http://schemas.openxmlformats.org/markup-compatibility/2006">
              <mc:Choice xmlns:v="urn:schemas-microsoft-com:vml" Requires="v">
                <p:oleObj spid="_x0000_s3087" name="" r:id="rId7" imgW="3389630" imgH="660400" progId="Equation.DSMT4">
                  <p:embed/>
                </p:oleObj>
              </mc:Choice>
              <mc:Fallback>
                <p:oleObj name="" r:id="rId7" imgW="3389630" imgH="660400" progId="Equation.DSMT4">
                  <p:embed/>
                  <p:pic>
                    <p:nvPicPr>
                      <p:cNvPr id="0" name="图片 3086"/>
                      <p:cNvPicPr/>
                      <p:nvPr/>
                    </p:nvPicPr>
                    <p:blipFill>
                      <a:blip r:embed="rId8"/>
                      <a:stretch>
                        <a:fillRect/>
                      </a:stretch>
                    </p:blipFill>
                    <p:spPr>
                      <a:xfrm>
                        <a:off x="400050" y="3370263"/>
                        <a:ext cx="8472488" cy="1651000"/>
                      </a:xfrm>
                      <a:prstGeom prst="rect">
                        <a:avLst/>
                      </a:prstGeom>
                      <a:noFill/>
                      <a:ln w="38100">
                        <a:noFill/>
                        <a:miter/>
                      </a:ln>
                    </p:spPr>
                  </p:pic>
                </p:oleObj>
              </mc:Fallback>
            </mc:AlternateContent>
          </a:graphicData>
        </a:graphic>
      </p:graphicFrame>
      <p:grpSp>
        <p:nvGrpSpPr>
          <p:cNvPr id="4" name="Group 28"/>
          <p:cNvGrpSpPr/>
          <p:nvPr/>
        </p:nvGrpSpPr>
        <p:grpSpPr>
          <a:xfrm>
            <a:off x="314325" y="4938713"/>
            <a:ext cx="8451850" cy="730250"/>
            <a:chOff x="237" y="2958"/>
            <a:chExt cx="5324" cy="460"/>
          </a:xfrm>
        </p:grpSpPr>
        <p:sp>
          <p:nvSpPr>
            <p:cNvPr id="13328" name="Text Box 29"/>
            <p:cNvSpPr txBox="1"/>
            <p:nvPr/>
          </p:nvSpPr>
          <p:spPr>
            <a:xfrm>
              <a:off x="237" y="2958"/>
              <a:ext cx="5324" cy="460"/>
            </a:xfrm>
            <a:prstGeom prst="rect">
              <a:avLst/>
            </a:prstGeom>
            <a:noFill/>
            <a:ln w="9525">
              <a:noFill/>
            </a:ln>
          </p:spPr>
          <p:txBody>
            <a:bodyPr>
              <a:spAutoFit/>
            </a:bodyPr>
            <a:p>
              <a:pPr>
                <a:lnSpc>
                  <a:spcPct val="130000"/>
                </a:lnSpc>
              </a:pPr>
              <a:r>
                <a:rPr lang="zh-CN" altLang="en-US" b="1" dirty="0">
                  <a:latin typeface="Times New Roman" panose="02020603050405020304" pitchFamily="18" charset="0"/>
                </a:rPr>
                <a:t>生成的序列          收敛于梯形公式（</a:t>
              </a:r>
              <a:r>
                <a:rPr lang="en-US" altLang="zh-CN" b="1" dirty="0">
                  <a:latin typeface="Times New Roman" panose="02020603050405020304" pitchFamily="18" charset="0"/>
                </a:rPr>
                <a:t>9.</a:t>
              </a:r>
              <a:r>
                <a:rPr lang="zh-CN" altLang="en-US" b="1" dirty="0">
                  <a:latin typeface="Times New Roman" panose="02020603050405020304" pitchFamily="18" charset="0"/>
                </a:rPr>
                <a:t>1.6）</a:t>
              </a:r>
              <a:endParaRPr lang="zh-CN" altLang="en-US" b="1" dirty="0">
                <a:latin typeface="Times New Roman" panose="02020603050405020304" pitchFamily="18" charset="0"/>
              </a:endParaRPr>
            </a:p>
          </p:txBody>
        </p:sp>
        <p:graphicFrame>
          <p:nvGraphicFramePr>
            <p:cNvPr id="13318" name="Object 30"/>
            <p:cNvGraphicFramePr/>
            <p:nvPr/>
          </p:nvGraphicFramePr>
          <p:xfrm>
            <a:off x="1576" y="3033"/>
            <a:ext cx="619" cy="380"/>
          </p:xfrm>
          <a:graphic>
            <a:graphicData uri="http://schemas.openxmlformats.org/presentationml/2006/ole">
              <mc:AlternateContent xmlns:mc="http://schemas.openxmlformats.org/markup-compatibility/2006">
                <mc:Choice xmlns:v="urn:schemas-microsoft-com:vml" Requires="v">
                  <p:oleObj spid="_x0000_s3085" name="" r:id="rId9" imgW="393700" imgH="241300" progId="Equation.DSMT4">
                    <p:embed/>
                  </p:oleObj>
                </mc:Choice>
                <mc:Fallback>
                  <p:oleObj name="" r:id="rId9" imgW="393700" imgH="241300" progId="Equation.DSMT4">
                    <p:embed/>
                    <p:pic>
                      <p:nvPicPr>
                        <p:cNvPr id="0" name="图片 3084"/>
                        <p:cNvPicPr/>
                        <p:nvPr/>
                      </p:nvPicPr>
                      <p:blipFill>
                        <a:blip r:embed="rId10"/>
                        <a:stretch>
                          <a:fillRect/>
                        </a:stretch>
                      </p:blipFill>
                      <p:spPr>
                        <a:xfrm>
                          <a:off x="1576" y="3033"/>
                          <a:ext cx="619" cy="380"/>
                        </a:xfrm>
                        <a:prstGeom prst="rect">
                          <a:avLst/>
                        </a:prstGeom>
                        <a:noFill/>
                        <a:ln w="38100">
                          <a:noFill/>
                          <a:miter/>
                        </a:ln>
                      </p:spPr>
                    </p:pic>
                  </p:oleObj>
                </mc:Fallback>
              </mc:AlternateContent>
            </a:graphicData>
          </a:graphic>
        </p:graphicFrame>
      </p:grpSp>
      <p:graphicFrame>
        <p:nvGraphicFramePr>
          <p:cNvPr id="139295" name="Object 31"/>
          <p:cNvGraphicFramePr/>
          <p:nvPr/>
        </p:nvGraphicFramePr>
        <p:xfrm>
          <a:off x="339725" y="5572125"/>
          <a:ext cx="6084888" cy="982663"/>
        </p:xfrm>
        <a:graphic>
          <a:graphicData uri="http://schemas.openxmlformats.org/presentationml/2006/ole">
            <mc:AlternateContent xmlns:mc="http://schemas.openxmlformats.org/markup-compatibility/2006">
              <mc:Choice xmlns:v="urn:schemas-microsoft-com:vml" Requires="v">
                <p:oleObj spid="_x0000_s3089" name="" r:id="rId11" imgW="2424430" imgH="393700" progId="Equation.DSMT4">
                  <p:embed/>
                </p:oleObj>
              </mc:Choice>
              <mc:Fallback>
                <p:oleObj name="" r:id="rId11" imgW="2424430" imgH="393700" progId="Equation.DSMT4">
                  <p:embed/>
                  <p:pic>
                    <p:nvPicPr>
                      <p:cNvPr id="0" name="图片 3088"/>
                      <p:cNvPicPr/>
                      <p:nvPr/>
                    </p:nvPicPr>
                    <p:blipFill>
                      <a:blip r:embed="rId12"/>
                      <a:stretch>
                        <a:fillRect/>
                      </a:stretch>
                    </p:blipFill>
                    <p:spPr>
                      <a:xfrm>
                        <a:off x="339725" y="5572125"/>
                        <a:ext cx="6084888" cy="982663"/>
                      </a:xfrm>
                      <a:prstGeom prst="rect">
                        <a:avLst/>
                      </a:prstGeom>
                      <a:noFill/>
                      <a:ln w="38100">
                        <a:noFill/>
                        <a:miter/>
                      </a:ln>
                    </p:spPr>
                  </p:pic>
                </p:oleObj>
              </mc:Fallback>
            </mc:AlternateContent>
          </a:graphicData>
        </a:graphic>
      </p:graphicFrame>
      <p:grpSp>
        <p:nvGrpSpPr>
          <p:cNvPr id="5" name="Group 32"/>
          <p:cNvGrpSpPr/>
          <p:nvPr/>
        </p:nvGrpSpPr>
        <p:grpSpPr>
          <a:xfrm>
            <a:off x="6353175" y="5757863"/>
            <a:ext cx="1816100" cy="600075"/>
            <a:chOff x="1362" y="1747"/>
            <a:chExt cx="1144" cy="378"/>
          </a:xfrm>
        </p:grpSpPr>
        <p:graphicFrame>
          <p:nvGraphicFramePr>
            <p:cNvPr id="13317" name="Object 33"/>
            <p:cNvGraphicFramePr/>
            <p:nvPr/>
          </p:nvGraphicFramePr>
          <p:xfrm>
            <a:off x="1974" y="1747"/>
            <a:ext cx="419" cy="359"/>
          </p:xfrm>
          <a:graphic>
            <a:graphicData uri="http://schemas.openxmlformats.org/presentationml/2006/ole">
              <mc:AlternateContent xmlns:mc="http://schemas.openxmlformats.org/markup-compatibility/2006">
                <mc:Choice xmlns:v="urn:schemas-microsoft-com:vml" Requires="v">
                  <p:oleObj spid="_x0000_s3090" name="" r:id="rId13" imgW="266065" imgH="228600" progId="Equation.DSMT4">
                    <p:embed/>
                  </p:oleObj>
                </mc:Choice>
                <mc:Fallback>
                  <p:oleObj name="" r:id="rId13" imgW="266065" imgH="228600" progId="Equation.DSMT4">
                    <p:embed/>
                    <p:pic>
                      <p:nvPicPr>
                        <p:cNvPr id="0" name="图片 3089"/>
                        <p:cNvPicPr/>
                        <p:nvPr/>
                      </p:nvPicPr>
                      <p:blipFill>
                        <a:blip r:embed="rId14"/>
                        <a:stretch>
                          <a:fillRect/>
                        </a:stretch>
                      </p:blipFill>
                      <p:spPr>
                        <a:xfrm>
                          <a:off x="1974" y="1747"/>
                          <a:ext cx="419" cy="359"/>
                        </a:xfrm>
                        <a:prstGeom prst="rect">
                          <a:avLst/>
                        </a:prstGeom>
                        <a:noFill/>
                        <a:ln w="38100">
                          <a:noFill/>
                          <a:miter/>
                        </a:ln>
                      </p:spPr>
                    </p:pic>
                  </p:oleObj>
                </mc:Fallback>
              </mc:AlternateContent>
            </a:graphicData>
          </a:graphic>
        </p:graphicFrame>
        <p:sp>
          <p:nvSpPr>
            <p:cNvPr id="13327" name="Text Box 34"/>
            <p:cNvSpPr txBox="1"/>
            <p:nvPr/>
          </p:nvSpPr>
          <p:spPr>
            <a:xfrm>
              <a:off x="1362" y="1760"/>
              <a:ext cx="1144" cy="365"/>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的解</a:t>
              </a:r>
              <a:r>
                <a:rPr lang="zh-CN" altLang="en-US" dirty="0">
                  <a:solidFill>
                    <a:srgbClr val="FF0000"/>
                  </a:solidFill>
                  <a:latin typeface="Times New Roman" panose="02020603050405020304" pitchFamily="18" charset="0"/>
                </a:rPr>
                <a:t>       </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9269"/>
                                        </p:tgtEl>
                                        <p:attrNameLst>
                                          <p:attrName>style.visibility</p:attrName>
                                        </p:attrNameLst>
                                      </p:cBhvr>
                                      <p:to>
                                        <p:strVal val="visible"/>
                                      </p:to>
                                    </p:set>
                                    <p:animEffect transition="in" filter="dissolve">
                                      <p:cBhvr>
                                        <p:cTn id="7" dur="500"/>
                                        <p:tgtEl>
                                          <p:spTgt spid="1392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9276"/>
                                        </p:tgtEl>
                                        <p:attrNameLst>
                                          <p:attrName>style.visibility</p:attrName>
                                        </p:attrNameLst>
                                      </p:cBhvr>
                                      <p:to>
                                        <p:strVal val="visible"/>
                                      </p:to>
                                    </p:set>
                                    <p:animEffect transition="in" filter="blinds(horizontal)">
                                      <p:cBhvr>
                                        <p:cTn id="17" dur="500"/>
                                        <p:tgtEl>
                                          <p:spTgt spid="13927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9295"/>
                                        </p:tgtEl>
                                        <p:attrNameLst>
                                          <p:attrName>style.visibility</p:attrName>
                                        </p:attrNameLst>
                                      </p:cBhvr>
                                      <p:to>
                                        <p:strVal val="visible"/>
                                      </p:to>
                                    </p:set>
                                    <p:animEffect transition="in" filter="wipe(left)">
                                      <p:cBhvr>
                                        <p:cTn id="27" dur="500"/>
                                        <p:tgtEl>
                                          <p:spTgt spid="13929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344"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pSp>
        <p:nvGrpSpPr>
          <p:cNvPr id="2" name="Group 29"/>
          <p:cNvGrpSpPr/>
          <p:nvPr/>
        </p:nvGrpSpPr>
        <p:grpSpPr>
          <a:xfrm>
            <a:off x="401638" y="334963"/>
            <a:ext cx="8512175" cy="2428875"/>
            <a:chOff x="273" y="201"/>
            <a:chExt cx="5362" cy="1530"/>
          </a:xfrm>
        </p:grpSpPr>
        <p:sp>
          <p:nvSpPr>
            <p:cNvPr id="14351" name="Rectangle 14"/>
            <p:cNvSpPr/>
            <p:nvPr/>
          </p:nvSpPr>
          <p:spPr>
            <a:xfrm>
              <a:off x="273" y="201"/>
              <a:ext cx="5362" cy="1530"/>
            </a:xfrm>
            <a:prstGeom prst="rect">
              <a:avLst/>
            </a:prstGeom>
            <a:noFill/>
            <a:ln w="9525">
              <a:noFill/>
            </a:ln>
          </p:spPr>
          <p:txBody>
            <a:bodyPr>
              <a:spAutoFit/>
            </a:bodyPr>
            <a:p>
              <a:pPr>
                <a:lnSpc>
                  <a:spcPct val="120000"/>
                </a:lnSpc>
              </a:pPr>
              <a:r>
                <a:rPr lang="zh-CN" altLang="en-US" dirty="0">
                  <a:latin typeface="Times New Roman" panose="02020603050405020304" pitchFamily="18" charset="0"/>
                </a:rPr>
                <a:t>	</a:t>
              </a:r>
              <a:r>
                <a:rPr lang="zh-CN" altLang="en-US" b="1" dirty="0">
                  <a:latin typeface="Times New Roman" panose="02020603050405020304" pitchFamily="18" charset="0"/>
                </a:rPr>
                <a:t>为了减少计算量, 可采用</a:t>
              </a:r>
              <a:r>
                <a:rPr lang="zh-CN" altLang="en-US" b="1" dirty="0">
                  <a:solidFill>
                    <a:srgbClr val="FF0000"/>
                  </a:solidFill>
                  <a:latin typeface="Times New Roman" panose="02020603050405020304" pitchFamily="18" charset="0"/>
                </a:rPr>
                <a:t>预测</a:t>
              </a:r>
              <a:r>
                <a:rPr lang="zh-CN" altLang="en-US" b="1" dirty="0">
                  <a:solidFill>
                    <a:srgbClr val="FF0000"/>
                  </a:solidFill>
                  <a:latin typeface="宋体" panose="02010600030101010101" pitchFamily="2" charset="-122"/>
                </a:rPr>
                <a:t>-校正格式</a:t>
              </a:r>
              <a:r>
                <a:rPr lang="zh-CN" altLang="en-US" b="1" dirty="0">
                  <a:latin typeface="Times New Roman" panose="02020603050405020304" pitchFamily="18" charset="0"/>
                </a:rPr>
                <a:t>. 方法是先用</a:t>
              </a:r>
              <a:r>
                <a:rPr lang="en-US" altLang="zh-CN" b="1" dirty="0">
                  <a:latin typeface="Times New Roman" panose="02020603050405020304" pitchFamily="18" charset="0"/>
                </a:rPr>
                <a:t>Euler</a:t>
              </a:r>
              <a:r>
                <a:rPr lang="zh-CN" altLang="zh-CN" b="1" dirty="0">
                  <a:latin typeface="Times New Roman" panose="02020603050405020304" pitchFamily="18" charset="0"/>
                </a:rPr>
                <a:t>公式求得一个初始近似值     </a:t>
              </a:r>
              <a:r>
                <a:rPr lang="zh-CN" altLang="en-US" b="1" dirty="0">
                  <a:latin typeface="Times New Roman" panose="02020603050405020304" pitchFamily="18" charset="0"/>
                </a:rPr>
                <a:t> </a:t>
              </a:r>
              <a:r>
                <a:rPr lang="zh-CN" altLang="zh-CN" b="1" dirty="0">
                  <a:latin typeface="Times New Roman" panose="02020603050405020304" pitchFamily="18" charset="0"/>
                </a:rPr>
                <a:t>  称为</a:t>
              </a:r>
              <a:r>
                <a:rPr lang="zh-CN" altLang="zh-CN" b="1" dirty="0">
                  <a:solidFill>
                    <a:schemeClr val="accent2"/>
                  </a:solidFill>
                  <a:latin typeface="Times New Roman" panose="02020603050405020304" pitchFamily="18" charset="0"/>
                </a:rPr>
                <a:t>预测值</a:t>
              </a:r>
              <a:r>
                <a:rPr lang="zh-CN" altLang="en-US" b="1" dirty="0">
                  <a:latin typeface="Times New Roman" panose="02020603050405020304" pitchFamily="18" charset="0"/>
                </a:rPr>
                <a:t>, 再把       带入梯形公式右端计算一次求得 </a:t>
              </a:r>
              <a:r>
                <a:rPr lang="en-US" altLang="zh-CN" b="1" i="1" dirty="0">
                  <a:latin typeface="Times New Roman" panose="02020603050405020304" pitchFamily="18" charset="0"/>
                </a:rPr>
                <a:t>y</a:t>
              </a:r>
              <a:r>
                <a:rPr lang="en-US" altLang="zh-CN" b="1" baseline="-25000" dirty="0">
                  <a:latin typeface="Times New Roman" panose="02020603050405020304" pitchFamily="18" charset="0"/>
                </a:rPr>
                <a:t>n+1</a:t>
              </a:r>
              <a:r>
                <a:rPr lang="en-US" altLang="zh-CN" b="1" dirty="0">
                  <a:latin typeface="Times New Roman" panose="02020603050405020304" pitchFamily="18" charset="0"/>
                </a:rPr>
                <a:t> </a:t>
              </a:r>
              <a:r>
                <a:rPr lang="zh-CN" altLang="en-US" b="1" dirty="0">
                  <a:latin typeface="Times New Roman" panose="02020603050405020304" pitchFamily="18" charset="0"/>
                </a:rPr>
                <a:t>称之为</a:t>
              </a:r>
              <a:r>
                <a:rPr lang="zh-CN" altLang="en-US" b="1" dirty="0">
                  <a:solidFill>
                    <a:schemeClr val="accent2"/>
                  </a:solidFill>
                  <a:latin typeface="Times New Roman" panose="02020603050405020304" pitchFamily="18" charset="0"/>
                </a:rPr>
                <a:t>校正值</a:t>
              </a:r>
              <a:r>
                <a:rPr lang="zh-CN" altLang="en-US" b="1" dirty="0">
                  <a:latin typeface="Times New Roman" panose="02020603050405020304" pitchFamily="18" charset="0"/>
                </a:rPr>
                <a:t>, 即</a:t>
              </a:r>
              <a:endParaRPr lang="zh-CN" altLang="en-US" b="1" dirty="0">
                <a:latin typeface="Times New Roman" panose="02020603050405020304" pitchFamily="18" charset="0"/>
              </a:endParaRPr>
            </a:p>
          </p:txBody>
        </p:sp>
        <p:graphicFrame>
          <p:nvGraphicFramePr>
            <p:cNvPr id="14341" name="Object 15"/>
            <p:cNvGraphicFramePr/>
            <p:nvPr/>
          </p:nvGraphicFramePr>
          <p:xfrm>
            <a:off x="5083" y="611"/>
            <a:ext cx="419" cy="360"/>
          </p:xfrm>
          <a:graphic>
            <a:graphicData uri="http://schemas.openxmlformats.org/presentationml/2006/ole">
              <mc:AlternateContent xmlns:mc="http://schemas.openxmlformats.org/markup-compatibility/2006">
                <mc:Choice xmlns:v="urn:schemas-microsoft-com:vml" Requires="v">
                  <p:oleObj spid="_x0000_s3092" name="" r:id="rId1" imgW="266065" imgH="228600" progId="Equation.DSMT4">
                    <p:embed/>
                  </p:oleObj>
                </mc:Choice>
                <mc:Fallback>
                  <p:oleObj name="" r:id="rId1" imgW="266065" imgH="228600" progId="Equation.DSMT4">
                    <p:embed/>
                    <p:pic>
                      <p:nvPicPr>
                        <p:cNvPr id="0" name="图片 3091"/>
                        <p:cNvPicPr/>
                        <p:nvPr/>
                      </p:nvPicPr>
                      <p:blipFill>
                        <a:blip r:embed="rId2"/>
                        <a:stretch>
                          <a:fillRect/>
                        </a:stretch>
                      </p:blipFill>
                      <p:spPr>
                        <a:xfrm>
                          <a:off x="5083" y="611"/>
                          <a:ext cx="419" cy="360"/>
                        </a:xfrm>
                        <a:prstGeom prst="rect">
                          <a:avLst/>
                        </a:prstGeom>
                        <a:noFill/>
                        <a:ln w="38100">
                          <a:noFill/>
                          <a:miter/>
                        </a:ln>
                      </p:spPr>
                    </p:pic>
                  </p:oleObj>
                </mc:Fallback>
              </mc:AlternateContent>
            </a:graphicData>
          </a:graphic>
        </p:graphicFrame>
        <p:graphicFrame>
          <p:nvGraphicFramePr>
            <p:cNvPr id="14342" name="Object 16"/>
            <p:cNvGraphicFramePr/>
            <p:nvPr/>
          </p:nvGraphicFramePr>
          <p:xfrm>
            <a:off x="2281" y="974"/>
            <a:ext cx="419" cy="360"/>
          </p:xfrm>
          <a:graphic>
            <a:graphicData uri="http://schemas.openxmlformats.org/presentationml/2006/ole">
              <mc:AlternateContent xmlns:mc="http://schemas.openxmlformats.org/markup-compatibility/2006">
                <mc:Choice xmlns:v="urn:schemas-microsoft-com:vml" Requires="v">
                  <p:oleObj spid="_x0000_s3093" name="" r:id="rId3" imgW="266065" imgH="228600" progId="Equation.DSMT4">
                    <p:embed/>
                  </p:oleObj>
                </mc:Choice>
                <mc:Fallback>
                  <p:oleObj name="" r:id="rId3" imgW="266065" imgH="228600" progId="Equation.DSMT4">
                    <p:embed/>
                    <p:pic>
                      <p:nvPicPr>
                        <p:cNvPr id="0" name="图片 3092"/>
                        <p:cNvPicPr/>
                        <p:nvPr/>
                      </p:nvPicPr>
                      <p:blipFill>
                        <a:blip r:embed="rId2"/>
                        <a:stretch>
                          <a:fillRect/>
                        </a:stretch>
                      </p:blipFill>
                      <p:spPr>
                        <a:xfrm>
                          <a:off x="2281" y="974"/>
                          <a:ext cx="419" cy="360"/>
                        </a:xfrm>
                        <a:prstGeom prst="rect">
                          <a:avLst/>
                        </a:prstGeom>
                        <a:noFill/>
                        <a:ln w="38100">
                          <a:noFill/>
                          <a:miter/>
                        </a:ln>
                      </p:spPr>
                    </p:pic>
                  </p:oleObj>
                </mc:Fallback>
              </mc:AlternateContent>
            </a:graphicData>
          </a:graphic>
        </p:graphicFrame>
      </p:grpSp>
      <p:grpSp>
        <p:nvGrpSpPr>
          <p:cNvPr id="3" name="Group 28"/>
          <p:cNvGrpSpPr/>
          <p:nvPr/>
        </p:nvGrpSpPr>
        <p:grpSpPr>
          <a:xfrm>
            <a:off x="741363" y="2813050"/>
            <a:ext cx="6959600" cy="1562100"/>
            <a:chOff x="377" y="1642"/>
            <a:chExt cx="4384" cy="984"/>
          </a:xfrm>
        </p:grpSpPr>
        <p:sp>
          <p:nvSpPr>
            <p:cNvPr id="14348" name="Rectangle 17"/>
            <p:cNvSpPr>
              <a:spLocks noChangeAspect="1"/>
            </p:cNvSpPr>
            <p:nvPr/>
          </p:nvSpPr>
          <p:spPr>
            <a:xfrm>
              <a:off x="437" y="1642"/>
              <a:ext cx="717" cy="365"/>
            </a:xfrm>
            <a:prstGeom prst="rect">
              <a:avLst/>
            </a:prstGeom>
            <a:noFill/>
            <a:ln w="9525">
              <a:noFill/>
            </a:ln>
          </p:spPr>
          <p:txBody>
            <a:bodyPr wrap="none">
              <a:spAutoFit/>
            </a:bodyPr>
            <a:p>
              <a:pPr algn="ctr"/>
              <a:r>
                <a:rPr lang="zh-CN" altLang="en-US" b="1" dirty="0">
                  <a:solidFill>
                    <a:schemeClr val="accent2"/>
                  </a:solidFill>
                  <a:latin typeface="Times New Roman" panose="02020603050405020304" pitchFamily="18" charset="0"/>
                </a:rPr>
                <a:t>预测:</a:t>
              </a:r>
              <a:endParaRPr lang="zh-CN" altLang="en-US" b="1" dirty="0">
                <a:latin typeface="Times New Roman" panose="02020603050405020304" pitchFamily="18" charset="0"/>
              </a:endParaRPr>
            </a:p>
          </p:txBody>
        </p:sp>
        <p:sp>
          <p:nvSpPr>
            <p:cNvPr id="14349" name="Rectangle 18"/>
            <p:cNvSpPr>
              <a:spLocks noChangeAspect="1"/>
            </p:cNvSpPr>
            <p:nvPr/>
          </p:nvSpPr>
          <p:spPr>
            <a:xfrm>
              <a:off x="419" y="2146"/>
              <a:ext cx="717" cy="365"/>
            </a:xfrm>
            <a:prstGeom prst="rect">
              <a:avLst/>
            </a:prstGeom>
            <a:noFill/>
            <a:ln w="9525">
              <a:noFill/>
            </a:ln>
          </p:spPr>
          <p:txBody>
            <a:bodyPr wrap="none">
              <a:spAutoFit/>
            </a:bodyPr>
            <a:p>
              <a:pPr algn="ctr"/>
              <a:r>
                <a:rPr lang="zh-CN" altLang="en-US" b="1" dirty="0">
                  <a:solidFill>
                    <a:schemeClr val="accent2"/>
                  </a:solidFill>
                  <a:latin typeface="Times New Roman" panose="02020603050405020304" pitchFamily="18" charset="0"/>
                </a:rPr>
                <a:t>校正:</a:t>
              </a:r>
              <a:endParaRPr lang="zh-CN" altLang="en-US" b="1" dirty="0">
                <a:solidFill>
                  <a:schemeClr val="accent2"/>
                </a:solidFill>
                <a:latin typeface="Times New Roman" panose="02020603050405020304" pitchFamily="18" charset="0"/>
              </a:endParaRPr>
            </a:p>
          </p:txBody>
        </p:sp>
        <p:graphicFrame>
          <p:nvGraphicFramePr>
            <p:cNvPr id="14339" name="Object 19"/>
            <p:cNvGraphicFramePr>
              <a:graphicFrameLocks noChangeAspect="1"/>
            </p:cNvGraphicFramePr>
            <p:nvPr/>
          </p:nvGraphicFramePr>
          <p:xfrm>
            <a:off x="1146" y="1653"/>
            <a:ext cx="2092" cy="345"/>
          </p:xfrm>
          <a:graphic>
            <a:graphicData uri="http://schemas.openxmlformats.org/presentationml/2006/ole">
              <mc:AlternateContent xmlns:mc="http://schemas.openxmlformats.org/markup-compatibility/2006">
                <mc:Choice xmlns:v="urn:schemas-microsoft-com:vml" Requires="v">
                  <p:oleObj spid="_x0000_s3086" name="" r:id="rId4" imgW="1384300" imgH="228600" progId="Equation.DSMT4">
                    <p:embed/>
                  </p:oleObj>
                </mc:Choice>
                <mc:Fallback>
                  <p:oleObj name="" r:id="rId4" imgW="1384300" imgH="228600" progId="Equation.DSMT4">
                    <p:embed/>
                    <p:pic>
                      <p:nvPicPr>
                        <p:cNvPr id="0" name="图片 3085"/>
                        <p:cNvPicPr/>
                        <p:nvPr/>
                      </p:nvPicPr>
                      <p:blipFill>
                        <a:blip r:embed="rId5"/>
                        <a:stretch>
                          <a:fillRect/>
                        </a:stretch>
                      </p:blipFill>
                      <p:spPr>
                        <a:xfrm>
                          <a:off x="1146" y="1653"/>
                          <a:ext cx="2092" cy="345"/>
                        </a:xfrm>
                        <a:prstGeom prst="rect">
                          <a:avLst/>
                        </a:prstGeom>
                        <a:noFill/>
                        <a:ln w="38100">
                          <a:noFill/>
                          <a:miter/>
                        </a:ln>
                      </p:spPr>
                    </p:pic>
                  </p:oleObj>
                </mc:Fallback>
              </mc:AlternateContent>
            </a:graphicData>
          </a:graphic>
        </p:graphicFrame>
        <p:graphicFrame>
          <p:nvGraphicFramePr>
            <p:cNvPr id="14340" name="Object 20"/>
            <p:cNvGraphicFramePr>
              <a:graphicFrameLocks noChangeAspect="1"/>
            </p:cNvGraphicFramePr>
            <p:nvPr/>
          </p:nvGraphicFramePr>
          <p:xfrm>
            <a:off x="1153" y="2031"/>
            <a:ext cx="3608" cy="595"/>
          </p:xfrm>
          <a:graphic>
            <a:graphicData uri="http://schemas.openxmlformats.org/presentationml/2006/ole">
              <mc:AlternateContent xmlns:mc="http://schemas.openxmlformats.org/markup-compatibility/2006">
                <mc:Choice xmlns:v="urn:schemas-microsoft-com:vml" Requires="v">
                  <p:oleObj spid="_x0000_s3088" name="" r:id="rId6" imgW="2386330" imgH="393700" progId="Equation.DSMT4">
                    <p:embed/>
                  </p:oleObj>
                </mc:Choice>
                <mc:Fallback>
                  <p:oleObj name="" r:id="rId6" imgW="2386330" imgH="393700" progId="Equation.DSMT4">
                    <p:embed/>
                    <p:pic>
                      <p:nvPicPr>
                        <p:cNvPr id="0" name="图片 3087"/>
                        <p:cNvPicPr/>
                        <p:nvPr/>
                      </p:nvPicPr>
                      <p:blipFill>
                        <a:blip r:embed="rId7"/>
                        <a:stretch>
                          <a:fillRect/>
                        </a:stretch>
                      </p:blipFill>
                      <p:spPr>
                        <a:xfrm>
                          <a:off x="1153" y="2031"/>
                          <a:ext cx="3608" cy="595"/>
                        </a:xfrm>
                        <a:prstGeom prst="rect">
                          <a:avLst/>
                        </a:prstGeom>
                        <a:noFill/>
                        <a:ln w="38100">
                          <a:noFill/>
                          <a:miter/>
                        </a:ln>
                      </p:spPr>
                    </p:pic>
                  </p:oleObj>
                </mc:Fallback>
              </mc:AlternateContent>
            </a:graphicData>
          </a:graphic>
        </p:graphicFrame>
        <p:sp>
          <p:nvSpPr>
            <p:cNvPr id="14350" name="AutoShape 22"/>
            <p:cNvSpPr>
              <a:spLocks noChangeAspect="1"/>
            </p:cNvSpPr>
            <p:nvPr/>
          </p:nvSpPr>
          <p:spPr>
            <a:xfrm flipH="1">
              <a:off x="377" y="1679"/>
              <a:ext cx="72" cy="842"/>
            </a:xfrm>
            <a:prstGeom prst="rightBrace">
              <a:avLst>
                <a:gd name="adj1" fmla="val 53274"/>
                <a:gd name="adj2" fmla="val 50000"/>
              </a:avLst>
            </a:prstGeom>
            <a:noFill/>
            <a:ln w="9525" cap="flat" cmpd="sng">
              <a:solidFill>
                <a:schemeClr val="tx1"/>
              </a:solidFill>
              <a:prstDash val="solid"/>
              <a:headEnd type="none" w="med" len="med"/>
              <a:tailEnd type="none" w="med" len="med"/>
            </a:ln>
          </p:spPr>
          <p:txBody>
            <a:bodyPr wrap="none" anchor="ctr" anchorCtr="0"/>
            <a:p>
              <a:pPr eaLnBrk="0" hangingPunct="0"/>
              <a:endParaRPr lang="zh-CN" altLang="en-US" dirty="0">
                <a:latin typeface="Times New Roman" panose="02020603050405020304" pitchFamily="18" charset="0"/>
              </a:endParaRPr>
            </a:p>
          </p:txBody>
        </p:sp>
      </p:grpSp>
      <p:sp>
        <p:nvSpPr>
          <p:cNvPr id="88088" name="Rectangle 24"/>
          <p:cNvSpPr/>
          <p:nvPr/>
        </p:nvSpPr>
        <p:spPr>
          <a:xfrm>
            <a:off x="368300" y="4321175"/>
            <a:ext cx="8521700" cy="1066800"/>
          </a:xfrm>
          <a:prstGeom prst="rect">
            <a:avLst/>
          </a:prstGeom>
          <a:noFill/>
          <a:ln w="9525">
            <a:noFill/>
          </a:ln>
        </p:spPr>
        <p:txBody>
          <a:bodyPr>
            <a:spAutoFit/>
          </a:bodyPr>
          <a:p>
            <a:r>
              <a:rPr lang="zh-CN" altLang="zh-CN" b="1" dirty="0">
                <a:latin typeface="Times New Roman" panose="02020603050405020304" pitchFamily="18" charset="0"/>
              </a:rPr>
              <a:t>上式称为</a:t>
            </a:r>
            <a:r>
              <a:rPr lang="zh-CN" altLang="en-US" b="1" dirty="0">
                <a:solidFill>
                  <a:schemeClr val="accent2"/>
                </a:solidFill>
                <a:latin typeface="Times New Roman" panose="02020603050405020304" pitchFamily="18" charset="0"/>
              </a:rPr>
              <a:t>预测 </a:t>
            </a:r>
            <a:r>
              <a:rPr lang="zh-CN" altLang="en-US" b="1" dirty="0">
                <a:solidFill>
                  <a:schemeClr val="accent2"/>
                </a:solidFill>
                <a:latin typeface="宋体" panose="02010600030101010101" pitchFamily="2" charset="-122"/>
              </a:rPr>
              <a:t>-</a:t>
            </a:r>
            <a:r>
              <a:rPr lang="zh-CN" altLang="en-US" b="1" dirty="0">
                <a:solidFill>
                  <a:schemeClr val="accent2"/>
                </a:solidFill>
                <a:latin typeface="Times New Roman" panose="02020603050405020304" pitchFamily="18" charset="0"/>
              </a:rPr>
              <a:t> </a:t>
            </a:r>
            <a:r>
              <a:rPr lang="zh-CN" altLang="en-US" b="1" dirty="0">
                <a:solidFill>
                  <a:schemeClr val="accent2"/>
                </a:solidFill>
                <a:latin typeface="宋体" panose="02010600030101010101" pitchFamily="2" charset="-122"/>
              </a:rPr>
              <a:t>校正公式</a:t>
            </a:r>
            <a:r>
              <a:rPr lang="zh-CN" altLang="en-US" b="1" dirty="0">
                <a:latin typeface="宋体" panose="02010600030101010101" pitchFamily="2" charset="-122"/>
              </a:rPr>
              <a:t>或</a:t>
            </a:r>
            <a:r>
              <a:rPr lang="zh-CN" altLang="en-US" b="1" dirty="0">
                <a:solidFill>
                  <a:schemeClr val="accent2"/>
                </a:solidFill>
                <a:latin typeface="宋体" panose="02010600030101010101" pitchFamily="2" charset="-122"/>
              </a:rPr>
              <a:t>改进的</a:t>
            </a:r>
            <a:r>
              <a:rPr lang="zh-CN" altLang="en-US" b="1" dirty="0">
                <a:solidFill>
                  <a:schemeClr val="accent2"/>
                </a:solidFill>
                <a:latin typeface="Times New Roman" panose="02020603050405020304" pitchFamily="18" charset="0"/>
              </a:rPr>
              <a:t> </a:t>
            </a:r>
            <a:r>
              <a:rPr lang="en-US" altLang="zh-CN" b="1" dirty="0">
                <a:solidFill>
                  <a:schemeClr val="accent2"/>
                </a:solidFill>
                <a:latin typeface="宋体" panose="02010600030101010101" pitchFamily="2" charset="-122"/>
              </a:rPr>
              <a:t>Euler</a:t>
            </a:r>
            <a:r>
              <a:rPr lang="en-US" altLang="zh-CN" b="1" dirty="0">
                <a:solidFill>
                  <a:schemeClr val="accent2"/>
                </a:solidFill>
                <a:latin typeface="Times New Roman" panose="02020603050405020304" pitchFamily="18" charset="0"/>
              </a:rPr>
              <a:t> </a:t>
            </a:r>
            <a:r>
              <a:rPr lang="zh-CN" altLang="zh-CN" b="1" dirty="0">
                <a:solidFill>
                  <a:schemeClr val="accent2"/>
                </a:solidFill>
                <a:latin typeface="Times New Roman" panose="02020603050405020304" pitchFamily="18" charset="0"/>
              </a:rPr>
              <a:t>公式</a:t>
            </a:r>
            <a:r>
              <a:rPr lang="zh-CN" altLang="en-US" b="1" dirty="0">
                <a:latin typeface="Times New Roman" panose="02020603050405020304" pitchFamily="18" charset="0"/>
              </a:rPr>
              <a:t>. 上式也可写成如下形式:</a:t>
            </a:r>
            <a:endParaRPr lang="zh-CN" altLang="en-US" b="1" dirty="0">
              <a:solidFill>
                <a:srgbClr val="FF0000"/>
              </a:solidFill>
              <a:latin typeface="宋体" panose="02010600030101010101" pitchFamily="2" charset="-122"/>
            </a:endParaRPr>
          </a:p>
        </p:txBody>
      </p:sp>
      <p:graphicFrame>
        <p:nvGraphicFramePr>
          <p:cNvPr id="88089" name="Object 25"/>
          <p:cNvGraphicFramePr/>
          <p:nvPr/>
        </p:nvGraphicFramePr>
        <p:xfrm>
          <a:off x="828675" y="5314950"/>
          <a:ext cx="7612063" cy="984250"/>
        </p:xfrm>
        <a:graphic>
          <a:graphicData uri="http://schemas.openxmlformats.org/presentationml/2006/ole">
            <mc:AlternateContent xmlns:mc="http://schemas.openxmlformats.org/markup-compatibility/2006">
              <mc:Choice xmlns:v="urn:schemas-microsoft-com:vml" Requires="v">
                <p:oleObj spid="_x0000_s3091" name="" r:id="rId8" imgW="3034030" imgH="393700" progId="Equation.DSMT4">
                  <p:embed/>
                </p:oleObj>
              </mc:Choice>
              <mc:Fallback>
                <p:oleObj name="" r:id="rId8" imgW="3034030" imgH="393700" progId="Equation.DSMT4">
                  <p:embed/>
                  <p:pic>
                    <p:nvPicPr>
                      <p:cNvPr id="0" name="图片 3090"/>
                      <p:cNvPicPr/>
                      <p:nvPr/>
                    </p:nvPicPr>
                    <p:blipFill>
                      <a:blip r:embed="rId9"/>
                      <a:stretch>
                        <a:fillRect/>
                      </a:stretch>
                    </p:blipFill>
                    <p:spPr>
                      <a:xfrm>
                        <a:off x="828675" y="5314950"/>
                        <a:ext cx="7612063" cy="9842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8088"/>
                                        </p:tgtEl>
                                        <p:attrNameLst>
                                          <p:attrName>style.visibility</p:attrName>
                                        </p:attrNameLst>
                                      </p:cBhvr>
                                      <p:to>
                                        <p:strVal val="visible"/>
                                      </p:to>
                                    </p:set>
                                    <p:animEffect transition="in" filter="blinds(horizontal)">
                                      <p:cBhvr>
                                        <p:cTn id="17" dur="500"/>
                                        <p:tgtEl>
                                          <p:spTgt spid="8808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8089"/>
                                        </p:tgtEl>
                                        <p:attrNameLst>
                                          <p:attrName>style.visibility</p:attrName>
                                        </p:attrNameLst>
                                      </p:cBhvr>
                                      <p:to>
                                        <p:strVal val="visible"/>
                                      </p:to>
                                    </p:set>
                                    <p:animEffect transition="in" filter="blinds(horizontal)">
                                      <p:cBhvr>
                                        <p:cTn id="22" dur="500"/>
                                        <p:tgtEl>
                                          <p:spTgt spid="88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8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368"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5369" name="Rectangle 2"/>
          <p:cNvSpPr>
            <a:spLocks noGrp="1"/>
          </p:cNvSpPr>
          <p:nvPr>
            <p:ph type="title"/>
          </p:nvPr>
        </p:nvSpPr>
        <p:spPr>
          <a:ln/>
        </p:spPr>
        <p:txBody>
          <a:bodyPr vert="horz" wrap="square" lIns="91440" tIns="45720" rIns="91440" bIns="45720" anchor="ctr" anchorCtr="0"/>
          <a:p>
            <a:pPr algn="l">
              <a:lnSpc>
                <a:spcPct val="120000"/>
              </a:lnSpc>
            </a:pPr>
            <a:r>
              <a:rPr lang="zh-CN" altLang="en-US" b="1" u="none" dirty="0">
                <a:solidFill>
                  <a:schemeClr val="tx1"/>
                </a:solidFill>
                <a:latin typeface="Times New Roman" panose="02020603050405020304" pitchFamily="18" charset="0"/>
              </a:rPr>
              <a:t>例</a:t>
            </a:r>
            <a:r>
              <a:rPr lang="en-US" altLang="zh-CN" b="1" u="none" dirty="0">
                <a:solidFill>
                  <a:schemeClr val="tx1"/>
                </a:solidFill>
                <a:latin typeface="Times New Roman" panose="02020603050405020304" pitchFamily="18" charset="0"/>
              </a:rPr>
              <a:t>9.</a:t>
            </a:r>
            <a:r>
              <a:rPr lang="zh-CN" altLang="en-US" b="1" u="none" dirty="0">
                <a:solidFill>
                  <a:schemeClr val="tx1"/>
                </a:solidFill>
                <a:latin typeface="Times New Roman" panose="02020603050405020304" pitchFamily="18" charset="0"/>
              </a:rPr>
              <a:t>1.1</a:t>
            </a:r>
            <a:r>
              <a:rPr lang="zh-CN" altLang="en-US" u="none" dirty="0">
                <a:solidFill>
                  <a:schemeClr val="tx1"/>
                </a:solidFill>
                <a:latin typeface="Times New Roman" panose="02020603050405020304" pitchFamily="18" charset="0"/>
              </a:rPr>
              <a:t>：</a:t>
            </a:r>
            <a:r>
              <a:rPr lang="zh-CN" altLang="en-US" b="1" u="none" dirty="0">
                <a:solidFill>
                  <a:schemeClr val="tx1"/>
                </a:solidFill>
                <a:latin typeface="Times New Roman" panose="02020603050405020304" pitchFamily="18" charset="0"/>
              </a:rPr>
              <a:t>利用</a:t>
            </a:r>
            <a:r>
              <a:rPr lang="en-US" altLang="zh-CN" b="1" u="none" dirty="0">
                <a:solidFill>
                  <a:schemeClr val="tx1"/>
                </a:solidFill>
                <a:latin typeface="Times New Roman" panose="02020603050405020304" pitchFamily="18" charset="0"/>
              </a:rPr>
              <a:t>Euler</a:t>
            </a:r>
            <a:r>
              <a:rPr lang="zh-CN" altLang="en-US" b="1" u="none" dirty="0">
                <a:solidFill>
                  <a:schemeClr val="tx1"/>
                </a:solidFill>
                <a:latin typeface="Times New Roman" panose="02020603050405020304" pitchFamily="18" charset="0"/>
              </a:rPr>
              <a:t>公式与改进的</a:t>
            </a:r>
            <a:r>
              <a:rPr lang="en-US" altLang="zh-CN" b="1" u="none" dirty="0">
                <a:solidFill>
                  <a:schemeClr val="tx1"/>
                </a:solidFill>
                <a:latin typeface="Times New Roman" panose="02020603050405020304" pitchFamily="18" charset="0"/>
              </a:rPr>
              <a:t>Euler</a:t>
            </a:r>
            <a:r>
              <a:rPr lang="zh-CN" altLang="en-US" b="1" u="none" dirty="0">
                <a:solidFill>
                  <a:schemeClr val="tx1"/>
                </a:solidFill>
                <a:latin typeface="Times New Roman" panose="02020603050405020304" pitchFamily="18" charset="0"/>
              </a:rPr>
              <a:t>公式求解初值问题（步长</a:t>
            </a:r>
            <a:r>
              <a:rPr lang="en-US" altLang="zh-CN" b="1" i="1" u="none" dirty="0">
                <a:solidFill>
                  <a:schemeClr val="tx1"/>
                </a:solidFill>
                <a:latin typeface="Times New Roman" panose="02020603050405020304" pitchFamily="18" charset="0"/>
              </a:rPr>
              <a:t>h</a:t>
            </a:r>
            <a:r>
              <a:rPr lang="en-US" altLang="zh-CN" b="1" u="none" dirty="0">
                <a:solidFill>
                  <a:schemeClr val="tx1"/>
                </a:solidFill>
                <a:latin typeface="Times New Roman" panose="02020603050405020304" pitchFamily="18" charset="0"/>
              </a:rPr>
              <a:t> = 0.1）</a:t>
            </a:r>
            <a:endParaRPr lang="en-US" altLang="zh-CN" b="1" u="none" dirty="0">
              <a:latin typeface="Times New Roman" panose="02020603050405020304" pitchFamily="18" charset="0"/>
              <a:ea typeface="Times New Roman" panose="02020603050405020304" pitchFamily="18" charset="0"/>
            </a:endParaRPr>
          </a:p>
        </p:txBody>
      </p:sp>
      <p:graphicFrame>
        <p:nvGraphicFramePr>
          <p:cNvPr id="140291" name="Object 3"/>
          <p:cNvGraphicFramePr/>
          <p:nvPr/>
        </p:nvGraphicFramePr>
        <p:xfrm>
          <a:off x="2012950" y="1368425"/>
          <a:ext cx="4038600" cy="1712913"/>
        </p:xfrm>
        <a:graphic>
          <a:graphicData uri="http://schemas.openxmlformats.org/presentationml/2006/ole">
            <mc:AlternateContent xmlns:mc="http://schemas.openxmlformats.org/markup-compatibility/2006">
              <mc:Choice xmlns:v="urn:schemas-microsoft-com:vml" Requires="v">
                <p:oleObj spid="_x0000_s3099" name="" r:id="rId1" imgW="1612900" imgH="685800" progId="Equation.3">
                  <p:embed/>
                </p:oleObj>
              </mc:Choice>
              <mc:Fallback>
                <p:oleObj name="" r:id="rId1" imgW="1612900" imgH="685800" progId="Equation.3">
                  <p:embed/>
                  <p:pic>
                    <p:nvPicPr>
                      <p:cNvPr id="0" name="图片 3098"/>
                      <p:cNvPicPr/>
                      <p:nvPr/>
                    </p:nvPicPr>
                    <p:blipFill>
                      <a:blip r:embed="rId2"/>
                      <a:stretch>
                        <a:fillRect/>
                      </a:stretch>
                    </p:blipFill>
                    <p:spPr>
                      <a:xfrm>
                        <a:off x="2012950" y="1368425"/>
                        <a:ext cx="4038600" cy="1712913"/>
                      </a:xfrm>
                      <a:prstGeom prst="rect">
                        <a:avLst/>
                      </a:prstGeom>
                      <a:noFill/>
                      <a:ln w="38100">
                        <a:noFill/>
                        <a:miter/>
                      </a:ln>
                    </p:spPr>
                  </p:pic>
                </p:oleObj>
              </mc:Fallback>
            </mc:AlternateContent>
          </a:graphicData>
        </a:graphic>
      </p:graphicFrame>
      <p:grpSp>
        <p:nvGrpSpPr>
          <p:cNvPr id="2" name="Group 15"/>
          <p:cNvGrpSpPr/>
          <p:nvPr/>
        </p:nvGrpSpPr>
        <p:grpSpPr>
          <a:xfrm>
            <a:off x="384175" y="2947988"/>
            <a:ext cx="8102600" cy="1895475"/>
            <a:chOff x="242" y="1882"/>
            <a:chExt cx="5104" cy="1194"/>
          </a:xfrm>
        </p:grpSpPr>
        <p:sp>
          <p:nvSpPr>
            <p:cNvPr id="15371" name="Text Box 5"/>
            <p:cNvSpPr txBox="1"/>
            <p:nvPr/>
          </p:nvSpPr>
          <p:spPr>
            <a:xfrm>
              <a:off x="242" y="1882"/>
              <a:ext cx="5104" cy="1194"/>
            </a:xfrm>
            <a:prstGeom prst="rect">
              <a:avLst/>
            </a:prstGeom>
            <a:noFill/>
            <a:ln w="9525">
              <a:noFill/>
            </a:ln>
          </p:spPr>
          <p:txBody>
            <a:bodyPr>
              <a:spAutoFit/>
            </a:bodyPr>
            <a:p>
              <a:pPr eaLnBrk="0" hangingPunct="0">
                <a:lnSpc>
                  <a:spcPct val="120000"/>
                </a:lnSpc>
              </a:pPr>
              <a:r>
                <a:rPr lang="zh-CN" altLang="en-US" b="1" dirty="0">
                  <a:latin typeface="Times New Roman" panose="02020603050405020304" pitchFamily="18" charset="0"/>
                </a:rPr>
                <a:t>解：由步长</a:t>
              </a:r>
              <a:r>
                <a:rPr lang="en-US" altLang="zh-CN" b="1" i="1" dirty="0">
                  <a:latin typeface="Times New Roman" panose="02020603050405020304" pitchFamily="18" charset="0"/>
                </a:rPr>
                <a:t>h</a:t>
              </a:r>
              <a:r>
                <a:rPr lang="en-US" altLang="zh-CN" b="1" dirty="0">
                  <a:latin typeface="Times New Roman" panose="02020603050405020304" pitchFamily="18" charset="0"/>
                </a:rPr>
                <a:t>=0.1，</a:t>
              </a:r>
              <a:r>
                <a:rPr lang="zh-CN" altLang="en-US" b="1" dirty="0">
                  <a:latin typeface="Times New Roman" panose="02020603050405020304" pitchFamily="18" charset="0"/>
                </a:rPr>
                <a:t>知节点</a:t>
              </a:r>
              <a:endParaRPr lang="zh-CN" altLang="en-US" b="1" dirty="0">
                <a:latin typeface="Times New Roman" panose="02020603050405020304" pitchFamily="18" charset="0"/>
              </a:endParaRPr>
            </a:p>
            <a:p>
              <a:pPr eaLnBrk="0" hangingPunct="0">
                <a:lnSpc>
                  <a:spcPct val="125000"/>
                </a:lnSpc>
              </a:pPr>
              <a:r>
                <a:rPr lang="zh-CN" altLang="en-US" b="1" dirty="0">
                  <a:latin typeface="Times New Roman" panose="02020603050405020304" pitchFamily="18" charset="0"/>
                </a:rPr>
                <a:t>                           设数值解为       利用</a:t>
              </a:r>
              <a:r>
                <a:rPr lang="en-US" altLang="zh-CN" b="1" dirty="0">
                  <a:latin typeface="Times New Roman" panose="02020603050405020304" pitchFamily="18" charset="0"/>
                </a:rPr>
                <a:t>Euler</a:t>
              </a:r>
              <a:r>
                <a:rPr lang="zh-CN" altLang="en-US" b="1" dirty="0">
                  <a:latin typeface="Times New Roman" panose="02020603050405020304" pitchFamily="18" charset="0"/>
                </a:rPr>
                <a:t>公式得</a:t>
              </a:r>
              <a:endParaRPr lang="zh-CN" altLang="en-US" b="1" dirty="0">
                <a:latin typeface="Times New Roman" panose="02020603050405020304" pitchFamily="18" charset="0"/>
              </a:endParaRPr>
            </a:p>
          </p:txBody>
        </p:sp>
        <p:graphicFrame>
          <p:nvGraphicFramePr>
            <p:cNvPr id="15364" name="Object 6"/>
            <p:cNvGraphicFramePr/>
            <p:nvPr/>
          </p:nvGraphicFramePr>
          <p:xfrm>
            <a:off x="3268" y="1933"/>
            <a:ext cx="2014" cy="359"/>
          </p:xfrm>
          <a:graphic>
            <a:graphicData uri="http://schemas.openxmlformats.org/presentationml/2006/ole">
              <mc:AlternateContent xmlns:mc="http://schemas.openxmlformats.org/markup-compatibility/2006">
                <mc:Choice xmlns:v="urn:schemas-microsoft-com:vml" Requires="v">
                  <p:oleObj spid="_x0000_s3098" name="" r:id="rId3" imgW="1282700" imgH="228600" progId="Equation.3">
                    <p:embed/>
                  </p:oleObj>
                </mc:Choice>
                <mc:Fallback>
                  <p:oleObj name="" r:id="rId3" imgW="1282700" imgH="228600" progId="Equation.3">
                    <p:embed/>
                    <p:pic>
                      <p:nvPicPr>
                        <p:cNvPr id="0" name="图片 3097"/>
                        <p:cNvPicPr/>
                        <p:nvPr/>
                      </p:nvPicPr>
                      <p:blipFill>
                        <a:blip r:embed="rId4"/>
                        <a:stretch>
                          <a:fillRect/>
                        </a:stretch>
                      </p:blipFill>
                      <p:spPr>
                        <a:xfrm>
                          <a:off x="3268" y="1933"/>
                          <a:ext cx="2014" cy="359"/>
                        </a:xfrm>
                        <a:prstGeom prst="rect">
                          <a:avLst/>
                        </a:prstGeom>
                        <a:noFill/>
                        <a:ln w="38100">
                          <a:noFill/>
                          <a:miter/>
                        </a:ln>
                      </p:spPr>
                    </p:pic>
                  </p:oleObj>
                </mc:Fallback>
              </mc:AlternateContent>
            </a:graphicData>
          </a:graphic>
        </p:graphicFrame>
        <p:graphicFrame>
          <p:nvGraphicFramePr>
            <p:cNvPr id="15365" name="Object 8"/>
            <p:cNvGraphicFramePr/>
            <p:nvPr/>
          </p:nvGraphicFramePr>
          <p:xfrm>
            <a:off x="382" y="2359"/>
            <a:ext cx="1537" cy="319"/>
          </p:xfrm>
          <a:graphic>
            <a:graphicData uri="http://schemas.openxmlformats.org/presentationml/2006/ole">
              <mc:AlternateContent xmlns:mc="http://schemas.openxmlformats.org/markup-compatibility/2006">
                <mc:Choice xmlns:v="urn:schemas-microsoft-com:vml" Requires="v">
                  <p:oleObj spid="_x0000_s3097" name="" r:id="rId5" imgW="977265" imgH="203200" progId="Equation.3">
                    <p:embed/>
                  </p:oleObj>
                </mc:Choice>
                <mc:Fallback>
                  <p:oleObj name="" r:id="rId5" imgW="977265" imgH="203200" progId="Equation.3">
                    <p:embed/>
                    <p:pic>
                      <p:nvPicPr>
                        <p:cNvPr id="0" name="图片 3096"/>
                        <p:cNvPicPr/>
                        <p:nvPr/>
                      </p:nvPicPr>
                      <p:blipFill>
                        <a:blip r:embed="rId6"/>
                        <a:stretch>
                          <a:fillRect/>
                        </a:stretch>
                      </p:blipFill>
                      <p:spPr>
                        <a:xfrm>
                          <a:off x="382" y="2359"/>
                          <a:ext cx="1537" cy="319"/>
                        </a:xfrm>
                        <a:prstGeom prst="rect">
                          <a:avLst/>
                        </a:prstGeom>
                        <a:noFill/>
                        <a:ln w="38100">
                          <a:noFill/>
                          <a:miter/>
                        </a:ln>
                      </p:spPr>
                    </p:pic>
                  </p:oleObj>
                </mc:Fallback>
              </mc:AlternateContent>
            </a:graphicData>
          </a:graphic>
        </p:graphicFrame>
        <p:graphicFrame>
          <p:nvGraphicFramePr>
            <p:cNvPr id="15366" name="Object 10"/>
            <p:cNvGraphicFramePr/>
            <p:nvPr/>
          </p:nvGraphicFramePr>
          <p:xfrm>
            <a:off x="3296" y="2330"/>
            <a:ext cx="422" cy="345"/>
          </p:xfrm>
          <a:graphic>
            <a:graphicData uri="http://schemas.openxmlformats.org/presentationml/2006/ole">
              <mc:AlternateContent xmlns:mc="http://schemas.openxmlformats.org/markup-compatibility/2006">
                <mc:Choice xmlns:v="urn:schemas-microsoft-com:vml" Requires="v">
                  <p:oleObj spid="_x0000_s3095" name="" r:id="rId7" imgW="279400" imgH="228600" progId="Equation.3">
                    <p:embed/>
                  </p:oleObj>
                </mc:Choice>
                <mc:Fallback>
                  <p:oleObj name="" r:id="rId7" imgW="279400" imgH="228600" progId="Equation.3">
                    <p:embed/>
                    <p:pic>
                      <p:nvPicPr>
                        <p:cNvPr id="0" name="图片 3094"/>
                        <p:cNvPicPr/>
                        <p:nvPr/>
                      </p:nvPicPr>
                      <p:blipFill>
                        <a:blip r:embed="rId8"/>
                        <a:stretch>
                          <a:fillRect/>
                        </a:stretch>
                      </p:blipFill>
                      <p:spPr>
                        <a:xfrm>
                          <a:off x="3296" y="2330"/>
                          <a:ext cx="422" cy="345"/>
                        </a:xfrm>
                        <a:prstGeom prst="rect">
                          <a:avLst/>
                        </a:prstGeom>
                        <a:noFill/>
                        <a:ln w="38100">
                          <a:noFill/>
                          <a:miter/>
                        </a:ln>
                      </p:spPr>
                    </p:pic>
                  </p:oleObj>
                </mc:Fallback>
              </mc:AlternateContent>
            </a:graphicData>
          </a:graphic>
        </p:graphicFrame>
      </p:grpSp>
      <p:graphicFrame>
        <p:nvGraphicFramePr>
          <p:cNvPr id="140301" name="Object 13"/>
          <p:cNvGraphicFramePr/>
          <p:nvPr/>
        </p:nvGraphicFramePr>
        <p:xfrm>
          <a:off x="1441450" y="4306888"/>
          <a:ext cx="6959600" cy="1839912"/>
        </p:xfrm>
        <a:graphic>
          <a:graphicData uri="http://schemas.openxmlformats.org/presentationml/2006/ole">
            <mc:AlternateContent xmlns:mc="http://schemas.openxmlformats.org/markup-compatibility/2006">
              <mc:Choice xmlns:v="urn:schemas-microsoft-com:vml" Requires="v">
                <p:oleObj spid="_x0000_s3096" name="" r:id="rId9" imgW="2794000" imgH="736600" progId="Equation.3">
                  <p:embed/>
                </p:oleObj>
              </mc:Choice>
              <mc:Fallback>
                <p:oleObj name="" r:id="rId9" imgW="2794000" imgH="736600" progId="Equation.3">
                  <p:embed/>
                  <p:pic>
                    <p:nvPicPr>
                      <p:cNvPr id="0" name="图片 3095"/>
                      <p:cNvPicPr/>
                      <p:nvPr/>
                    </p:nvPicPr>
                    <p:blipFill>
                      <a:blip r:embed="rId10"/>
                      <a:stretch>
                        <a:fillRect/>
                      </a:stretch>
                    </p:blipFill>
                    <p:spPr>
                      <a:xfrm>
                        <a:off x="1441450" y="4306888"/>
                        <a:ext cx="6959600" cy="18399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0291"/>
                                        </p:tgtEl>
                                        <p:attrNameLst>
                                          <p:attrName>style.visibility</p:attrName>
                                        </p:attrNameLst>
                                      </p:cBhvr>
                                      <p:to>
                                        <p:strVal val="visible"/>
                                      </p:to>
                                    </p:set>
                                    <p:animEffect transition="in" filter="dissolve">
                                      <p:cBhvr>
                                        <p:cTn id="7" dur="500"/>
                                        <p:tgtEl>
                                          <p:spTgt spid="14029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0301"/>
                                        </p:tgtEl>
                                        <p:attrNameLst>
                                          <p:attrName>style.visibility</p:attrName>
                                        </p:attrNameLst>
                                      </p:cBhvr>
                                      <p:to>
                                        <p:strVal val="visible"/>
                                      </p:to>
                                    </p:set>
                                    <p:animEffect transition="in" filter="wipe(up)">
                                      <p:cBhvr>
                                        <p:cTn id="17" dur="500"/>
                                        <p:tgtEl>
                                          <p:spTgt spid="140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388"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6389" name="Rectangle 2050"/>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计算结果见下表</a:t>
            </a:r>
            <a:endParaRPr lang="zh-CN" altLang="en-US" sz="2800" u="none" dirty="0">
              <a:solidFill>
                <a:schemeClr val="tx1"/>
              </a:solidFill>
            </a:endParaRPr>
          </a:p>
        </p:txBody>
      </p:sp>
      <p:grpSp>
        <p:nvGrpSpPr>
          <p:cNvPr id="2" name="Group 2134"/>
          <p:cNvGrpSpPr/>
          <p:nvPr/>
        </p:nvGrpSpPr>
        <p:grpSpPr>
          <a:xfrm>
            <a:off x="249238" y="4905375"/>
            <a:ext cx="8632825" cy="1577975"/>
            <a:chOff x="239" y="1302"/>
            <a:chExt cx="5068" cy="994"/>
          </a:xfrm>
        </p:grpSpPr>
        <p:sp>
          <p:nvSpPr>
            <p:cNvPr id="16465" name="Text Box 2130"/>
            <p:cNvSpPr txBox="1"/>
            <p:nvPr/>
          </p:nvSpPr>
          <p:spPr>
            <a:xfrm>
              <a:off x="239" y="1307"/>
              <a:ext cx="5068" cy="989"/>
            </a:xfrm>
            <a:prstGeom prst="rect">
              <a:avLst/>
            </a:prstGeom>
            <a:noFill/>
            <a:ln w="9525">
              <a:noFill/>
            </a:ln>
          </p:spPr>
          <p:txBody>
            <a:bodyPr>
              <a:spAutoFit/>
            </a:bodyPr>
            <a:p>
              <a:pPr eaLnBrk="0" hangingPunct="0"/>
              <a:r>
                <a:rPr lang="zh-CN" altLang="en-US" sz="2800" dirty="0">
                  <a:latin typeface="Times New Roman" panose="02020603050405020304" pitchFamily="18" charset="0"/>
                </a:rPr>
                <a:t>         </a:t>
              </a:r>
              <a:r>
                <a:rPr lang="zh-CN" altLang="en-US" b="1" dirty="0">
                  <a:latin typeface="Times New Roman" panose="02020603050405020304" pitchFamily="18" charset="0"/>
                </a:rPr>
                <a:t>此初值问题的解析解为                      , 从上表可以看出, 数值解 </a:t>
              </a:r>
              <a:r>
                <a:rPr lang="en-US" altLang="zh-CN" b="1" i="1" dirty="0">
                  <a:latin typeface="Times New Roman" panose="02020603050405020304" pitchFamily="18" charset="0"/>
                </a:rPr>
                <a:t>y</a:t>
              </a:r>
              <a:r>
                <a:rPr lang="en-US" altLang="zh-CN" b="1" i="1" baseline="-25000" dirty="0">
                  <a:latin typeface="Times New Roman" panose="02020603050405020304" pitchFamily="18" charset="0"/>
                </a:rPr>
                <a:t>n</a:t>
              </a:r>
              <a:r>
                <a:rPr lang="zh-CN" altLang="en-US" b="1" dirty="0">
                  <a:latin typeface="Times New Roman" panose="02020603050405020304" pitchFamily="18" charset="0"/>
                </a:rPr>
                <a:t>与解析解 </a:t>
              </a:r>
              <a:r>
                <a:rPr lang="en-US" altLang="zh-CN" b="1" i="1" dirty="0">
                  <a:latin typeface="Times New Roman" panose="02020603050405020304" pitchFamily="18" charset="0"/>
                </a:rPr>
                <a:t>y</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比较, </a:t>
              </a:r>
              <a:r>
                <a:rPr lang="en-US" altLang="zh-CN" b="1" i="1" dirty="0">
                  <a:latin typeface="Times New Roman" panose="02020603050405020304" pitchFamily="18" charset="0"/>
                </a:rPr>
                <a:t>y</a:t>
              </a:r>
              <a:r>
                <a:rPr lang="en-US" altLang="zh-CN" b="1" i="1" baseline="-25000" dirty="0">
                  <a:latin typeface="Times New Roman" panose="02020603050405020304" pitchFamily="18" charset="0"/>
                </a:rPr>
                <a:t>n</a:t>
              </a:r>
              <a:r>
                <a:rPr lang="zh-CN" altLang="en-US" b="1" dirty="0">
                  <a:latin typeface="Times New Roman" panose="02020603050405020304" pitchFamily="18" charset="0"/>
                </a:rPr>
                <a:t>精度较差. </a:t>
              </a:r>
              <a:endParaRPr lang="zh-CN" altLang="en-US" b="1" dirty="0">
                <a:latin typeface="Times New Roman" panose="02020603050405020304" pitchFamily="18" charset="0"/>
              </a:endParaRPr>
            </a:p>
          </p:txBody>
        </p:sp>
        <p:graphicFrame>
          <p:nvGraphicFramePr>
            <p:cNvPr id="16386" name="Object 2131"/>
            <p:cNvGraphicFramePr/>
            <p:nvPr/>
          </p:nvGraphicFramePr>
          <p:xfrm>
            <a:off x="3239" y="1302"/>
            <a:ext cx="1165" cy="378"/>
          </p:xfrm>
          <a:graphic>
            <a:graphicData uri="http://schemas.openxmlformats.org/presentationml/2006/ole">
              <mc:AlternateContent xmlns:mc="http://schemas.openxmlformats.org/markup-compatibility/2006">
                <mc:Choice xmlns:v="urn:schemas-microsoft-com:vml" Requires="v">
                  <p:oleObj spid="_x0000_s3094" name="" r:id="rId1" imgW="748665" imgH="241300" progId="Equation.3">
                    <p:embed/>
                  </p:oleObj>
                </mc:Choice>
                <mc:Fallback>
                  <p:oleObj name="" r:id="rId1" imgW="748665" imgH="241300" progId="Equation.3">
                    <p:embed/>
                    <p:pic>
                      <p:nvPicPr>
                        <p:cNvPr id="0" name="图片 3093"/>
                        <p:cNvPicPr/>
                        <p:nvPr/>
                      </p:nvPicPr>
                      <p:blipFill>
                        <a:blip r:embed="rId2"/>
                        <a:stretch>
                          <a:fillRect/>
                        </a:stretch>
                      </p:blipFill>
                      <p:spPr>
                        <a:xfrm>
                          <a:off x="3239" y="1302"/>
                          <a:ext cx="1165" cy="378"/>
                        </a:xfrm>
                        <a:prstGeom prst="rect">
                          <a:avLst/>
                        </a:prstGeom>
                        <a:noFill/>
                        <a:ln w="38100">
                          <a:noFill/>
                          <a:miter/>
                        </a:ln>
                      </p:spPr>
                    </p:pic>
                  </p:oleObj>
                </mc:Fallback>
              </mc:AlternateContent>
            </a:graphicData>
          </a:graphic>
        </p:graphicFrame>
      </p:grpSp>
      <p:graphicFrame>
        <p:nvGraphicFramePr>
          <p:cNvPr id="8" name="表格 7"/>
          <p:cNvGraphicFramePr>
            <a:graphicFrameLocks noGrp="1"/>
          </p:cNvGraphicFramePr>
          <p:nvPr/>
        </p:nvGraphicFramePr>
        <p:xfrm>
          <a:off x="558800" y="1128713"/>
          <a:ext cx="7659688" cy="1828800"/>
        </p:xfrm>
        <a:graphic>
          <a:graphicData uri="http://schemas.openxmlformats.org/drawingml/2006/table">
            <a:tbl>
              <a:tblPr/>
              <a:tblGrid>
                <a:gridCol w="1276515"/>
                <a:gridCol w="1276515"/>
                <a:gridCol w="1276515"/>
                <a:gridCol w="1276515"/>
                <a:gridCol w="1276515"/>
                <a:gridCol w="1276515"/>
              </a:tblGrid>
              <a:tr h="274320">
                <a:tc>
                  <a:txBody>
                    <a:bodyPr/>
                    <a:lstStyle/>
                    <a:p>
                      <a:pPr algn="ctr">
                        <a:lnSpc>
                          <a:spcPts val="1600"/>
                        </a:lnSpc>
                        <a:spcAft>
                          <a:spcPts val="0"/>
                        </a:spcAft>
                      </a:pPr>
                      <a:r>
                        <a:rPr lang="en-US" sz="2400" i="1" kern="100" dirty="0" err="1" smtClean="0">
                          <a:latin typeface="Times New Roman" panose="02020603050405020304"/>
                          <a:ea typeface="宋体" panose="02010600030101010101" pitchFamily="2" charset="-122"/>
                          <a:cs typeface="Times New Roman" panose="02020603050405020304"/>
                        </a:rPr>
                        <a:t>x</a:t>
                      </a:r>
                      <a:r>
                        <a:rPr lang="en-US" sz="2400" i="1" kern="100" baseline="-25000" dirty="0" err="1"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spcAft>
                          <a:spcPts val="0"/>
                        </a:spcAft>
                      </a:pPr>
                      <a:r>
                        <a:rPr lang="en-US" sz="2400" kern="100" dirty="0">
                          <a:latin typeface="Times New Roman" panose="02020603050405020304"/>
                          <a:ea typeface="宋体" panose="02010600030101010101" pitchFamily="2" charset="-122"/>
                          <a:cs typeface="Times New Roman" panose="02020603050405020304"/>
                        </a:rPr>
                        <a:t>0.1</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spcAft>
                          <a:spcPts val="0"/>
                        </a:spcAft>
                      </a:pPr>
                      <a:r>
                        <a:rPr lang="en-US" sz="2400" kern="100" dirty="0">
                          <a:latin typeface="Times New Roman" panose="02020603050405020304"/>
                          <a:ea typeface="宋体" panose="02010600030101010101" pitchFamily="2" charset="-122"/>
                          <a:cs typeface="Times New Roman" panose="02020603050405020304"/>
                        </a:rPr>
                        <a:t>0.4</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ctr">
                        <a:lnSpc>
                          <a:spcPts val="1600"/>
                        </a:lnSpc>
                        <a:spcAft>
                          <a:spcPts val="0"/>
                        </a:spcAft>
                      </a:pPr>
                      <a:r>
                        <a:rPr lang="en-US" sz="2400" i="1" kern="100" dirty="0" err="1" smtClean="0">
                          <a:latin typeface="Times New Roman" panose="02020603050405020304"/>
                          <a:ea typeface="宋体" panose="02010600030101010101" pitchFamily="2" charset="-122"/>
                          <a:cs typeface="Times New Roman" panose="02020603050405020304"/>
                        </a:rPr>
                        <a:t>y</a:t>
                      </a:r>
                      <a:r>
                        <a:rPr lang="en-US" sz="2400" i="1" kern="100" baseline="-25000" dirty="0" err="1"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1.1000</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latin typeface="Times New Roman" panose="02020603050405020304"/>
                          <a:ea typeface="宋体" panose="02010600030101010101" pitchFamily="2" charset="-122"/>
                          <a:cs typeface="Times New Roman" panose="02020603050405020304"/>
                        </a:rPr>
                        <a:t>1.1918</a:t>
                      </a:r>
                      <a:endParaRPr lang="zh-CN" sz="2400" kern="10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1.2774</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1.3582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1.4351</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ctr">
                        <a:lnSpc>
                          <a:spcPts val="1600"/>
                        </a:lnSpc>
                        <a:spcAft>
                          <a:spcPts val="0"/>
                        </a:spcAft>
                      </a:pPr>
                      <a:r>
                        <a:rPr lang="en-US" sz="2400" i="1" kern="100" dirty="0" smtClean="0">
                          <a:latin typeface="Times New Roman" panose="02020603050405020304"/>
                          <a:ea typeface="宋体" panose="02010600030101010101" pitchFamily="2" charset="-122"/>
                          <a:cs typeface="Times New Roman" panose="02020603050405020304"/>
                        </a:rPr>
                        <a:t>y</a:t>
                      </a:r>
                      <a:r>
                        <a:rPr lang="en-US" sz="2400" i="0" kern="100" dirty="0" smtClean="0">
                          <a:latin typeface="Times New Roman" panose="02020603050405020304"/>
                          <a:ea typeface="宋体" panose="02010600030101010101" pitchFamily="2" charset="-122"/>
                          <a:cs typeface="Times New Roman" panose="02020603050405020304"/>
                        </a:rPr>
                        <a:t>(</a:t>
                      </a:r>
                      <a:r>
                        <a:rPr lang="en-US" sz="2400" i="1" kern="100" dirty="0" err="1" smtClean="0">
                          <a:latin typeface="Times New Roman" panose="02020603050405020304"/>
                          <a:ea typeface="宋体" panose="02010600030101010101" pitchFamily="2" charset="-122"/>
                          <a:cs typeface="Times New Roman" panose="02020603050405020304"/>
                        </a:rPr>
                        <a:t>x</a:t>
                      </a:r>
                      <a:r>
                        <a:rPr lang="en-US" sz="2400" i="1" kern="100" baseline="-25000" dirty="0" err="1" smtClean="0">
                          <a:latin typeface="Times New Roman" panose="02020603050405020304"/>
                          <a:ea typeface="宋体" panose="02010600030101010101" pitchFamily="2" charset="-122"/>
                          <a:cs typeface="Times New Roman" panose="02020603050405020304"/>
                        </a:rPr>
                        <a:t>n</a:t>
                      </a:r>
                      <a:r>
                        <a:rPr lang="en-US" sz="2400" i="0" kern="100" dirty="0" smtClean="0">
                          <a:latin typeface="Times New Roman" panose="02020603050405020304"/>
                          <a:ea typeface="宋体" panose="02010600030101010101" pitchFamily="2" charset="-122"/>
                          <a:cs typeface="Times New Roman" panose="02020603050405020304"/>
                        </a:rPr>
                        <a:t>)</a:t>
                      </a:r>
                      <a:endParaRPr lang="en-US" sz="2400" i="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1.0954</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1.1832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1.2649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1.3416</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1.4142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ctr">
                        <a:lnSpc>
                          <a:spcPts val="1600"/>
                        </a:lnSpc>
                        <a:spcAft>
                          <a:spcPts val="0"/>
                        </a:spcAft>
                      </a:pPr>
                      <a:r>
                        <a:rPr lang="en-US" sz="2400" i="1" kern="100" dirty="0" smtClean="0">
                          <a:latin typeface="Times New Roman" panose="02020603050405020304"/>
                          <a:ea typeface="宋体" panose="02010600030101010101" pitchFamily="2" charset="-122"/>
                          <a:cs typeface="Times New Roman" panose="02020603050405020304"/>
                        </a:rPr>
                        <a:t>e</a:t>
                      </a:r>
                      <a:r>
                        <a:rPr lang="en-US" sz="2400" i="1" kern="100" baseline="-25000" dirty="0"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0.0046</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0.0086</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0.0125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0.0166</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0.0209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 name="表格 8"/>
          <p:cNvGraphicFramePr>
            <a:graphicFrameLocks noGrp="1"/>
          </p:cNvGraphicFramePr>
          <p:nvPr/>
        </p:nvGraphicFramePr>
        <p:xfrm>
          <a:off x="569913" y="3051175"/>
          <a:ext cx="7646988" cy="1828800"/>
        </p:xfrm>
        <a:graphic>
          <a:graphicData uri="http://schemas.openxmlformats.org/drawingml/2006/table">
            <a:tbl>
              <a:tblPr/>
              <a:tblGrid>
                <a:gridCol w="1274619"/>
                <a:gridCol w="1274619"/>
                <a:gridCol w="1274619"/>
                <a:gridCol w="1274619"/>
                <a:gridCol w="1274619"/>
                <a:gridCol w="1274619"/>
              </a:tblGrid>
              <a:tr h="274320">
                <a:tc>
                  <a:txBody>
                    <a:bodyPr/>
                    <a:lstStyle/>
                    <a:p>
                      <a:pPr algn="ctr">
                        <a:lnSpc>
                          <a:spcPts val="1600"/>
                        </a:lnSpc>
                        <a:spcAft>
                          <a:spcPts val="0"/>
                        </a:spcAft>
                      </a:pPr>
                      <a:r>
                        <a:rPr lang="en-US" sz="2400" i="1" kern="100" dirty="0" err="1" smtClean="0">
                          <a:latin typeface="Times New Roman" panose="02020603050405020304"/>
                          <a:ea typeface="宋体" panose="02010600030101010101" pitchFamily="2" charset="-122"/>
                          <a:cs typeface="Times New Roman" panose="02020603050405020304"/>
                        </a:rPr>
                        <a:t>x</a:t>
                      </a:r>
                      <a:r>
                        <a:rPr lang="en-US" sz="2400" i="1" kern="100" baseline="-25000" dirty="0" err="1"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0.6</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0.7</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1.0</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ctr">
                        <a:lnSpc>
                          <a:spcPts val="1600"/>
                        </a:lnSpc>
                        <a:spcAft>
                          <a:spcPts val="0"/>
                        </a:spcAft>
                      </a:pPr>
                      <a:r>
                        <a:rPr lang="en-US" sz="2400" i="1" kern="100" dirty="0" err="1" smtClean="0">
                          <a:latin typeface="Times New Roman" panose="02020603050405020304"/>
                          <a:ea typeface="宋体" panose="02010600030101010101" pitchFamily="2" charset="-122"/>
                          <a:cs typeface="Times New Roman" panose="02020603050405020304"/>
                        </a:rPr>
                        <a:t>y</a:t>
                      </a:r>
                      <a:r>
                        <a:rPr lang="en-US" sz="2400" i="1" kern="100" baseline="-25000" dirty="0" err="1"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1.5090</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1.5803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latin typeface="Times New Roman" panose="02020603050405020304"/>
                          <a:ea typeface="宋体" panose="02010600030101010101" pitchFamily="2" charset="-122"/>
                          <a:cs typeface="Times New Roman" panose="02020603050405020304"/>
                        </a:rPr>
                        <a:t>1.6498</a:t>
                      </a:r>
                      <a:endParaRPr lang="zh-CN" sz="2400" kern="10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1.7178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latin typeface="Times New Roman" panose="02020603050405020304"/>
                          <a:ea typeface="宋体" panose="02010600030101010101" pitchFamily="2" charset="-122"/>
                          <a:cs typeface="Times New Roman" panose="02020603050405020304"/>
                        </a:rPr>
                        <a:t>1.7848</a:t>
                      </a:r>
                      <a:endParaRPr lang="zh-CN" sz="2400" kern="10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ctr">
                        <a:lnSpc>
                          <a:spcPts val="1600"/>
                        </a:lnSpc>
                        <a:spcAft>
                          <a:spcPts val="0"/>
                        </a:spcAft>
                      </a:pPr>
                      <a:r>
                        <a:rPr lang="en-US" sz="2400" i="1" kern="100" dirty="0" smtClean="0">
                          <a:latin typeface="Times New Roman" panose="02020603050405020304"/>
                          <a:ea typeface="宋体" panose="02010600030101010101" pitchFamily="2" charset="-122"/>
                          <a:cs typeface="Times New Roman" panose="02020603050405020304"/>
                        </a:rPr>
                        <a:t>y</a:t>
                      </a:r>
                      <a:r>
                        <a:rPr lang="en-US" sz="2400" i="0" kern="100" dirty="0" smtClean="0">
                          <a:latin typeface="Times New Roman" panose="02020603050405020304"/>
                          <a:ea typeface="宋体" panose="02010600030101010101" pitchFamily="2" charset="-122"/>
                          <a:cs typeface="Times New Roman" panose="02020603050405020304"/>
                        </a:rPr>
                        <a:t>(</a:t>
                      </a:r>
                      <a:r>
                        <a:rPr lang="en-US" sz="2400" i="1" kern="100" dirty="0" err="1" smtClean="0">
                          <a:latin typeface="Times New Roman" panose="02020603050405020304"/>
                          <a:ea typeface="宋体" panose="02010600030101010101" pitchFamily="2" charset="-122"/>
                          <a:cs typeface="Times New Roman" panose="02020603050405020304"/>
                        </a:rPr>
                        <a:t>x</a:t>
                      </a:r>
                      <a:r>
                        <a:rPr lang="en-US" sz="2400" i="1" kern="100" baseline="-25000" dirty="0" err="1" smtClean="0">
                          <a:latin typeface="Times New Roman" panose="02020603050405020304"/>
                          <a:ea typeface="宋体" panose="02010600030101010101" pitchFamily="2" charset="-122"/>
                          <a:cs typeface="Times New Roman" panose="02020603050405020304"/>
                        </a:rPr>
                        <a:t>n</a:t>
                      </a:r>
                      <a:r>
                        <a:rPr lang="en-US" sz="2400" i="0" kern="100" dirty="0" smtClean="0">
                          <a:latin typeface="Times New Roman" panose="02020603050405020304"/>
                          <a:ea typeface="宋体" panose="02010600030101010101" pitchFamily="2" charset="-122"/>
                          <a:cs typeface="Times New Roman" panose="02020603050405020304"/>
                        </a:rPr>
                        <a:t>)</a:t>
                      </a:r>
                      <a:endParaRPr lang="en-US" sz="2400" i="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1.4832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1.5492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1.6125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1.6733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latin typeface="Times New Roman" panose="02020603050405020304"/>
                          <a:ea typeface="宋体" panose="02010600030101010101" pitchFamily="2" charset="-122"/>
                          <a:cs typeface="Times New Roman" panose="02020603050405020304"/>
                        </a:rPr>
                        <a:t>1.7321</a:t>
                      </a:r>
                      <a:endParaRPr lang="zh-CN" sz="2400" kern="10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ctr">
                        <a:lnSpc>
                          <a:spcPts val="1600"/>
                        </a:lnSpc>
                        <a:spcAft>
                          <a:spcPts val="0"/>
                        </a:spcAft>
                      </a:pPr>
                      <a:r>
                        <a:rPr lang="en-US" sz="2400" i="1" kern="100" dirty="0" smtClean="0">
                          <a:latin typeface="Times New Roman" panose="02020603050405020304"/>
                          <a:ea typeface="宋体" panose="02010600030101010101" pitchFamily="2" charset="-122"/>
                          <a:cs typeface="Times New Roman" panose="02020603050405020304"/>
                        </a:rPr>
                        <a:t>e</a:t>
                      </a:r>
                      <a:r>
                        <a:rPr lang="en-US" sz="2400" i="1" kern="100" baseline="-25000" dirty="0"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0.0258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0.0311</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0.0373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0.0445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0.0527</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1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14"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7415" name="Rectangle 1026"/>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解此问题的改进的</a:t>
            </a:r>
            <a:r>
              <a:rPr lang="en-US" altLang="zh-CN" b="1" u="none" dirty="0">
                <a:solidFill>
                  <a:schemeClr val="tx1"/>
                </a:solidFill>
                <a:latin typeface="Times New Roman" panose="02020603050405020304" pitchFamily="18" charset="0"/>
              </a:rPr>
              <a:t>Euler</a:t>
            </a:r>
            <a:r>
              <a:rPr lang="zh-CN" altLang="en-US" b="1" u="none" dirty="0">
                <a:solidFill>
                  <a:schemeClr val="tx1"/>
                </a:solidFill>
                <a:latin typeface="Times New Roman" panose="02020603050405020304" pitchFamily="18" charset="0"/>
              </a:rPr>
              <a:t>公式为</a:t>
            </a:r>
            <a:r>
              <a:rPr lang="zh-CN" altLang="en-US" sz="2800" u="none" dirty="0">
                <a:solidFill>
                  <a:schemeClr val="tx1"/>
                </a:solidFill>
              </a:rPr>
              <a:t> </a:t>
            </a:r>
            <a:endParaRPr lang="zh-CN" altLang="en-US" sz="2800" u="none" dirty="0">
              <a:solidFill>
                <a:schemeClr val="tx1"/>
              </a:solidFill>
            </a:endParaRPr>
          </a:p>
        </p:txBody>
      </p:sp>
      <p:grpSp>
        <p:nvGrpSpPr>
          <p:cNvPr id="2" name="Group 1030"/>
          <p:cNvGrpSpPr/>
          <p:nvPr/>
        </p:nvGrpSpPr>
        <p:grpSpPr>
          <a:xfrm>
            <a:off x="1042988" y="1366838"/>
            <a:ext cx="6064250" cy="1682750"/>
            <a:chOff x="657" y="861"/>
            <a:chExt cx="3820" cy="1060"/>
          </a:xfrm>
        </p:grpSpPr>
        <p:graphicFrame>
          <p:nvGraphicFramePr>
            <p:cNvPr id="17411" name="Object 1028"/>
            <p:cNvGraphicFramePr/>
            <p:nvPr/>
          </p:nvGraphicFramePr>
          <p:xfrm>
            <a:off x="663" y="861"/>
            <a:ext cx="2092" cy="345"/>
          </p:xfrm>
          <a:graphic>
            <a:graphicData uri="http://schemas.openxmlformats.org/presentationml/2006/ole">
              <mc:AlternateContent xmlns:mc="http://schemas.openxmlformats.org/markup-compatibility/2006">
                <mc:Choice xmlns:v="urn:schemas-microsoft-com:vml" Requires="v">
                  <p:oleObj spid="_x0000_s3114" name="" r:id="rId1" imgW="1384300" imgH="228600" progId="Equation.3">
                    <p:embed/>
                  </p:oleObj>
                </mc:Choice>
                <mc:Fallback>
                  <p:oleObj name="" r:id="rId1" imgW="1384300" imgH="228600" progId="Equation.3">
                    <p:embed/>
                    <p:pic>
                      <p:nvPicPr>
                        <p:cNvPr id="0" name="图片 3113"/>
                        <p:cNvPicPr/>
                        <p:nvPr/>
                      </p:nvPicPr>
                      <p:blipFill>
                        <a:blip r:embed="rId2"/>
                        <a:stretch>
                          <a:fillRect/>
                        </a:stretch>
                      </p:blipFill>
                      <p:spPr>
                        <a:xfrm>
                          <a:off x="663" y="861"/>
                          <a:ext cx="2092" cy="345"/>
                        </a:xfrm>
                        <a:prstGeom prst="rect">
                          <a:avLst/>
                        </a:prstGeom>
                        <a:noFill/>
                        <a:ln w="38100">
                          <a:noFill/>
                          <a:miter/>
                        </a:ln>
                      </p:spPr>
                    </p:pic>
                  </p:oleObj>
                </mc:Fallback>
              </mc:AlternateContent>
            </a:graphicData>
          </a:graphic>
        </p:graphicFrame>
        <p:graphicFrame>
          <p:nvGraphicFramePr>
            <p:cNvPr id="17412" name="Object 1027"/>
            <p:cNvGraphicFramePr/>
            <p:nvPr/>
          </p:nvGraphicFramePr>
          <p:xfrm>
            <a:off x="657" y="1326"/>
            <a:ext cx="3820" cy="595"/>
          </p:xfrm>
          <a:graphic>
            <a:graphicData uri="http://schemas.openxmlformats.org/presentationml/2006/ole">
              <mc:AlternateContent xmlns:mc="http://schemas.openxmlformats.org/markup-compatibility/2006">
                <mc:Choice xmlns:v="urn:schemas-microsoft-com:vml" Requires="v">
                  <p:oleObj spid="_x0000_s3116" name="" r:id="rId3" imgW="2527300" imgH="393700" progId="Equation.3">
                    <p:embed/>
                  </p:oleObj>
                </mc:Choice>
                <mc:Fallback>
                  <p:oleObj name="" r:id="rId3" imgW="2527300" imgH="393700" progId="Equation.3">
                    <p:embed/>
                    <p:pic>
                      <p:nvPicPr>
                        <p:cNvPr id="0" name="图片 3115"/>
                        <p:cNvPicPr/>
                        <p:nvPr/>
                      </p:nvPicPr>
                      <p:blipFill>
                        <a:blip r:embed="rId4"/>
                        <a:stretch>
                          <a:fillRect/>
                        </a:stretch>
                      </p:blipFill>
                      <p:spPr>
                        <a:xfrm>
                          <a:off x="657" y="1326"/>
                          <a:ext cx="3820" cy="595"/>
                        </a:xfrm>
                        <a:prstGeom prst="rect">
                          <a:avLst/>
                        </a:prstGeom>
                        <a:noFill/>
                        <a:ln w="38100">
                          <a:noFill/>
                          <a:miter/>
                        </a:ln>
                      </p:spPr>
                    </p:pic>
                  </p:oleObj>
                </mc:Fallback>
              </mc:AlternateContent>
            </a:graphicData>
          </a:graphic>
        </p:graphicFrame>
      </p:grpSp>
      <p:graphicFrame>
        <p:nvGraphicFramePr>
          <p:cNvPr id="142343" name="Object 1031"/>
          <p:cNvGraphicFramePr/>
          <p:nvPr/>
        </p:nvGraphicFramePr>
        <p:xfrm>
          <a:off x="676275" y="887413"/>
          <a:ext cx="6704013" cy="3603625"/>
        </p:xfrm>
        <a:graphic>
          <a:graphicData uri="http://schemas.openxmlformats.org/presentationml/2006/ole">
            <mc:AlternateContent xmlns:mc="http://schemas.openxmlformats.org/markup-compatibility/2006">
              <mc:Choice xmlns:v="urn:schemas-microsoft-com:vml" Requires="v">
                <p:oleObj spid="_x0000_s3115" name="" r:id="rId5" imgW="2794000" imgH="1498600" progId="Equation.3">
                  <p:embed/>
                </p:oleObj>
              </mc:Choice>
              <mc:Fallback>
                <p:oleObj name="" r:id="rId5" imgW="2794000" imgH="1498600" progId="Equation.3">
                  <p:embed/>
                  <p:pic>
                    <p:nvPicPr>
                      <p:cNvPr id="0" name="图片 3114"/>
                      <p:cNvPicPr/>
                      <p:nvPr/>
                    </p:nvPicPr>
                    <p:blipFill>
                      <a:blip r:embed="rId6"/>
                      <a:stretch>
                        <a:fillRect/>
                      </a:stretch>
                    </p:blipFill>
                    <p:spPr>
                      <a:xfrm>
                        <a:off x="676275" y="887413"/>
                        <a:ext cx="6704013" cy="3603625"/>
                      </a:xfrm>
                      <a:prstGeom prst="rect">
                        <a:avLst/>
                      </a:prstGeom>
                      <a:noFill/>
                      <a:ln w="38100">
                        <a:noFill/>
                        <a:miter/>
                      </a:ln>
                    </p:spPr>
                  </p:pic>
                </p:oleObj>
              </mc:Fallback>
            </mc:AlternateContent>
          </a:graphicData>
        </a:graphic>
      </p:graphicFrame>
      <p:graphicFrame>
        <p:nvGraphicFramePr>
          <p:cNvPr id="12" name="表格 11"/>
          <p:cNvGraphicFramePr>
            <a:graphicFrameLocks noGrp="1"/>
          </p:cNvGraphicFramePr>
          <p:nvPr/>
        </p:nvGraphicFramePr>
        <p:xfrm>
          <a:off x="190500" y="4405313"/>
          <a:ext cx="8836025" cy="2103438"/>
        </p:xfrm>
        <a:graphic>
          <a:graphicData uri="http://schemas.openxmlformats.org/drawingml/2006/table">
            <a:tbl>
              <a:tblPr/>
              <a:tblGrid>
                <a:gridCol w="803204"/>
                <a:gridCol w="803204"/>
                <a:gridCol w="803204"/>
                <a:gridCol w="803204"/>
                <a:gridCol w="803204"/>
                <a:gridCol w="803204"/>
                <a:gridCol w="803204"/>
                <a:gridCol w="803204"/>
                <a:gridCol w="803204"/>
                <a:gridCol w="803204"/>
                <a:gridCol w="803204"/>
              </a:tblGrid>
              <a:tr h="274320">
                <a:tc>
                  <a:txBody>
                    <a:bodyPr/>
                    <a:lstStyle/>
                    <a:p>
                      <a:pPr algn="ctr">
                        <a:lnSpc>
                          <a:spcPts val="1600"/>
                        </a:lnSpc>
                        <a:spcAft>
                          <a:spcPts val="0"/>
                        </a:spcAft>
                      </a:pPr>
                      <a:r>
                        <a:rPr lang="en-US" sz="2400" i="1" kern="100" dirty="0" err="1" smtClean="0">
                          <a:latin typeface="Times New Roman" panose="02020603050405020304"/>
                          <a:ea typeface="宋体" panose="02010600030101010101" pitchFamily="2" charset="-122"/>
                          <a:cs typeface="Times New Roman" panose="02020603050405020304"/>
                        </a:rPr>
                        <a:t>x</a:t>
                      </a:r>
                      <a:r>
                        <a:rPr lang="en-US" sz="2400" i="1" kern="100" baseline="-25000" dirty="0" err="1"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spcAft>
                          <a:spcPts val="0"/>
                        </a:spcAft>
                      </a:pPr>
                      <a:r>
                        <a:rPr lang="en-US" sz="2400" kern="100" dirty="0">
                          <a:latin typeface="Times New Roman" panose="02020603050405020304"/>
                          <a:ea typeface="宋体" panose="02010600030101010101" pitchFamily="2" charset="-122"/>
                          <a:cs typeface="Times New Roman" panose="02020603050405020304"/>
                        </a:rPr>
                        <a:t>0.1</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spcAft>
                          <a:spcPts val="0"/>
                        </a:spcAft>
                      </a:pPr>
                      <a:r>
                        <a:rPr lang="en-US" sz="2400" kern="100" dirty="0" smtClean="0">
                          <a:latin typeface="Times New Roman" panose="02020603050405020304"/>
                          <a:ea typeface="宋体" panose="02010600030101010101" pitchFamily="2" charset="-122"/>
                          <a:cs typeface="Times New Roman" panose="02020603050405020304"/>
                        </a:rPr>
                        <a:t>0.4</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0.6</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0.7</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1.0</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ctr">
                        <a:lnSpc>
                          <a:spcPts val="1600"/>
                        </a:lnSpc>
                        <a:spcAft>
                          <a:spcPts val="0"/>
                        </a:spcAft>
                      </a:pPr>
                      <a:r>
                        <a:rPr lang="en-US" sz="2400" i="1" kern="100" dirty="0" err="1" smtClean="0">
                          <a:latin typeface="Times New Roman" panose="02020603050405020304"/>
                          <a:ea typeface="宋体" panose="02010600030101010101" pitchFamily="2" charset="-122"/>
                          <a:cs typeface="Times New Roman" panose="02020603050405020304"/>
                        </a:rPr>
                        <a:t>y</a:t>
                      </a:r>
                      <a:r>
                        <a:rPr lang="en-US" sz="2400" i="1" kern="100" baseline="-25000" dirty="0" err="1"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1.0959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1.1841</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1.2662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1.3434</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1.4364</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1.4860</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1.5525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1.6153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1.6782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1.7379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ctr">
                        <a:lnSpc>
                          <a:spcPts val="1600"/>
                        </a:lnSpc>
                        <a:spcAft>
                          <a:spcPts val="0"/>
                        </a:spcAft>
                      </a:pPr>
                      <a:r>
                        <a:rPr lang="en-US" sz="2400" i="1" kern="100" dirty="0" smtClean="0">
                          <a:latin typeface="Times New Roman" panose="02020603050405020304"/>
                          <a:ea typeface="宋体" panose="02010600030101010101" pitchFamily="2" charset="-122"/>
                          <a:cs typeface="Times New Roman" panose="02020603050405020304"/>
                        </a:rPr>
                        <a:t>e</a:t>
                      </a:r>
                      <a:r>
                        <a:rPr lang="en-US" sz="2400" i="1" kern="100" baseline="-25000" dirty="0"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0.0005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0.0009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0.0013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0.0018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0.0022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0.0028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0.0033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0.0028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0.0049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0.0058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2343"/>
                                        </p:tgtEl>
                                        <p:attrNameLst>
                                          <p:attrName>style.visibility</p:attrName>
                                        </p:attrNameLst>
                                      </p:cBhvr>
                                      <p:to>
                                        <p:strVal val="visible"/>
                                      </p:to>
                                    </p:set>
                                    <p:animEffect transition="in" filter="wipe(up)">
                                      <p:cBhvr>
                                        <p:cTn id="12" dur="500"/>
                                        <p:tgtEl>
                                          <p:spTgt spid="1423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403"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02404" name="Rectangle 1026"/>
          <p:cNvSpPr>
            <a:spLocks noGrp="1"/>
          </p:cNvSpPr>
          <p:nvPr>
            <p:ph type="title"/>
          </p:nvPr>
        </p:nvSpPr>
        <p:spPr>
          <a:xfrm>
            <a:off x="273050" y="109538"/>
            <a:ext cx="8870950" cy="1143000"/>
          </a:xfrm>
          <a:ln/>
        </p:spPr>
        <p:txBody>
          <a:bodyPr vert="horz" wrap="square" lIns="91440" tIns="45720" rIns="91440" bIns="45720" anchor="ctr" anchorCtr="0"/>
          <a:p>
            <a:pPr algn="l"/>
            <a:r>
              <a:rPr lang="zh-CN" altLang="en-US" u="none" dirty="0">
                <a:solidFill>
                  <a:schemeClr val="tx1"/>
                </a:solidFill>
                <a:latin typeface="Times New Roman" panose="02020603050405020304" pitchFamily="18" charset="0"/>
              </a:rPr>
              <a:t>同</a:t>
            </a:r>
            <a:r>
              <a:rPr lang="en-US" altLang="zh-CN" u="none" dirty="0">
                <a:solidFill>
                  <a:schemeClr val="tx1"/>
                </a:solidFill>
                <a:latin typeface="Times New Roman" panose="02020603050405020304" pitchFamily="18" charset="0"/>
              </a:rPr>
              <a:t>Euler</a:t>
            </a:r>
            <a:r>
              <a:rPr lang="zh-CN" altLang="en-US" u="none" dirty="0">
                <a:solidFill>
                  <a:schemeClr val="tx1"/>
                </a:solidFill>
                <a:latin typeface="Times New Roman" panose="02020603050405020304" pitchFamily="18" charset="0"/>
              </a:rPr>
              <a:t>法比较,改进的</a:t>
            </a:r>
            <a:r>
              <a:rPr lang="en-US" altLang="zh-CN" u="none" dirty="0">
                <a:solidFill>
                  <a:schemeClr val="tx1"/>
                </a:solidFill>
                <a:latin typeface="Times New Roman" panose="02020603050405020304" pitchFamily="18" charset="0"/>
              </a:rPr>
              <a:t>Euler</a:t>
            </a:r>
            <a:r>
              <a:rPr lang="zh-CN" altLang="en-US" u="none" dirty="0">
                <a:solidFill>
                  <a:schemeClr val="tx1"/>
                </a:solidFill>
                <a:latin typeface="Times New Roman" panose="02020603050405020304" pitchFamily="18" charset="0"/>
              </a:rPr>
              <a:t>法显然精度提高了.</a:t>
            </a:r>
            <a:endParaRPr lang="zh-CN" altLang="en-US" u="none" dirty="0">
              <a:solidFill>
                <a:schemeClr val="tx1"/>
              </a:solidFill>
              <a:latin typeface="Times New Roman" panose="02020603050405020304" pitchFamily="18" charset="0"/>
            </a:endParaRPr>
          </a:p>
        </p:txBody>
      </p:sp>
      <p:sp>
        <p:nvSpPr>
          <p:cNvPr id="142346" name="Text Box 1034"/>
          <p:cNvSpPr txBox="1"/>
          <p:nvPr/>
        </p:nvSpPr>
        <p:spPr>
          <a:xfrm>
            <a:off x="280988" y="5205413"/>
            <a:ext cx="8545512" cy="1066800"/>
          </a:xfrm>
          <a:prstGeom prst="rect">
            <a:avLst/>
          </a:prstGeom>
          <a:noFill/>
          <a:ln w="9525">
            <a:noFill/>
          </a:ln>
        </p:spPr>
        <p:txBody>
          <a:bodyPr>
            <a:spAutoFit/>
          </a:bodyPr>
          <a:p>
            <a:pPr eaLnBrk="0" hangingPunct="0"/>
            <a:r>
              <a:rPr lang="zh-CN" altLang="en-US" b="1" dirty="0">
                <a:latin typeface="Times New Roman" panose="02020603050405020304" pitchFamily="18" charset="0"/>
              </a:rPr>
              <a:t>由于误差大小是评价计算格式优劣的重要依据, 故需要给出有关误差的概念. </a:t>
            </a:r>
            <a:endParaRPr lang="zh-CN" altLang="en-US" b="1" dirty="0">
              <a:latin typeface="Times New Roman" panose="02020603050405020304" pitchFamily="18" charset="0"/>
            </a:endParaRPr>
          </a:p>
        </p:txBody>
      </p:sp>
      <p:graphicFrame>
        <p:nvGraphicFramePr>
          <p:cNvPr id="13" name="表格 12"/>
          <p:cNvGraphicFramePr>
            <a:graphicFrameLocks noGrp="1"/>
          </p:cNvGraphicFramePr>
          <p:nvPr/>
        </p:nvGraphicFramePr>
        <p:xfrm>
          <a:off x="190500" y="1603375"/>
          <a:ext cx="8836025" cy="1279525"/>
        </p:xfrm>
        <a:graphic>
          <a:graphicData uri="http://schemas.openxmlformats.org/drawingml/2006/table">
            <a:tbl>
              <a:tblPr/>
              <a:tblGrid>
                <a:gridCol w="803204"/>
                <a:gridCol w="803204"/>
                <a:gridCol w="803204"/>
                <a:gridCol w="803204"/>
                <a:gridCol w="803204"/>
                <a:gridCol w="803204"/>
                <a:gridCol w="803204"/>
                <a:gridCol w="803204"/>
                <a:gridCol w="803204"/>
                <a:gridCol w="803204"/>
                <a:gridCol w="803204"/>
              </a:tblGrid>
              <a:tr h="274320">
                <a:tc>
                  <a:txBody>
                    <a:bodyPr/>
                    <a:lstStyle/>
                    <a:p>
                      <a:pPr algn="ctr">
                        <a:lnSpc>
                          <a:spcPts val="1600"/>
                        </a:lnSpc>
                        <a:spcAft>
                          <a:spcPts val="0"/>
                        </a:spcAft>
                      </a:pPr>
                      <a:r>
                        <a:rPr lang="en-US" sz="2400" i="1" kern="100" dirty="0" err="1" smtClean="0">
                          <a:latin typeface="Times New Roman" panose="02020603050405020304"/>
                          <a:ea typeface="宋体" panose="02010600030101010101" pitchFamily="2" charset="-122"/>
                          <a:cs typeface="Times New Roman" panose="02020603050405020304"/>
                        </a:rPr>
                        <a:t>x</a:t>
                      </a:r>
                      <a:r>
                        <a:rPr lang="en-US" sz="2400" i="1" kern="100" baseline="-25000" dirty="0" err="1"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spcAft>
                          <a:spcPts val="0"/>
                        </a:spcAft>
                      </a:pPr>
                      <a:r>
                        <a:rPr lang="en-US" sz="2400" kern="100" dirty="0">
                          <a:latin typeface="Times New Roman" panose="02020603050405020304"/>
                          <a:ea typeface="宋体" panose="02010600030101010101" pitchFamily="2" charset="-122"/>
                          <a:cs typeface="Times New Roman" panose="02020603050405020304"/>
                        </a:rPr>
                        <a:t>0.1</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spcAft>
                          <a:spcPts val="0"/>
                        </a:spcAft>
                      </a:pPr>
                      <a:r>
                        <a:rPr lang="en-US" sz="2400" kern="100" dirty="0">
                          <a:latin typeface="Times New Roman" panose="02020603050405020304"/>
                          <a:ea typeface="宋体" panose="02010600030101010101" pitchFamily="2" charset="-122"/>
                          <a:cs typeface="Times New Roman" panose="02020603050405020304"/>
                        </a:rPr>
                        <a:t>0.4</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0.6</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0.7</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1.0</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ctr">
                        <a:lnSpc>
                          <a:spcPts val="1600"/>
                        </a:lnSpc>
                        <a:spcAft>
                          <a:spcPts val="0"/>
                        </a:spcAft>
                      </a:pPr>
                      <a:r>
                        <a:rPr lang="en-US" sz="2400" i="1" kern="100" dirty="0" smtClean="0">
                          <a:latin typeface="Times New Roman" panose="02020603050405020304"/>
                          <a:ea typeface="宋体" panose="02010600030101010101" pitchFamily="2" charset="-122"/>
                          <a:cs typeface="Times New Roman" panose="02020603050405020304"/>
                        </a:rPr>
                        <a:t>e</a:t>
                      </a:r>
                      <a:r>
                        <a:rPr lang="en-US" sz="2400" i="1" kern="100" baseline="-25000" dirty="0"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0.0046</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0.0086</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0.0125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0.0166</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0.0209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0.0258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0.0311</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0.0373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0.0445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0.0527</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4" name="表格 13"/>
          <p:cNvGraphicFramePr>
            <a:graphicFrameLocks noGrp="1"/>
          </p:cNvGraphicFramePr>
          <p:nvPr/>
        </p:nvGraphicFramePr>
        <p:xfrm>
          <a:off x="190500" y="3776663"/>
          <a:ext cx="8836025" cy="1279525"/>
        </p:xfrm>
        <a:graphic>
          <a:graphicData uri="http://schemas.openxmlformats.org/drawingml/2006/table">
            <a:tbl>
              <a:tblPr/>
              <a:tblGrid>
                <a:gridCol w="803204"/>
                <a:gridCol w="803204"/>
                <a:gridCol w="803204"/>
                <a:gridCol w="803204"/>
                <a:gridCol w="803204"/>
                <a:gridCol w="803204"/>
                <a:gridCol w="803204"/>
                <a:gridCol w="803204"/>
                <a:gridCol w="803204"/>
                <a:gridCol w="803204"/>
                <a:gridCol w="803204"/>
              </a:tblGrid>
              <a:tr h="274320">
                <a:tc>
                  <a:txBody>
                    <a:bodyPr/>
                    <a:lstStyle/>
                    <a:p>
                      <a:pPr algn="ctr">
                        <a:lnSpc>
                          <a:spcPts val="1600"/>
                        </a:lnSpc>
                        <a:spcAft>
                          <a:spcPts val="0"/>
                        </a:spcAft>
                      </a:pPr>
                      <a:r>
                        <a:rPr lang="en-US" sz="2400" i="1" kern="100" dirty="0" err="1" smtClean="0">
                          <a:latin typeface="Times New Roman" panose="02020603050405020304"/>
                          <a:ea typeface="宋体" panose="02010600030101010101" pitchFamily="2" charset="-122"/>
                          <a:cs typeface="Times New Roman" panose="02020603050405020304"/>
                        </a:rPr>
                        <a:t>x</a:t>
                      </a:r>
                      <a:r>
                        <a:rPr lang="en-US" sz="2400" i="1" kern="100" baseline="-25000" dirty="0" err="1"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spcAft>
                          <a:spcPts val="0"/>
                        </a:spcAft>
                      </a:pPr>
                      <a:r>
                        <a:rPr lang="en-US" sz="2400" kern="100" dirty="0">
                          <a:latin typeface="Times New Roman" panose="02020603050405020304"/>
                          <a:ea typeface="宋体" panose="02010600030101010101" pitchFamily="2" charset="-122"/>
                          <a:cs typeface="Times New Roman" panose="02020603050405020304"/>
                        </a:rPr>
                        <a:t>0.1</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spcAft>
                          <a:spcPts val="0"/>
                        </a:spcAft>
                      </a:pPr>
                      <a:r>
                        <a:rPr lang="en-US" sz="2400" kern="100" dirty="0" smtClean="0">
                          <a:latin typeface="Times New Roman" panose="02020603050405020304"/>
                          <a:ea typeface="宋体" panose="02010600030101010101" pitchFamily="2" charset="-122"/>
                          <a:cs typeface="Times New Roman" panose="02020603050405020304"/>
                        </a:rPr>
                        <a:t>0.4</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0.6</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0.7</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0.9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latin typeface="Times New Roman" panose="02020603050405020304"/>
                          <a:ea typeface="宋体" panose="02010600030101010101" pitchFamily="2" charset="-122"/>
                          <a:cs typeface="Times New Roman" panose="02020603050405020304"/>
                        </a:rPr>
                        <a:t>1.0</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a:txBody>
                    <a:bodyPr/>
                    <a:lstStyle/>
                    <a:p>
                      <a:pPr algn="ctr">
                        <a:lnSpc>
                          <a:spcPts val="1600"/>
                        </a:lnSpc>
                        <a:spcAft>
                          <a:spcPts val="0"/>
                        </a:spcAft>
                      </a:pPr>
                      <a:r>
                        <a:rPr lang="en-US" sz="2400" i="1" kern="100" dirty="0" smtClean="0">
                          <a:latin typeface="Times New Roman" panose="02020603050405020304"/>
                          <a:ea typeface="宋体" panose="02010600030101010101" pitchFamily="2" charset="-122"/>
                          <a:cs typeface="Times New Roman" panose="02020603050405020304"/>
                        </a:rPr>
                        <a:t>e</a:t>
                      </a:r>
                      <a:r>
                        <a:rPr lang="en-US" sz="2400" i="1" kern="100" baseline="-25000" dirty="0" smtClean="0">
                          <a:latin typeface="Times New Roman" panose="02020603050405020304"/>
                          <a:ea typeface="宋体" panose="02010600030101010101" pitchFamily="2" charset="-122"/>
                          <a:cs typeface="Times New Roman" panose="02020603050405020304"/>
                        </a:rPr>
                        <a:t>n</a:t>
                      </a:r>
                      <a:endParaRPr lang="en-US" sz="2400" i="1"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0.0005</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0.0009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0.0013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0.0018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0.0022</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0.0028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0.0033</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0.0028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0.0049</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smtClean="0">
                          <a:latin typeface="Times New Roman" panose="02020603050405020304"/>
                          <a:ea typeface="宋体" panose="02010600030101010101" pitchFamily="2" charset="-122"/>
                          <a:cs typeface="Times New Roman" panose="02020603050405020304"/>
                        </a:rPr>
                        <a:t>0.0058</a:t>
                      </a:r>
                      <a:endParaRPr lang="zh-CN" sz="2400" kern="100" dirty="0">
                        <a:latin typeface="Times New Roman" panose="02020603050405020304"/>
                        <a:ea typeface="宋体" panose="02010600030101010101" pitchFamily="2" charset="-122"/>
                        <a:cs typeface="Times New Roman" panose="020206030504050203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5" name="矩形 14"/>
          <p:cNvSpPr/>
          <p:nvPr/>
        </p:nvSpPr>
        <p:spPr>
          <a:xfrm>
            <a:off x="358775" y="998538"/>
            <a:ext cx="3225800" cy="585787"/>
          </a:xfrm>
          <a:prstGeom prst="rect">
            <a:avLst/>
          </a:prstGeom>
          <a:noFill/>
          <a:ln w="9525">
            <a:noFill/>
          </a:ln>
        </p:spPr>
        <p:txBody>
          <a:bodyPr wrap="none">
            <a:spAutoFit/>
          </a:bodyPr>
          <a:p>
            <a:pPr eaLnBrk="0" hangingPunct="0"/>
            <a:r>
              <a:rPr lang="en-US" altLang="zh-CN" b="1" dirty="0">
                <a:latin typeface="Times New Roman" panose="02020603050405020304" pitchFamily="18" charset="0"/>
              </a:rPr>
              <a:t>Euler</a:t>
            </a:r>
            <a:r>
              <a:rPr lang="zh-CN" altLang="en-US" b="1" dirty="0">
                <a:latin typeface="Times New Roman" panose="02020603050405020304" pitchFamily="18" charset="0"/>
              </a:rPr>
              <a:t>公式结果：</a:t>
            </a:r>
            <a:endParaRPr lang="zh-CN" altLang="en-US" dirty="0">
              <a:latin typeface="Times New Roman" panose="02020603050405020304" pitchFamily="18" charset="0"/>
            </a:endParaRPr>
          </a:p>
        </p:txBody>
      </p:sp>
      <p:sp>
        <p:nvSpPr>
          <p:cNvPr id="16" name="矩形 15"/>
          <p:cNvSpPr/>
          <p:nvPr/>
        </p:nvSpPr>
        <p:spPr>
          <a:xfrm>
            <a:off x="207963" y="3076575"/>
            <a:ext cx="4462462" cy="585788"/>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改进的</a:t>
            </a:r>
            <a:r>
              <a:rPr lang="en-US" altLang="zh-CN" b="1" dirty="0">
                <a:latin typeface="Times New Roman" panose="02020603050405020304" pitchFamily="18" charset="0"/>
              </a:rPr>
              <a:t>Euler</a:t>
            </a:r>
            <a:r>
              <a:rPr lang="zh-CN" altLang="en-US" b="1" dirty="0">
                <a:latin typeface="Times New Roman" panose="02020603050405020304" pitchFamily="18" charset="0"/>
              </a:rPr>
              <a:t>公式结果：</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1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10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2346"/>
                                        </p:tgtEl>
                                        <p:attrNameLst>
                                          <p:attrName>style.visibility</p:attrName>
                                        </p:attrNameLst>
                                      </p:cBhvr>
                                      <p:to>
                                        <p:strVal val="visible"/>
                                      </p:to>
                                    </p:set>
                                    <p:animEffect transition="in" filter="checkerboard(across)">
                                      <p:cBhvr>
                                        <p:cTn id="27" dur="500"/>
                                        <p:tgtEl>
                                          <p:spTgt spid="142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6"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436"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8437" name="Rectangle 12"/>
          <p:cNvSpPr>
            <a:spLocks noGrp="1"/>
          </p:cNvSpPr>
          <p:nvPr>
            <p:ph type="title"/>
          </p:nvPr>
        </p:nvSpPr>
        <p:spPr>
          <a:xfrm>
            <a:off x="461963" y="528638"/>
            <a:ext cx="7772400" cy="646112"/>
          </a:xfrm>
          <a:ln/>
        </p:spPr>
        <p:txBody>
          <a:bodyPr vert="horz" wrap="square" lIns="91440" tIns="45720" rIns="91440" bIns="45720" anchor="ctr" anchorCtr="0"/>
          <a:p>
            <a:pPr algn="l"/>
            <a:r>
              <a:rPr lang="en-US" altLang="zh-CN" b="1" u="none" dirty="0">
                <a:solidFill>
                  <a:srgbClr val="0033CC"/>
                </a:solidFill>
                <a:latin typeface="Times New Roman" panose="02020603050405020304" pitchFamily="18" charset="0"/>
              </a:rPr>
              <a:t>9.</a:t>
            </a:r>
            <a:r>
              <a:rPr lang="zh-CN" altLang="en-US" b="1" u="none" dirty="0">
                <a:solidFill>
                  <a:srgbClr val="0033CC"/>
                </a:solidFill>
                <a:latin typeface="Times New Roman" panose="02020603050405020304" pitchFamily="18" charset="0"/>
              </a:rPr>
              <a:t>1.2</a:t>
            </a:r>
            <a:r>
              <a:rPr lang="zh-CN" altLang="en-US" b="1" u="none" dirty="0">
                <a:solidFill>
                  <a:srgbClr val="0033CC"/>
                </a:solidFill>
              </a:rPr>
              <a:t> </a:t>
            </a:r>
            <a:r>
              <a:rPr lang="zh-CN" altLang="zh-CN" b="1" u="none" dirty="0">
                <a:solidFill>
                  <a:srgbClr val="0033CC"/>
                </a:solidFill>
              </a:rPr>
              <a:t>截断误差与方法的精度</a:t>
            </a:r>
            <a:endParaRPr lang="zh-CN" altLang="zh-CN" sz="3600" b="1" u="none" dirty="0"/>
          </a:p>
        </p:txBody>
      </p:sp>
      <p:sp>
        <p:nvSpPr>
          <p:cNvPr id="89101" name="Rectangle 13"/>
          <p:cNvSpPr/>
          <p:nvPr/>
        </p:nvSpPr>
        <p:spPr>
          <a:xfrm>
            <a:off x="295275" y="1524000"/>
            <a:ext cx="8689975" cy="1764665"/>
          </a:xfrm>
          <a:prstGeom prst="rect">
            <a:avLst/>
          </a:prstGeom>
          <a:noFill/>
          <a:ln w="9525">
            <a:noFill/>
          </a:ln>
        </p:spPr>
        <p:txBody>
          <a:bodyPr>
            <a:spAutoFit/>
          </a:bodyPr>
          <a:p>
            <a:r>
              <a:rPr lang="zh-CN" altLang="zh-CN" b="1" dirty="0">
                <a:latin typeface="Times New Roman" panose="02020603050405020304" pitchFamily="18" charset="0"/>
              </a:rPr>
              <a:t>定义 </a:t>
            </a:r>
            <a:r>
              <a:rPr lang="en-US" altLang="zh-CN" b="1" dirty="0">
                <a:latin typeface="Times New Roman" panose="02020603050405020304" pitchFamily="18" charset="0"/>
              </a:rPr>
              <a:t>9.</a:t>
            </a:r>
            <a:r>
              <a:rPr lang="zh-CN" altLang="en-US" b="1" dirty="0">
                <a:latin typeface="Times New Roman" panose="02020603050405020304" pitchFamily="18" charset="0"/>
              </a:rPr>
              <a:t>1.1</a:t>
            </a:r>
            <a:r>
              <a:rPr lang="zh-CN" altLang="en-US" dirty="0">
                <a:solidFill>
                  <a:srgbClr val="0033CC"/>
                </a:solidFill>
                <a:latin typeface="Comic Sans MS" panose="030F0702030302020204" pitchFamily="66" charset="0"/>
              </a:rPr>
              <a:t>  </a:t>
            </a:r>
            <a:r>
              <a:rPr lang="zh-CN" altLang="en-US" b="1" dirty="0">
                <a:latin typeface="Comic Sans MS" panose="030F0702030302020204" pitchFamily="66" charset="0"/>
              </a:rPr>
              <a:t>称误差</a:t>
            </a:r>
            <a:r>
              <a:rPr lang="zh-CN" altLang="en-US" b="1" dirty="0">
                <a:latin typeface="Times New Roman" panose="02020603050405020304" pitchFamily="18" charset="0"/>
              </a:rPr>
              <a:t>  </a:t>
            </a:r>
            <a:r>
              <a:rPr lang="en-US" altLang="zh-CN" b="1" dirty="0">
                <a:latin typeface="Times New Roman" panose="02020603050405020304" pitchFamily="18" charset="0"/>
              </a:rPr>
              <a:t>e</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 =  </a:t>
            </a:r>
            <a:r>
              <a:rPr lang="en-US" altLang="zh-CN" b="1" i="1" dirty="0">
                <a:latin typeface="Times New Roman" panose="02020603050405020304" pitchFamily="18" charset="0"/>
              </a:rPr>
              <a:t>y</a:t>
            </a:r>
            <a:r>
              <a:rPr lang="en-US" altLang="zh-CN" b="1" dirty="0">
                <a:latin typeface="Times New Roman" panose="02020603050405020304" pitchFamily="18" charset="0"/>
              </a:rPr>
              <a:t> ( </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 </a:t>
            </a:r>
            <a:r>
              <a:rPr lang="en-US" altLang="zh-CN" b="1" dirty="0">
                <a:latin typeface="Times New Roman" panose="02020603050405020304" pitchFamily="18" charset="0"/>
              </a:rPr>
              <a:t>) </a:t>
            </a:r>
            <a:r>
              <a:rPr lang="en-US" altLang="zh-CN" b="1" dirty="0">
                <a:latin typeface="宋体" panose="02010600030101010101" pitchFamily="2" charset="-122"/>
              </a:rPr>
              <a:t>- </a:t>
            </a:r>
            <a:r>
              <a:rPr lang="en-US" altLang="zh-CN" b="1" i="1" dirty="0">
                <a:latin typeface="Times New Roman" panose="02020603050405020304" pitchFamily="18" charset="0"/>
              </a:rPr>
              <a:t>y</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a:t>
            </a:r>
            <a:endParaRPr lang="en-US" altLang="zh-CN" b="1" baseline="-25000" dirty="0">
              <a:latin typeface="Times New Roman" panose="02020603050405020304" pitchFamily="18" charset="0"/>
            </a:endParaRPr>
          </a:p>
          <a:p>
            <a:pPr>
              <a:lnSpc>
                <a:spcPct val="120000"/>
              </a:lnSpc>
            </a:pPr>
            <a:r>
              <a:rPr lang="zh-CN" altLang="en-US" b="1" dirty="0">
                <a:latin typeface="Times New Roman" panose="02020603050405020304" pitchFamily="18" charset="0"/>
              </a:rPr>
              <a:t>为</a:t>
            </a:r>
            <a:r>
              <a:rPr lang="zh-CN" altLang="en-US" b="1" dirty="0">
                <a:solidFill>
                  <a:srgbClr val="FF0000"/>
                </a:solidFill>
                <a:latin typeface="Times New Roman" panose="02020603050405020304" pitchFamily="18" charset="0"/>
              </a:rPr>
              <a:t>数值方法在点 </a:t>
            </a:r>
            <a:r>
              <a:rPr lang="en-US" altLang="zh-CN" b="1" i="1" dirty="0">
                <a:solidFill>
                  <a:srgbClr val="FF0000"/>
                </a:solidFill>
                <a:latin typeface="Times New Roman" panose="02020603050405020304" pitchFamily="18" charset="0"/>
              </a:rPr>
              <a:t>x</a:t>
            </a:r>
            <a:r>
              <a:rPr lang="en-US" altLang="zh-CN" b="1" i="1" baseline="-25000" dirty="0">
                <a:solidFill>
                  <a:srgbClr val="FF0000"/>
                </a:solidFill>
                <a:latin typeface="Times New Roman" panose="02020603050405020304" pitchFamily="18" charset="0"/>
              </a:rPr>
              <a:t>n</a:t>
            </a:r>
            <a:r>
              <a:rPr lang="en-US" altLang="zh-CN" b="1" baseline="-25000" dirty="0">
                <a:solidFill>
                  <a:srgbClr val="FF0000"/>
                </a:solidFill>
                <a:latin typeface="Times New Roman" panose="02020603050405020304" pitchFamily="18" charset="0"/>
              </a:rPr>
              <a:t>+1 </a:t>
            </a:r>
            <a:r>
              <a:rPr lang="zh-CN" altLang="en-US" b="1" dirty="0">
                <a:solidFill>
                  <a:srgbClr val="FF0000"/>
                </a:solidFill>
                <a:latin typeface="Times New Roman" panose="02020603050405020304" pitchFamily="18" charset="0"/>
              </a:rPr>
              <a:t>的截断误差</a:t>
            </a:r>
            <a:r>
              <a:rPr lang="zh-CN" altLang="en-US" b="1" dirty="0">
                <a:latin typeface="Times New Roman" panose="02020603050405020304" pitchFamily="18" charset="0"/>
              </a:rPr>
              <a:t>, 又称</a:t>
            </a:r>
            <a:r>
              <a:rPr lang="zh-CN" altLang="en-US" b="1" dirty="0">
                <a:solidFill>
                  <a:srgbClr val="FF0000"/>
                </a:solidFill>
                <a:latin typeface="Times New Roman" panose="02020603050405020304" pitchFamily="18" charset="0"/>
              </a:rPr>
              <a:t>整体截断误差</a:t>
            </a: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grpSp>
        <p:nvGrpSpPr>
          <p:cNvPr id="2" name="Group 19"/>
          <p:cNvGrpSpPr/>
          <p:nvPr/>
        </p:nvGrpSpPr>
        <p:grpSpPr>
          <a:xfrm>
            <a:off x="361950" y="3581400"/>
            <a:ext cx="6802438" cy="2041525"/>
            <a:chOff x="209" y="1789"/>
            <a:chExt cx="4285" cy="1286"/>
          </a:xfrm>
        </p:grpSpPr>
        <p:sp>
          <p:nvSpPr>
            <p:cNvPr id="18440" name="Rectangle 15"/>
            <p:cNvSpPr/>
            <p:nvPr/>
          </p:nvSpPr>
          <p:spPr>
            <a:xfrm>
              <a:off x="209" y="1789"/>
              <a:ext cx="4285" cy="1286"/>
            </a:xfrm>
            <a:prstGeom prst="rect">
              <a:avLst/>
            </a:prstGeom>
            <a:noFill/>
            <a:ln w="9525">
              <a:noFill/>
            </a:ln>
          </p:spPr>
          <p:txBody>
            <a:bodyPr wrap="none">
              <a:spAutoFit/>
            </a:bodyPr>
            <a:p>
              <a:r>
                <a:rPr lang="zh-CN" altLang="zh-CN" sz="2400" dirty="0">
                  <a:latin typeface="Times New Roman" panose="02020603050405020304" pitchFamily="18" charset="0"/>
                </a:rPr>
                <a:t>        </a:t>
              </a:r>
              <a:r>
                <a:rPr lang="zh-CN" altLang="en-US" sz="2400" dirty="0">
                  <a:latin typeface="Times New Roman" panose="02020603050405020304" pitchFamily="18" charset="0"/>
                </a:rPr>
                <a:t>   </a:t>
              </a:r>
              <a:r>
                <a:rPr lang="zh-CN" altLang="zh-CN" b="1" dirty="0">
                  <a:latin typeface="Times New Roman" panose="02020603050405020304" pitchFamily="18" charset="0"/>
                </a:rPr>
                <a:t>设 </a:t>
              </a:r>
              <a:r>
                <a:rPr lang="zh-CN" altLang="en-US" b="1" dirty="0">
                  <a:latin typeface="Times New Roman" panose="02020603050405020304" pitchFamily="18" charset="0"/>
                </a:rPr>
                <a:t> </a:t>
              </a:r>
              <a:r>
                <a:rPr lang="en-US" altLang="zh-CN" b="1" i="1" dirty="0">
                  <a:latin typeface="Times New Roman" panose="02020603050405020304" pitchFamily="18" charset="0"/>
                </a:rPr>
                <a:t>y</a:t>
              </a:r>
              <a:r>
                <a:rPr lang="en-US" altLang="zh-CN" b="1" i="1" baseline="-25000" dirty="0">
                  <a:latin typeface="Times New Roman" panose="02020603050405020304" pitchFamily="18" charset="0"/>
                </a:rPr>
                <a:t>k</a:t>
              </a:r>
              <a:r>
                <a:rPr lang="en-US" altLang="zh-CN" b="1" dirty="0">
                  <a:latin typeface="Times New Roman" panose="02020603050405020304" pitchFamily="18" charset="0"/>
                </a:rPr>
                <a:t>= </a:t>
              </a:r>
              <a:r>
                <a:rPr lang="en-US" altLang="zh-CN" b="1" i="1" dirty="0">
                  <a:latin typeface="Times New Roman" panose="02020603050405020304" pitchFamily="18" charset="0"/>
                </a:rPr>
                <a:t>y</a:t>
              </a:r>
              <a:r>
                <a:rPr lang="en-US" altLang="zh-CN" b="1" dirty="0">
                  <a:latin typeface="Times New Roman" panose="02020603050405020304" pitchFamily="18" charset="0"/>
                </a:rPr>
                <a:t> ( </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k</a:t>
              </a:r>
              <a:r>
                <a:rPr lang="en-US" altLang="zh-CN" b="1" baseline="-25000" dirty="0">
                  <a:latin typeface="Times New Roman" panose="02020603050405020304" pitchFamily="18" charset="0"/>
                </a:rPr>
                <a:t> </a:t>
              </a:r>
              <a:r>
                <a:rPr lang="en-US" altLang="zh-CN" b="1" dirty="0">
                  <a:latin typeface="Times New Roman" panose="02020603050405020304" pitchFamily="18" charset="0"/>
                </a:rPr>
                <a:t>)  (</a:t>
              </a:r>
              <a:r>
                <a:rPr lang="en-US" altLang="zh-CN" b="1" i="1" dirty="0">
                  <a:latin typeface="Times New Roman" panose="02020603050405020304" pitchFamily="18" charset="0"/>
                </a:rPr>
                <a:t>k</a:t>
              </a:r>
              <a:r>
                <a:rPr lang="en-US" altLang="zh-CN" b="1" dirty="0">
                  <a:latin typeface="Times New Roman" panose="02020603050405020304" pitchFamily="18" charset="0"/>
                </a:rPr>
                <a:t> = 0,1,</a:t>
              </a:r>
              <a:r>
                <a:rPr lang="en-US" altLang="zh-CN" b="1" baseline="16000" dirty="0">
                  <a:latin typeface="Times New Roman" panose="02020603050405020304" pitchFamily="18" charset="0"/>
                </a:rPr>
                <a:t>. . . </a:t>
              </a:r>
              <a:r>
                <a:rPr lang="en-US" altLang="zh-CN" b="1" dirty="0">
                  <a:latin typeface="Times New Roman" panose="02020603050405020304" pitchFamily="18" charset="0"/>
                </a:rPr>
                <a:t>, </a:t>
              </a:r>
              <a:r>
                <a:rPr lang="en-US" altLang="zh-CN" b="1" i="1" dirty="0">
                  <a:latin typeface="Times New Roman" panose="02020603050405020304" pitchFamily="18" charset="0"/>
                </a:rPr>
                <a:t>n</a:t>
              </a:r>
              <a:r>
                <a:rPr lang="en-US" altLang="zh-CN" b="1" dirty="0">
                  <a:latin typeface="Times New Roman" panose="02020603050405020304" pitchFamily="18" charset="0"/>
                </a:rPr>
                <a:t>)，</a:t>
              </a:r>
              <a:r>
                <a:rPr lang="zh-CN" altLang="en-US" b="1" dirty="0">
                  <a:latin typeface="Times New Roman" panose="02020603050405020304" pitchFamily="18" charset="0"/>
                </a:rPr>
                <a:t>则</a:t>
              </a:r>
              <a:endParaRPr lang="zh-CN" altLang="en-US" b="1" dirty="0">
                <a:latin typeface="Comic Sans MS" panose="030F0702030302020204" pitchFamily="66" charset="0"/>
              </a:endParaRPr>
            </a:p>
            <a:p>
              <a:endParaRPr lang="zh-CN" altLang="en-US" b="1" dirty="0">
                <a:latin typeface="Comic Sans MS" panose="030F0702030302020204" pitchFamily="66" charset="0"/>
              </a:endParaRPr>
            </a:p>
            <a:p>
              <a:r>
                <a:rPr lang="zh-CN" altLang="en-US" dirty="0">
                  <a:latin typeface="Comic Sans MS" panose="030F0702030302020204" pitchFamily="66" charset="0"/>
                </a:rPr>
                <a:t>         </a:t>
              </a:r>
              <a:r>
                <a:rPr lang="zh-CN" altLang="en-US" dirty="0">
                  <a:latin typeface="Times New Roman" panose="02020603050405020304" pitchFamily="18" charset="0"/>
                </a:rPr>
                <a:t>    </a:t>
              </a:r>
              <a:r>
                <a:rPr lang="en-US" altLang="zh-CN" baseline="-25000" dirty="0">
                  <a:latin typeface="Times New Roman" panose="02020603050405020304" pitchFamily="18" charset="0"/>
                </a:rPr>
                <a:t>    </a:t>
              </a:r>
              <a:endParaRPr lang="en-US" altLang="zh-CN" baseline="-25000" dirty="0">
                <a:latin typeface="Times New Roman" panose="02020603050405020304" pitchFamily="18" charset="0"/>
              </a:endParaRPr>
            </a:p>
            <a:p>
              <a:r>
                <a:rPr lang="zh-CN" altLang="en-US" b="1" dirty="0">
                  <a:latin typeface="Times New Roman" panose="02020603050405020304" pitchFamily="18" charset="0"/>
                </a:rPr>
                <a:t>为数值方法在点 </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 </a:t>
              </a:r>
              <a:r>
                <a:rPr lang="zh-CN" altLang="en-US" b="1" dirty="0">
                  <a:latin typeface="Times New Roman" panose="02020603050405020304" pitchFamily="18" charset="0"/>
                </a:rPr>
                <a:t>的</a:t>
              </a:r>
              <a:r>
                <a:rPr lang="zh-CN" altLang="en-US" b="1" dirty="0">
                  <a:solidFill>
                    <a:srgbClr val="FF0000"/>
                  </a:solidFill>
                  <a:latin typeface="Times New Roman" panose="02020603050405020304" pitchFamily="18" charset="0"/>
                </a:rPr>
                <a:t>局部截断误差</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18434" name="Object 16"/>
            <p:cNvGraphicFramePr/>
            <p:nvPr/>
          </p:nvGraphicFramePr>
          <p:xfrm>
            <a:off x="1441" y="2276"/>
            <a:ext cx="1922" cy="361"/>
          </p:xfrm>
          <a:graphic>
            <a:graphicData uri="http://schemas.openxmlformats.org/presentationml/2006/ole">
              <mc:AlternateContent xmlns:mc="http://schemas.openxmlformats.org/markup-compatibility/2006">
                <mc:Choice xmlns:v="urn:schemas-microsoft-com:vml" Requires="v">
                  <p:oleObj spid="_x0000_s3117" name="" r:id="rId1" imgW="1219200" imgH="228600" progId="Equation.DSMT4">
                    <p:embed/>
                  </p:oleObj>
                </mc:Choice>
                <mc:Fallback>
                  <p:oleObj name="" r:id="rId1" imgW="1219200" imgH="228600" progId="Equation.DSMT4">
                    <p:embed/>
                    <p:pic>
                      <p:nvPicPr>
                        <p:cNvPr id="0" name="图片 3116"/>
                        <p:cNvPicPr/>
                        <p:nvPr/>
                      </p:nvPicPr>
                      <p:blipFill>
                        <a:blip r:embed="rId2"/>
                        <a:stretch>
                          <a:fillRect/>
                        </a:stretch>
                      </p:blipFill>
                      <p:spPr>
                        <a:xfrm>
                          <a:off x="1441" y="2276"/>
                          <a:ext cx="1922" cy="361"/>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9101"/>
                                        </p:tgtEl>
                                        <p:attrNameLst>
                                          <p:attrName>style.visibility</p:attrName>
                                        </p:attrNameLst>
                                      </p:cBhvr>
                                      <p:to>
                                        <p:strVal val="visible"/>
                                      </p:to>
                                    </p:set>
                                    <p:animEffect transition="in" filter="blinds(horizontal)">
                                      <p:cBhvr>
                                        <p:cTn id="7" dur="500"/>
                                        <p:tgtEl>
                                          <p:spTgt spid="8910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0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27"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78178" name="Rectangle 1026"/>
          <p:cNvSpPr>
            <a:spLocks noGrp="1"/>
          </p:cNvSpPr>
          <p:nvPr>
            <p:ph type="title"/>
          </p:nvPr>
        </p:nvSpPr>
        <p:spPr>
          <a:xfrm>
            <a:off x="455613" y="544513"/>
            <a:ext cx="8188325" cy="3097212"/>
          </a:xfrm>
          <a:ln/>
        </p:spPr>
        <p:txBody>
          <a:bodyPr vert="horz" wrap="square" lIns="91440" tIns="45720" rIns="91440" bIns="45720" anchor="ctr" anchorCtr="0"/>
          <a:p>
            <a:pPr algn="l">
              <a:lnSpc>
                <a:spcPct val="120000"/>
              </a:lnSpc>
            </a:pPr>
            <a:r>
              <a:rPr lang="zh-CN" altLang="en-US" b="1" u="none" dirty="0">
                <a:solidFill>
                  <a:schemeClr val="tx1"/>
                </a:solidFill>
                <a:latin typeface="Times New Roman" panose="02020603050405020304" pitchFamily="18" charset="0"/>
              </a:rPr>
              <a:t>整体截断误差 </a:t>
            </a:r>
            <a:r>
              <a:rPr lang="en-US" altLang="zh-CN" b="1" u="none" dirty="0">
                <a:solidFill>
                  <a:schemeClr val="tx1"/>
                </a:solidFill>
                <a:latin typeface="Times New Roman" panose="02020603050405020304" pitchFamily="18" charset="0"/>
              </a:rPr>
              <a:t>e</a:t>
            </a:r>
            <a:r>
              <a:rPr lang="en-US" altLang="zh-CN" b="1" i="1" u="none" baseline="-25000" dirty="0">
                <a:solidFill>
                  <a:schemeClr val="tx1"/>
                </a:solidFill>
                <a:latin typeface="Times New Roman" panose="02020603050405020304" pitchFamily="18" charset="0"/>
              </a:rPr>
              <a:t>n</a:t>
            </a:r>
            <a:r>
              <a:rPr lang="en-US" altLang="zh-CN" b="1" u="none" baseline="-25000" dirty="0">
                <a:solidFill>
                  <a:schemeClr val="tx1"/>
                </a:solidFill>
                <a:latin typeface="Times New Roman" panose="02020603050405020304" pitchFamily="18" charset="0"/>
              </a:rPr>
              <a:t>+1</a:t>
            </a:r>
            <a:r>
              <a:rPr lang="en-US" altLang="zh-CN" b="1" u="none" dirty="0">
                <a:solidFill>
                  <a:schemeClr val="tx1"/>
                </a:solidFill>
                <a:latin typeface="Times New Roman" panose="02020603050405020304" pitchFamily="18" charset="0"/>
              </a:rPr>
              <a:t> </a:t>
            </a:r>
            <a:r>
              <a:rPr lang="zh-CN" altLang="en-US" b="1" u="none" dirty="0">
                <a:solidFill>
                  <a:schemeClr val="tx1"/>
                </a:solidFill>
                <a:latin typeface="Times New Roman" panose="02020603050405020304" pitchFamily="18" charset="0"/>
              </a:rPr>
              <a:t>是在没有</a:t>
            </a:r>
            <a:r>
              <a:rPr lang="zh-CN" altLang="en-US" b="1" u="none" dirty="0">
                <a:solidFill>
                  <a:srgbClr val="FF0000"/>
                </a:solidFill>
                <a:latin typeface="Times New Roman" panose="02020603050405020304" pitchFamily="18" charset="0"/>
              </a:rPr>
              <a:t>引进舍入误差</a:t>
            </a:r>
            <a:r>
              <a:rPr lang="zh-CN" altLang="en-US" b="1" u="none" dirty="0">
                <a:solidFill>
                  <a:schemeClr val="tx1"/>
                </a:solidFill>
                <a:latin typeface="Times New Roman" panose="02020603050405020304" pitchFamily="18" charset="0"/>
              </a:rPr>
              <a:t>的情况下, </a:t>
            </a:r>
            <a:r>
              <a:rPr lang="zh-CN" altLang="en-US" b="1" u="none" dirty="0">
                <a:solidFill>
                  <a:srgbClr val="FF0000"/>
                </a:solidFill>
                <a:latin typeface="Times New Roman" panose="02020603050405020304" pitchFamily="18" charset="0"/>
              </a:rPr>
              <a:t>纯粹因为不准确的计算格式造成的</a:t>
            </a:r>
            <a:r>
              <a:rPr lang="zh-CN" altLang="en-US" b="1" u="none" dirty="0">
                <a:solidFill>
                  <a:schemeClr val="tx1"/>
                </a:solidFill>
                <a:latin typeface="Times New Roman" panose="02020603050405020304" pitchFamily="18" charset="0"/>
              </a:rPr>
              <a:t>, 故又称为</a:t>
            </a:r>
            <a:r>
              <a:rPr lang="zh-CN" altLang="en-US" b="1" u="none" dirty="0">
                <a:solidFill>
                  <a:srgbClr val="FF0000"/>
                </a:solidFill>
                <a:latin typeface="Times New Roman" panose="02020603050405020304" pitchFamily="18" charset="0"/>
              </a:rPr>
              <a:t>方法误差</a:t>
            </a:r>
            <a:r>
              <a:rPr lang="zh-CN" altLang="en-US" b="1" u="none" dirty="0">
                <a:solidFill>
                  <a:schemeClr val="tx1"/>
                </a:solidFill>
                <a:latin typeface="Times New Roman" panose="02020603050405020304" pitchFamily="18" charset="0"/>
              </a:rPr>
              <a:t>.它不仅与 </a:t>
            </a:r>
            <a:r>
              <a:rPr lang="en-US" altLang="zh-CN" b="1" i="1" u="none" dirty="0">
                <a:solidFill>
                  <a:schemeClr val="tx1"/>
                </a:solidFill>
                <a:latin typeface="Times New Roman" panose="02020603050405020304" pitchFamily="18" charset="0"/>
              </a:rPr>
              <a:t>x</a:t>
            </a:r>
            <a:r>
              <a:rPr lang="en-US" altLang="zh-CN" b="1" u="none" dirty="0">
                <a:solidFill>
                  <a:schemeClr val="tx1"/>
                </a:solidFill>
                <a:latin typeface="Times New Roman" panose="02020603050405020304" pitchFamily="18" charset="0"/>
              </a:rPr>
              <a:t>  =  </a:t>
            </a:r>
            <a:r>
              <a:rPr lang="en-US" altLang="zh-CN" b="1" i="1" u="none" dirty="0">
                <a:solidFill>
                  <a:schemeClr val="tx1"/>
                </a:solidFill>
                <a:latin typeface="Times New Roman" panose="02020603050405020304" pitchFamily="18" charset="0"/>
              </a:rPr>
              <a:t>x</a:t>
            </a:r>
            <a:r>
              <a:rPr lang="en-US" altLang="zh-CN" b="1" i="1" u="none" baseline="-25000" dirty="0">
                <a:solidFill>
                  <a:schemeClr val="tx1"/>
                </a:solidFill>
                <a:latin typeface="Times New Roman" panose="02020603050405020304" pitchFamily="18" charset="0"/>
              </a:rPr>
              <a:t>n</a:t>
            </a:r>
            <a:r>
              <a:rPr lang="en-US" altLang="zh-CN" b="1" u="none" baseline="-25000" dirty="0">
                <a:solidFill>
                  <a:schemeClr val="tx1"/>
                </a:solidFill>
                <a:latin typeface="Times New Roman" panose="02020603050405020304" pitchFamily="18" charset="0"/>
              </a:rPr>
              <a:t>+1 </a:t>
            </a:r>
            <a:r>
              <a:rPr lang="zh-CN" altLang="en-US" b="1" u="none" dirty="0">
                <a:solidFill>
                  <a:schemeClr val="tx1"/>
                </a:solidFill>
                <a:latin typeface="Times New Roman" panose="02020603050405020304" pitchFamily="18" charset="0"/>
              </a:rPr>
              <a:t>这一步的计算有关, 而且和 </a:t>
            </a:r>
            <a:r>
              <a:rPr lang="en-US" altLang="zh-CN" b="1" i="1" u="none" dirty="0">
                <a:solidFill>
                  <a:schemeClr val="tx1"/>
                </a:solidFill>
                <a:latin typeface="Times New Roman" panose="02020603050405020304" pitchFamily="18" charset="0"/>
              </a:rPr>
              <a:t>x</a:t>
            </a:r>
            <a:r>
              <a:rPr lang="en-US" altLang="zh-CN" b="1" i="1" u="none" baseline="-25000" dirty="0">
                <a:solidFill>
                  <a:schemeClr val="tx1"/>
                </a:solidFill>
                <a:latin typeface="Times New Roman" panose="02020603050405020304" pitchFamily="18" charset="0"/>
              </a:rPr>
              <a:t>n</a:t>
            </a:r>
            <a:r>
              <a:rPr lang="en-US" altLang="zh-CN" b="1" u="none" baseline="-25000" dirty="0">
                <a:solidFill>
                  <a:schemeClr val="tx1"/>
                </a:solidFill>
                <a:latin typeface="Times New Roman" panose="02020603050405020304" pitchFamily="18" charset="0"/>
              </a:rPr>
              <a:t> </a:t>
            </a:r>
            <a:r>
              <a:rPr lang="en-US" altLang="zh-CN" b="1" u="none" dirty="0">
                <a:solidFill>
                  <a:schemeClr val="tx1"/>
                </a:solidFill>
                <a:latin typeface="Times New Roman" panose="02020603050405020304" pitchFamily="18" charset="0"/>
              </a:rPr>
              <a:t>, </a:t>
            </a:r>
            <a:r>
              <a:rPr lang="en-US" altLang="zh-CN" b="1" i="1" u="none" dirty="0">
                <a:solidFill>
                  <a:schemeClr val="tx1"/>
                </a:solidFill>
                <a:latin typeface="Times New Roman" panose="02020603050405020304" pitchFamily="18" charset="0"/>
              </a:rPr>
              <a:t>x</a:t>
            </a:r>
            <a:r>
              <a:rPr lang="en-US" altLang="zh-CN" b="1" i="1" u="none" baseline="-25000" dirty="0">
                <a:solidFill>
                  <a:schemeClr val="tx1"/>
                </a:solidFill>
                <a:latin typeface="Times New Roman" panose="02020603050405020304" pitchFamily="18" charset="0"/>
              </a:rPr>
              <a:t>n</a:t>
            </a:r>
            <a:r>
              <a:rPr lang="en-US" altLang="zh-CN" b="1" u="none" baseline="-25000" dirty="0">
                <a:solidFill>
                  <a:schemeClr val="tx1"/>
                </a:solidFill>
                <a:latin typeface="Times New Roman" panose="02020603050405020304" pitchFamily="18" charset="0"/>
              </a:rPr>
              <a:t>-1 </a:t>
            </a:r>
            <a:r>
              <a:rPr lang="en-US" altLang="zh-CN" b="1" u="none" dirty="0">
                <a:solidFill>
                  <a:schemeClr val="tx1"/>
                </a:solidFill>
                <a:latin typeface="Times New Roman" panose="02020603050405020304" pitchFamily="18" charset="0"/>
              </a:rPr>
              <a:t>,</a:t>
            </a:r>
            <a:r>
              <a:rPr lang="en-US" altLang="zh-CN" b="1" u="none" baseline="16000" dirty="0">
                <a:solidFill>
                  <a:schemeClr val="tx1"/>
                </a:solidFill>
                <a:latin typeface="Times New Roman" panose="02020603050405020304" pitchFamily="18" charset="0"/>
              </a:rPr>
              <a:t>. . . </a:t>
            </a:r>
            <a:r>
              <a:rPr lang="en-US" altLang="zh-CN" b="1" u="none" dirty="0">
                <a:solidFill>
                  <a:schemeClr val="tx1"/>
                </a:solidFill>
                <a:latin typeface="Times New Roman" panose="02020603050405020304" pitchFamily="18" charset="0"/>
              </a:rPr>
              <a:t>, </a:t>
            </a:r>
            <a:r>
              <a:rPr lang="en-US" altLang="zh-CN" b="1" i="1" u="none" dirty="0">
                <a:solidFill>
                  <a:schemeClr val="tx1"/>
                </a:solidFill>
                <a:latin typeface="Times New Roman" panose="02020603050405020304" pitchFamily="18" charset="0"/>
              </a:rPr>
              <a:t>x</a:t>
            </a:r>
            <a:r>
              <a:rPr lang="en-US" altLang="zh-CN" b="1" u="none" baseline="-25000" dirty="0">
                <a:solidFill>
                  <a:schemeClr val="tx1"/>
                </a:solidFill>
                <a:latin typeface="Times New Roman" panose="02020603050405020304" pitchFamily="18" charset="0"/>
              </a:rPr>
              <a:t>1</a:t>
            </a:r>
            <a:r>
              <a:rPr lang="en-US" altLang="zh-CN" b="1" u="none" dirty="0">
                <a:solidFill>
                  <a:schemeClr val="tx1"/>
                </a:solidFill>
                <a:latin typeface="Times New Roman" panose="02020603050405020304" pitchFamily="18" charset="0"/>
              </a:rPr>
              <a:t> </a:t>
            </a:r>
            <a:r>
              <a:rPr lang="zh-CN" altLang="zh-CN" b="1" u="none" dirty="0">
                <a:solidFill>
                  <a:schemeClr val="tx1"/>
                </a:solidFill>
                <a:latin typeface="Times New Roman" panose="02020603050405020304" pitchFamily="18" charset="0"/>
              </a:rPr>
              <a:t>这几步的计算都有关系</a:t>
            </a:r>
            <a:r>
              <a:rPr lang="zh-CN" altLang="en-US" b="1" u="none" dirty="0">
                <a:solidFill>
                  <a:schemeClr val="tx1"/>
                </a:solidFill>
                <a:latin typeface="Times New Roman" panose="02020603050405020304" pitchFamily="18" charset="0"/>
              </a:rPr>
              <a:t>.</a:t>
            </a:r>
            <a:r>
              <a:rPr lang="zh-CN" altLang="en-US" u="none" dirty="0">
                <a:solidFill>
                  <a:schemeClr val="tx1"/>
                </a:solidFill>
                <a:latin typeface="Times New Roman" panose="02020603050405020304" pitchFamily="18" charset="0"/>
              </a:rPr>
              <a:t> </a:t>
            </a:r>
            <a:endParaRPr lang="zh-CN" altLang="en-US" u="none" dirty="0">
              <a:solidFill>
                <a:schemeClr val="tx1"/>
              </a:solidFill>
              <a:latin typeface="Times New Roman" panose="02020603050405020304" pitchFamily="18" charset="0"/>
            </a:endParaRPr>
          </a:p>
        </p:txBody>
      </p:sp>
      <p:sp>
        <p:nvSpPr>
          <p:cNvPr id="178179" name="Rectangle 1027"/>
          <p:cNvSpPr/>
          <p:nvPr/>
        </p:nvSpPr>
        <p:spPr>
          <a:xfrm>
            <a:off x="419100" y="3752850"/>
            <a:ext cx="8421688" cy="1844675"/>
          </a:xfrm>
          <a:prstGeom prst="rect">
            <a:avLst/>
          </a:prstGeom>
          <a:noFill/>
          <a:ln w="9525">
            <a:noFill/>
          </a:ln>
        </p:spPr>
        <p:txBody>
          <a:bodyPr>
            <a:spAutoFit/>
          </a:bodyPr>
          <a:p>
            <a:pPr>
              <a:lnSpc>
                <a:spcPct val="120000"/>
              </a:lnSpc>
            </a:pPr>
            <a:r>
              <a:rPr lang="zh-CN" altLang="en-US" b="1" dirty="0">
                <a:latin typeface="Times New Roman" panose="02020603050405020304" pitchFamily="18" charset="0"/>
              </a:rPr>
              <a:t>局部截断误差是假设 </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 </a:t>
            </a:r>
            <a:r>
              <a:rPr lang="zh-CN" altLang="en-US" b="1" dirty="0">
                <a:latin typeface="Times New Roman" panose="02020603050405020304" pitchFamily="18" charset="0"/>
              </a:rPr>
              <a:t>之前各数值解没有误差, </a:t>
            </a:r>
            <a:r>
              <a:rPr lang="zh-CN" altLang="en-US" b="1" dirty="0">
                <a:solidFill>
                  <a:srgbClr val="FF0000"/>
                </a:solidFill>
                <a:latin typeface="Times New Roman" panose="02020603050405020304" pitchFamily="18" charset="0"/>
              </a:rPr>
              <a:t>仅由  </a:t>
            </a:r>
            <a:r>
              <a:rPr lang="en-US" altLang="zh-CN" b="1" i="1" dirty="0">
                <a:solidFill>
                  <a:srgbClr val="FF0000"/>
                </a:solidFill>
                <a:latin typeface="Times New Roman" panose="02020603050405020304" pitchFamily="18" charset="0"/>
              </a:rPr>
              <a:t>x</a:t>
            </a:r>
            <a:r>
              <a:rPr lang="en-US" altLang="zh-CN" b="1" i="1" baseline="-25000" dirty="0">
                <a:solidFill>
                  <a:srgbClr val="FF0000"/>
                </a:solidFill>
                <a:latin typeface="Times New Roman" panose="02020603050405020304" pitchFamily="18" charset="0"/>
              </a:rPr>
              <a:t>n</a:t>
            </a:r>
            <a:r>
              <a:rPr lang="en-US" altLang="zh-CN" b="1" baseline="-25000" dirty="0">
                <a:solidFill>
                  <a:srgbClr val="FF0000"/>
                </a:solidFill>
                <a:latin typeface="Times New Roman" panose="02020603050405020304" pitchFamily="18" charset="0"/>
              </a:rPr>
              <a:t>  </a:t>
            </a:r>
            <a:r>
              <a:rPr lang="zh-CN" altLang="en-US" b="1" dirty="0">
                <a:solidFill>
                  <a:srgbClr val="FF0000"/>
                </a:solidFill>
                <a:latin typeface="Times New Roman" panose="02020603050405020304" pitchFamily="18" charset="0"/>
              </a:rPr>
              <a:t>到 </a:t>
            </a:r>
            <a:r>
              <a:rPr lang="en-US" altLang="zh-CN" b="1" i="1" dirty="0">
                <a:solidFill>
                  <a:srgbClr val="FF0000"/>
                </a:solidFill>
                <a:latin typeface="Times New Roman" panose="02020603050405020304" pitchFamily="18" charset="0"/>
              </a:rPr>
              <a:t>x</a:t>
            </a:r>
            <a:r>
              <a:rPr lang="en-US" altLang="zh-CN" b="1" i="1" baseline="-25000" dirty="0">
                <a:solidFill>
                  <a:srgbClr val="FF0000"/>
                </a:solidFill>
                <a:latin typeface="Times New Roman" panose="02020603050405020304" pitchFamily="18" charset="0"/>
              </a:rPr>
              <a:t>n</a:t>
            </a:r>
            <a:r>
              <a:rPr lang="en-US" altLang="zh-CN" b="1" baseline="-25000" dirty="0">
                <a:solidFill>
                  <a:srgbClr val="FF0000"/>
                </a:solidFill>
                <a:latin typeface="Times New Roman" panose="02020603050405020304" pitchFamily="18" charset="0"/>
              </a:rPr>
              <a:t>+1  </a:t>
            </a:r>
            <a:r>
              <a:rPr lang="zh-CN" altLang="zh-CN" b="1" dirty="0">
                <a:solidFill>
                  <a:srgbClr val="FF0000"/>
                </a:solidFill>
                <a:latin typeface="Times New Roman" panose="02020603050405020304" pitchFamily="18" charset="0"/>
              </a:rPr>
              <a:t>这一步</a:t>
            </a:r>
            <a:r>
              <a:rPr lang="zh-CN" altLang="zh-CN" b="1" dirty="0">
                <a:latin typeface="Times New Roman" panose="02020603050405020304" pitchFamily="18" charset="0"/>
              </a:rPr>
              <a:t>计算由计算格式引起的误差</a:t>
            </a: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0"/>
                                  </p:iterate>
                                  <p:childTnLst>
                                    <p:set>
                                      <p:cBhvr>
                                        <p:cTn id="6" dur="1" fill="hold">
                                          <p:stCondLst>
                                            <p:cond delay="0"/>
                                          </p:stCondLst>
                                        </p:cTn>
                                        <p:tgtEl>
                                          <p:spTgt spid="178178"/>
                                        </p:tgtEl>
                                        <p:attrNameLst>
                                          <p:attrName>style.visibility</p:attrName>
                                        </p:attrNameLst>
                                      </p:cBhvr>
                                      <p:to>
                                        <p:strVal val="visible"/>
                                      </p:to>
                                    </p:set>
                                    <p:animEffect transition="in" filter="dissolve">
                                      <p:cBhvr>
                                        <p:cTn id="7" dur="300"/>
                                        <p:tgtEl>
                                          <p:spTgt spid="17817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wd">
                                    <p:tmPct val="100000"/>
                                  </p:iterate>
                                  <p:childTnLst>
                                    <p:set>
                                      <p:cBhvr>
                                        <p:cTn id="11" dur="1" fill="hold">
                                          <p:stCondLst>
                                            <p:cond delay="0"/>
                                          </p:stCondLst>
                                        </p:cTn>
                                        <p:tgtEl>
                                          <p:spTgt spid="178179"/>
                                        </p:tgtEl>
                                        <p:attrNameLst>
                                          <p:attrName>style.visibility</p:attrName>
                                        </p:attrNameLst>
                                      </p:cBhvr>
                                      <p:to>
                                        <p:strVal val="visible"/>
                                      </p:to>
                                    </p:set>
                                    <p:animEffect transition="in" filter="dissolve">
                                      <p:cBhvr>
                                        <p:cTn id="12" dur="300"/>
                                        <p:tgtEl>
                                          <p:spTgt spid="178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p:bldP spid="17817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62"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9463" name="Rectangle 1026"/>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如</a:t>
            </a:r>
            <a:r>
              <a:rPr lang="en-US" altLang="zh-CN" b="1" u="none" dirty="0">
                <a:solidFill>
                  <a:schemeClr val="tx1"/>
                </a:solidFill>
                <a:latin typeface="Times New Roman" panose="02020603050405020304" pitchFamily="18" charset="0"/>
              </a:rPr>
              <a:t>Euler</a:t>
            </a:r>
            <a:r>
              <a:rPr lang="zh-CN" altLang="en-US" b="1" u="none" dirty="0">
                <a:solidFill>
                  <a:schemeClr val="tx1"/>
                </a:solidFill>
                <a:latin typeface="Times New Roman" panose="02020603050405020304" pitchFamily="18" charset="0"/>
              </a:rPr>
              <a:t>公式</a:t>
            </a:r>
            <a:endParaRPr lang="zh-CN" altLang="en-US" b="1" u="none" dirty="0">
              <a:solidFill>
                <a:schemeClr val="tx1"/>
              </a:solidFill>
              <a:latin typeface="Times New Roman" panose="02020603050405020304" pitchFamily="18" charset="0"/>
            </a:endParaRPr>
          </a:p>
        </p:txBody>
      </p:sp>
      <p:graphicFrame>
        <p:nvGraphicFramePr>
          <p:cNvPr id="179203" name="Object 1027"/>
          <p:cNvGraphicFramePr/>
          <p:nvPr/>
        </p:nvGraphicFramePr>
        <p:xfrm>
          <a:off x="2986088" y="539750"/>
          <a:ext cx="3441700" cy="573088"/>
        </p:xfrm>
        <a:graphic>
          <a:graphicData uri="http://schemas.openxmlformats.org/presentationml/2006/ole">
            <mc:AlternateContent xmlns:mc="http://schemas.openxmlformats.org/markup-compatibility/2006">
              <mc:Choice xmlns:v="urn:schemas-microsoft-com:vml" Requires="v">
                <p:oleObj spid="_x0000_s3118" name="" r:id="rId1" imgW="1371600" imgH="228600" progId="Equation.DSMT4">
                  <p:embed/>
                </p:oleObj>
              </mc:Choice>
              <mc:Fallback>
                <p:oleObj name="" r:id="rId1" imgW="1371600" imgH="228600" progId="Equation.DSMT4">
                  <p:embed/>
                  <p:pic>
                    <p:nvPicPr>
                      <p:cNvPr id="0" name="图片 3117"/>
                      <p:cNvPicPr/>
                      <p:nvPr/>
                    </p:nvPicPr>
                    <p:blipFill>
                      <a:blip r:embed="rId2"/>
                      <a:stretch>
                        <a:fillRect/>
                      </a:stretch>
                    </p:blipFill>
                    <p:spPr>
                      <a:xfrm>
                        <a:off x="2986088" y="539750"/>
                        <a:ext cx="3441700" cy="573088"/>
                      </a:xfrm>
                      <a:prstGeom prst="rect">
                        <a:avLst/>
                      </a:prstGeom>
                      <a:noFill/>
                      <a:ln w="38100">
                        <a:noFill/>
                        <a:miter/>
                      </a:ln>
                    </p:spPr>
                  </p:pic>
                </p:oleObj>
              </mc:Fallback>
            </mc:AlternateContent>
          </a:graphicData>
        </a:graphic>
      </p:graphicFrame>
      <p:sp>
        <p:nvSpPr>
          <p:cNvPr id="179204" name="Text Box 1028"/>
          <p:cNvSpPr txBox="1"/>
          <p:nvPr/>
        </p:nvSpPr>
        <p:spPr>
          <a:xfrm>
            <a:off x="477838" y="1279525"/>
            <a:ext cx="8024812" cy="579438"/>
          </a:xfrm>
          <a:prstGeom prst="rect">
            <a:avLst/>
          </a:prstGeom>
          <a:noFill/>
          <a:ln w="9525">
            <a:noFill/>
          </a:ln>
        </p:spPr>
        <p:txBody>
          <a:bodyPr wrap="none">
            <a:spAutoFit/>
          </a:bodyPr>
          <a:p>
            <a:r>
              <a:rPr lang="zh-CN" altLang="en-US" b="1" dirty="0">
                <a:latin typeface="Times New Roman" panose="02020603050405020304" pitchFamily="18" charset="0"/>
              </a:rPr>
              <a:t>在点 </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 </a:t>
            </a:r>
            <a:r>
              <a:rPr lang="zh-CN" altLang="en-US" b="1" dirty="0">
                <a:latin typeface="Times New Roman" panose="02020603050405020304" pitchFamily="18" charset="0"/>
              </a:rPr>
              <a:t>的整体截断误差 </a:t>
            </a:r>
            <a:r>
              <a:rPr lang="en-US" altLang="zh-CN" b="1" dirty="0">
                <a:latin typeface="Times New Roman" panose="02020603050405020304" pitchFamily="18" charset="0"/>
              </a:rPr>
              <a:t>e</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 = </a:t>
            </a:r>
            <a:r>
              <a:rPr lang="en-US" altLang="zh-CN" b="1" i="1" dirty="0">
                <a:latin typeface="Times New Roman" panose="02020603050405020304" pitchFamily="18" charset="0"/>
              </a:rPr>
              <a:t>y</a:t>
            </a: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a:t>
            </a:r>
            <a:r>
              <a:rPr lang="en-US" altLang="zh-CN" b="1" dirty="0">
                <a:latin typeface="宋体" panose="02010600030101010101" pitchFamily="2" charset="-122"/>
              </a:rPr>
              <a:t>- </a:t>
            </a:r>
            <a:r>
              <a:rPr lang="en-US" altLang="zh-CN" b="1" i="1" dirty="0">
                <a:latin typeface="Times New Roman" panose="02020603050405020304" pitchFamily="18" charset="0"/>
              </a:rPr>
              <a:t>y</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a:t>
            </a:r>
            <a:endParaRPr lang="en-US" altLang="zh-CN" b="1" baseline="-25000" dirty="0">
              <a:latin typeface="Times New Roman" panose="02020603050405020304" pitchFamily="18" charset="0"/>
            </a:endParaRPr>
          </a:p>
        </p:txBody>
      </p:sp>
      <p:graphicFrame>
        <p:nvGraphicFramePr>
          <p:cNvPr id="179206" name="Object 1030"/>
          <p:cNvGraphicFramePr/>
          <p:nvPr/>
        </p:nvGraphicFramePr>
        <p:xfrm>
          <a:off x="528638" y="1746250"/>
          <a:ext cx="8205787" cy="2098675"/>
        </p:xfrm>
        <a:graphic>
          <a:graphicData uri="http://schemas.openxmlformats.org/presentationml/2006/ole">
            <mc:AlternateContent xmlns:mc="http://schemas.openxmlformats.org/markup-compatibility/2006">
              <mc:Choice xmlns:v="urn:schemas-microsoft-com:vml" Requires="v">
                <p:oleObj spid="_x0000_s3124" name="" r:id="rId3" imgW="3263900" imgH="838200" progId="Equation.DSMT4">
                  <p:embed/>
                </p:oleObj>
              </mc:Choice>
              <mc:Fallback>
                <p:oleObj name="" r:id="rId3" imgW="3263900" imgH="838200" progId="Equation.DSMT4">
                  <p:embed/>
                  <p:pic>
                    <p:nvPicPr>
                      <p:cNvPr id="0" name="图片 3123"/>
                      <p:cNvPicPr/>
                      <p:nvPr/>
                    </p:nvPicPr>
                    <p:blipFill>
                      <a:blip r:embed="rId4"/>
                      <a:stretch>
                        <a:fillRect/>
                      </a:stretch>
                    </p:blipFill>
                    <p:spPr>
                      <a:xfrm>
                        <a:off x="528638" y="1746250"/>
                        <a:ext cx="8205787" cy="2098675"/>
                      </a:xfrm>
                      <a:prstGeom prst="rect">
                        <a:avLst/>
                      </a:prstGeom>
                      <a:noFill/>
                      <a:ln w="38100">
                        <a:noFill/>
                        <a:miter/>
                      </a:ln>
                    </p:spPr>
                  </p:pic>
                </p:oleObj>
              </mc:Fallback>
            </mc:AlternateContent>
          </a:graphicData>
        </a:graphic>
      </p:graphicFrame>
      <p:sp>
        <p:nvSpPr>
          <p:cNvPr id="179207" name="Text Box 1031"/>
          <p:cNvSpPr txBox="1"/>
          <p:nvPr/>
        </p:nvSpPr>
        <p:spPr>
          <a:xfrm>
            <a:off x="463550" y="3987800"/>
            <a:ext cx="2632075" cy="579438"/>
          </a:xfrm>
          <a:prstGeom prst="rect">
            <a:avLst/>
          </a:prstGeom>
          <a:noFill/>
          <a:ln w="9525">
            <a:noFill/>
          </a:ln>
        </p:spPr>
        <p:txBody>
          <a:bodyPr wrap="none">
            <a:spAutoFit/>
          </a:bodyPr>
          <a:p>
            <a:pPr algn="ctr" eaLnBrk="0" hangingPunct="0"/>
            <a:r>
              <a:rPr lang="zh-CN" altLang="en-US" b="1" dirty="0">
                <a:latin typeface="Times New Roman" panose="02020603050405020304" pitchFamily="18" charset="0"/>
              </a:rPr>
              <a:t>局部截断误差</a:t>
            </a:r>
            <a:endParaRPr lang="zh-CN" altLang="en-US" b="1" dirty="0">
              <a:latin typeface="Times New Roman" panose="02020603050405020304" pitchFamily="18" charset="0"/>
            </a:endParaRPr>
          </a:p>
        </p:txBody>
      </p:sp>
      <p:graphicFrame>
        <p:nvGraphicFramePr>
          <p:cNvPr id="179208" name="Object 1032"/>
          <p:cNvGraphicFramePr/>
          <p:nvPr/>
        </p:nvGraphicFramePr>
        <p:xfrm>
          <a:off x="3141663" y="3736975"/>
          <a:ext cx="5218112" cy="1092200"/>
        </p:xfrm>
        <a:graphic>
          <a:graphicData uri="http://schemas.openxmlformats.org/presentationml/2006/ole">
            <mc:AlternateContent xmlns:mc="http://schemas.openxmlformats.org/markup-compatibility/2006">
              <mc:Choice xmlns:v="urn:schemas-microsoft-com:vml" Requires="v">
                <p:oleObj spid="_x0000_s3119" name="" r:id="rId5" imgW="1993900" imgH="419100" progId="Equation.DSMT4">
                  <p:embed/>
                </p:oleObj>
              </mc:Choice>
              <mc:Fallback>
                <p:oleObj name="" r:id="rId5" imgW="1993900" imgH="419100" progId="Equation.DSMT4">
                  <p:embed/>
                  <p:pic>
                    <p:nvPicPr>
                      <p:cNvPr id="0" name="图片 3118"/>
                      <p:cNvPicPr/>
                      <p:nvPr/>
                    </p:nvPicPr>
                    <p:blipFill>
                      <a:blip r:embed="rId6"/>
                      <a:stretch>
                        <a:fillRect/>
                      </a:stretch>
                    </p:blipFill>
                    <p:spPr>
                      <a:xfrm>
                        <a:off x="3141663" y="3736975"/>
                        <a:ext cx="5218112" cy="1092200"/>
                      </a:xfrm>
                      <a:prstGeom prst="rect">
                        <a:avLst/>
                      </a:prstGeom>
                      <a:noFill/>
                      <a:ln w="38100">
                        <a:noFill/>
                        <a:miter/>
                      </a:ln>
                    </p:spPr>
                  </p:pic>
                </p:oleObj>
              </mc:Fallback>
            </mc:AlternateContent>
          </a:graphicData>
        </a:graphic>
      </p:graphicFrame>
      <p:sp>
        <p:nvSpPr>
          <p:cNvPr id="179209" name="AutoShape 1033"/>
          <p:cNvSpPr/>
          <p:nvPr/>
        </p:nvSpPr>
        <p:spPr>
          <a:xfrm>
            <a:off x="428625" y="5000625"/>
            <a:ext cx="7829550" cy="1566863"/>
          </a:xfrm>
          <a:prstGeom prst="wedgeRoundRectCallout">
            <a:avLst>
              <a:gd name="adj1" fmla="val -42519"/>
              <a:gd name="adj2" fmla="val -74417"/>
              <a:gd name="adj3" fmla="val 16667"/>
            </a:avLst>
          </a:prstGeom>
          <a:solidFill>
            <a:schemeClr val="accent1"/>
          </a:solidFill>
          <a:ln w="9525" cap="flat" cmpd="sng">
            <a:solidFill>
              <a:schemeClr val="tx1"/>
            </a:solidFill>
            <a:prstDash val="solid"/>
            <a:miter/>
            <a:headEnd type="none" w="med" len="med"/>
            <a:tailEnd type="none" w="med" len="med"/>
          </a:ln>
        </p:spPr>
        <p:txBody>
          <a:bodyPr/>
          <a:p>
            <a:pPr eaLnBrk="0" hangingPunct="0">
              <a:spcBef>
                <a:spcPct val="30000"/>
              </a:spcBef>
            </a:pPr>
            <a:r>
              <a:rPr lang="zh-CN" altLang="en-US" sz="2800" b="1" dirty="0">
                <a:latin typeface="Times New Roman" panose="02020603050405020304" pitchFamily="18" charset="0"/>
              </a:rPr>
              <a:t>当前的整体截断误差</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上一步的整体截断误差</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上一步整体截断误差引起的导函数 </a:t>
            </a:r>
            <a:r>
              <a:rPr lang="en-US" altLang="zh-CN" sz="2800" i="1" dirty="0">
                <a:latin typeface="Times New Roman" panose="02020603050405020304" pitchFamily="18" charset="0"/>
              </a:rPr>
              <a:t>f </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dirty="0">
                <a:latin typeface="Times New Roman" panose="02020603050405020304" pitchFamily="18" charset="0"/>
              </a:rPr>
              <a:t>) </a:t>
            </a:r>
            <a:r>
              <a:rPr lang="zh-CN" altLang="en-US" sz="2800" b="1" dirty="0">
                <a:latin typeface="Times New Roman" panose="02020603050405020304" pitchFamily="18" charset="0"/>
              </a:rPr>
              <a:t>的误差</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当前的局部截断误差。</a:t>
            </a:r>
            <a:endParaRPr lang="zh-CN" altLang="en-US" sz="36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9203"/>
                                        </p:tgtEl>
                                        <p:attrNameLst>
                                          <p:attrName>style.visibility</p:attrName>
                                        </p:attrNameLst>
                                      </p:cBhvr>
                                      <p:to>
                                        <p:strVal val="visible"/>
                                      </p:to>
                                    </p:set>
                                    <p:animEffect transition="in" filter="dissolve">
                                      <p:cBhvr>
                                        <p:cTn id="7" dur="500"/>
                                        <p:tgtEl>
                                          <p:spTgt spid="1792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9204"/>
                                        </p:tgtEl>
                                        <p:attrNameLst>
                                          <p:attrName>style.visibility</p:attrName>
                                        </p:attrNameLst>
                                      </p:cBhvr>
                                      <p:to>
                                        <p:strVal val="visible"/>
                                      </p:to>
                                    </p:set>
                                    <p:animEffect transition="in" filter="wipe(left)">
                                      <p:cBhvr>
                                        <p:cTn id="12" dur="500"/>
                                        <p:tgtEl>
                                          <p:spTgt spid="17920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79206"/>
                                        </p:tgtEl>
                                        <p:attrNameLst>
                                          <p:attrName>style.visibility</p:attrName>
                                        </p:attrNameLst>
                                      </p:cBhvr>
                                      <p:to>
                                        <p:strVal val="visible"/>
                                      </p:to>
                                    </p:set>
                                    <p:animEffect transition="in" filter="blinds(vertical)">
                                      <p:cBhvr>
                                        <p:cTn id="17" dur="500"/>
                                        <p:tgtEl>
                                          <p:spTgt spid="17920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9207"/>
                                        </p:tgtEl>
                                        <p:attrNameLst>
                                          <p:attrName>style.visibility</p:attrName>
                                        </p:attrNameLst>
                                      </p:cBhvr>
                                      <p:to>
                                        <p:strVal val="visible"/>
                                      </p:to>
                                    </p:set>
                                    <p:animEffect transition="in" filter="wipe(left)">
                                      <p:cBhvr>
                                        <p:cTn id="22" dur="500"/>
                                        <p:tgtEl>
                                          <p:spTgt spid="17920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179208"/>
                                        </p:tgtEl>
                                        <p:attrNameLst>
                                          <p:attrName>style.visibility</p:attrName>
                                        </p:attrNameLst>
                                      </p:cBhvr>
                                      <p:to>
                                        <p:strVal val="visible"/>
                                      </p:to>
                                    </p:set>
                                    <p:animEffect transition="in" filter="blinds(vertical)">
                                      <p:cBhvr>
                                        <p:cTn id="27" dur="500"/>
                                        <p:tgtEl>
                                          <p:spTgt spid="17920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79209"/>
                                        </p:tgtEl>
                                        <p:attrNameLst>
                                          <p:attrName>style.visibility</p:attrName>
                                        </p:attrNameLst>
                                      </p:cBhvr>
                                      <p:to>
                                        <p:strVal val="visible"/>
                                      </p:to>
                                    </p:set>
                                    <p:animEffect transition="in" filter="wipe(up)">
                                      <p:cBhvr>
                                        <p:cTn id="32" dur="2000"/>
                                        <p:tgtEl>
                                          <p:spTgt spid="179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4" grpId="0"/>
      <p:bldP spid="179207" grpId="0"/>
      <p:bldP spid="17920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487"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pSp>
        <p:nvGrpSpPr>
          <p:cNvPr id="2" name="Group 22"/>
          <p:cNvGrpSpPr/>
          <p:nvPr/>
        </p:nvGrpSpPr>
        <p:grpSpPr>
          <a:xfrm>
            <a:off x="230188" y="519113"/>
            <a:ext cx="8331200" cy="1814513"/>
            <a:chOff x="65" y="167"/>
            <a:chExt cx="5248" cy="1143"/>
          </a:xfrm>
        </p:grpSpPr>
        <p:sp>
          <p:nvSpPr>
            <p:cNvPr id="20492" name="Rectangle 7"/>
            <p:cNvSpPr/>
            <p:nvPr/>
          </p:nvSpPr>
          <p:spPr>
            <a:xfrm>
              <a:off x="65" y="167"/>
              <a:ext cx="5248" cy="1143"/>
            </a:xfrm>
            <a:prstGeom prst="rect">
              <a:avLst/>
            </a:prstGeom>
            <a:noFill/>
            <a:ln w="9525">
              <a:noFill/>
            </a:ln>
          </p:spPr>
          <p:txBody>
            <a:bodyPr wrap="none">
              <a:spAutoFit/>
            </a:bodyPr>
            <a:p>
              <a:r>
                <a:rPr lang="zh-CN" altLang="zh-CN" b="1" dirty="0">
                  <a:solidFill>
                    <a:srgbClr val="FF0000"/>
                  </a:solidFill>
                  <a:latin typeface="Times New Roman" panose="02020603050405020304" pitchFamily="18" charset="0"/>
                </a:rPr>
                <a:t>定义</a:t>
              </a:r>
              <a:r>
                <a:rPr lang="en-US" altLang="zh-CN" b="1" dirty="0">
                  <a:solidFill>
                    <a:srgbClr val="FF0000"/>
                  </a:solidFill>
                  <a:latin typeface="Times New Roman" panose="02020603050405020304" pitchFamily="18" charset="0"/>
                </a:rPr>
                <a:t>9.</a:t>
              </a:r>
              <a:r>
                <a:rPr lang="zh-CN" altLang="en-US" b="1" dirty="0">
                  <a:solidFill>
                    <a:srgbClr val="FF0000"/>
                  </a:solidFill>
                  <a:latin typeface="Times New Roman" panose="02020603050405020304" pitchFamily="18" charset="0"/>
                </a:rPr>
                <a:t>1.2  </a:t>
              </a:r>
              <a:r>
                <a:rPr lang="zh-CN" altLang="en-US" b="1" dirty="0">
                  <a:latin typeface="Comic Sans MS" panose="030F0702030302020204" pitchFamily="66" charset="0"/>
                </a:rPr>
                <a:t>若某数值方法的局部截</a:t>
              </a:r>
              <a:r>
                <a:rPr lang="zh-CN" altLang="en-US" b="1" dirty="0">
                  <a:latin typeface="Times New Roman" panose="02020603050405020304" pitchFamily="18" charset="0"/>
                </a:rPr>
                <a:t>断</a:t>
              </a:r>
              <a:r>
                <a:rPr lang="zh-CN" altLang="en-US" b="1" dirty="0">
                  <a:latin typeface="Comic Sans MS" panose="030F0702030302020204" pitchFamily="66" charset="0"/>
                </a:rPr>
                <a:t>误差为</a:t>
              </a:r>
              <a:endParaRPr lang="zh-CN" altLang="en-US" b="1" dirty="0">
                <a:latin typeface="Comic Sans MS" panose="030F0702030302020204" pitchFamily="66" charset="0"/>
              </a:endParaRPr>
            </a:p>
            <a:p>
              <a:r>
                <a:rPr lang="zh-CN" altLang="en-US" dirty="0">
                  <a:latin typeface="Comic Sans MS" panose="030F0702030302020204" pitchFamily="66" charset="0"/>
                </a:rPr>
                <a:t>         </a:t>
              </a:r>
              <a:r>
                <a:rPr lang="zh-CN" altLang="en-US" dirty="0">
                  <a:latin typeface="Times New Roman" panose="02020603050405020304" pitchFamily="18" charset="0"/>
                </a:rPr>
                <a:t>    </a:t>
              </a:r>
              <a:r>
                <a:rPr lang="zh-CN" altLang="zh-CN" baseline="-25000" dirty="0">
                  <a:latin typeface="Times New Roman" panose="02020603050405020304" pitchFamily="18" charset="0"/>
                </a:rPr>
                <a:t>    </a:t>
              </a:r>
              <a:endParaRPr lang="zh-CN" altLang="zh-CN" baseline="-25000" dirty="0">
                <a:latin typeface="Times New Roman" panose="02020603050405020304" pitchFamily="18" charset="0"/>
              </a:endParaRPr>
            </a:p>
            <a:p>
              <a:pPr>
                <a:lnSpc>
                  <a:spcPct val="150000"/>
                </a:lnSpc>
              </a:pPr>
              <a:r>
                <a:rPr lang="zh-CN" altLang="en-US" b="1" dirty="0">
                  <a:latin typeface="Times New Roman" panose="02020603050405020304" pitchFamily="18" charset="0"/>
                </a:rPr>
                <a:t>则称该方法具有 </a:t>
              </a:r>
              <a:r>
                <a:rPr lang="en-US" altLang="zh-CN" b="1" i="1" dirty="0">
                  <a:latin typeface="Times New Roman" panose="02020603050405020304" pitchFamily="18" charset="0"/>
                </a:rPr>
                <a:t>P</a:t>
              </a:r>
              <a:r>
                <a:rPr lang="en-US" altLang="zh-CN" b="1" dirty="0">
                  <a:latin typeface="Times New Roman" panose="02020603050405020304" pitchFamily="18" charset="0"/>
                </a:rPr>
                <a:t> </a:t>
              </a:r>
              <a:r>
                <a:rPr lang="zh-CN" altLang="zh-CN" b="1" dirty="0">
                  <a:latin typeface="Times New Roman" panose="02020603050405020304" pitchFamily="18" charset="0"/>
                </a:rPr>
                <a:t>阶精度</a:t>
              </a:r>
              <a:r>
                <a:rPr lang="zh-CN" altLang="en-US" b="1" dirty="0">
                  <a:latin typeface="Times New Roman" panose="02020603050405020304" pitchFamily="18" charset="0"/>
                </a:rPr>
                <a:t>, 或称其为 </a:t>
              </a:r>
              <a:r>
                <a:rPr lang="en-US" altLang="zh-CN" b="1" i="1" dirty="0">
                  <a:latin typeface="Times New Roman" panose="02020603050405020304" pitchFamily="18" charset="0"/>
                </a:rPr>
                <a:t>P</a:t>
              </a:r>
              <a:r>
                <a:rPr lang="en-US" altLang="zh-CN" b="1" dirty="0">
                  <a:latin typeface="Times New Roman" panose="02020603050405020304" pitchFamily="18" charset="0"/>
                </a:rPr>
                <a:t> </a:t>
              </a:r>
              <a:r>
                <a:rPr lang="zh-CN" altLang="zh-CN" b="1" dirty="0">
                  <a:latin typeface="Times New Roman" panose="02020603050405020304" pitchFamily="18" charset="0"/>
                </a:rPr>
                <a:t>阶方法</a:t>
              </a: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graphicFrame>
          <p:nvGraphicFramePr>
            <p:cNvPr id="20485" name="Object 8"/>
            <p:cNvGraphicFramePr/>
            <p:nvPr/>
          </p:nvGraphicFramePr>
          <p:xfrm>
            <a:off x="1626" y="522"/>
            <a:ext cx="1530" cy="380"/>
          </p:xfrm>
          <a:graphic>
            <a:graphicData uri="http://schemas.openxmlformats.org/presentationml/2006/ole">
              <mc:AlternateContent xmlns:mc="http://schemas.openxmlformats.org/markup-compatibility/2006">
                <mc:Choice xmlns:v="urn:schemas-microsoft-com:vml" Requires="v">
                  <p:oleObj spid="_x0000_s3121" name="" r:id="rId1" imgW="964565" imgH="241300" progId="Equation.DSMT4">
                    <p:embed/>
                  </p:oleObj>
                </mc:Choice>
                <mc:Fallback>
                  <p:oleObj name="" r:id="rId1" imgW="964565" imgH="241300" progId="Equation.DSMT4">
                    <p:embed/>
                    <p:pic>
                      <p:nvPicPr>
                        <p:cNvPr id="0" name="图片 3120"/>
                        <p:cNvPicPr/>
                        <p:nvPr/>
                      </p:nvPicPr>
                      <p:blipFill>
                        <a:blip r:embed="rId2"/>
                        <a:stretch>
                          <a:fillRect/>
                        </a:stretch>
                      </p:blipFill>
                      <p:spPr>
                        <a:xfrm>
                          <a:off x="1626" y="522"/>
                          <a:ext cx="1530" cy="380"/>
                        </a:xfrm>
                        <a:prstGeom prst="rect">
                          <a:avLst/>
                        </a:prstGeom>
                        <a:noFill/>
                        <a:ln w="38100">
                          <a:noFill/>
                          <a:miter/>
                        </a:ln>
                      </p:spPr>
                    </p:pic>
                  </p:oleObj>
                </mc:Fallback>
              </mc:AlternateContent>
            </a:graphicData>
          </a:graphic>
        </p:graphicFrame>
      </p:grpSp>
      <p:sp>
        <p:nvSpPr>
          <p:cNvPr id="90122" name="Rectangle 10"/>
          <p:cNvSpPr/>
          <p:nvPr/>
        </p:nvSpPr>
        <p:spPr>
          <a:xfrm>
            <a:off x="174625" y="2479675"/>
            <a:ext cx="1957388" cy="579438"/>
          </a:xfrm>
          <a:prstGeom prst="rect">
            <a:avLst/>
          </a:prstGeom>
          <a:noFill/>
          <a:ln w="9525">
            <a:noFill/>
          </a:ln>
        </p:spPr>
        <p:txBody>
          <a:bodyPr wrap="none">
            <a:spAutoFit/>
          </a:bodyPr>
          <a:p>
            <a:r>
              <a:rPr lang="zh-CN" altLang="en-US" b="1" dirty="0">
                <a:latin typeface="Times New Roman" panose="02020603050405020304" pitchFamily="18" charset="0"/>
              </a:rPr>
              <a:t>可以证明:</a:t>
            </a:r>
            <a:endParaRPr lang="zh-CN" altLang="en-US" b="1" dirty="0">
              <a:latin typeface="Times New Roman" panose="02020603050405020304" pitchFamily="18" charset="0"/>
            </a:endParaRPr>
          </a:p>
        </p:txBody>
      </p:sp>
      <p:grpSp>
        <p:nvGrpSpPr>
          <p:cNvPr id="3" name="Group 23"/>
          <p:cNvGrpSpPr/>
          <p:nvPr/>
        </p:nvGrpSpPr>
        <p:grpSpPr>
          <a:xfrm>
            <a:off x="315913" y="3086100"/>
            <a:ext cx="8828087" cy="2720975"/>
            <a:chOff x="199" y="1854"/>
            <a:chExt cx="5346" cy="1714"/>
          </a:xfrm>
        </p:grpSpPr>
        <p:sp>
          <p:nvSpPr>
            <p:cNvPr id="20491" name="Rectangle 11"/>
            <p:cNvSpPr/>
            <p:nvPr/>
          </p:nvSpPr>
          <p:spPr>
            <a:xfrm>
              <a:off x="199" y="1854"/>
              <a:ext cx="5341" cy="1714"/>
            </a:xfrm>
            <a:prstGeom prst="rect">
              <a:avLst/>
            </a:prstGeom>
            <a:noFill/>
            <a:ln w="9525">
              <a:noFill/>
            </a:ln>
          </p:spPr>
          <p:txBody>
            <a:bodyPr>
              <a:spAutoFit/>
            </a:bodyPr>
            <a:p>
              <a:pPr>
                <a:lnSpc>
                  <a:spcPct val="135000"/>
                </a:lnSpc>
                <a:buClr>
                  <a:schemeClr val="accent2"/>
                </a:buClr>
                <a:buSzPct val="60000"/>
                <a:buFont typeface="ZapfDingbats" pitchFamily="82" charset="2"/>
              </a:pPr>
              <a:r>
                <a:rPr lang="en-US" altLang="en-US" b="1" dirty="0">
                  <a:latin typeface="Times New Roman" panose="02020603050405020304" pitchFamily="18" charset="0"/>
                </a:rPr>
                <a:t>Euler </a:t>
              </a:r>
              <a:r>
                <a:rPr lang="zh-CN" altLang="en-US" b="1" dirty="0">
                  <a:latin typeface="Times New Roman" panose="02020603050405020304" pitchFamily="18" charset="0"/>
                </a:rPr>
                <a:t>方法的局部截断误差                        其具有</a:t>
              </a:r>
              <a:r>
                <a:rPr lang="zh-CN" altLang="en-US" b="1" dirty="0">
                  <a:solidFill>
                    <a:schemeClr val="accent2"/>
                  </a:solidFill>
                  <a:latin typeface="Times New Roman" panose="02020603050405020304" pitchFamily="18" charset="0"/>
                </a:rPr>
                <a:t>一阶</a:t>
              </a:r>
              <a:r>
                <a:rPr lang="zh-CN" altLang="en-US" b="1" dirty="0">
                  <a:latin typeface="Times New Roman" panose="02020603050405020304" pitchFamily="18" charset="0"/>
                </a:rPr>
                <a:t>精度.  梯形方法的局部截断误差                      其具有</a:t>
              </a:r>
              <a:r>
                <a:rPr lang="zh-CN" altLang="en-US" b="1" dirty="0">
                  <a:solidFill>
                    <a:schemeClr val="accent2"/>
                  </a:solidFill>
                  <a:latin typeface="Times New Roman" panose="02020603050405020304" pitchFamily="18" charset="0"/>
                </a:rPr>
                <a:t>二阶</a:t>
              </a:r>
              <a:r>
                <a:rPr lang="zh-CN" altLang="en-US" b="1" dirty="0">
                  <a:latin typeface="Times New Roman" panose="02020603050405020304" pitchFamily="18" charset="0"/>
                </a:rPr>
                <a:t>精度</a:t>
              </a:r>
              <a:r>
                <a:rPr lang="en-US" altLang="zh-CN" b="1" dirty="0">
                  <a:latin typeface="Times New Roman" panose="02020603050405020304" pitchFamily="18" charset="0"/>
                </a:rPr>
                <a:t>.  </a:t>
              </a:r>
              <a:r>
                <a:rPr lang="zh-CN" altLang="en-US" b="1" dirty="0">
                  <a:latin typeface="Times New Roman" panose="02020603050405020304" pitchFamily="18" charset="0"/>
                </a:rPr>
                <a:t>改进的 </a:t>
              </a:r>
              <a:r>
                <a:rPr lang="en-US" altLang="zh-CN" b="1" dirty="0">
                  <a:latin typeface="Times New Roman" panose="02020603050405020304" pitchFamily="18" charset="0"/>
                </a:rPr>
                <a:t>Euler </a:t>
              </a:r>
              <a:r>
                <a:rPr lang="zh-CN" altLang="zh-CN" b="1" dirty="0">
                  <a:latin typeface="Times New Roman" panose="02020603050405020304" pitchFamily="18" charset="0"/>
                </a:rPr>
                <a:t>方法</a:t>
              </a:r>
              <a:r>
                <a:rPr lang="zh-CN" altLang="en-US" b="1" dirty="0">
                  <a:latin typeface="Times New Roman" panose="02020603050405020304" pitchFamily="18" charset="0"/>
                </a:rPr>
                <a:t>的局部截断误差                        </a:t>
              </a:r>
              <a:r>
                <a:rPr lang="zh-CN" altLang="zh-CN" b="1" dirty="0">
                  <a:latin typeface="Times New Roman" panose="02020603050405020304" pitchFamily="18" charset="0"/>
                </a:rPr>
                <a:t>具有</a:t>
              </a:r>
              <a:r>
                <a:rPr lang="zh-CN" altLang="zh-CN" b="1" dirty="0">
                  <a:solidFill>
                    <a:schemeClr val="accent2"/>
                  </a:solidFill>
                  <a:latin typeface="Times New Roman" panose="02020603050405020304" pitchFamily="18" charset="0"/>
                </a:rPr>
                <a:t>二阶</a:t>
              </a:r>
              <a:r>
                <a:rPr lang="zh-CN" altLang="zh-CN" b="1" dirty="0">
                  <a:latin typeface="Times New Roman" panose="02020603050405020304" pitchFamily="18" charset="0"/>
                </a:rPr>
                <a:t>精度.</a:t>
              </a:r>
              <a:endParaRPr lang="zh-CN" altLang="en-US" b="1" dirty="0">
                <a:latin typeface="Times New Roman" panose="02020603050405020304" pitchFamily="18" charset="0"/>
              </a:endParaRPr>
            </a:p>
          </p:txBody>
        </p:sp>
        <p:graphicFrame>
          <p:nvGraphicFramePr>
            <p:cNvPr id="20482" name="Object 13"/>
            <p:cNvGraphicFramePr/>
            <p:nvPr/>
          </p:nvGraphicFramePr>
          <p:xfrm>
            <a:off x="3276" y="1942"/>
            <a:ext cx="1305" cy="365"/>
          </p:xfrm>
          <a:graphic>
            <a:graphicData uri="http://schemas.openxmlformats.org/presentationml/2006/ole">
              <mc:AlternateContent xmlns:mc="http://schemas.openxmlformats.org/markup-compatibility/2006">
                <mc:Choice xmlns:v="urn:schemas-microsoft-com:vml" Requires="v">
                  <p:oleObj spid="_x0000_s3120" name="" r:id="rId3" imgW="862965" imgH="241300" progId="Equation.DSMT4">
                    <p:embed/>
                  </p:oleObj>
                </mc:Choice>
                <mc:Fallback>
                  <p:oleObj name="" r:id="rId3" imgW="862965" imgH="241300" progId="Equation.DSMT4">
                    <p:embed/>
                    <p:pic>
                      <p:nvPicPr>
                        <p:cNvPr id="0" name="图片 3119"/>
                        <p:cNvPicPr/>
                        <p:nvPr/>
                      </p:nvPicPr>
                      <p:blipFill>
                        <a:blip r:embed="rId4"/>
                        <a:stretch>
                          <a:fillRect/>
                        </a:stretch>
                      </p:blipFill>
                      <p:spPr>
                        <a:xfrm>
                          <a:off x="3276" y="1942"/>
                          <a:ext cx="1305" cy="365"/>
                        </a:xfrm>
                        <a:prstGeom prst="rect">
                          <a:avLst/>
                        </a:prstGeom>
                        <a:noFill/>
                        <a:ln w="38100">
                          <a:noFill/>
                          <a:miter/>
                        </a:ln>
                      </p:spPr>
                    </p:pic>
                  </p:oleObj>
                </mc:Fallback>
              </mc:AlternateContent>
            </a:graphicData>
          </a:graphic>
        </p:graphicFrame>
        <p:graphicFrame>
          <p:nvGraphicFramePr>
            <p:cNvPr id="20483" name="Object 14"/>
            <p:cNvGraphicFramePr/>
            <p:nvPr/>
          </p:nvGraphicFramePr>
          <p:xfrm>
            <a:off x="4259" y="2360"/>
            <a:ext cx="1286" cy="365"/>
          </p:xfrm>
          <a:graphic>
            <a:graphicData uri="http://schemas.openxmlformats.org/presentationml/2006/ole">
              <mc:AlternateContent xmlns:mc="http://schemas.openxmlformats.org/markup-compatibility/2006">
                <mc:Choice xmlns:v="urn:schemas-microsoft-com:vml" Requires="v">
                  <p:oleObj spid="_x0000_s3122" name="" r:id="rId5" imgW="850265" imgH="241300" progId="Equation.DSMT4">
                    <p:embed/>
                  </p:oleObj>
                </mc:Choice>
                <mc:Fallback>
                  <p:oleObj name="" r:id="rId5" imgW="850265" imgH="241300" progId="Equation.DSMT4">
                    <p:embed/>
                    <p:pic>
                      <p:nvPicPr>
                        <p:cNvPr id="0" name="图片 3121"/>
                        <p:cNvPicPr/>
                        <p:nvPr/>
                      </p:nvPicPr>
                      <p:blipFill>
                        <a:blip r:embed="rId6"/>
                        <a:stretch>
                          <a:fillRect/>
                        </a:stretch>
                      </p:blipFill>
                      <p:spPr>
                        <a:xfrm>
                          <a:off x="4259" y="2360"/>
                          <a:ext cx="1286" cy="365"/>
                        </a:xfrm>
                        <a:prstGeom prst="rect">
                          <a:avLst/>
                        </a:prstGeom>
                        <a:noFill/>
                        <a:ln w="38100">
                          <a:noFill/>
                          <a:miter/>
                        </a:ln>
                      </p:spPr>
                    </p:pic>
                  </p:oleObj>
                </mc:Fallback>
              </mc:AlternateContent>
            </a:graphicData>
          </a:graphic>
        </p:graphicFrame>
        <p:graphicFrame>
          <p:nvGraphicFramePr>
            <p:cNvPr id="20484" name="Object 15"/>
            <p:cNvGraphicFramePr/>
            <p:nvPr/>
          </p:nvGraphicFramePr>
          <p:xfrm>
            <a:off x="925" y="3190"/>
            <a:ext cx="1286" cy="365"/>
          </p:xfrm>
          <a:graphic>
            <a:graphicData uri="http://schemas.openxmlformats.org/presentationml/2006/ole">
              <mc:AlternateContent xmlns:mc="http://schemas.openxmlformats.org/markup-compatibility/2006">
                <mc:Choice xmlns:v="urn:schemas-microsoft-com:vml" Requires="v">
                  <p:oleObj spid="_x0000_s3123" name="" r:id="rId7" imgW="850265" imgH="241300" progId="Equation.DSMT4">
                    <p:embed/>
                  </p:oleObj>
                </mc:Choice>
                <mc:Fallback>
                  <p:oleObj name="" r:id="rId7" imgW="850265" imgH="241300" progId="Equation.DSMT4">
                    <p:embed/>
                    <p:pic>
                      <p:nvPicPr>
                        <p:cNvPr id="0" name="图片 3122"/>
                        <p:cNvPicPr/>
                        <p:nvPr/>
                      </p:nvPicPr>
                      <p:blipFill>
                        <a:blip r:embed="rId8"/>
                        <a:stretch>
                          <a:fillRect/>
                        </a:stretch>
                      </p:blipFill>
                      <p:spPr>
                        <a:xfrm>
                          <a:off x="925" y="3190"/>
                          <a:ext cx="1286" cy="365"/>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0122"/>
                                        </p:tgtEl>
                                        <p:attrNameLst>
                                          <p:attrName>style.visibility</p:attrName>
                                        </p:attrNameLst>
                                      </p:cBhvr>
                                      <p:to>
                                        <p:strVal val="visible"/>
                                      </p:to>
                                    </p:set>
                                    <p:anim calcmode="lin" valueType="num">
                                      <p:cBhvr additive="base">
                                        <p:cTn id="12" dur="500" fill="hold"/>
                                        <p:tgtEl>
                                          <p:spTgt spid="90122"/>
                                        </p:tgtEl>
                                        <p:attrNameLst>
                                          <p:attrName>ppt_x</p:attrName>
                                        </p:attrNameLst>
                                      </p:cBhvr>
                                      <p:tavLst>
                                        <p:tav tm="0">
                                          <p:val>
                                            <p:strVal val="0-#ppt_w/2"/>
                                          </p:val>
                                        </p:tav>
                                        <p:tav tm="100000">
                                          <p:val>
                                            <p:strVal val="#ppt_x"/>
                                          </p:val>
                                        </p:tav>
                                      </p:tavLst>
                                    </p:anim>
                                    <p:anim calcmode="lin" valueType="num">
                                      <p:cBhvr additive="base">
                                        <p:cTn id="13" dur="500" fill="hold"/>
                                        <p:tgtEl>
                                          <p:spTgt spid="9012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up)">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2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510"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21511" name="Rectangle 1026"/>
          <p:cNvSpPr>
            <a:spLocks noGrp="1"/>
          </p:cNvSpPr>
          <p:nvPr>
            <p:ph type="title"/>
          </p:nvPr>
        </p:nvSpPr>
        <p:spPr>
          <a:ln/>
        </p:spPr>
        <p:txBody>
          <a:bodyPr vert="horz" wrap="square" lIns="91440" tIns="45720" rIns="91440" bIns="45720" anchor="ctr" anchorCtr="0"/>
          <a:p>
            <a:r>
              <a:rPr lang="en-US" altLang="zh-CN" sz="3600" b="1" u="none" dirty="0">
                <a:solidFill>
                  <a:srgbClr val="0033CC"/>
                </a:solidFill>
                <a:latin typeface="Times New Roman" panose="02020603050405020304" pitchFamily="18" charset="0"/>
              </a:rPr>
              <a:t>9.</a:t>
            </a:r>
            <a:r>
              <a:rPr lang="zh-CN" altLang="zh-CN" sz="3600" b="1" u="none" dirty="0">
                <a:solidFill>
                  <a:srgbClr val="0033CC"/>
                </a:solidFill>
                <a:latin typeface="Times New Roman" panose="02020603050405020304" pitchFamily="18" charset="0"/>
              </a:rPr>
              <a:t>2 Runge-Kutta</a:t>
            </a:r>
            <a:r>
              <a:rPr lang="zh-CN" altLang="zh-CN" sz="3600" b="1" u="none" dirty="0">
                <a:solidFill>
                  <a:srgbClr val="0033CC"/>
                </a:solidFill>
              </a:rPr>
              <a:t> 方法</a:t>
            </a:r>
            <a:endParaRPr lang="zh-CN" altLang="en-US" sz="2800" b="1" u="none" dirty="0"/>
          </a:p>
        </p:txBody>
      </p:sp>
      <p:sp>
        <p:nvSpPr>
          <p:cNvPr id="147459" name="Text Box 1027"/>
          <p:cNvSpPr txBox="1"/>
          <p:nvPr/>
        </p:nvSpPr>
        <p:spPr>
          <a:xfrm>
            <a:off x="1058863" y="1217613"/>
            <a:ext cx="6049962" cy="579437"/>
          </a:xfrm>
          <a:prstGeom prst="rect">
            <a:avLst/>
          </a:prstGeom>
          <a:noFill/>
          <a:ln w="9525">
            <a:noFill/>
          </a:ln>
        </p:spPr>
        <p:txBody>
          <a:bodyPr wrap="none">
            <a:spAutoFit/>
          </a:bodyPr>
          <a:p>
            <a:pPr algn="ctr" eaLnBrk="0" hangingPunct="0"/>
            <a:r>
              <a:rPr lang="zh-CN" altLang="en-US" b="1" dirty="0">
                <a:latin typeface="Times New Roman" panose="02020603050405020304" pitchFamily="18" charset="0"/>
              </a:rPr>
              <a:t>继续讨论前面的 </a:t>
            </a:r>
            <a:r>
              <a:rPr lang="en-US" altLang="zh-CN" b="1" dirty="0">
                <a:latin typeface="Times New Roman" panose="02020603050405020304" pitchFamily="18" charset="0"/>
              </a:rPr>
              <a:t>Taylor </a:t>
            </a:r>
            <a:r>
              <a:rPr lang="zh-CN" altLang="zh-CN" b="1" dirty="0">
                <a:latin typeface="Times New Roman" panose="02020603050405020304" pitchFamily="18" charset="0"/>
              </a:rPr>
              <a:t>展开</a:t>
            </a:r>
            <a:r>
              <a:rPr lang="zh-CN" altLang="en-US" b="1" dirty="0">
                <a:latin typeface="Times New Roman" panose="02020603050405020304" pitchFamily="18" charset="0"/>
              </a:rPr>
              <a:t>法。</a:t>
            </a:r>
            <a:endParaRPr lang="zh-CN" altLang="en-US" b="1" dirty="0">
              <a:latin typeface="Times New Roman" panose="02020603050405020304" pitchFamily="18" charset="0"/>
            </a:endParaRPr>
          </a:p>
        </p:txBody>
      </p:sp>
      <p:sp>
        <p:nvSpPr>
          <p:cNvPr id="147460" name="Text Box 1028"/>
          <p:cNvSpPr txBox="1"/>
          <p:nvPr/>
        </p:nvSpPr>
        <p:spPr>
          <a:xfrm>
            <a:off x="1020763" y="1908175"/>
            <a:ext cx="5903912" cy="579438"/>
          </a:xfrm>
          <a:prstGeom prst="rect">
            <a:avLst/>
          </a:prstGeom>
          <a:noFill/>
          <a:ln w="9525">
            <a:noFill/>
          </a:ln>
        </p:spPr>
        <p:txBody>
          <a:bodyPr wrap="none">
            <a:spAutoFit/>
          </a:bodyPr>
          <a:p>
            <a:pPr algn="ctr" eaLnBrk="0" hangingPunct="0"/>
            <a:r>
              <a:rPr lang="zh-CN" altLang="en-US" b="1" dirty="0">
                <a:latin typeface="Times New Roman" panose="02020603050405020304" pitchFamily="18" charset="0"/>
              </a:rPr>
              <a:t>设 </a:t>
            </a:r>
            <a:r>
              <a:rPr lang="en-US" altLang="zh-CN" b="1" i="1" dirty="0">
                <a:latin typeface="Times New Roman" panose="02020603050405020304" pitchFamily="18" charset="0"/>
              </a:rPr>
              <a:t>y</a:t>
            </a:r>
            <a:r>
              <a:rPr lang="zh-CN" altLang="en-US" b="1" dirty="0">
                <a:latin typeface="宋体" panose="02010600030101010101" pitchFamily="2" charset="-122"/>
              </a:rPr>
              <a:t>∈</a:t>
            </a:r>
            <a:r>
              <a:rPr lang="en-US" altLang="en-US" b="1" dirty="0">
                <a:latin typeface="Times New Roman" panose="02020603050405020304" pitchFamily="18" charset="0"/>
              </a:rPr>
              <a:t>C</a:t>
            </a:r>
            <a:r>
              <a:rPr lang="en-US" altLang="en-US" b="1" baseline="30000" dirty="0">
                <a:latin typeface="Times New Roman" panose="02020603050405020304" pitchFamily="18" charset="0"/>
              </a:rPr>
              <a:t>2</a:t>
            </a:r>
            <a:r>
              <a:rPr lang="en-US" altLang="en-US" b="1" dirty="0">
                <a:latin typeface="Times New Roman" panose="02020603050405020304" pitchFamily="18" charset="0"/>
              </a:rPr>
              <a:t>[</a:t>
            </a:r>
            <a:r>
              <a:rPr lang="en-US" altLang="en-US" b="1" i="1" dirty="0">
                <a:latin typeface="Times New Roman" panose="02020603050405020304" pitchFamily="18" charset="0"/>
              </a:rPr>
              <a:t>a </a:t>
            </a:r>
            <a:r>
              <a:rPr lang="en-US" altLang="en-US" b="1" dirty="0">
                <a:latin typeface="Times New Roman" panose="02020603050405020304" pitchFamily="18" charset="0"/>
              </a:rPr>
              <a:t>, </a:t>
            </a:r>
            <a:r>
              <a:rPr lang="en-US" altLang="en-US" b="1" i="1" dirty="0">
                <a:latin typeface="Times New Roman" panose="02020603050405020304" pitchFamily="18" charset="0"/>
              </a:rPr>
              <a:t>b</a:t>
            </a:r>
            <a:r>
              <a:rPr lang="en-US" altLang="en-US" b="1" dirty="0">
                <a:latin typeface="Times New Roman" panose="02020603050405020304" pitchFamily="18" charset="0"/>
              </a:rPr>
              <a:t>], </a:t>
            </a:r>
            <a:r>
              <a:rPr lang="zh-CN" altLang="en-US" b="1" dirty="0">
                <a:latin typeface="Times New Roman" panose="02020603050405020304" pitchFamily="18" charset="0"/>
              </a:rPr>
              <a:t>由 </a:t>
            </a:r>
            <a:r>
              <a:rPr lang="en-US" altLang="en-US" b="1" dirty="0">
                <a:latin typeface="Times New Roman" panose="02020603050405020304" pitchFamily="18" charset="0"/>
              </a:rPr>
              <a:t>Taylor </a:t>
            </a:r>
            <a:r>
              <a:rPr lang="zh-CN" altLang="en-US" b="1" dirty="0">
                <a:latin typeface="Times New Roman" panose="02020603050405020304" pitchFamily="18" charset="0"/>
              </a:rPr>
              <a:t>公式有</a:t>
            </a:r>
            <a:endParaRPr lang="zh-CN" altLang="en-US" b="1" dirty="0">
              <a:latin typeface="Times New Roman" panose="02020603050405020304" pitchFamily="18" charset="0"/>
            </a:endParaRPr>
          </a:p>
        </p:txBody>
      </p:sp>
      <p:grpSp>
        <p:nvGrpSpPr>
          <p:cNvPr id="2" name="Group 1032"/>
          <p:cNvGrpSpPr/>
          <p:nvPr/>
        </p:nvGrpSpPr>
        <p:grpSpPr>
          <a:xfrm>
            <a:off x="168275" y="3565525"/>
            <a:ext cx="5994400" cy="579438"/>
            <a:chOff x="354" y="1879"/>
            <a:chExt cx="3776" cy="365"/>
          </a:xfrm>
        </p:grpSpPr>
        <p:sp>
          <p:nvSpPr>
            <p:cNvPr id="21516" name="Rectangle 1033"/>
            <p:cNvSpPr/>
            <p:nvPr/>
          </p:nvSpPr>
          <p:spPr>
            <a:xfrm>
              <a:off x="354" y="1879"/>
              <a:ext cx="3776" cy="365"/>
            </a:xfrm>
            <a:prstGeom prst="rect">
              <a:avLst/>
            </a:prstGeom>
            <a:noFill/>
            <a:ln w="9525">
              <a:noFill/>
            </a:ln>
          </p:spPr>
          <p:txBody>
            <a:bodyPr wrap="none">
              <a:spAutoFit/>
            </a:bodyPr>
            <a:p>
              <a:r>
                <a:rPr lang="zh-CN" altLang="en-US" dirty="0">
                  <a:latin typeface="Times New Roman" panose="02020603050405020304" pitchFamily="18" charset="0"/>
                </a:rPr>
                <a:t> </a:t>
              </a:r>
              <a:r>
                <a:rPr lang="zh-CN" altLang="en-US" b="1" dirty="0">
                  <a:latin typeface="Times New Roman" panose="02020603050405020304" pitchFamily="18" charset="0"/>
                </a:rPr>
                <a:t>由                               故上式即为</a:t>
              </a:r>
              <a:r>
                <a:rPr lang="zh-CN" altLang="en-US" dirty="0">
                  <a:latin typeface="Times New Roman" panose="02020603050405020304" pitchFamily="18" charset="0"/>
                </a:rPr>
                <a:t> </a:t>
              </a:r>
              <a:endParaRPr lang="zh-CN" altLang="zh-CN" dirty="0">
                <a:latin typeface="宋体" panose="02010600030101010101" pitchFamily="2" charset="-122"/>
              </a:endParaRPr>
            </a:p>
          </p:txBody>
        </p:sp>
        <p:graphicFrame>
          <p:nvGraphicFramePr>
            <p:cNvPr id="21508" name="Object 1034"/>
            <p:cNvGraphicFramePr/>
            <p:nvPr/>
          </p:nvGraphicFramePr>
          <p:xfrm>
            <a:off x="838" y="1920"/>
            <a:ext cx="1814" cy="307"/>
          </p:xfrm>
          <a:graphic>
            <a:graphicData uri="http://schemas.openxmlformats.org/presentationml/2006/ole">
              <mc:AlternateContent xmlns:mc="http://schemas.openxmlformats.org/markup-compatibility/2006">
                <mc:Choice xmlns:v="urn:schemas-microsoft-com:vml" Requires="v">
                  <p:oleObj spid="_x0000_s3128" name="" r:id="rId1" imgW="1192530" imgH="203200" progId="Equation.DSMT4">
                    <p:embed/>
                  </p:oleObj>
                </mc:Choice>
                <mc:Fallback>
                  <p:oleObj name="" r:id="rId1" imgW="1192530" imgH="203200" progId="Equation.DSMT4">
                    <p:embed/>
                    <p:pic>
                      <p:nvPicPr>
                        <p:cNvPr id="0" name="图片 3127"/>
                        <p:cNvPicPr/>
                        <p:nvPr/>
                      </p:nvPicPr>
                      <p:blipFill>
                        <a:blip r:embed="rId2"/>
                        <a:stretch>
                          <a:fillRect/>
                        </a:stretch>
                      </p:blipFill>
                      <p:spPr>
                        <a:xfrm>
                          <a:off x="838" y="1920"/>
                          <a:ext cx="1814" cy="307"/>
                        </a:xfrm>
                        <a:prstGeom prst="rect">
                          <a:avLst/>
                        </a:prstGeom>
                        <a:noFill/>
                        <a:ln w="38100">
                          <a:noFill/>
                          <a:miter/>
                        </a:ln>
                      </p:spPr>
                    </p:pic>
                  </p:oleObj>
                </mc:Fallback>
              </mc:AlternateContent>
            </a:graphicData>
          </a:graphic>
        </p:graphicFrame>
      </p:grpSp>
      <p:graphicFrame>
        <p:nvGraphicFramePr>
          <p:cNvPr id="147467" name="Object 1035"/>
          <p:cNvGraphicFramePr/>
          <p:nvPr/>
        </p:nvGraphicFramePr>
        <p:xfrm>
          <a:off x="1428750" y="3943350"/>
          <a:ext cx="6519863" cy="1047750"/>
        </p:xfrm>
        <a:graphic>
          <a:graphicData uri="http://schemas.openxmlformats.org/presentationml/2006/ole">
            <mc:AlternateContent xmlns:mc="http://schemas.openxmlformats.org/markup-compatibility/2006">
              <mc:Choice xmlns:v="urn:schemas-microsoft-com:vml" Requires="v">
                <p:oleObj spid="_x0000_s3126" name="" r:id="rId3" imgW="2603500" imgH="419100" progId="Equation.3">
                  <p:embed/>
                </p:oleObj>
              </mc:Choice>
              <mc:Fallback>
                <p:oleObj name="" r:id="rId3" imgW="2603500" imgH="419100" progId="Equation.3">
                  <p:embed/>
                  <p:pic>
                    <p:nvPicPr>
                      <p:cNvPr id="0" name="图片 3125"/>
                      <p:cNvPicPr/>
                      <p:nvPr/>
                    </p:nvPicPr>
                    <p:blipFill>
                      <a:blip r:embed="rId4"/>
                      <a:stretch>
                        <a:fillRect/>
                      </a:stretch>
                    </p:blipFill>
                    <p:spPr>
                      <a:xfrm>
                        <a:off x="1428750" y="3943350"/>
                        <a:ext cx="6519863" cy="1047750"/>
                      </a:xfrm>
                      <a:prstGeom prst="rect">
                        <a:avLst/>
                      </a:prstGeom>
                      <a:noFill/>
                      <a:ln w="38100">
                        <a:noFill/>
                        <a:miter/>
                      </a:ln>
                    </p:spPr>
                  </p:pic>
                </p:oleObj>
              </mc:Fallback>
            </mc:AlternateContent>
          </a:graphicData>
        </a:graphic>
      </p:graphicFrame>
      <p:sp>
        <p:nvSpPr>
          <p:cNvPr id="147468" name="Rectangle 1036"/>
          <p:cNvSpPr/>
          <p:nvPr/>
        </p:nvSpPr>
        <p:spPr>
          <a:xfrm>
            <a:off x="238125" y="4886325"/>
            <a:ext cx="8126413" cy="1260475"/>
          </a:xfrm>
          <a:prstGeom prst="rect">
            <a:avLst/>
          </a:prstGeom>
          <a:noFill/>
          <a:ln w="9525">
            <a:noFill/>
          </a:ln>
        </p:spPr>
        <p:txBody>
          <a:bodyPr>
            <a:spAutoFit/>
          </a:bodyPr>
          <a:p>
            <a:pPr>
              <a:lnSpc>
                <a:spcPct val="120000"/>
              </a:lnSpc>
            </a:pPr>
            <a:r>
              <a:rPr lang="zh-CN" altLang="en-US" b="1" dirty="0">
                <a:latin typeface="Times New Roman" panose="02020603050405020304" pitchFamily="18" charset="0"/>
              </a:rPr>
              <a:t>略去余项, 并以 </a:t>
            </a:r>
            <a:r>
              <a:rPr lang="en-US" altLang="en-US" b="1" i="1" dirty="0">
                <a:latin typeface="Times New Roman" panose="02020603050405020304" pitchFamily="18" charset="0"/>
              </a:rPr>
              <a:t>y</a:t>
            </a:r>
            <a:r>
              <a:rPr lang="en-US" altLang="en-US" b="1" baseline="-25000" dirty="0">
                <a:latin typeface="Times New Roman" panose="02020603050405020304" pitchFamily="18" charset="0"/>
              </a:rPr>
              <a:t>n </a:t>
            </a:r>
            <a:r>
              <a:rPr lang="en-US" altLang="en-US" b="1" dirty="0">
                <a:latin typeface="Times New Roman" panose="02020603050405020304" pitchFamily="18" charset="0"/>
              </a:rPr>
              <a:t>,</a:t>
            </a:r>
            <a:r>
              <a:rPr lang="zh-CN" altLang="en-US" b="1" dirty="0">
                <a:latin typeface="Times New Roman" panose="02020603050405020304" pitchFamily="18" charset="0"/>
              </a:rPr>
              <a:t> </a:t>
            </a:r>
            <a:r>
              <a:rPr lang="en-US" altLang="en-US" b="1" i="1" dirty="0">
                <a:latin typeface="Times New Roman" panose="02020603050405020304" pitchFamily="18" charset="0"/>
              </a:rPr>
              <a:t>y</a:t>
            </a:r>
            <a:r>
              <a:rPr lang="en-US" altLang="en-US" b="1" baseline="-25000" dirty="0">
                <a:latin typeface="Times New Roman" panose="02020603050405020304" pitchFamily="18" charset="0"/>
              </a:rPr>
              <a:t>n+1 </a:t>
            </a:r>
            <a:r>
              <a:rPr lang="zh-CN" altLang="en-US" b="1" dirty="0">
                <a:latin typeface="Times New Roman" panose="02020603050405020304" pitchFamily="18" charset="0"/>
              </a:rPr>
              <a:t>代替 </a:t>
            </a:r>
            <a:r>
              <a:rPr lang="en-US" altLang="zh-CN" b="1" i="1" dirty="0">
                <a:latin typeface="Times New Roman" panose="02020603050405020304" pitchFamily="18" charset="0"/>
              </a:rPr>
              <a:t>y </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baseline="-25000"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及 </a:t>
            </a:r>
            <a:r>
              <a:rPr lang="en-US" altLang="zh-CN" b="1" i="1" dirty="0">
                <a:latin typeface="Times New Roman" panose="02020603050405020304" pitchFamily="18" charset="0"/>
              </a:rPr>
              <a:t>y </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baseline="-25000" dirty="0">
                <a:latin typeface="Times New Roman" panose="02020603050405020304" pitchFamily="18" charset="0"/>
              </a:rPr>
              <a:t>n+1</a:t>
            </a:r>
            <a:r>
              <a:rPr lang="en-US" altLang="zh-CN" b="1" dirty="0">
                <a:latin typeface="Times New Roman" panose="02020603050405020304" pitchFamily="18" charset="0"/>
              </a:rPr>
              <a:t>),</a:t>
            </a:r>
            <a:r>
              <a:rPr lang="zh-CN" altLang="en-US" b="1" dirty="0">
                <a:latin typeface="Times New Roman" panose="02020603050405020304" pitchFamily="18" charset="0"/>
              </a:rPr>
              <a:t> 得到</a:t>
            </a:r>
            <a:r>
              <a:rPr lang="en-US" altLang="zh-CN" b="1" dirty="0">
                <a:latin typeface="Times New Roman" panose="02020603050405020304" pitchFamily="18" charset="0"/>
              </a:rPr>
              <a:t>Euler </a:t>
            </a:r>
            <a:r>
              <a:rPr lang="zh-CN" altLang="en-US" b="1" dirty="0">
                <a:latin typeface="Times New Roman" panose="02020603050405020304" pitchFamily="18" charset="0"/>
              </a:rPr>
              <a:t>公式.</a:t>
            </a:r>
            <a:endParaRPr lang="zh-CN" altLang="en-US" b="1" dirty="0">
              <a:latin typeface="Times New Roman" panose="02020603050405020304" pitchFamily="18" charset="0"/>
            </a:endParaRPr>
          </a:p>
        </p:txBody>
      </p:sp>
      <p:graphicFrame>
        <p:nvGraphicFramePr>
          <p:cNvPr id="147469" name="Object 1037"/>
          <p:cNvGraphicFramePr/>
          <p:nvPr/>
        </p:nvGraphicFramePr>
        <p:xfrm>
          <a:off x="392113" y="2433638"/>
          <a:ext cx="8394700" cy="1073150"/>
        </p:xfrm>
        <a:graphic>
          <a:graphicData uri="http://schemas.openxmlformats.org/presentationml/2006/ole">
            <mc:AlternateContent xmlns:mc="http://schemas.openxmlformats.org/markup-compatibility/2006">
              <mc:Choice xmlns:v="urn:schemas-microsoft-com:vml" Requires="v">
                <p:oleObj spid="_x0000_s3130" name="" r:id="rId5" imgW="3276600" imgH="419100" progId="Equation.3">
                  <p:embed/>
                </p:oleObj>
              </mc:Choice>
              <mc:Fallback>
                <p:oleObj name="" r:id="rId5" imgW="3276600" imgH="419100" progId="Equation.3">
                  <p:embed/>
                  <p:pic>
                    <p:nvPicPr>
                      <p:cNvPr id="0" name="图片 3129"/>
                      <p:cNvPicPr/>
                      <p:nvPr/>
                    </p:nvPicPr>
                    <p:blipFill>
                      <a:blip r:embed="rId6"/>
                      <a:stretch>
                        <a:fillRect/>
                      </a:stretch>
                    </p:blipFill>
                    <p:spPr>
                      <a:xfrm>
                        <a:off x="392113" y="2433638"/>
                        <a:ext cx="8394700" cy="10731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7459"/>
                                        </p:tgtEl>
                                        <p:attrNameLst>
                                          <p:attrName>style.visibility</p:attrName>
                                        </p:attrNameLst>
                                      </p:cBhvr>
                                      <p:to>
                                        <p:strVal val="visible"/>
                                      </p:to>
                                    </p:set>
                                    <p:animEffect transition="in" filter="dissolve">
                                      <p:cBhvr>
                                        <p:cTn id="7" dur="500"/>
                                        <p:tgtEl>
                                          <p:spTgt spid="14745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7460"/>
                                        </p:tgtEl>
                                        <p:attrNameLst>
                                          <p:attrName>style.visibility</p:attrName>
                                        </p:attrNameLst>
                                      </p:cBhvr>
                                      <p:to>
                                        <p:strVal val="visible"/>
                                      </p:to>
                                    </p:set>
                                    <p:animEffect transition="in" filter="dissolve">
                                      <p:cBhvr>
                                        <p:cTn id="12" dur="500"/>
                                        <p:tgtEl>
                                          <p:spTgt spid="1474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7469"/>
                                        </p:tgtEl>
                                        <p:attrNameLst>
                                          <p:attrName>style.visibility</p:attrName>
                                        </p:attrNameLst>
                                      </p:cBhvr>
                                      <p:to>
                                        <p:strVal val="visible"/>
                                      </p:to>
                                    </p:set>
                                    <p:animEffect transition="in" filter="wipe(left)">
                                      <p:cBhvr>
                                        <p:cTn id="17" dur="1000"/>
                                        <p:tgtEl>
                                          <p:spTgt spid="14746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47467"/>
                                        </p:tgtEl>
                                        <p:attrNameLst>
                                          <p:attrName>style.visibility</p:attrName>
                                        </p:attrNameLst>
                                      </p:cBhvr>
                                      <p:to>
                                        <p:strVal val="visible"/>
                                      </p:to>
                                    </p:set>
                                    <p:animEffect transition="in" filter="dissolve">
                                      <p:cBhvr>
                                        <p:cTn id="27" dur="500"/>
                                        <p:tgtEl>
                                          <p:spTgt spid="14746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47468"/>
                                        </p:tgtEl>
                                        <p:attrNameLst>
                                          <p:attrName>style.visibility</p:attrName>
                                        </p:attrNameLst>
                                      </p:cBhvr>
                                      <p:to>
                                        <p:strVal val="visible"/>
                                      </p:to>
                                    </p:set>
                                    <p:animEffect transition="in" filter="wipe(up)">
                                      <p:cBhvr>
                                        <p:cTn id="32" dur="500"/>
                                        <p:tgtEl>
                                          <p:spTgt spid="147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p:bldP spid="147460" grpId="0"/>
      <p:bldP spid="14746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534"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22535" name="Rectangle 1026"/>
          <p:cNvSpPr>
            <a:spLocks noGrp="1"/>
          </p:cNvSpPr>
          <p:nvPr>
            <p:ph type="title"/>
          </p:nvPr>
        </p:nvSpPr>
        <p:spPr>
          <a:xfrm>
            <a:off x="533400" y="228600"/>
            <a:ext cx="8343900" cy="1143000"/>
          </a:xfrm>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进一步假设 </a:t>
            </a:r>
            <a:r>
              <a:rPr lang="en-US" altLang="zh-CN" b="1" i="1" u="none" dirty="0">
                <a:solidFill>
                  <a:schemeClr val="tx1"/>
                </a:solidFill>
                <a:latin typeface="Times New Roman" panose="02020603050405020304" pitchFamily="18" charset="0"/>
              </a:rPr>
              <a:t>y</a:t>
            </a:r>
            <a:r>
              <a:rPr lang="zh-CN" altLang="en-US" b="1" u="none" dirty="0">
                <a:solidFill>
                  <a:schemeClr val="tx1"/>
                </a:solidFill>
                <a:latin typeface="宋体" panose="02010600030101010101" pitchFamily="2" charset="-122"/>
              </a:rPr>
              <a:t>∈</a:t>
            </a:r>
            <a:r>
              <a:rPr lang="en-US" altLang="en-US" b="1" u="none" dirty="0">
                <a:solidFill>
                  <a:schemeClr val="tx1"/>
                </a:solidFill>
                <a:latin typeface="Times New Roman" panose="02020603050405020304" pitchFamily="18" charset="0"/>
              </a:rPr>
              <a:t>C</a:t>
            </a:r>
            <a:r>
              <a:rPr lang="en-US" altLang="en-US" b="1" i="1" u="none" baseline="30000" dirty="0">
                <a:solidFill>
                  <a:schemeClr val="tx1"/>
                </a:solidFill>
                <a:latin typeface="Times New Roman" panose="02020603050405020304" pitchFamily="18" charset="0"/>
              </a:rPr>
              <a:t>p</a:t>
            </a:r>
            <a:r>
              <a:rPr lang="en-US" altLang="en-US" b="1" u="none" baseline="30000" dirty="0">
                <a:solidFill>
                  <a:schemeClr val="tx1"/>
                </a:solidFill>
                <a:latin typeface="Times New Roman" panose="02020603050405020304" pitchFamily="18" charset="0"/>
              </a:rPr>
              <a:t>+1</a:t>
            </a:r>
            <a:r>
              <a:rPr lang="en-US" altLang="en-US" b="1" u="none" dirty="0">
                <a:solidFill>
                  <a:schemeClr val="tx1"/>
                </a:solidFill>
                <a:latin typeface="Times New Roman" panose="02020603050405020304" pitchFamily="18" charset="0"/>
              </a:rPr>
              <a:t>[</a:t>
            </a:r>
            <a:r>
              <a:rPr lang="en-US" altLang="en-US" b="1" i="1" u="none" dirty="0">
                <a:solidFill>
                  <a:schemeClr val="tx1"/>
                </a:solidFill>
                <a:latin typeface="Times New Roman" panose="02020603050405020304" pitchFamily="18" charset="0"/>
              </a:rPr>
              <a:t>a</a:t>
            </a:r>
            <a:r>
              <a:rPr lang="en-US" altLang="en-US" b="1" u="none" dirty="0">
                <a:solidFill>
                  <a:schemeClr val="tx1"/>
                </a:solidFill>
                <a:latin typeface="Times New Roman" panose="02020603050405020304" pitchFamily="18" charset="0"/>
              </a:rPr>
              <a:t>, </a:t>
            </a:r>
            <a:r>
              <a:rPr lang="en-US" altLang="en-US" b="1" i="1" u="none" dirty="0">
                <a:solidFill>
                  <a:schemeClr val="tx1"/>
                </a:solidFill>
                <a:latin typeface="Times New Roman" panose="02020603050405020304" pitchFamily="18" charset="0"/>
              </a:rPr>
              <a:t>b</a:t>
            </a:r>
            <a:r>
              <a:rPr lang="en-US" altLang="en-US" b="1" u="none" dirty="0">
                <a:solidFill>
                  <a:schemeClr val="tx1"/>
                </a:solidFill>
                <a:latin typeface="Times New Roman" panose="02020603050405020304" pitchFamily="18" charset="0"/>
              </a:rPr>
              <a:t>],</a:t>
            </a:r>
            <a:r>
              <a:rPr lang="zh-CN" altLang="en-US" b="1" u="none" dirty="0">
                <a:solidFill>
                  <a:schemeClr val="tx1"/>
                </a:solidFill>
                <a:latin typeface="Times New Roman" panose="02020603050405020304" pitchFamily="18" charset="0"/>
              </a:rPr>
              <a:t>由 </a:t>
            </a:r>
            <a:r>
              <a:rPr lang="en-US" altLang="en-US" b="1" u="none" dirty="0">
                <a:solidFill>
                  <a:schemeClr val="tx1"/>
                </a:solidFill>
                <a:latin typeface="Times New Roman" panose="02020603050405020304" pitchFamily="18" charset="0"/>
              </a:rPr>
              <a:t>Taylor </a:t>
            </a:r>
            <a:r>
              <a:rPr lang="zh-CN" altLang="en-US" b="1" u="none" dirty="0">
                <a:solidFill>
                  <a:schemeClr val="tx1"/>
                </a:solidFill>
                <a:latin typeface="Times New Roman" panose="02020603050405020304" pitchFamily="18" charset="0"/>
              </a:rPr>
              <a:t>公式有</a:t>
            </a:r>
            <a:endParaRPr lang="zh-CN" altLang="en-US" b="1" u="none" dirty="0">
              <a:solidFill>
                <a:schemeClr val="tx1"/>
              </a:solidFill>
              <a:latin typeface="Times New Roman" panose="02020603050405020304" pitchFamily="18" charset="0"/>
            </a:endParaRPr>
          </a:p>
        </p:txBody>
      </p:sp>
      <p:graphicFrame>
        <p:nvGraphicFramePr>
          <p:cNvPr id="148491" name="Object 1035"/>
          <p:cNvGraphicFramePr/>
          <p:nvPr/>
        </p:nvGraphicFramePr>
        <p:xfrm>
          <a:off x="790575" y="1063467"/>
          <a:ext cx="7429500" cy="2224405"/>
        </p:xfrm>
        <a:graphic>
          <a:graphicData uri="http://schemas.openxmlformats.org/presentationml/2006/ole">
            <mc:AlternateContent xmlns:mc="http://schemas.openxmlformats.org/markup-compatibility/2006">
              <mc:Choice xmlns:v="urn:schemas-microsoft-com:vml" Requires="v">
                <p:oleObj spid="_x0000_s3125" name="" r:id="rId1" imgW="2971800" imgH="889000" progId="Equation.3">
                  <p:embed/>
                </p:oleObj>
              </mc:Choice>
              <mc:Fallback>
                <p:oleObj name="" r:id="rId1" imgW="2971800" imgH="889000" progId="Equation.3">
                  <p:embed/>
                  <p:pic>
                    <p:nvPicPr>
                      <p:cNvPr id="0" name="图片 3124"/>
                      <p:cNvPicPr/>
                      <p:nvPr/>
                    </p:nvPicPr>
                    <p:blipFill>
                      <a:blip r:embed="rId2"/>
                      <a:stretch>
                        <a:fillRect/>
                      </a:stretch>
                    </p:blipFill>
                    <p:spPr>
                      <a:xfrm>
                        <a:off x="790575" y="1063467"/>
                        <a:ext cx="7429500" cy="2224405"/>
                      </a:xfrm>
                      <a:prstGeom prst="rect">
                        <a:avLst/>
                      </a:prstGeom>
                      <a:noFill/>
                      <a:ln w="38100">
                        <a:noFill/>
                        <a:miter/>
                      </a:ln>
                    </p:spPr>
                  </p:pic>
                </p:oleObj>
              </mc:Fallback>
            </mc:AlternateContent>
          </a:graphicData>
        </a:graphic>
      </p:graphicFrame>
      <p:graphicFrame>
        <p:nvGraphicFramePr>
          <p:cNvPr id="148493" name="Object 1037"/>
          <p:cNvGraphicFramePr/>
          <p:nvPr/>
        </p:nvGraphicFramePr>
        <p:xfrm>
          <a:off x="660242" y="3773488"/>
          <a:ext cx="7834630" cy="1098550"/>
        </p:xfrm>
        <a:graphic>
          <a:graphicData uri="http://schemas.openxmlformats.org/presentationml/2006/ole">
            <mc:AlternateContent xmlns:mc="http://schemas.openxmlformats.org/markup-compatibility/2006">
              <mc:Choice xmlns:v="urn:schemas-microsoft-com:vml" Requires="v">
                <p:oleObj spid="_x0000_s3127" name="" r:id="rId3" imgW="3263900" imgH="457200" progId="Equation.3">
                  <p:embed/>
                </p:oleObj>
              </mc:Choice>
              <mc:Fallback>
                <p:oleObj name="" r:id="rId3" imgW="3263900" imgH="457200" progId="Equation.3">
                  <p:embed/>
                  <p:pic>
                    <p:nvPicPr>
                      <p:cNvPr id="0" name="图片 3126"/>
                      <p:cNvPicPr/>
                      <p:nvPr/>
                    </p:nvPicPr>
                    <p:blipFill>
                      <a:blip r:embed="rId4"/>
                      <a:stretch>
                        <a:fillRect/>
                      </a:stretch>
                    </p:blipFill>
                    <p:spPr>
                      <a:xfrm>
                        <a:off x="660242" y="3773488"/>
                        <a:ext cx="7834630" cy="1098550"/>
                      </a:xfrm>
                      <a:prstGeom prst="rect">
                        <a:avLst/>
                      </a:prstGeom>
                      <a:noFill/>
                      <a:ln w="38100">
                        <a:noFill/>
                        <a:miter/>
                      </a:ln>
                    </p:spPr>
                  </p:pic>
                </p:oleObj>
              </mc:Fallback>
            </mc:AlternateContent>
          </a:graphicData>
        </a:graphic>
      </p:graphicFrame>
      <p:sp>
        <p:nvSpPr>
          <p:cNvPr id="148494" name="Text Box 1038"/>
          <p:cNvSpPr txBox="1"/>
          <p:nvPr/>
        </p:nvSpPr>
        <p:spPr>
          <a:xfrm>
            <a:off x="561975" y="3305175"/>
            <a:ext cx="987425" cy="579438"/>
          </a:xfrm>
          <a:prstGeom prst="rect">
            <a:avLst/>
          </a:prstGeom>
          <a:noFill/>
          <a:ln w="9525">
            <a:noFill/>
          </a:ln>
        </p:spPr>
        <p:txBody>
          <a:bodyPr wrap="none">
            <a:spAutoFit/>
          </a:bodyPr>
          <a:p>
            <a:pPr algn="ctr" eaLnBrk="0" hangingPunct="0"/>
            <a:r>
              <a:rPr lang="zh-CN" altLang="en-US" b="1" dirty="0">
                <a:latin typeface="Times New Roman" panose="02020603050405020304" pitchFamily="18" charset="0"/>
              </a:rPr>
              <a:t>其中</a:t>
            </a:r>
            <a:endParaRPr lang="zh-CN" altLang="en-US" b="1" dirty="0">
              <a:latin typeface="Times New Roman" panose="02020603050405020304" pitchFamily="18" charset="0"/>
            </a:endParaRPr>
          </a:p>
        </p:txBody>
      </p:sp>
      <p:grpSp>
        <p:nvGrpSpPr>
          <p:cNvPr id="2" name="Group 1040"/>
          <p:cNvGrpSpPr/>
          <p:nvPr/>
        </p:nvGrpSpPr>
        <p:grpSpPr>
          <a:xfrm>
            <a:off x="352425" y="4933950"/>
            <a:ext cx="6661150" cy="584200"/>
            <a:chOff x="354" y="1879"/>
            <a:chExt cx="4196" cy="368"/>
          </a:xfrm>
        </p:grpSpPr>
        <p:sp>
          <p:nvSpPr>
            <p:cNvPr id="22538" name="Rectangle 1041"/>
            <p:cNvSpPr/>
            <p:nvPr/>
          </p:nvSpPr>
          <p:spPr>
            <a:xfrm>
              <a:off x="354" y="1879"/>
              <a:ext cx="4196" cy="368"/>
            </a:xfrm>
            <a:prstGeom prst="rect">
              <a:avLst/>
            </a:prstGeom>
            <a:noFill/>
            <a:ln w="9525">
              <a:noFill/>
            </a:ln>
          </p:spPr>
          <p:txBody>
            <a:bodyPr wrap="none">
              <a:spAutoFit/>
            </a:bodyPr>
            <a:p>
              <a:r>
                <a:rPr lang="zh-CN" altLang="en-US" dirty="0">
                  <a:latin typeface="Times New Roman" panose="02020603050405020304" pitchFamily="18" charset="0"/>
                </a:rPr>
                <a:t>  </a:t>
              </a:r>
              <a:r>
                <a:rPr lang="zh-CN" altLang="en-US" b="1" dirty="0">
                  <a:latin typeface="Times New Roman" panose="02020603050405020304" pitchFamily="18" charset="0"/>
                </a:rPr>
                <a:t>由                              故式(</a:t>
              </a:r>
              <a:r>
                <a:rPr lang="en-US" altLang="zh-CN" b="1" dirty="0">
                  <a:latin typeface="Times New Roman" panose="02020603050405020304" pitchFamily="18" charset="0"/>
                </a:rPr>
                <a:t>9.</a:t>
              </a:r>
              <a:r>
                <a:rPr lang="zh-CN" altLang="en-US" b="1" dirty="0">
                  <a:latin typeface="Times New Roman" panose="02020603050405020304" pitchFamily="18" charset="0"/>
                </a:rPr>
                <a:t>2.1)即为 </a:t>
              </a:r>
              <a:endParaRPr lang="zh-CN" altLang="zh-CN" b="1" dirty="0">
                <a:latin typeface="宋体" panose="02010600030101010101" pitchFamily="2" charset="-122"/>
              </a:endParaRPr>
            </a:p>
          </p:txBody>
        </p:sp>
        <p:graphicFrame>
          <p:nvGraphicFramePr>
            <p:cNvPr id="22532" name="Object 1042"/>
            <p:cNvGraphicFramePr/>
            <p:nvPr/>
          </p:nvGraphicFramePr>
          <p:xfrm>
            <a:off x="838" y="1920"/>
            <a:ext cx="1814" cy="307"/>
          </p:xfrm>
          <a:graphic>
            <a:graphicData uri="http://schemas.openxmlformats.org/presentationml/2006/ole">
              <mc:AlternateContent xmlns:mc="http://schemas.openxmlformats.org/markup-compatibility/2006">
                <mc:Choice xmlns:v="urn:schemas-microsoft-com:vml" Requires="v">
                  <p:oleObj spid="_x0000_s3129" name="" r:id="rId5" imgW="1192530" imgH="203200" progId="Equation.DSMT4">
                    <p:embed/>
                  </p:oleObj>
                </mc:Choice>
                <mc:Fallback>
                  <p:oleObj name="" r:id="rId5" imgW="1192530" imgH="203200" progId="Equation.DSMT4">
                    <p:embed/>
                    <p:pic>
                      <p:nvPicPr>
                        <p:cNvPr id="0" name="图片 3128"/>
                        <p:cNvPicPr/>
                        <p:nvPr/>
                      </p:nvPicPr>
                      <p:blipFill>
                        <a:blip r:embed="rId6"/>
                        <a:stretch>
                          <a:fillRect/>
                        </a:stretch>
                      </p:blipFill>
                      <p:spPr>
                        <a:xfrm>
                          <a:off x="838" y="1920"/>
                          <a:ext cx="1814" cy="307"/>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8491"/>
                                        </p:tgtEl>
                                        <p:attrNameLst>
                                          <p:attrName>style.visibility</p:attrName>
                                        </p:attrNameLst>
                                      </p:cBhvr>
                                      <p:to>
                                        <p:strVal val="visible"/>
                                      </p:to>
                                    </p:set>
                                    <p:animEffect transition="in" filter="dissolve">
                                      <p:cBhvr>
                                        <p:cTn id="7" dur="500"/>
                                        <p:tgtEl>
                                          <p:spTgt spid="14849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48494"/>
                                        </p:tgtEl>
                                        <p:attrNameLst>
                                          <p:attrName>style.visibility</p:attrName>
                                        </p:attrNameLst>
                                      </p:cBhvr>
                                      <p:to>
                                        <p:strVal val="visible"/>
                                      </p:to>
                                    </p:set>
                                    <p:anim calcmode="lin" valueType="num">
                                      <p:cBhvr additive="base">
                                        <p:cTn id="12" dur="500" fill="hold"/>
                                        <p:tgtEl>
                                          <p:spTgt spid="148494"/>
                                        </p:tgtEl>
                                        <p:attrNameLst>
                                          <p:attrName>ppt_x</p:attrName>
                                        </p:attrNameLst>
                                      </p:cBhvr>
                                      <p:tavLst>
                                        <p:tav tm="0">
                                          <p:val>
                                            <p:strVal val="0-#ppt_w/2"/>
                                          </p:val>
                                        </p:tav>
                                        <p:tav tm="100000">
                                          <p:val>
                                            <p:strVal val="#ppt_x"/>
                                          </p:val>
                                        </p:tav>
                                      </p:tavLst>
                                    </p:anim>
                                    <p:anim calcmode="lin" valueType="num">
                                      <p:cBhvr additive="base">
                                        <p:cTn id="13" dur="500" fill="hold"/>
                                        <p:tgtEl>
                                          <p:spTgt spid="14849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48493"/>
                                        </p:tgtEl>
                                        <p:attrNameLst>
                                          <p:attrName>style.visibility</p:attrName>
                                        </p:attrNameLst>
                                      </p:cBhvr>
                                      <p:to>
                                        <p:strVal val="visible"/>
                                      </p:to>
                                    </p:set>
                                    <p:animEffect transition="in" filter="checkerboard(across)">
                                      <p:cBhvr>
                                        <p:cTn id="18" dur="500"/>
                                        <p:tgtEl>
                                          <p:spTgt spid="148493"/>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checkerboard(across)">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9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9"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23560" name="Rectangle 1026"/>
          <p:cNvSpPr>
            <a:spLocks noGrp="1"/>
          </p:cNvSpPr>
          <p:nvPr>
            <p:ph type="title"/>
          </p:nvPr>
        </p:nvSpPr>
        <p:spPr>
          <a:xfrm>
            <a:off x="533400" y="228600"/>
            <a:ext cx="7772400" cy="622300"/>
          </a:xfrm>
          <a:ln/>
        </p:spPr>
        <p:txBody>
          <a:bodyPr vert="horz" wrap="square" lIns="91440" tIns="45720" rIns="91440" bIns="45720" anchor="ctr" anchorCtr="0"/>
          <a:p>
            <a:pPr algn="l"/>
            <a:r>
              <a:rPr lang="en-US" altLang="zh-CN" sz="2400" u="none" dirty="0">
                <a:solidFill>
                  <a:srgbClr val="0033CC"/>
                </a:solidFill>
                <a:latin typeface="Times New Roman" panose="02020603050405020304" pitchFamily="18" charset="0"/>
              </a:rPr>
              <a:t>9.</a:t>
            </a:r>
            <a:r>
              <a:rPr lang="zh-CN" altLang="zh-CN" sz="2400" u="none" dirty="0">
                <a:solidFill>
                  <a:srgbClr val="0033CC"/>
                </a:solidFill>
                <a:latin typeface="Times New Roman" panose="02020603050405020304" pitchFamily="18" charset="0"/>
              </a:rPr>
              <a:t>2 Runge-Kutta</a:t>
            </a:r>
            <a:r>
              <a:rPr lang="zh-CN" altLang="zh-CN" sz="2400" u="none" dirty="0">
                <a:solidFill>
                  <a:srgbClr val="0033CC"/>
                </a:solidFill>
              </a:rPr>
              <a:t> 方法</a:t>
            </a:r>
            <a:endParaRPr lang="zh-CN" altLang="en-US" sz="1800" u="none" dirty="0"/>
          </a:p>
        </p:txBody>
      </p:sp>
      <p:sp>
        <p:nvSpPr>
          <p:cNvPr id="149512" name="Rectangle 1032"/>
          <p:cNvSpPr/>
          <p:nvPr/>
        </p:nvSpPr>
        <p:spPr>
          <a:xfrm>
            <a:off x="204788" y="4011613"/>
            <a:ext cx="8504237" cy="1863090"/>
          </a:xfrm>
          <a:prstGeom prst="rect">
            <a:avLst/>
          </a:prstGeom>
          <a:noFill/>
          <a:ln w="9525">
            <a:noFill/>
          </a:ln>
        </p:spPr>
        <p:txBody>
          <a:bodyPr>
            <a:spAutoFit/>
          </a:bodyPr>
          <a:p>
            <a:pPr>
              <a:lnSpc>
                <a:spcPct val="120000"/>
              </a:lnSpc>
            </a:pPr>
            <a:r>
              <a:rPr lang="zh-CN" altLang="en-US" b="1" dirty="0">
                <a:latin typeface="Times New Roman" panose="02020603050405020304" pitchFamily="18" charset="0"/>
              </a:rPr>
              <a:t>略去余项</a:t>
            </a:r>
            <a:r>
              <a:rPr lang="zh-CN" altLang="en-US" dirty="0">
                <a:latin typeface="Times New Roman" panose="02020603050405020304" pitchFamily="18" charset="0"/>
              </a:rPr>
              <a:t>, </a:t>
            </a:r>
            <a:r>
              <a:rPr lang="zh-CN" altLang="en-US" b="1" dirty="0">
                <a:latin typeface="Times New Roman" panose="02020603050405020304" pitchFamily="18" charset="0"/>
              </a:rPr>
              <a:t>并以数值解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 </a:t>
            </a:r>
            <a:r>
              <a:rPr lang="en-US" altLang="en-US" b="1" dirty="0">
                <a:latin typeface="Times New Roman" panose="02020603050405020304" pitchFamily="18" charset="0"/>
              </a:rPr>
              <a:t>,</a:t>
            </a:r>
            <a:r>
              <a:rPr lang="zh-CN" altLang="en-US" b="1" dirty="0">
                <a:latin typeface="Times New Roman" panose="02020603050405020304" pitchFamily="18" charset="0"/>
              </a:rPr>
              <a:t> </a:t>
            </a:r>
            <a:r>
              <a:rPr lang="en-US" altLang="en-US" b="1" i="1" dirty="0">
                <a:latin typeface="Times New Roman" panose="02020603050405020304" pitchFamily="18" charset="0"/>
              </a:rPr>
              <a:t>y</a:t>
            </a:r>
            <a:r>
              <a:rPr lang="en-US" altLang="en-US" b="1" i="1" baseline="-25000" dirty="0">
                <a:latin typeface="Times New Roman" panose="02020603050405020304" pitchFamily="18" charset="0"/>
              </a:rPr>
              <a:t>n</a:t>
            </a:r>
            <a:r>
              <a:rPr lang="en-US" altLang="en-US" b="1" baseline="-25000" dirty="0">
                <a:latin typeface="Times New Roman" panose="02020603050405020304" pitchFamily="18" charset="0"/>
              </a:rPr>
              <a:t>+1 </a:t>
            </a:r>
            <a:r>
              <a:rPr lang="zh-CN" altLang="en-US" b="1" dirty="0">
                <a:latin typeface="Times New Roman" panose="02020603050405020304" pitchFamily="18" charset="0"/>
              </a:rPr>
              <a:t>代替 (</a:t>
            </a:r>
            <a:r>
              <a:rPr lang="en-US" altLang="zh-CN" b="1" dirty="0">
                <a:latin typeface="Times New Roman" panose="02020603050405020304" pitchFamily="18" charset="0"/>
              </a:rPr>
              <a:t>9.</a:t>
            </a:r>
            <a:r>
              <a:rPr lang="zh-CN" altLang="en-US" b="1" dirty="0">
                <a:latin typeface="Times New Roman" panose="02020603050405020304" pitchFamily="18" charset="0"/>
              </a:rPr>
              <a:t>2.3) 中的 解析解</a:t>
            </a:r>
            <a:r>
              <a:rPr lang="en-US" altLang="zh-CN" b="1" i="1" dirty="0">
                <a:latin typeface="Times New Roman" panose="02020603050405020304" pitchFamily="18" charset="0"/>
              </a:rPr>
              <a:t>y </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 </a:t>
            </a:r>
            <a:r>
              <a:rPr lang="zh-CN" altLang="en-US" b="1" dirty="0">
                <a:latin typeface="Times New Roman" panose="02020603050405020304" pitchFamily="18" charset="0"/>
              </a:rPr>
              <a:t>及 </a:t>
            </a:r>
            <a:r>
              <a:rPr lang="en-US" altLang="zh-CN" b="1" i="1" dirty="0">
                <a:latin typeface="Times New Roman" panose="02020603050405020304" pitchFamily="18" charset="0"/>
              </a:rPr>
              <a:t>y </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a:t>
            </a:r>
            <a:r>
              <a:rPr lang="zh-CN" altLang="en-US" b="1" dirty="0">
                <a:latin typeface="Times New Roman" panose="02020603050405020304" pitchFamily="18" charset="0"/>
              </a:rPr>
              <a:t> 可得到一个差分方程，即</a:t>
            </a:r>
            <a:endParaRPr lang="zh-CN" altLang="en-US" b="1" dirty="0">
              <a:latin typeface="Times New Roman" panose="02020603050405020304" pitchFamily="18" charset="0"/>
            </a:endParaRPr>
          </a:p>
        </p:txBody>
      </p:sp>
      <p:graphicFrame>
        <p:nvGraphicFramePr>
          <p:cNvPr id="149514" name="Object 1034"/>
          <p:cNvGraphicFramePr/>
          <p:nvPr/>
        </p:nvGraphicFramePr>
        <p:xfrm>
          <a:off x="388938" y="652463"/>
          <a:ext cx="6280150" cy="2074862"/>
        </p:xfrm>
        <a:graphic>
          <a:graphicData uri="http://schemas.openxmlformats.org/presentationml/2006/ole">
            <mc:AlternateContent xmlns:mc="http://schemas.openxmlformats.org/markup-compatibility/2006">
              <mc:Choice xmlns:v="urn:schemas-microsoft-com:vml" Requires="v">
                <p:oleObj spid="_x0000_s3131" name="" r:id="rId1" imgW="2614930" imgH="862965" progId="Equation.3">
                  <p:embed/>
                </p:oleObj>
              </mc:Choice>
              <mc:Fallback>
                <p:oleObj name="" r:id="rId1" imgW="2614930" imgH="862965" progId="Equation.3">
                  <p:embed/>
                  <p:pic>
                    <p:nvPicPr>
                      <p:cNvPr id="0" name="图片 3130"/>
                      <p:cNvPicPr/>
                      <p:nvPr/>
                    </p:nvPicPr>
                    <p:blipFill>
                      <a:blip r:embed="rId2"/>
                      <a:stretch>
                        <a:fillRect/>
                      </a:stretch>
                    </p:blipFill>
                    <p:spPr>
                      <a:xfrm>
                        <a:off x="388938" y="652463"/>
                        <a:ext cx="6280150" cy="2074862"/>
                      </a:xfrm>
                      <a:prstGeom prst="rect">
                        <a:avLst/>
                      </a:prstGeom>
                      <a:noFill/>
                      <a:ln w="38100">
                        <a:noFill/>
                        <a:miter/>
                      </a:ln>
                    </p:spPr>
                  </p:pic>
                </p:oleObj>
              </mc:Fallback>
            </mc:AlternateContent>
          </a:graphicData>
        </a:graphic>
      </p:graphicFrame>
      <p:graphicFrame>
        <p:nvGraphicFramePr>
          <p:cNvPr id="149518" name="Object 1038"/>
          <p:cNvGraphicFramePr/>
          <p:nvPr/>
        </p:nvGraphicFramePr>
        <p:xfrm>
          <a:off x="482759" y="630238"/>
          <a:ext cx="7903845" cy="2127250"/>
        </p:xfrm>
        <a:graphic>
          <a:graphicData uri="http://schemas.openxmlformats.org/presentationml/2006/ole">
            <mc:AlternateContent xmlns:mc="http://schemas.openxmlformats.org/markup-compatibility/2006">
              <mc:Choice xmlns:v="urn:schemas-microsoft-com:vml" Requires="v">
                <p:oleObj spid="_x0000_s3132" name="" r:id="rId3" imgW="3288665" imgH="889000" progId="Equation.3">
                  <p:embed/>
                </p:oleObj>
              </mc:Choice>
              <mc:Fallback>
                <p:oleObj name="" r:id="rId3" imgW="3288665" imgH="889000" progId="Equation.3">
                  <p:embed/>
                  <p:pic>
                    <p:nvPicPr>
                      <p:cNvPr id="0" name="图片 3131"/>
                      <p:cNvPicPr/>
                      <p:nvPr/>
                    </p:nvPicPr>
                    <p:blipFill>
                      <a:blip r:embed="rId4"/>
                      <a:stretch>
                        <a:fillRect/>
                      </a:stretch>
                    </p:blipFill>
                    <p:spPr>
                      <a:xfrm>
                        <a:off x="482759" y="630238"/>
                        <a:ext cx="7903845" cy="2127250"/>
                      </a:xfrm>
                      <a:prstGeom prst="rect">
                        <a:avLst/>
                      </a:prstGeom>
                      <a:noFill/>
                      <a:ln w="38100">
                        <a:noFill/>
                        <a:miter/>
                      </a:ln>
                    </p:spPr>
                  </p:pic>
                </p:oleObj>
              </mc:Fallback>
            </mc:AlternateContent>
          </a:graphicData>
        </a:graphic>
      </p:graphicFrame>
      <p:grpSp>
        <p:nvGrpSpPr>
          <p:cNvPr id="2" name="Group 1047"/>
          <p:cNvGrpSpPr/>
          <p:nvPr/>
        </p:nvGrpSpPr>
        <p:grpSpPr>
          <a:xfrm>
            <a:off x="246063" y="2757488"/>
            <a:ext cx="8180387" cy="1692275"/>
            <a:chOff x="155" y="1737"/>
            <a:chExt cx="5153" cy="1066"/>
          </a:xfrm>
        </p:grpSpPr>
        <p:graphicFrame>
          <p:nvGraphicFramePr>
            <p:cNvPr id="23557" name="Object 1040"/>
            <p:cNvGraphicFramePr/>
            <p:nvPr/>
          </p:nvGraphicFramePr>
          <p:xfrm>
            <a:off x="286" y="2129"/>
            <a:ext cx="5022" cy="674"/>
          </p:xfrm>
          <a:graphic>
            <a:graphicData uri="http://schemas.openxmlformats.org/presentationml/2006/ole">
              <mc:AlternateContent xmlns:mc="http://schemas.openxmlformats.org/markup-compatibility/2006">
                <mc:Choice xmlns:v="urn:schemas-microsoft-com:vml" Requires="v">
                  <p:oleObj spid="_x0000_s3110" name="" r:id="rId5" imgW="3288030" imgH="444500" progId="Equation.3">
                    <p:embed/>
                  </p:oleObj>
                </mc:Choice>
                <mc:Fallback>
                  <p:oleObj name="" r:id="rId5" imgW="3288030" imgH="444500" progId="Equation.3">
                    <p:embed/>
                    <p:pic>
                      <p:nvPicPr>
                        <p:cNvPr id="0" name="图片 3109"/>
                        <p:cNvPicPr/>
                        <p:nvPr/>
                      </p:nvPicPr>
                      <p:blipFill>
                        <a:blip r:embed="rId6"/>
                        <a:stretch>
                          <a:fillRect/>
                        </a:stretch>
                      </p:blipFill>
                      <p:spPr>
                        <a:xfrm>
                          <a:off x="286" y="2129"/>
                          <a:ext cx="5022" cy="674"/>
                        </a:xfrm>
                        <a:prstGeom prst="rect">
                          <a:avLst/>
                        </a:prstGeom>
                        <a:noFill/>
                        <a:ln w="38100">
                          <a:noFill/>
                          <a:miter/>
                        </a:ln>
                      </p:spPr>
                    </p:pic>
                  </p:oleObj>
                </mc:Fallback>
              </mc:AlternateContent>
            </a:graphicData>
          </a:graphic>
        </p:graphicFrame>
        <p:sp>
          <p:nvSpPr>
            <p:cNvPr id="23565" name="Text Box 1042"/>
            <p:cNvSpPr txBox="1"/>
            <p:nvPr/>
          </p:nvSpPr>
          <p:spPr>
            <a:xfrm>
              <a:off x="155" y="1737"/>
              <a:ext cx="1912" cy="365"/>
            </a:xfrm>
            <a:prstGeom prst="rect">
              <a:avLst/>
            </a:prstGeom>
            <a:noFill/>
            <a:ln w="9525">
              <a:noFill/>
            </a:ln>
          </p:spPr>
          <p:txBody>
            <a:bodyPr wrap="none">
              <a:spAutoFit/>
            </a:bodyPr>
            <a:p>
              <a:pPr algn="ctr" eaLnBrk="0" hangingPunct="0"/>
              <a:r>
                <a:rPr lang="zh-CN" altLang="en-US" b="1" dirty="0">
                  <a:latin typeface="Times New Roman" panose="02020603050405020304" pitchFamily="18" charset="0"/>
                </a:rPr>
                <a:t>其中余项可写成</a:t>
              </a:r>
              <a:endParaRPr lang="en-US" altLang="zh-CN" b="1" dirty="0">
                <a:latin typeface="Times New Roman" panose="02020603050405020304" pitchFamily="18" charset="0"/>
              </a:endParaRPr>
            </a:p>
          </p:txBody>
        </p:sp>
      </p:grpSp>
      <p:grpSp>
        <p:nvGrpSpPr>
          <p:cNvPr id="3" name="Group 1046"/>
          <p:cNvGrpSpPr/>
          <p:nvPr/>
        </p:nvGrpSpPr>
        <p:grpSpPr>
          <a:xfrm>
            <a:off x="357188" y="2786063"/>
            <a:ext cx="5981700" cy="1003300"/>
            <a:chOff x="216" y="2357"/>
            <a:chExt cx="3768" cy="632"/>
          </a:xfrm>
        </p:grpSpPr>
        <p:graphicFrame>
          <p:nvGraphicFramePr>
            <p:cNvPr id="23556" name="Object 1044"/>
            <p:cNvGraphicFramePr/>
            <p:nvPr/>
          </p:nvGraphicFramePr>
          <p:xfrm>
            <a:off x="1389" y="2357"/>
            <a:ext cx="2595" cy="632"/>
          </p:xfrm>
          <a:graphic>
            <a:graphicData uri="http://schemas.openxmlformats.org/presentationml/2006/ole">
              <mc:AlternateContent xmlns:mc="http://schemas.openxmlformats.org/markup-compatibility/2006">
                <mc:Choice xmlns:v="urn:schemas-microsoft-com:vml" Requires="v">
                  <p:oleObj spid="_x0000_s3113" name="" r:id="rId7" imgW="1714500" imgH="419100" progId="Equation.3">
                    <p:embed/>
                  </p:oleObj>
                </mc:Choice>
                <mc:Fallback>
                  <p:oleObj name="" r:id="rId7" imgW="1714500" imgH="419100" progId="Equation.3">
                    <p:embed/>
                    <p:pic>
                      <p:nvPicPr>
                        <p:cNvPr id="0" name="图片 3112"/>
                        <p:cNvPicPr/>
                        <p:nvPr/>
                      </p:nvPicPr>
                      <p:blipFill>
                        <a:blip r:embed="rId8"/>
                        <a:stretch>
                          <a:fillRect/>
                        </a:stretch>
                      </p:blipFill>
                      <p:spPr>
                        <a:xfrm>
                          <a:off x="1389" y="2357"/>
                          <a:ext cx="2595" cy="632"/>
                        </a:xfrm>
                        <a:prstGeom prst="rect">
                          <a:avLst/>
                        </a:prstGeom>
                        <a:gradFill rotWithShape="0">
                          <a:gsLst>
                            <a:gs pos="0">
                              <a:srgbClr val="FFFFFF"/>
                            </a:gs>
                            <a:gs pos="50000">
                              <a:schemeClr val="accent1"/>
                            </a:gs>
                            <a:gs pos="100000">
                              <a:srgbClr val="FFFFFF"/>
                            </a:gs>
                          </a:gsLst>
                          <a:lin ang="5400000" scaled="1"/>
                          <a:tileRect/>
                        </a:gradFill>
                        <a:ln w="38100">
                          <a:noFill/>
                          <a:miter/>
                        </a:ln>
                      </p:spPr>
                    </p:pic>
                  </p:oleObj>
                </mc:Fallback>
              </mc:AlternateContent>
            </a:graphicData>
          </a:graphic>
        </p:graphicFrame>
        <p:sp>
          <p:nvSpPr>
            <p:cNvPr id="59404" name="Text Box 1045"/>
            <p:cNvSpPr txBox="1">
              <a:spLocks noChangeArrowheads="1"/>
            </p:cNvSpPr>
            <p:nvPr/>
          </p:nvSpPr>
          <p:spPr bwMode="auto">
            <a:xfrm>
              <a:off x="216" y="2483"/>
              <a:ext cx="1148" cy="365"/>
            </a:xfrm>
            <a:prstGeom prst="rect">
              <a:avLst/>
            </a:prstGeom>
            <a:gradFill rotWithShape="0">
              <a:gsLst>
                <a:gs pos="0">
                  <a:srgbClr val="FFFFFF"/>
                </a:gs>
                <a:gs pos="50000">
                  <a:schemeClr val="accent1"/>
                </a:gs>
                <a:gs pos="100000">
                  <a:srgbClr val="FFFFFF"/>
                </a:gs>
              </a:gsLst>
              <a:lin ang="5400000" scaled="1"/>
            </a:gradFill>
            <a:ln w="9525">
              <a:noFill/>
              <a:miter lim="800000"/>
            </a:ln>
          </p:spPr>
          <p:txBody>
            <a:bodyPr wrap="none">
              <a:spAutoFit/>
            </a:bodyPr>
            <a:lstStyle/>
            <a:p>
              <a:pPr marR="0" defTabSz="914400" eaLnBrk="0" hangingPunct="0">
                <a:buClrTx/>
                <a:buSzTx/>
                <a:buFontTx/>
                <a:buNone/>
                <a:defRPr/>
              </a:pPr>
              <a:r>
                <a:rPr kumimoji="0" lang="zh-CN" altLang="en-US" b="1" kern="1200" cap="none" spc="0" normalizeH="0" baseline="0" noProof="0" smtClean="0">
                  <a:latin typeface="Times New Roman" panose="02020603050405020304" pitchFamily="18" charset="0"/>
                  <a:ea typeface="宋体" panose="02010600030101010101" pitchFamily="2" charset="-122"/>
                  <a:cs typeface="+mn-cs"/>
                </a:rPr>
                <a:t>注：这里</a:t>
              </a:r>
              <a:endParaRPr kumimoji="0" lang="zh-CN" altLang="en-US" b="1" kern="1200" cap="none" spc="0" normalizeH="0" baseline="0" noProof="0" smtClean="0">
                <a:latin typeface="Times New Roman" panose="02020603050405020304" pitchFamily="18"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9514"/>
                                        </p:tgtEl>
                                        <p:attrNameLst>
                                          <p:attrName>style.visibility</p:attrName>
                                        </p:attrNameLst>
                                      </p:cBhvr>
                                      <p:to>
                                        <p:strVal val="visible"/>
                                      </p:to>
                                    </p:set>
                                    <p:anim calcmode="lin" valueType="num">
                                      <p:cBhvr additive="base">
                                        <p:cTn id="7" dur="500" fill="hold"/>
                                        <p:tgtEl>
                                          <p:spTgt spid="149514"/>
                                        </p:tgtEl>
                                        <p:attrNameLst>
                                          <p:attrName>ppt_x</p:attrName>
                                        </p:attrNameLst>
                                      </p:cBhvr>
                                      <p:tavLst>
                                        <p:tav tm="0">
                                          <p:val>
                                            <p:strVal val="0-#ppt_w/2"/>
                                          </p:val>
                                        </p:tav>
                                        <p:tav tm="100000">
                                          <p:val>
                                            <p:strVal val="#ppt_x"/>
                                          </p:val>
                                        </p:tav>
                                      </p:tavLst>
                                    </p:anim>
                                    <p:anim calcmode="lin" valueType="num">
                                      <p:cBhvr additive="base">
                                        <p:cTn id="8" dur="500" fill="hold"/>
                                        <p:tgtEl>
                                          <p:spTgt spid="14951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49514"/>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49518"/>
                                        </p:tgtEl>
                                        <p:attrNameLst>
                                          <p:attrName>style.visibility</p:attrName>
                                        </p:attrNameLst>
                                      </p:cBhvr>
                                      <p:to>
                                        <p:strVal val="visible"/>
                                      </p:to>
                                    </p:set>
                                    <p:animEffect transition="in" filter="wipe(left)">
                                      <p:cBhvr>
                                        <p:cTn id="13" dur="500"/>
                                        <p:tgtEl>
                                          <p:spTgt spid="149518"/>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arn(inHorizontal)">
                                      <p:cBhvr>
                                        <p:cTn id="18"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ssolve">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49512"/>
                                        </p:tgtEl>
                                        <p:attrNameLst>
                                          <p:attrName>style.visibility</p:attrName>
                                        </p:attrNameLst>
                                      </p:cBhvr>
                                      <p:to>
                                        <p:strVal val="visible"/>
                                      </p:to>
                                    </p:set>
                                    <p:animEffect transition="in" filter="checkerboard(across)">
                                      <p:cBhvr>
                                        <p:cTn id="28" dur="500"/>
                                        <p:tgtEl>
                                          <p:spTgt spid="149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583"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24584" name="Rectangle 2"/>
          <p:cNvSpPr>
            <a:spLocks noGrp="1"/>
          </p:cNvSpPr>
          <p:nvPr>
            <p:ph type="title"/>
          </p:nvPr>
        </p:nvSpPr>
        <p:spPr>
          <a:xfrm>
            <a:off x="376238" y="228600"/>
            <a:ext cx="8553450" cy="1143000"/>
          </a:xfrm>
          <a:ln/>
        </p:spPr>
        <p:txBody>
          <a:bodyPr vert="horz" wrap="square" lIns="91440" tIns="45720" rIns="91440" bIns="45720" anchor="ctr" anchorCtr="0"/>
          <a:p>
            <a:pPr algn="l"/>
            <a:r>
              <a:rPr lang="zh-CN" altLang="en-US" b="1" u="none" dirty="0">
                <a:latin typeface="Times New Roman" panose="02020603050405020304" pitchFamily="18" charset="0"/>
              </a:rPr>
              <a:t>在(</a:t>
            </a:r>
            <a:r>
              <a:rPr lang="en-US" altLang="zh-CN" b="1" u="none" dirty="0">
                <a:latin typeface="Times New Roman" panose="02020603050405020304" pitchFamily="18" charset="0"/>
              </a:rPr>
              <a:t>9.</a:t>
            </a:r>
            <a:r>
              <a:rPr lang="zh-CN" altLang="en-US" b="1" u="none" dirty="0">
                <a:latin typeface="Times New Roman" panose="02020603050405020304" pitchFamily="18" charset="0"/>
              </a:rPr>
              <a:t>2.3)中略去余项,用</a:t>
            </a:r>
            <a:r>
              <a:rPr lang="en-US" altLang="en-US" b="1" i="1" u="none" dirty="0">
                <a:latin typeface="Times New Roman" panose="02020603050405020304" pitchFamily="18" charset="0"/>
              </a:rPr>
              <a:t>y</a:t>
            </a:r>
            <a:r>
              <a:rPr lang="en-US" altLang="en-US" b="1" i="1" u="none" baseline="-25000" dirty="0">
                <a:latin typeface="Times New Roman" panose="02020603050405020304" pitchFamily="18" charset="0"/>
              </a:rPr>
              <a:t>n</a:t>
            </a:r>
            <a:r>
              <a:rPr lang="en-US" altLang="en-US" b="1" u="none" dirty="0">
                <a:latin typeface="Times New Roman" panose="02020603050405020304" pitchFamily="18" charset="0"/>
              </a:rPr>
              <a:t>,</a:t>
            </a:r>
            <a:r>
              <a:rPr lang="en-US" altLang="zh-CN" b="1" u="none" dirty="0">
                <a:latin typeface="Times New Roman" panose="02020603050405020304" pitchFamily="18" charset="0"/>
              </a:rPr>
              <a:t> </a:t>
            </a:r>
            <a:r>
              <a:rPr lang="en-US" altLang="en-US" b="1" i="1" u="none" dirty="0">
                <a:latin typeface="Times New Roman" panose="02020603050405020304" pitchFamily="18" charset="0"/>
              </a:rPr>
              <a:t>y</a:t>
            </a:r>
            <a:r>
              <a:rPr lang="en-US" altLang="en-US" b="1" i="1" u="none" baseline="-25000" dirty="0">
                <a:latin typeface="Times New Roman" panose="02020603050405020304" pitchFamily="18" charset="0"/>
              </a:rPr>
              <a:t>n</a:t>
            </a:r>
            <a:r>
              <a:rPr lang="en-US" altLang="en-US" b="1" u="none" baseline="-25000" dirty="0">
                <a:latin typeface="Times New Roman" panose="02020603050405020304" pitchFamily="18" charset="0"/>
              </a:rPr>
              <a:t>+1</a:t>
            </a:r>
            <a:r>
              <a:rPr lang="zh-CN" altLang="en-US" b="1" u="none" dirty="0">
                <a:latin typeface="Times New Roman" panose="02020603050405020304" pitchFamily="18" charset="0"/>
              </a:rPr>
              <a:t>代替</a:t>
            </a:r>
            <a:r>
              <a:rPr lang="en-US" altLang="zh-CN" b="1" i="1" u="none" dirty="0">
                <a:latin typeface="Times New Roman" panose="02020603050405020304" pitchFamily="18" charset="0"/>
              </a:rPr>
              <a:t>y</a:t>
            </a:r>
            <a:r>
              <a:rPr lang="en-US" altLang="zh-CN" b="1" u="none" dirty="0">
                <a:latin typeface="Times New Roman" panose="02020603050405020304" pitchFamily="18" charset="0"/>
              </a:rPr>
              <a:t>(</a:t>
            </a:r>
            <a:r>
              <a:rPr lang="en-US" altLang="zh-CN" b="1" i="1" u="none" dirty="0">
                <a:latin typeface="Times New Roman" panose="02020603050405020304" pitchFamily="18" charset="0"/>
              </a:rPr>
              <a:t>x</a:t>
            </a:r>
            <a:r>
              <a:rPr lang="en-US" altLang="zh-CN" b="1" i="1" u="none" baseline="-25000" dirty="0">
                <a:latin typeface="Times New Roman" panose="02020603050405020304" pitchFamily="18" charset="0"/>
              </a:rPr>
              <a:t>n</a:t>
            </a:r>
            <a:r>
              <a:rPr lang="en-US" altLang="zh-CN" b="1" u="none" dirty="0">
                <a:latin typeface="Times New Roman" panose="02020603050405020304" pitchFamily="18" charset="0"/>
              </a:rPr>
              <a:t>)</a:t>
            </a:r>
            <a:r>
              <a:rPr lang="zh-CN" altLang="en-US" b="1" u="none" dirty="0">
                <a:latin typeface="Times New Roman" panose="02020603050405020304" pitchFamily="18" charset="0"/>
              </a:rPr>
              <a:t>及</a:t>
            </a:r>
            <a:r>
              <a:rPr lang="en-US" altLang="zh-CN" b="1" i="1" u="none" dirty="0">
                <a:latin typeface="Times New Roman" panose="02020603050405020304" pitchFamily="18" charset="0"/>
              </a:rPr>
              <a:t>y</a:t>
            </a:r>
            <a:r>
              <a:rPr lang="en-US" altLang="zh-CN" b="1" u="none" dirty="0">
                <a:latin typeface="Times New Roman" panose="02020603050405020304" pitchFamily="18" charset="0"/>
              </a:rPr>
              <a:t>(</a:t>
            </a:r>
            <a:r>
              <a:rPr lang="en-US" altLang="zh-CN" b="1" i="1" u="none" dirty="0">
                <a:latin typeface="Times New Roman" panose="02020603050405020304" pitchFamily="18" charset="0"/>
              </a:rPr>
              <a:t>x</a:t>
            </a:r>
            <a:r>
              <a:rPr lang="en-US" altLang="zh-CN" b="1" i="1" u="none" baseline="-25000" dirty="0">
                <a:latin typeface="Times New Roman" panose="02020603050405020304" pitchFamily="18" charset="0"/>
              </a:rPr>
              <a:t>n</a:t>
            </a:r>
            <a:r>
              <a:rPr lang="en-US" altLang="zh-CN" b="1" u="none" baseline="-25000" dirty="0">
                <a:latin typeface="Times New Roman" panose="02020603050405020304" pitchFamily="18" charset="0"/>
              </a:rPr>
              <a:t>+1</a:t>
            </a:r>
            <a:r>
              <a:rPr lang="en-US" altLang="zh-CN" b="1" u="none" dirty="0">
                <a:latin typeface="Times New Roman" panose="02020603050405020304" pitchFamily="18" charset="0"/>
              </a:rPr>
              <a:t>)</a:t>
            </a:r>
            <a:endParaRPr lang="zh-CN" altLang="en-US" b="1" u="none" dirty="0">
              <a:latin typeface="Times New Roman" panose="02020603050405020304" pitchFamily="18" charset="0"/>
            </a:endParaRPr>
          </a:p>
        </p:txBody>
      </p:sp>
      <p:graphicFrame>
        <p:nvGraphicFramePr>
          <p:cNvPr id="150531" name="Object 3"/>
          <p:cNvGraphicFramePr/>
          <p:nvPr/>
        </p:nvGraphicFramePr>
        <p:xfrm>
          <a:off x="528638" y="1081247"/>
          <a:ext cx="7807325" cy="2249170"/>
        </p:xfrm>
        <a:graphic>
          <a:graphicData uri="http://schemas.openxmlformats.org/presentationml/2006/ole">
            <mc:AlternateContent xmlns:mc="http://schemas.openxmlformats.org/markup-compatibility/2006">
              <mc:Choice xmlns:v="urn:schemas-microsoft-com:vml" Requires="v">
                <p:oleObj spid="_x0000_s3107" name="" r:id="rId1" imgW="3251200" imgH="939800" progId="Equation.DSMT4">
                  <p:embed/>
                </p:oleObj>
              </mc:Choice>
              <mc:Fallback>
                <p:oleObj name="" r:id="rId1" imgW="3251200" imgH="939800" progId="Equation.DSMT4">
                  <p:embed/>
                  <p:pic>
                    <p:nvPicPr>
                      <p:cNvPr id="0" name="图片 3106"/>
                      <p:cNvPicPr/>
                      <p:nvPr/>
                    </p:nvPicPr>
                    <p:blipFill>
                      <a:blip r:embed="rId2"/>
                      <a:stretch>
                        <a:fillRect/>
                      </a:stretch>
                    </p:blipFill>
                    <p:spPr>
                      <a:xfrm>
                        <a:off x="528638" y="1081247"/>
                        <a:ext cx="7807325" cy="2249170"/>
                      </a:xfrm>
                      <a:prstGeom prst="rect">
                        <a:avLst/>
                      </a:prstGeom>
                      <a:noFill/>
                      <a:ln w="38100">
                        <a:noFill/>
                        <a:miter/>
                      </a:ln>
                    </p:spPr>
                  </p:pic>
                </p:oleObj>
              </mc:Fallback>
            </mc:AlternateContent>
          </a:graphicData>
        </a:graphic>
      </p:graphicFrame>
      <p:grpSp>
        <p:nvGrpSpPr>
          <p:cNvPr id="2" name="Group 14"/>
          <p:cNvGrpSpPr/>
          <p:nvPr/>
        </p:nvGrpSpPr>
        <p:grpSpPr>
          <a:xfrm>
            <a:off x="249238" y="3314700"/>
            <a:ext cx="8242300" cy="639763"/>
            <a:chOff x="247" y="2088"/>
            <a:chExt cx="5192" cy="403"/>
          </a:xfrm>
        </p:grpSpPr>
        <p:graphicFrame>
          <p:nvGraphicFramePr>
            <p:cNvPr id="24580" name="Object 5"/>
            <p:cNvGraphicFramePr/>
            <p:nvPr/>
          </p:nvGraphicFramePr>
          <p:xfrm>
            <a:off x="803" y="2146"/>
            <a:ext cx="1420" cy="345"/>
          </p:xfrm>
          <a:graphic>
            <a:graphicData uri="http://schemas.openxmlformats.org/presentationml/2006/ole">
              <mc:AlternateContent xmlns:mc="http://schemas.openxmlformats.org/markup-compatibility/2006">
                <mc:Choice xmlns:v="urn:schemas-microsoft-com:vml" Requires="v">
                  <p:oleObj spid="_x0000_s3112" name="" r:id="rId3" imgW="939800" imgH="228600" progId="Equation.3">
                    <p:embed/>
                  </p:oleObj>
                </mc:Choice>
                <mc:Fallback>
                  <p:oleObj name="" r:id="rId3" imgW="939800" imgH="228600" progId="Equation.3">
                    <p:embed/>
                    <p:pic>
                      <p:nvPicPr>
                        <p:cNvPr id="0" name="图片 3111"/>
                        <p:cNvPicPr/>
                        <p:nvPr/>
                      </p:nvPicPr>
                      <p:blipFill>
                        <a:blip r:embed="rId4"/>
                        <a:stretch>
                          <a:fillRect/>
                        </a:stretch>
                      </p:blipFill>
                      <p:spPr>
                        <a:xfrm>
                          <a:off x="803" y="2146"/>
                          <a:ext cx="1420" cy="345"/>
                        </a:xfrm>
                        <a:prstGeom prst="rect">
                          <a:avLst/>
                        </a:prstGeom>
                        <a:noFill/>
                        <a:ln w="38100">
                          <a:noFill/>
                          <a:miter/>
                        </a:ln>
                      </p:spPr>
                    </p:pic>
                  </p:oleObj>
                </mc:Fallback>
              </mc:AlternateContent>
            </a:graphicData>
          </a:graphic>
        </p:graphicFrame>
        <p:graphicFrame>
          <p:nvGraphicFramePr>
            <p:cNvPr id="24581" name="Object 7"/>
            <p:cNvGraphicFramePr/>
            <p:nvPr/>
          </p:nvGraphicFramePr>
          <p:xfrm>
            <a:off x="2157" y="2110"/>
            <a:ext cx="3282" cy="365"/>
          </p:xfrm>
          <a:graphic>
            <a:graphicData uri="http://schemas.openxmlformats.org/presentationml/2006/ole">
              <mc:AlternateContent xmlns:mc="http://schemas.openxmlformats.org/markup-compatibility/2006">
                <mc:Choice xmlns:v="urn:schemas-microsoft-com:vml" Requires="v">
                  <p:oleObj spid="_x0000_s3108" name="" r:id="rId5" imgW="2171065" imgH="241300" progId="Equation.3">
                    <p:embed/>
                  </p:oleObj>
                </mc:Choice>
                <mc:Fallback>
                  <p:oleObj name="" r:id="rId5" imgW="2171065" imgH="241300" progId="Equation.3">
                    <p:embed/>
                    <p:pic>
                      <p:nvPicPr>
                        <p:cNvPr id="0" name="图片 3107"/>
                        <p:cNvPicPr/>
                        <p:nvPr/>
                      </p:nvPicPr>
                      <p:blipFill>
                        <a:blip r:embed="rId6"/>
                        <a:stretch>
                          <a:fillRect/>
                        </a:stretch>
                      </p:blipFill>
                      <p:spPr>
                        <a:xfrm>
                          <a:off x="2157" y="2110"/>
                          <a:ext cx="3282" cy="365"/>
                        </a:xfrm>
                        <a:prstGeom prst="rect">
                          <a:avLst/>
                        </a:prstGeom>
                        <a:noFill/>
                        <a:ln w="38100">
                          <a:noFill/>
                          <a:miter/>
                        </a:ln>
                      </p:spPr>
                    </p:pic>
                  </p:oleObj>
                </mc:Fallback>
              </mc:AlternateContent>
            </a:graphicData>
          </a:graphic>
        </p:graphicFrame>
        <p:sp>
          <p:nvSpPr>
            <p:cNvPr id="24587" name="Text Box 9"/>
            <p:cNvSpPr txBox="1"/>
            <p:nvPr/>
          </p:nvSpPr>
          <p:spPr>
            <a:xfrm>
              <a:off x="247" y="2088"/>
              <a:ext cx="630" cy="365"/>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其中</a:t>
              </a:r>
              <a:endParaRPr lang="zh-CN" altLang="en-US" b="1" dirty="0">
                <a:latin typeface="Times New Roman" panose="02020603050405020304" pitchFamily="18" charset="0"/>
              </a:endParaRPr>
            </a:p>
          </p:txBody>
        </p:sp>
      </p:grpSp>
      <p:sp>
        <p:nvSpPr>
          <p:cNvPr id="150539" name="Text Box 11"/>
          <p:cNvSpPr txBox="1"/>
          <p:nvPr/>
        </p:nvSpPr>
        <p:spPr>
          <a:xfrm>
            <a:off x="282575" y="4202113"/>
            <a:ext cx="8507413" cy="1076325"/>
          </a:xfrm>
          <a:prstGeom prst="rect">
            <a:avLst/>
          </a:prstGeom>
          <a:noFill/>
          <a:ln w="9525">
            <a:noFill/>
          </a:ln>
        </p:spPr>
        <p:txBody>
          <a:bodyPr>
            <a:spAutoFit/>
          </a:bodyPr>
          <a:p>
            <a:pPr eaLnBrk="0" hangingPunct="0"/>
            <a:r>
              <a:rPr lang="zh-CN" altLang="en-US" b="1" dirty="0">
                <a:latin typeface="Times New Roman" panose="02020603050405020304" pitchFamily="18" charset="0"/>
              </a:rPr>
              <a:t>称 (</a:t>
            </a:r>
            <a:r>
              <a:rPr lang="en-US" altLang="zh-CN" b="1" dirty="0">
                <a:latin typeface="Times New Roman" panose="02020603050405020304" pitchFamily="18" charset="0"/>
              </a:rPr>
              <a:t>9.</a:t>
            </a:r>
            <a:r>
              <a:rPr lang="zh-CN" altLang="en-US" b="1" dirty="0">
                <a:latin typeface="Times New Roman" panose="02020603050405020304" pitchFamily="18" charset="0"/>
              </a:rPr>
              <a:t>2.4) 式为求解常微分方程初值问题数值解</a:t>
            </a:r>
            <a:r>
              <a:rPr lang="en-US" altLang="zh-CN" b="1" dirty="0">
                <a:solidFill>
                  <a:srgbClr val="FF0000"/>
                </a:solidFill>
                <a:latin typeface="Times New Roman" panose="02020603050405020304" pitchFamily="18" charset="0"/>
              </a:rPr>
              <a:t>Taylor</a:t>
            </a:r>
            <a:r>
              <a:rPr lang="zh-CN" altLang="en-US" b="1" dirty="0">
                <a:latin typeface="Times New Roman" panose="02020603050405020304" pitchFamily="18" charset="0"/>
              </a:rPr>
              <a:t>的格式 .</a:t>
            </a:r>
            <a:endParaRPr lang="zh-CN" altLang="en-US" b="1" dirty="0">
              <a:latin typeface="Times New Roman" panose="02020603050405020304" pitchFamily="18" charset="0"/>
            </a:endParaRPr>
          </a:p>
        </p:txBody>
      </p:sp>
      <p:graphicFrame>
        <p:nvGraphicFramePr>
          <p:cNvPr id="150541" name="Object 13"/>
          <p:cNvGraphicFramePr/>
          <p:nvPr/>
        </p:nvGraphicFramePr>
        <p:xfrm>
          <a:off x="511334" y="1187450"/>
          <a:ext cx="7903845" cy="2127250"/>
        </p:xfrm>
        <a:graphic>
          <a:graphicData uri="http://schemas.openxmlformats.org/presentationml/2006/ole">
            <mc:AlternateContent xmlns:mc="http://schemas.openxmlformats.org/markup-compatibility/2006">
              <mc:Choice xmlns:v="urn:schemas-microsoft-com:vml" Requires="v">
                <p:oleObj spid="_x0000_s3109" name="" r:id="rId7" imgW="3288665" imgH="889000" progId="Equation.3">
                  <p:embed/>
                </p:oleObj>
              </mc:Choice>
              <mc:Fallback>
                <p:oleObj name="" r:id="rId7" imgW="3288665" imgH="889000" progId="Equation.3">
                  <p:embed/>
                  <p:pic>
                    <p:nvPicPr>
                      <p:cNvPr id="0" name="图片 3108"/>
                      <p:cNvPicPr/>
                      <p:nvPr/>
                    </p:nvPicPr>
                    <p:blipFill>
                      <a:blip r:embed="rId8"/>
                      <a:stretch>
                        <a:fillRect/>
                      </a:stretch>
                    </p:blipFill>
                    <p:spPr>
                      <a:xfrm>
                        <a:off x="511334" y="1187450"/>
                        <a:ext cx="7903845" cy="21272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0541"/>
                                        </p:tgtEl>
                                        <p:attrNameLst>
                                          <p:attrName>style.visibility</p:attrName>
                                        </p:attrNameLst>
                                      </p:cBhvr>
                                      <p:to>
                                        <p:strVal val="visible"/>
                                      </p:to>
                                    </p:set>
                                    <p:animEffect transition="in" filter="wipe(left)">
                                      <p:cBhvr>
                                        <p:cTn id="7" dur="500"/>
                                        <p:tgtEl>
                                          <p:spTgt spid="150541"/>
                                        </p:tgtEl>
                                      </p:cBhvr>
                                    </p:animEffect>
                                  </p:childTnLst>
                                  <p:subTnLst>
                                    <p:set>
                                      <p:cBhvr override="childStyle">
                                        <p:cTn dur="1" fill="hold" display="0" masterRel="nextClick" afterEffect="1"/>
                                        <p:tgtEl>
                                          <p:spTgt spid="15054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0531"/>
                                        </p:tgtEl>
                                        <p:attrNameLst>
                                          <p:attrName>style.visibility</p:attrName>
                                        </p:attrNameLst>
                                      </p:cBhvr>
                                      <p:to>
                                        <p:strVal val="visible"/>
                                      </p:to>
                                    </p:set>
                                    <p:animEffect transition="in" filter="wipe(left)">
                                      <p:cBhvr>
                                        <p:cTn id="12" dur="500"/>
                                        <p:tgtEl>
                                          <p:spTgt spid="1505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50539"/>
                                        </p:tgtEl>
                                        <p:attrNameLst>
                                          <p:attrName>style.visibility</p:attrName>
                                        </p:attrNameLst>
                                      </p:cBhvr>
                                      <p:to>
                                        <p:strVal val="visible"/>
                                      </p:to>
                                    </p:set>
                                    <p:animEffect transition="in" filter="checkerboard(across)">
                                      <p:cBhvr>
                                        <p:cTn id="22" dur="500"/>
                                        <p:tgtEl>
                                          <p:spTgt spid="150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604"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25605" name="Rectangle 1026"/>
          <p:cNvSpPr>
            <a:spLocks noGrp="1"/>
          </p:cNvSpPr>
          <p:nvPr>
            <p:ph type="title"/>
          </p:nvPr>
        </p:nvSpPr>
        <p:spPr>
          <a:xfrm>
            <a:off x="288925" y="260350"/>
            <a:ext cx="3592513" cy="1143000"/>
          </a:xfrm>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由于局部截断误差</a:t>
            </a:r>
            <a:r>
              <a:rPr lang="zh-CN" altLang="en-US" dirty="0"/>
              <a:t> </a:t>
            </a:r>
            <a:endParaRPr lang="zh-CN" altLang="en-US" dirty="0"/>
          </a:p>
        </p:txBody>
      </p:sp>
      <p:graphicFrame>
        <p:nvGraphicFramePr>
          <p:cNvPr id="151555" name="Object 1027"/>
          <p:cNvGraphicFramePr/>
          <p:nvPr/>
        </p:nvGraphicFramePr>
        <p:xfrm>
          <a:off x="3748088" y="498475"/>
          <a:ext cx="4735512" cy="600075"/>
        </p:xfrm>
        <a:graphic>
          <a:graphicData uri="http://schemas.openxmlformats.org/presentationml/2006/ole">
            <mc:AlternateContent xmlns:mc="http://schemas.openxmlformats.org/markup-compatibility/2006">
              <mc:Choice xmlns:v="urn:schemas-microsoft-com:vml" Requires="v">
                <p:oleObj spid="_x0000_s3111" name="" r:id="rId1" imgW="1929765" imgH="241300" progId="Equation.3">
                  <p:embed/>
                </p:oleObj>
              </mc:Choice>
              <mc:Fallback>
                <p:oleObj name="" r:id="rId1" imgW="1929765" imgH="241300" progId="Equation.3">
                  <p:embed/>
                  <p:pic>
                    <p:nvPicPr>
                      <p:cNvPr id="0" name="图片 3110"/>
                      <p:cNvPicPr/>
                      <p:nvPr/>
                    </p:nvPicPr>
                    <p:blipFill>
                      <a:blip r:embed="rId2"/>
                      <a:stretch>
                        <a:fillRect/>
                      </a:stretch>
                    </p:blipFill>
                    <p:spPr>
                      <a:xfrm>
                        <a:off x="3748088" y="498475"/>
                        <a:ext cx="4735512" cy="600075"/>
                      </a:xfrm>
                      <a:prstGeom prst="rect">
                        <a:avLst/>
                      </a:prstGeom>
                      <a:noFill/>
                      <a:ln w="38100">
                        <a:noFill/>
                        <a:miter/>
                      </a:ln>
                    </p:spPr>
                  </p:pic>
                </p:oleObj>
              </mc:Fallback>
            </mc:AlternateContent>
          </a:graphicData>
        </a:graphic>
      </p:graphicFrame>
      <p:sp>
        <p:nvSpPr>
          <p:cNvPr id="151557" name="Text Box 1029"/>
          <p:cNvSpPr txBox="1"/>
          <p:nvPr/>
        </p:nvSpPr>
        <p:spPr>
          <a:xfrm>
            <a:off x="327025" y="1243013"/>
            <a:ext cx="8564563" cy="2774950"/>
          </a:xfrm>
          <a:prstGeom prst="rect">
            <a:avLst/>
          </a:prstGeom>
          <a:noFill/>
          <a:ln w="9525">
            <a:noFill/>
          </a:ln>
        </p:spPr>
        <p:txBody>
          <a:bodyPr>
            <a:spAutoFit/>
          </a:bodyPr>
          <a:p>
            <a:pPr eaLnBrk="0" hangingPunct="0">
              <a:lnSpc>
                <a:spcPct val="110000"/>
              </a:lnSpc>
            </a:pPr>
            <a:r>
              <a:rPr lang="zh-CN" altLang="en-US" b="1" dirty="0">
                <a:latin typeface="Times New Roman" panose="02020603050405020304" pitchFamily="18" charset="0"/>
              </a:rPr>
              <a:t>可知它是一个 </a:t>
            </a:r>
            <a:r>
              <a:rPr lang="en-US" altLang="zh-CN" b="1" i="1" dirty="0">
                <a:latin typeface="Times New Roman" panose="02020603050405020304" pitchFamily="18" charset="0"/>
              </a:rPr>
              <a:t>p</a:t>
            </a:r>
            <a:r>
              <a:rPr lang="en-US" altLang="zh-CN" b="1" dirty="0">
                <a:latin typeface="Times New Roman" panose="02020603050405020304" pitchFamily="18" charset="0"/>
              </a:rPr>
              <a:t> </a:t>
            </a:r>
            <a:r>
              <a:rPr lang="zh-CN" altLang="en-US" b="1" dirty="0">
                <a:latin typeface="Times New Roman" panose="02020603050405020304" pitchFamily="18" charset="0"/>
              </a:rPr>
              <a:t>阶方法。当</a:t>
            </a:r>
            <a:r>
              <a:rPr lang="en-US" altLang="zh-CN" b="1" i="1" dirty="0">
                <a:latin typeface="Times New Roman" panose="02020603050405020304" pitchFamily="18" charset="0"/>
              </a:rPr>
              <a:t>p</a:t>
            </a:r>
            <a:r>
              <a:rPr lang="en-US" altLang="zh-CN" b="1" dirty="0">
                <a:latin typeface="Times New Roman" panose="02020603050405020304" pitchFamily="18" charset="0"/>
              </a:rPr>
              <a:t>=1</a:t>
            </a:r>
            <a:r>
              <a:rPr lang="zh-CN" altLang="en-US" b="1" dirty="0">
                <a:latin typeface="Times New Roman" panose="02020603050405020304" pitchFamily="18" charset="0"/>
              </a:rPr>
              <a:t>时，上式正是</a:t>
            </a:r>
            <a:r>
              <a:rPr lang="en-US" altLang="zh-CN" b="1" dirty="0">
                <a:latin typeface="Times New Roman" panose="02020603050405020304" pitchFamily="18" charset="0"/>
              </a:rPr>
              <a:t>Euler </a:t>
            </a:r>
            <a:r>
              <a:rPr lang="zh-CN" altLang="en-US" b="1" dirty="0">
                <a:latin typeface="Times New Roman" panose="02020603050405020304" pitchFamily="18" charset="0"/>
              </a:rPr>
              <a:t>公式。但当 </a:t>
            </a:r>
            <a:r>
              <a:rPr lang="en-US" altLang="zh-CN" b="1" i="1" dirty="0">
                <a:latin typeface="Times New Roman" panose="02020603050405020304" pitchFamily="18" charset="0"/>
              </a:rPr>
              <a:t>p</a:t>
            </a:r>
            <a:r>
              <a:rPr lang="en-US" altLang="zh-CN" b="1" dirty="0">
                <a:latin typeface="Times New Roman" panose="02020603050405020304" pitchFamily="18" charset="0"/>
              </a:rPr>
              <a:t> &gt;2 </a:t>
            </a:r>
            <a:r>
              <a:rPr lang="zh-CN" altLang="en-US" b="1" dirty="0">
                <a:latin typeface="Times New Roman" panose="02020603050405020304" pitchFamily="18" charset="0"/>
              </a:rPr>
              <a:t>时，需要计算</a:t>
            </a:r>
            <a:r>
              <a:rPr lang="en-US" altLang="zh-CN" b="1" i="1" dirty="0">
                <a:latin typeface="Times New Roman" panose="02020603050405020304" pitchFamily="18" charset="0"/>
              </a:rPr>
              <a:t>f</a:t>
            </a: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dirty="0">
                <a:latin typeface="Times New Roman" panose="02020603050405020304" pitchFamily="18" charset="0"/>
              </a:rPr>
              <a:t>, </a:t>
            </a:r>
            <a:r>
              <a:rPr lang="en-US" altLang="zh-CN" b="1" i="1" dirty="0">
                <a:latin typeface="Times New Roman" panose="02020603050405020304" pitchFamily="18" charset="0"/>
              </a:rPr>
              <a:t>y</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dirty="0">
                <a:latin typeface="Times New Roman" panose="02020603050405020304" pitchFamily="18" charset="0"/>
              </a:rPr>
              <a:t>) ) </a:t>
            </a:r>
            <a:r>
              <a:rPr lang="zh-CN" altLang="en-US" b="1" dirty="0">
                <a:latin typeface="Times New Roman" panose="02020603050405020304" pitchFamily="18" charset="0"/>
              </a:rPr>
              <a:t>的高阶导数，特别是对于复杂函数 </a:t>
            </a:r>
            <a:r>
              <a:rPr lang="en-US" altLang="zh-CN" b="1" i="1" dirty="0">
                <a:latin typeface="Times New Roman" panose="02020603050405020304" pitchFamily="18" charset="0"/>
              </a:rPr>
              <a:t>f</a:t>
            </a: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dirty="0">
                <a:latin typeface="Times New Roman" panose="02020603050405020304" pitchFamily="18" charset="0"/>
              </a:rPr>
              <a:t>, </a:t>
            </a:r>
            <a:r>
              <a:rPr lang="en-US" altLang="zh-CN" b="1" i="1" dirty="0">
                <a:latin typeface="Times New Roman" panose="02020603050405020304" pitchFamily="18" charset="0"/>
              </a:rPr>
              <a:t>y</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dirty="0">
                <a:latin typeface="Times New Roman" panose="02020603050405020304" pitchFamily="18" charset="0"/>
              </a:rPr>
              <a:t>)) </a:t>
            </a:r>
            <a:r>
              <a:rPr lang="zh-CN" altLang="en-US" b="1" dirty="0">
                <a:latin typeface="Times New Roman" panose="02020603050405020304" pitchFamily="18" charset="0"/>
              </a:rPr>
              <a:t>的求导，这无疑是大大增加计算量，这是它最大的缺点。因此高阶的</a:t>
            </a:r>
            <a:r>
              <a:rPr lang="en-US" altLang="zh-CN" b="1" dirty="0">
                <a:latin typeface="Times New Roman" panose="02020603050405020304" pitchFamily="18" charset="0"/>
              </a:rPr>
              <a:t>Taylor</a:t>
            </a:r>
            <a:r>
              <a:rPr lang="zh-CN" altLang="en-US" b="1" dirty="0">
                <a:latin typeface="Times New Roman" panose="02020603050405020304" pitchFamily="18" charset="0"/>
              </a:rPr>
              <a:t>方法是不实用的。</a:t>
            </a:r>
            <a:endParaRPr lang="zh-CN" altLang="en-US" b="1" dirty="0">
              <a:latin typeface="Times New Roman" panose="02020603050405020304" pitchFamily="18" charset="0"/>
            </a:endParaRPr>
          </a:p>
        </p:txBody>
      </p:sp>
      <p:sp>
        <p:nvSpPr>
          <p:cNvPr id="151559" name="Text Box 1031"/>
          <p:cNvSpPr txBox="1"/>
          <p:nvPr/>
        </p:nvSpPr>
        <p:spPr>
          <a:xfrm>
            <a:off x="285750" y="4035425"/>
            <a:ext cx="8666163" cy="1844675"/>
          </a:xfrm>
          <a:prstGeom prst="rect">
            <a:avLst/>
          </a:prstGeom>
          <a:noFill/>
          <a:ln w="9525">
            <a:noFill/>
          </a:ln>
        </p:spPr>
        <p:txBody>
          <a:bodyPr>
            <a:spAutoFit/>
          </a:bodyPr>
          <a:p>
            <a:pPr eaLnBrk="0" hangingPunct="0">
              <a:lnSpc>
                <a:spcPct val="120000"/>
              </a:lnSpc>
            </a:pPr>
            <a:r>
              <a:rPr lang="zh-CN" altLang="en-US" b="1" dirty="0">
                <a:latin typeface="Times New Roman" panose="02020603050405020304" pitchFamily="18" charset="0"/>
              </a:rPr>
              <a:t>        </a:t>
            </a:r>
            <a:r>
              <a:rPr lang="zh-CN" altLang="en-US" dirty="0">
                <a:latin typeface="Times New Roman" panose="02020603050405020304" pitchFamily="18" charset="0"/>
              </a:rPr>
              <a:t>德国数学家</a:t>
            </a:r>
            <a:r>
              <a:rPr lang="en-US" altLang="zh-CN" dirty="0">
                <a:latin typeface="Times New Roman" panose="02020603050405020304" pitchFamily="18" charset="0"/>
              </a:rPr>
              <a:t>C.Runge</a:t>
            </a:r>
            <a:r>
              <a:rPr lang="zh-CN" altLang="en-US" dirty="0">
                <a:latin typeface="Times New Roman" panose="02020603050405020304" pitchFamily="18" charset="0"/>
              </a:rPr>
              <a:t>及</a:t>
            </a:r>
            <a:r>
              <a:rPr lang="en-US" altLang="zh-CN" dirty="0">
                <a:latin typeface="Times New Roman" panose="02020603050405020304" pitchFamily="18" charset="0"/>
              </a:rPr>
              <a:t>M.W.Kutta</a:t>
            </a:r>
            <a:r>
              <a:rPr lang="zh-CN" altLang="en-US" dirty="0">
                <a:latin typeface="Times New Roman" panose="02020603050405020304" pitchFamily="18" charset="0"/>
              </a:rPr>
              <a:t>提出了一种改进策略，得到了至今还作为高精度单步法被广泛使用龙格-库塔法(</a:t>
            </a:r>
            <a:r>
              <a:rPr lang="en-US" altLang="zh-CN" dirty="0">
                <a:solidFill>
                  <a:srgbClr val="FF0000"/>
                </a:solidFill>
                <a:latin typeface="Times New Roman" panose="02020603050405020304" pitchFamily="18" charset="0"/>
              </a:rPr>
              <a:t>Runge-Kutta method</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51555"/>
                                        </p:tgtEl>
                                        <p:attrNameLst>
                                          <p:attrName>style.visibility</p:attrName>
                                        </p:attrNameLst>
                                      </p:cBhvr>
                                      <p:to>
                                        <p:strVal val="visible"/>
                                      </p:to>
                                    </p:set>
                                    <p:animEffect transition="in" filter="checkerboard(across)">
                                      <p:cBhvr>
                                        <p:cTn id="7" dur="500"/>
                                        <p:tgtEl>
                                          <p:spTgt spid="15155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51557"/>
                                        </p:tgtEl>
                                        <p:attrNameLst>
                                          <p:attrName>style.visibility</p:attrName>
                                        </p:attrNameLst>
                                      </p:cBhvr>
                                      <p:to>
                                        <p:strVal val="visible"/>
                                      </p:to>
                                    </p:set>
                                    <p:animEffect transition="in" filter="box(in)">
                                      <p:cBhvr>
                                        <p:cTn id="12" dur="500"/>
                                        <p:tgtEl>
                                          <p:spTgt spid="15155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1559"/>
                                        </p:tgtEl>
                                        <p:attrNameLst>
                                          <p:attrName>style.visibility</p:attrName>
                                        </p:attrNameLst>
                                      </p:cBhvr>
                                      <p:to>
                                        <p:strVal val="visible"/>
                                      </p:to>
                                    </p:set>
                                    <p:animEffect transition="in" filter="dissolve">
                                      <p:cBhvr>
                                        <p:cTn id="17" dur="500"/>
                                        <p:tgtEl>
                                          <p:spTgt spid="151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7" grpId="0"/>
      <p:bldP spid="15155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9"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26630" name="Rectangle 7"/>
          <p:cNvSpPr>
            <a:spLocks noGrp="1"/>
          </p:cNvSpPr>
          <p:nvPr>
            <p:ph type="title"/>
          </p:nvPr>
        </p:nvSpPr>
        <p:spPr>
          <a:xfrm>
            <a:off x="293688" y="298450"/>
            <a:ext cx="7772400" cy="977900"/>
          </a:xfrm>
          <a:ln/>
        </p:spPr>
        <p:txBody>
          <a:bodyPr vert="horz" wrap="square" lIns="91440" tIns="45720" rIns="91440" bIns="45720" anchor="ctr" anchorCtr="0"/>
          <a:p>
            <a:pPr algn="l"/>
            <a:r>
              <a:rPr lang="en-US" altLang="en-US" b="1" u="none" dirty="0">
                <a:latin typeface="Times New Roman" panose="02020603050405020304" pitchFamily="18" charset="0"/>
              </a:rPr>
              <a:t>9.2.1 Runge-Kutta</a:t>
            </a:r>
            <a:r>
              <a:rPr lang="zh-CN" altLang="en-US" b="1" u="none" dirty="0">
                <a:latin typeface="Times New Roman" panose="02020603050405020304" pitchFamily="18" charset="0"/>
              </a:rPr>
              <a:t>方法的基本思想</a:t>
            </a:r>
            <a:endParaRPr lang="zh-CN" altLang="zh-CN" sz="4000" b="1" dirty="0"/>
          </a:p>
        </p:txBody>
      </p:sp>
      <p:graphicFrame>
        <p:nvGraphicFramePr>
          <p:cNvPr id="209922" name="Object 2"/>
          <p:cNvGraphicFramePr/>
          <p:nvPr/>
        </p:nvGraphicFramePr>
        <p:xfrm>
          <a:off x="766763" y="3471863"/>
          <a:ext cx="7235825" cy="1201737"/>
        </p:xfrm>
        <a:graphic>
          <a:graphicData uri="http://schemas.openxmlformats.org/presentationml/2006/ole">
            <mc:AlternateContent xmlns:mc="http://schemas.openxmlformats.org/markup-compatibility/2006">
              <mc:Choice xmlns:v="urn:schemas-microsoft-com:vml" Requires="v">
                <p:oleObj spid="_x0000_s3142" name="" r:id="rId1" imgW="2894330" imgH="482600" progId="Equation.3">
                  <p:embed/>
                </p:oleObj>
              </mc:Choice>
              <mc:Fallback>
                <p:oleObj name="" r:id="rId1" imgW="2894330" imgH="482600" progId="Equation.3">
                  <p:embed/>
                  <p:pic>
                    <p:nvPicPr>
                      <p:cNvPr id="0" name="图片 3141"/>
                      <p:cNvPicPr/>
                      <p:nvPr/>
                    </p:nvPicPr>
                    <p:blipFill>
                      <a:blip r:embed="rId2"/>
                      <a:stretch>
                        <a:fillRect/>
                      </a:stretch>
                    </p:blipFill>
                    <p:spPr>
                      <a:xfrm>
                        <a:off x="766763" y="3471863"/>
                        <a:ext cx="7235825" cy="1201737"/>
                      </a:xfrm>
                      <a:prstGeom prst="rect">
                        <a:avLst/>
                      </a:prstGeom>
                      <a:noFill/>
                      <a:ln w="38100">
                        <a:noFill/>
                        <a:miter/>
                      </a:ln>
                    </p:spPr>
                  </p:pic>
                </p:oleObj>
              </mc:Fallback>
            </mc:AlternateContent>
          </a:graphicData>
        </a:graphic>
      </p:graphicFrame>
      <p:sp>
        <p:nvSpPr>
          <p:cNvPr id="91151" name="Text Box 15"/>
          <p:cNvSpPr txBox="1"/>
          <p:nvPr/>
        </p:nvSpPr>
        <p:spPr>
          <a:xfrm>
            <a:off x="258763" y="1117600"/>
            <a:ext cx="8580437" cy="2453640"/>
          </a:xfrm>
          <a:prstGeom prst="rect">
            <a:avLst/>
          </a:prstGeom>
          <a:noFill/>
          <a:ln w="9525">
            <a:noFill/>
          </a:ln>
        </p:spPr>
        <p:txBody>
          <a:bodyPr>
            <a:spAutoFit/>
          </a:bodyPr>
          <a:p>
            <a:pPr>
              <a:lnSpc>
                <a:spcPct val="120000"/>
              </a:lnSpc>
              <a:buClr>
                <a:schemeClr val="accent2"/>
              </a:buClr>
              <a:buFont typeface="ZapfDingbats" pitchFamily="82" charset="2"/>
            </a:pPr>
            <a:r>
              <a:rPr lang="en-US" altLang="en-US" dirty="0">
                <a:latin typeface="Times New Roman" panose="02020603050405020304" pitchFamily="18" charset="0"/>
              </a:rPr>
              <a:t>	</a:t>
            </a:r>
            <a:r>
              <a:rPr lang="en-US" altLang="en-US" b="1" dirty="0">
                <a:latin typeface="Times New Roman" panose="02020603050405020304" pitchFamily="18" charset="0"/>
              </a:rPr>
              <a:t>Runge-Kutta</a:t>
            </a:r>
            <a:r>
              <a:rPr lang="zh-CN" altLang="en-US" b="1" dirty="0">
                <a:latin typeface="Times New Roman" panose="02020603050405020304" pitchFamily="18" charset="0"/>
              </a:rPr>
              <a:t>方法是</a:t>
            </a:r>
            <a:r>
              <a:rPr lang="zh-CN" altLang="en-US" b="1" dirty="0">
                <a:solidFill>
                  <a:srgbClr val="FF0000"/>
                </a:solidFill>
                <a:latin typeface="Times New Roman" panose="02020603050405020304" pitchFamily="18" charset="0"/>
              </a:rPr>
              <a:t>利用 </a:t>
            </a:r>
            <a:r>
              <a:rPr lang="en-US" altLang="zh-CN" b="1" i="1" dirty="0">
                <a:solidFill>
                  <a:srgbClr val="FF0000"/>
                </a:solidFill>
                <a:latin typeface="Times New Roman" panose="02020603050405020304" pitchFamily="18" charset="0"/>
              </a:rPr>
              <a:t>f</a:t>
            </a:r>
            <a:r>
              <a:rPr lang="en-US" altLang="zh-CN" b="1" dirty="0">
                <a:solidFill>
                  <a:srgbClr val="FF0000"/>
                </a:solidFill>
                <a:latin typeface="Times New Roman" panose="02020603050405020304" pitchFamily="18" charset="0"/>
              </a:rPr>
              <a:t> </a:t>
            </a:r>
            <a:r>
              <a:rPr lang="zh-CN" altLang="zh-CN" b="1" dirty="0">
                <a:solidFill>
                  <a:srgbClr val="FF0000"/>
                </a:solidFill>
                <a:latin typeface="Times New Roman" panose="02020603050405020304" pitchFamily="18" charset="0"/>
              </a:rPr>
              <a:t>在</a:t>
            </a:r>
            <a:r>
              <a:rPr lang="zh-CN" altLang="en-US" b="1" dirty="0">
                <a:solidFill>
                  <a:srgbClr val="FF0000"/>
                </a:solidFill>
                <a:latin typeface="Times New Roman" panose="02020603050405020304" pitchFamily="18" charset="0"/>
              </a:rPr>
              <a:t>某些点处函数值的线性组合替代（</a:t>
            </a:r>
            <a:r>
              <a:rPr lang="en-US" altLang="zh-CN" b="1" dirty="0">
                <a:solidFill>
                  <a:srgbClr val="FF0000"/>
                </a:solidFill>
                <a:latin typeface="Times New Roman" panose="02020603050405020304" pitchFamily="18" charset="0"/>
              </a:rPr>
              <a:t>9.</a:t>
            </a:r>
            <a:r>
              <a:rPr lang="zh-CN" altLang="en-US" b="1" dirty="0">
                <a:solidFill>
                  <a:srgbClr val="FF0000"/>
                </a:solidFill>
                <a:latin typeface="Times New Roman" panose="02020603050405020304" pitchFamily="18" charset="0"/>
              </a:rPr>
              <a:t>2.4）步长 </a:t>
            </a:r>
            <a:r>
              <a:rPr lang="en-US" altLang="zh-CN" b="1" i="1" dirty="0">
                <a:solidFill>
                  <a:srgbClr val="FF0000"/>
                </a:solidFill>
                <a:latin typeface="Times New Roman" panose="02020603050405020304" pitchFamily="18" charset="0"/>
              </a:rPr>
              <a:t>h</a:t>
            </a:r>
            <a:r>
              <a:rPr lang="en-US" altLang="zh-CN" b="1" dirty="0">
                <a:solidFill>
                  <a:srgbClr val="FF0000"/>
                </a:solidFill>
                <a:latin typeface="Times New Roman" panose="02020603050405020304" pitchFamily="18" charset="0"/>
              </a:rPr>
              <a:t> </a:t>
            </a:r>
            <a:r>
              <a:rPr lang="zh-CN" altLang="en-US" b="1" dirty="0">
                <a:solidFill>
                  <a:srgbClr val="FF0000"/>
                </a:solidFill>
                <a:latin typeface="Times New Roman" panose="02020603050405020304" pitchFamily="18" charset="0"/>
              </a:rPr>
              <a:t>后面括号中的因子来构造差分方程</a:t>
            </a:r>
            <a:r>
              <a:rPr lang="zh-CN" altLang="en-US" dirty="0">
                <a:latin typeface="Times New Roman" panose="02020603050405020304" pitchFamily="18" charset="0"/>
              </a:rPr>
              <a:t>, </a:t>
            </a:r>
            <a:r>
              <a:rPr lang="zh-CN" altLang="en-US" b="1" dirty="0">
                <a:latin typeface="Times New Roman" panose="02020603050405020304" pitchFamily="18" charset="0"/>
              </a:rPr>
              <a:t>从而避免了高阶导数的计算, 这就是 </a:t>
            </a:r>
            <a:r>
              <a:rPr lang="en-US" altLang="zh-CN" b="1" dirty="0">
                <a:latin typeface="Times New Roman" panose="02020603050405020304" pitchFamily="18" charset="0"/>
              </a:rPr>
              <a:t>Runge-Kutta </a:t>
            </a:r>
            <a:r>
              <a:rPr lang="zh-CN" altLang="zh-CN" b="1" dirty="0">
                <a:latin typeface="Times New Roman" panose="02020603050405020304" pitchFamily="18" charset="0"/>
              </a:rPr>
              <a:t>方法的基本思想</a:t>
            </a:r>
            <a:r>
              <a:rPr lang="zh-CN" altLang="en-US" b="1" dirty="0">
                <a:latin typeface="Times New Roman" panose="02020603050405020304" pitchFamily="18" charset="0"/>
              </a:rPr>
              <a:t>.</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aphicFrame>
        <p:nvGraphicFramePr>
          <p:cNvPr id="209923" name="Object 3"/>
          <p:cNvGraphicFramePr/>
          <p:nvPr/>
        </p:nvGraphicFramePr>
        <p:xfrm>
          <a:off x="2868613" y="3513138"/>
          <a:ext cx="4887912" cy="1201737"/>
        </p:xfrm>
        <a:graphic>
          <a:graphicData uri="http://schemas.openxmlformats.org/presentationml/2006/ole">
            <mc:AlternateContent xmlns:mc="http://schemas.openxmlformats.org/markup-compatibility/2006">
              <mc:Choice xmlns:v="urn:schemas-microsoft-com:vml" Requires="v">
                <p:oleObj spid="_x0000_s3139" name="" r:id="rId3" imgW="1955165" imgH="482600" progId="Equation.3">
                  <p:embed/>
                </p:oleObj>
              </mc:Choice>
              <mc:Fallback>
                <p:oleObj name="" r:id="rId3" imgW="1955165" imgH="482600" progId="Equation.3">
                  <p:embed/>
                  <p:pic>
                    <p:nvPicPr>
                      <p:cNvPr id="0" name="图片 3138"/>
                      <p:cNvPicPr/>
                      <p:nvPr/>
                    </p:nvPicPr>
                    <p:blipFill>
                      <a:blip r:embed="rId4"/>
                      <a:stretch>
                        <a:fillRect/>
                      </a:stretch>
                    </p:blipFill>
                    <p:spPr>
                      <a:xfrm>
                        <a:off x="2868613" y="3513138"/>
                        <a:ext cx="4887912" cy="1201737"/>
                      </a:xfrm>
                      <a:prstGeom prst="rect">
                        <a:avLst/>
                      </a:prstGeom>
                      <a:gradFill rotWithShape="0">
                        <a:gsLst>
                          <a:gs pos="0">
                            <a:srgbClr val="FFFFFF"/>
                          </a:gs>
                          <a:gs pos="50000">
                            <a:schemeClr val="accent1"/>
                          </a:gs>
                          <a:gs pos="100000">
                            <a:srgbClr val="FFFFFF"/>
                          </a:gs>
                        </a:gsLst>
                        <a:lin ang="5400000" scaled="1"/>
                        <a:tileRect/>
                      </a:gradFill>
                      <a:ln w="38100">
                        <a:noFill/>
                        <a:miter/>
                      </a:ln>
                    </p:spPr>
                  </p:pic>
                </p:oleObj>
              </mc:Fallback>
            </mc:AlternateContent>
          </a:graphicData>
        </a:graphic>
      </p:graphicFrame>
      <p:sp>
        <p:nvSpPr>
          <p:cNvPr id="91155" name="AutoShape 19"/>
          <p:cNvSpPr>
            <a:spLocks noChangeArrowheads="1"/>
          </p:cNvSpPr>
          <p:nvPr/>
        </p:nvSpPr>
        <p:spPr bwMode="auto">
          <a:xfrm>
            <a:off x="180975" y="5203825"/>
            <a:ext cx="8767763" cy="504825"/>
          </a:xfrm>
          <a:prstGeom prst="wedgeRoundRectCallout">
            <a:avLst>
              <a:gd name="adj1" fmla="val 2454"/>
              <a:gd name="adj2" fmla="val -154403"/>
              <a:gd name="adj3" fmla="val 16667"/>
            </a:avLst>
          </a:prstGeom>
          <a:gradFill rotWithShape="0">
            <a:gsLst>
              <a:gs pos="0">
                <a:srgbClr val="FFFFFF"/>
              </a:gs>
              <a:gs pos="50000">
                <a:schemeClr val="hlink"/>
              </a:gs>
              <a:gs pos="100000">
                <a:srgbClr val="FFFFFF"/>
              </a:gs>
            </a:gsLst>
            <a:lin ang="5400000" scaled="1"/>
          </a:gradFill>
          <a:ln w="9525">
            <a:solidFill>
              <a:schemeClr val="tx1"/>
            </a:solidFill>
            <a:miter lim="800000"/>
          </a:ln>
          <a:effectLst/>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用</a:t>
            </a:r>
            <a:r>
              <a:rPr kumimoji="0" lang="en-US" altLang="zh-CN" sz="28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f</a:t>
            </a:r>
            <a:r>
              <a:rPr kumimoji="0" lang="en-US" altLang="zh-CN" sz="28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 </a:t>
            </a:r>
            <a:r>
              <a:rPr kumimoji="0" lang="zh-CN" altLang="zh-CN" sz="28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在</a:t>
            </a:r>
            <a:r>
              <a:rPr kumimoji="0" lang="zh-CN" altLang="en-US" sz="28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某些点处函数值的线性组合替代这一部分</a:t>
            </a:r>
            <a:endParaRPr kumimoji="0" lang="zh-CN" altLang="en-US" sz="28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1151"/>
                                        </p:tgtEl>
                                        <p:attrNameLst>
                                          <p:attrName>style.visibility</p:attrName>
                                        </p:attrNameLst>
                                      </p:cBhvr>
                                      <p:to>
                                        <p:strVal val="visible"/>
                                      </p:to>
                                    </p:set>
                                    <p:animEffect transition="in" filter="checkerboard(across)">
                                      <p:cBhvr>
                                        <p:cTn id="7" dur="500"/>
                                        <p:tgtEl>
                                          <p:spTgt spid="9115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09922"/>
                                        </p:tgtEl>
                                        <p:attrNameLst>
                                          <p:attrName>style.visibility</p:attrName>
                                        </p:attrNameLst>
                                      </p:cBhvr>
                                      <p:to>
                                        <p:strVal val="visible"/>
                                      </p:to>
                                    </p:set>
                                    <p:animEffect transition="in" filter="checkerboard(across)">
                                      <p:cBhvr>
                                        <p:cTn id="12" dur="500"/>
                                        <p:tgtEl>
                                          <p:spTgt spid="20992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09923"/>
                                        </p:tgtEl>
                                        <p:attrNameLst>
                                          <p:attrName>style.visibility</p:attrName>
                                        </p:attrNameLst>
                                      </p:cBhvr>
                                      <p:to>
                                        <p:strVal val="visible"/>
                                      </p:to>
                                    </p:set>
                                    <p:animEffect transition="in" filter="checkerboard(across)">
                                      <p:cBhvr>
                                        <p:cTn id="17" dur="500"/>
                                        <p:tgtEl>
                                          <p:spTgt spid="20992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91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1" grpId="0"/>
      <p:bldP spid="9115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654"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27655" name="Rectangle 2"/>
          <p:cNvSpPr>
            <a:spLocks noGrp="1"/>
          </p:cNvSpPr>
          <p:nvPr>
            <p:ph type="title"/>
          </p:nvPr>
        </p:nvSpPr>
        <p:spPr>
          <a:xfrm>
            <a:off x="336550" y="254000"/>
            <a:ext cx="7772400" cy="977900"/>
          </a:xfrm>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其一般形式为:</a:t>
            </a:r>
            <a:endParaRPr lang="zh-CN" altLang="zh-CN" sz="3600" b="1" dirty="0">
              <a:solidFill>
                <a:srgbClr val="0033CC"/>
              </a:solidFill>
            </a:endParaRPr>
          </a:p>
        </p:txBody>
      </p:sp>
      <p:grpSp>
        <p:nvGrpSpPr>
          <p:cNvPr id="2" name="Group 13"/>
          <p:cNvGrpSpPr/>
          <p:nvPr/>
        </p:nvGrpSpPr>
        <p:grpSpPr>
          <a:xfrm>
            <a:off x="320675" y="3762375"/>
            <a:ext cx="8550275" cy="1773238"/>
            <a:chOff x="202" y="2480"/>
            <a:chExt cx="5386" cy="1117"/>
          </a:xfrm>
        </p:grpSpPr>
        <p:sp>
          <p:nvSpPr>
            <p:cNvPr id="27657" name="Rectangle 6"/>
            <p:cNvSpPr/>
            <p:nvPr/>
          </p:nvSpPr>
          <p:spPr>
            <a:xfrm>
              <a:off x="202" y="2480"/>
              <a:ext cx="5386" cy="1117"/>
            </a:xfrm>
            <a:prstGeom prst="rect">
              <a:avLst/>
            </a:prstGeom>
            <a:noFill/>
            <a:ln w="9525">
              <a:noFill/>
            </a:ln>
          </p:spPr>
          <p:txBody>
            <a:bodyPr>
              <a:spAutoFit/>
            </a:bodyPr>
            <a:p>
              <a:pPr>
                <a:lnSpc>
                  <a:spcPct val="115000"/>
                </a:lnSpc>
              </a:pPr>
              <a:r>
                <a:rPr lang="zh-CN" altLang="en-US" b="1" dirty="0">
                  <a:latin typeface="Times New Roman" panose="02020603050405020304" pitchFamily="18" charset="0"/>
                </a:rPr>
                <a:t>其中 </a:t>
              </a:r>
              <a:r>
                <a:rPr lang="en-US" altLang="zh-CN" b="1" i="1" dirty="0">
                  <a:latin typeface="Times New Roman" panose="02020603050405020304" pitchFamily="18" charset="0"/>
                </a:rPr>
                <a:t>s </a:t>
              </a:r>
              <a:r>
                <a:rPr lang="zh-CN" altLang="zh-CN" b="1" dirty="0">
                  <a:latin typeface="Times New Roman" panose="02020603050405020304" pitchFamily="18" charset="0"/>
                </a:rPr>
                <a:t>是上式中调用</a:t>
              </a:r>
              <a:r>
                <a:rPr lang="zh-CN" altLang="en-US" b="1" dirty="0">
                  <a:latin typeface="Times New Roman" panose="02020603050405020304" pitchFamily="18" charset="0"/>
                </a:rPr>
                <a:t> </a:t>
              </a:r>
              <a:r>
                <a:rPr lang="en-US" altLang="zh-CN" b="1" i="1" dirty="0">
                  <a:latin typeface="Times New Roman" panose="02020603050405020304" pitchFamily="18" charset="0"/>
                </a:rPr>
                <a:t>f </a:t>
              </a:r>
              <a:r>
                <a:rPr lang="en-US" altLang="zh-CN" b="1" dirty="0">
                  <a:latin typeface="Times New Roman" panose="02020603050405020304" pitchFamily="18" charset="0"/>
                </a:rPr>
                <a:t> </a:t>
              </a:r>
              <a:r>
                <a:rPr lang="zh-CN" altLang="zh-CN" b="1" dirty="0">
                  <a:latin typeface="Times New Roman" panose="02020603050405020304" pitchFamily="18" charset="0"/>
                </a:rPr>
                <a:t>的个数</a:t>
              </a:r>
              <a:r>
                <a:rPr lang="zh-CN" altLang="en-US" b="1" dirty="0">
                  <a:latin typeface="Times New Roman" panose="02020603050405020304" pitchFamily="18" charset="0"/>
                </a:rPr>
                <a:t>, </a:t>
              </a:r>
              <a:r>
                <a:rPr lang="en-US" altLang="zh-CN" b="1" i="1" dirty="0">
                  <a:latin typeface="Times New Roman" panose="02020603050405020304" pitchFamily="18" charset="0"/>
                </a:rPr>
                <a:t>s </a:t>
              </a:r>
              <a:r>
                <a:rPr lang="zh-CN" altLang="zh-CN" b="1" dirty="0">
                  <a:latin typeface="Times New Roman" panose="02020603050405020304" pitchFamily="18" charset="0"/>
                </a:rPr>
                <a:t>称为级数，</a:t>
              </a:r>
              <a:endParaRPr lang="zh-CN" altLang="en-US" b="1" dirty="0">
                <a:latin typeface="Times New Roman" panose="02020603050405020304" pitchFamily="18" charset="0"/>
              </a:endParaRPr>
            </a:p>
            <a:p>
              <a:pPr>
                <a:lnSpc>
                  <a:spcPct val="115000"/>
                </a:lnSpc>
              </a:pPr>
              <a:r>
                <a:rPr lang="zh-CN" altLang="en-US" b="1" dirty="0">
                  <a:latin typeface="Times New Roman" panose="02020603050405020304" pitchFamily="18" charset="0"/>
                </a:rPr>
                <a:t>                 为待定参数, 适当确定这些参数, 可使之具有尽可能高的精度. 如局部截断误差满足</a:t>
              </a:r>
              <a:endParaRPr lang="zh-CN" altLang="en-US" b="1" dirty="0">
                <a:latin typeface="Times New Roman" panose="02020603050405020304" pitchFamily="18" charset="0"/>
              </a:endParaRPr>
            </a:p>
          </p:txBody>
        </p:sp>
        <p:graphicFrame>
          <p:nvGraphicFramePr>
            <p:cNvPr id="27652" name="Object 7"/>
            <p:cNvGraphicFramePr/>
            <p:nvPr/>
          </p:nvGraphicFramePr>
          <p:xfrm>
            <a:off x="268" y="2867"/>
            <a:ext cx="1067" cy="380"/>
          </p:xfrm>
          <a:graphic>
            <a:graphicData uri="http://schemas.openxmlformats.org/presentationml/2006/ole">
              <mc:AlternateContent xmlns:mc="http://schemas.openxmlformats.org/markup-compatibility/2006">
                <mc:Choice xmlns:v="urn:schemas-microsoft-com:vml" Requires="v">
                  <p:oleObj spid="_x0000_s3143" name="" r:id="rId1" imgW="673100" imgH="241300" progId="Equation.DSMT4">
                    <p:embed/>
                  </p:oleObj>
                </mc:Choice>
                <mc:Fallback>
                  <p:oleObj name="" r:id="rId1" imgW="673100" imgH="241300" progId="Equation.DSMT4">
                    <p:embed/>
                    <p:pic>
                      <p:nvPicPr>
                        <p:cNvPr id="0" name="图片 3142"/>
                        <p:cNvPicPr/>
                        <p:nvPr/>
                      </p:nvPicPr>
                      <p:blipFill>
                        <a:blip r:embed="rId2"/>
                        <a:stretch>
                          <a:fillRect/>
                        </a:stretch>
                      </p:blipFill>
                      <p:spPr>
                        <a:xfrm>
                          <a:off x="268" y="2867"/>
                          <a:ext cx="1067" cy="380"/>
                        </a:xfrm>
                        <a:prstGeom prst="rect">
                          <a:avLst/>
                        </a:prstGeom>
                        <a:noFill/>
                        <a:ln w="38100">
                          <a:noFill/>
                          <a:miter/>
                        </a:ln>
                      </p:spPr>
                    </p:pic>
                  </p:oleObj>
                </mc:Fallback>
              </mc:AlternateContent>
            </a:graphicData>
          </a:graphic>
        </p:graphicFrame>
      </p:grpSp>
      <p:graphicFrame>
        <p:nvGraphicFramePr>
          <p:cNvPr id="152586" name="Object 10"/>
          <p:cNvGraphicFramePr/>
          <p:nvPr/>
        </p:nvGraphicFramePr>
        <p:xfrm>
          <a:off x="2259013" y="5637213"/>
          <a:ext cx="4562475" cy="600075"/>
        </p:xfrm>
        <a:graphic>
          <a:graphicData uri="http://schemas.openxmlformats.org/presentationml/2006/ole">
            <mc:AlternateContent xmlns:mc="http://schemas.openxmlformats.org/markup-compatibility/2006">
              <mc:Choice xmlns:v="urn:schemas-microsoft-com:vml" Requires="v">
                <p:oleObj spid="_x0000_s3140" name="" r:id="rId3" imgW="1853565" imgH="241300" progId="Equation.3">
                  <p:embed/>
                </p:oleObj>
              </mc:Choice>
              <mc:Fallback>
                <p:oleObj name="" r:id="rId3" imgW="1853565" imgH="241300" progId="Equation.3">
                  <p:embed/>
                  <p:pic>
                    <p:nvPicPr>
                      <p:cNvPr id="0" name="图片 3139"/>
                      <p:cNvPicPr/>
                      <p:nvPr/>
                    </p:nvPicPr>
                    <p:blipFill>
                      <a:blip r:embed="rId4"/>
                      <a:stretch>
                        <a:fillRect/>
                      </a:stretch>
                    </p:blipFill>
                    <p:spPr>
                      <a:xfrm>
                        <a:off x="2259013" y="5637213"/>
                        <a:ext cx="4562475" cy="600075"/>
                      </a:xfrm>
                      <a:prstGeom prst="rect">
                        <a:avLst/>
                      </a:prstGeom>
                      <a:gradFill rotWithShape="0">
                        <a:gsLst>
                          <a:gs pos="0">
                            <a:srgbClr val="FFFFFF"/>
                          </a:gs>
                          <a:gs pos="50000">
                            <a:schemeClr val="accent1"/>
                          </a:gs>
                          <a:gs pos="100000">
                            <a:srgbClr val="FFFFFF"/>
                          </a:gs>
                        </a:gsLst>
                        <a:lin ang="5400000" scaled="1"/>
                        <a:tileRect/>
                      </a:gradFill>
                      <a:ln w="38100">
                        <a:noFill/>
                        <a:miter/>
                      </a:ln>
                    </p:spPr>
                  </p:pic>
                </p:oleObj>
              </mc:Fallback>
            </mc:AlternateContent>
          </a:graphicData>
        </a:graphic>
      </p:graphicFrame>
      <p:graphicFrame>
        <p:nvGraphicFramePr>
          <p:cNvPr id="140301" name="Object 13"/>
          <p:cNvGraphicFramePr/>
          <p:nvPr/>
        </p:nvGraphicFramePr>
        <p:xfrm>
          <a:off x="987425" y="844550"/>
          <a:ext cx="6924675" cy="3046413"/>
        </p:xfrm>
        <a:graphic>
          <a:graphicData uri="http://schemas.openxmlformats.org/presentationml/2006/ole">
            <mc:AlternateContent xmlns:mc="http://schemas.openxmlformats.org/markup-compatibility/2006">
              <mc:Choice xmlns:v="urn:schemas-microsoft-com:vml" Requires="v">
                <p:oleObj spid="_x0000_s3141" name="" r:id="rId5" imgW="2781300" imgH="1219200" progId="Equation.3">
                  <p:embed/>
                </p:oleObj>
              </mc:Choice>
              <mc:Fallback>
                <p:oleObj name="" r:id="rId5" imgW="2781300" imgH="1219200" progId="Equation.3">
                  <p:embed/>
                  <p:pic>
                    <p:nvPicPr>
                      <p:cNvPr id="0" name="图片 3140"/>
                      <p:cNvPicPr/>
                      <p:nvPr/>
                    </p:nvPicPr>
                    <p:blipFill>
                      <a:blip r:embed="rId6"/>
                      <a:stretch>
                        <a:fillRect/>
                      </a:stretch>
                    </p:blipFill>
                    <p:spPr>
                      <a:xfrm>
                        <a:off x="987425" y="844550"/>
                        <a:ext cx="6924675" cy="30464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0301"/>
                                        </p:tgtEl>
                                        <p:attrNameLst>
                                          <p:attrName>style.visibility</p:attrName>
                                        </p:attrNameLst>
                                      </p:cBhvr>
                                      <p:to>
                                        <p:strVal val="visible"/>
                                      </p:to>
                                    </p:set>
                                    <p:animEffect transition="in" filter="wipe(up)">
                                      <p:cBhvr>
                                        <p:cTn id="7" dur="500"/>
                                        <p:tgtEl>
                                          <p:spTgt spid="14030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2586"/>
                                        </p:tgtEl>
                                        <p:attrNameLst>
                                          <p:attrName>style.visibility</p:attrName>
                                        </p:attrNameLst>
                                      </p:cBhvr>
                                      <p:to>
                                        <p:strVal val="visible"/>
                                      </p:to>
                                    </p:set>
                                    <p:animEffect transition="in" filter="dissolve">
                                      <p:cBhvr>
                                        <p:cTn id="17" dur="500"/>
                                        <p:tgtEl>
                                          <p:spTgt spid="152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9"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28680" name="Rectangle 28"/>
          <p:cNvSpPr>
            <a:spLocks noGrp="1"/>
          </p:cNvSpPr>
          <p:nvPr>
            <p:ph type="title"/>
          </p:nvPr>
        </p:nvSpPr>
        <p:spPr>
          <a:xfrm>
            <a:off x="242888" y="231775"/>
            <a:ext cx="7772400" cy="911225"/>
          </a:xfrm>
          <a:ln/>
        </p:spPr>
        <p:txBody>
          <a:bodyPr vert="horz" wrap="square" lIns="91440" tIns="45720" rIns="91440" bIns="45720" anchor="ctr" anchorCtr="0"/>
          <a:p>
            <a:pPr algn="l"/>
            <a:r>
              <a:rPr lang="zh-CN" altLang="zh-CN" sz="2800" b="1" u="none" dirty="0">
                <a:solidFill>
                  <a:srgbClr val="0033CC"/>
                </a:solidFill>
              </a:rPr>
              <a:t> </a:t>
            </a:r>
            <a:r>
              <a:rPr lang="en-US" altLang="zh-CN" b="1" u="none" dirty="0">
                <a:solidFill>
                  <a:srgbClr val="0033CC"/>
                </a:solidFill>
                <a:latin typeface="Times New Roman" panose="02020603050405020304" pitchFamily="18" charset="0"/>
              </a:rPr>
              <a:t>9.</a:t>
            </a:r>
            <a:r>
              <a:rPr lang="zh-CN" altLang="en-US" b="1" u="none" dirty="0">
                <a:solidFill>
                  <a:srgbClr val="0033CC"/>
                </a:solidFill>
                <a:latin typeface="Times New Roman" panose="02020603050405020304" pitchFamily="18" charset="0"/>
              </a:rPr>
              <a:t>2.2</a:t>
            </a:r>
            <a:r>
              <a:rPr lang="zh-CN" altLang="en-US" b="1" u="none" dirty="0">
                <a:solidFill>
                  <a:srgbClr val="0033CC"/>
                </a:solidFill>
              </a:rPr>
              <a:t> </a:t>
            </a:r>
            <a:r>
              <a:rPr lang="zh-CN" altLang="zh-CN" b="1" u="none" dirty="0">
                <a:solidFill>
                  <a:srgbClr val="0033CC"/>
                </a:solidFill>
              </a:rPr>
              <a:t>二阶 </a:t>
            </a:r>
            <a:r>
              <a:rPr lang="en-US" altLang="zh-CN" b="1" u="none" dirty="0">
                <a:solidFill>
                  <a:srgbClr val="0033CC"/>
                </a:solidFill>
                <a:latin typeface="Times New Roman" panose="02020603050405020304" pitchFamily="18" charset="0"/>
              </a:rPr>
              <a:t>Runge-Kutta</a:t>
            </a:r>
            <a:r>
              <a:rPr lang="en-US" altLang="zh-CN" b="1" u="none" dirty="0">
                <a:solidFill>
                  <a:srgbClr val="0033CC"/>
                </a:solidFill>
              </a:rPr>
              <a:t> </a:t>
            </a:r>
            <a:r>
              <a:rPr lang="zh-CN" altLang="zh-CN" b="1" u="none" dirty="0">
                <a:solidFill>
                  <a:srgbClr val="0033CC"/>
                </a:solidFill>
              </a:rPr>
              <a:t>方法</a:t>
            </a:r>
            <a:endParaRPr lang="zh-CN" altLang="zh-CN" sz="3600" b="1" u="none" dirty="0"/>
          </a:p>
        </p:txBody>
      </p:sp>
      <p:sp>
        <p:nvSpPr>
          <p:cNvPr id="92189" name="Rectangle 29"/>
          <p:cNvSpPr/>
          <p:nvPr/>
        </p:nvSpPr>
        <p:spPr>
          <a:xfrm>
            <a:off x="19050" y="1308100"/>
            <a:ext cx="4664075" cy="579438"/>
          </a:xfrm>
          <a:prstGeom prst="rect">
            <a:avLst/>
          </a:prstGeom>
          <a:noFill/>
          <a:ln w="9525">
            <a:noFill/>
          </a:ln>
        </p:spPr>
        <p:txBody>
          <a:bodyPr wrap="none">
            <a:spAutoFit/>
          </a:bodyPr>
          <a:p>
            <a:pPr>
              <a:buClr>
                <a:schemeClr val="accent2"/>
              </a:buClr>
              <a:buFont typeface="ZapfDingbats" pitchFamily="82" charset="2"/>
            </a:pPr>
            <a:r>
              <a:rPr lang="zh-CN" altLang="zh-CN" b="1" dirty="0">
                <a:latin typeface="Times New Roman" panose="02020603050405020304" pitchFamily="18" charset="0"/>
              </a:rPr>
              <a:t>考虑 </a:t>
            </a:r>
            <a:r>
              <a:rPr lang="en-US" altLang="zh-CN" b="1" i="1" dirty="0">
                <a:latin typeface="Times New Roman" panose="02020603050405020304" pitchFamily="18" charset="0"/>
              </a:rPr>
              <a:t>s</a:t>
            </a:r>
            <a:r>
              <a:rPr lang="en-US" altLang="zh-CN" b="1" dirty="0">
                <a:latin typeface="Times New Roman" panose="02020603050405020304" pitchFamily="18" charset="0"/>
              </a:rPr>
              <a:t> = 2 </a:t>
            </a:r>
            <a:r>
              <a:rPr lang="zh-CN" altLang="zh-CN" b="1" dirty="0">
                <a:latin typeface="Times New Roman" panose="02020603050405020304" pitchFamily="18" charset="0"/>
              </a:rPr>
              <a:t>的情况</a:t>
            </a:r>
            <a:r>
              <a:rPr lang="zh-CN" altLang="en-US" b="1" dirty="0">
                <a:latin typeface="Times New Roman" panose="02020603050405020304" pitchFamily="18" charset="0"/>
              </a:rPr>
              <a:t>, 此时有</a:t>
            </a:r>
            <a:endParaRPr lang="zh-CN" altLang="en-US" b="1" dirty="0">
              <a:latin typeface="Times New Roman" panose="02020603050405020304" pitchFamily="18" charset="0"/>
            </a:endParaRPr>
          </a:p>
        </p:txBody>
      </p:sp>
      <p:graphicFrame>
        <p:nvGraphicFramePr>
          <p:cNvPr id="208898" name="Object 2"/>
          <p:cNvGraphicFramePr/>
          <p:nvPr/>
        </p:nvGraphicFramePr>
        <p:xfrm>
          <a:off x="4625975" y="823913"/>
          <a:ext cx="4394200" cy="1744662"/>
        </p:xfrm>
        <a:graphic>
          <a:graphicData uri="http://schemas.openxmlformats.org/presentationml/2006/ole">
            <mc:AlternateContent xmlns:mc="http://schemas.openxmlformats.org/markup-compatibility/2006">
              <mc:Choice xmlns:v="urn:schemas-microsoft-com:vml" Requires="v">
                <p:oleObj spid="_x0000_s3145" name="" r:id="rId1" imgW="1790065" imgH="711200" progId="Equation.DSMT4">
                  <p:embed/>
                </p:oleObj>
              </mc:Choice>
              <mc:Fallback>
                <p:oleObj name="" r:id="rId1" imgW="1790065" imgH="711200" progId="Equation.DSMT4">
                  <p:embed/>
                  <p:pic>
                    <p:nvPicPr>
                      <p:cNvPr id="0" name="图片 3144"/>
                      <p:cNvPicPr/>
                      <p:nvPr/>
                    </p:nvPicPr>
                    <p:blipFill>
                      <a:blip r:embed="rId2"/>
                      <a:stretch>
                        <a:fillRect/>
                      </a:stretch>
                    </p:blipFill>
                    <p:spPr>
                      <a:xfrm>
                        <a:off x="4625975" y="823913"/>
                        <a:ext cx="4394200" cy="1744662"/>
                      </a:xfrm>
                      <a:prstGeom prst="rect">
                        <a:avLst/>
                      </a:prstGeom>
                      <a:noFill/>
                      <a:ln w="38100">
                        <a:noFill/>
                        <a:miter/>
                      </a:ln>
                    </p:spPr>
                  </p:pic>
                </p:oleObj>
              </mc:Fallback>
            </mc:AlternateContent>
          </a:graphicData>
        </a:graphic>
      </p:graphicFrame>
      <p:sp>
        <p:nvSpPr>
          <p:cNvPr id="92196" name="Rectangle 36"/>
          <p:cNvSpPr/>
          <p:nvPr/>
        </p:nvSpPr>
        <p:spPr>
          <a:xfrm>
            <a:off x="6350" y="4046538"/>
            <a:ext cx="8905875" cy="579437"/>
          </a:xfrm>
          <a:prstGeom prst="rect">
            <a:avLst/>
          </a:prstGeom>
          <a:noFill/>
          <a:ln w="9525">
            <a:noFill/>
          </a:ln>
        </p:spPr>
        <p:txBody>
          <a:bodyPr wrap="none">
            <a:spAutoFit/>
          </a:bodyPr>
          <a:p>
            <a:pPr>
              <a:buClr>
                <a:schemeClr val="accent2"/>
              </a:buClr>
              <a:buFont typeface="ZapfDingbats" pitchFamily="82" charset="2"/>
            </a:pPr>
            <a:r>
              <a:rPr lang="zh-CN" altLang="en-US" b="1" dirty="0">
                <a:latin typeface="Times New Roman" panose="02020603050405020304" pitchFamily="18" charset="0"/>
              </a:rPr>
              <a:t>利用二元函数的一阶</a:t>
            </a:r>
            <a:r>
              <a:rPr lang="en-US" altLang="zh-CN" b="1" dirty="0">
                <a:latin typeface="Times New Roman" panose="02020603050405020304" pitchFamily="18" charset="0"/>
              </a:rPr>
              <a:t>Taylor </a:t>
            </a:r>
            <a:r>
              <a:rPr lang="zh-CN" altLang="zh-CN" b="1" dirty="0">
                <a:latin typeface="Times New Roman" panose="02020603050405020304" pitchFamily="18" charset="0"/>
              </a:rPr>
              <a:t>公式，即全微分公式</a:t>
            </a:r>
            <a:r>
              <a:rPr lang="zh-CN" altLang="en-US" b="1" dirty="0">
                <a:latin typeface="Times New Roman" panose="02020603050405020304" pitchFamily="18" charset="0"/>
              </a:rPr>
              <a:t> </a:t>
            </a:r>
            <a:endParaRPr lang="zh-CN" altLang="en-US" b="1" dirty="0">
              <a:latin typeface="Times New Roman" panose="02020603050405020304" pitchFamily="18" charset="0"/>
            </a:endParaRPr>
          </a:p>
        </p:txBody>
      </p:sp>
      <p:grpSp>
        <p:nvGrpSpPr>
          <p:cNvPr id="2" name="Group 49"/>
          <p:cNvGrpSpPr/>
          <p:nvPr/>
        </p:nvGrpSpPr>
        <p:grpSpPr>
          <a:xfrm>
            <a:off x="0" y="2492375"/>
            <a:ext cx="8743950" cy="622300"/>
            <a:chOff x="16" y="1570"/>
            <a:chExt cx="5508" cy="392"/>
          </a:xfrm>
        </p:grpSpPr>
        <p:sp>
          <p:nvSpPr>
            <p:cNvPr id="28688" name="Rectangle 32"/>
            <p:cNvSpPr/>
            <p:nvPr/>
          </p:nvSpPr>
          <p:spPr>
            <a:xfrm>
              <a:off x="16" y="1570"/>
              <a:ext cx="5508" cy="365"/>
            </a:xfrm>
            <a:prstGeom prst="rect">
              <a:avLst/>
            </a:prstGeom>
            <a:noFill/>
            <a:ln w="9525">
              <a:noFill/>
            </a:ln>
          </p:spPr>
          <p:txBody>
            <a:bodyPr wrap="none">
              <a:spAutoFit/>
            </a:bodyPr>
            <a:p>
              <a:pPr>
                <a:buClr>
                  <a:schemeClr val="accent2"/>
                </a:buClr>
                <a:buFont typeface="ZapfDingbats" pitchFamily="82" charset="2"/>
              </a:pPr>
              <a:r>
                <a:rPr lang="zh-CN" altLang="en-US" b="1" dirty="0">
                  <a:latin typeface="Times New Roman" panose="02020603050405020304" pitchFamily="18" charset="0"/>
                </a:rPr>
                <a:t>希望适当选择参数                  </a:t>
              </a:r>
              <a:r>
                <a:rPr lang="en-US" altLang="zh-CN" b="1" dirty="0">
                  <a:latin typeface="Times New Roman" panose="02020603050405020304" pitchFamily="18" charset="0"/>
                </a:rPr>
                <a:t>, </a:t>
              </a:r>
              <a:r>
                <a:rPr lang="zh-CN" altLang="en-US" b="1" dirty="0">
                  <a:latin typeface="Times New Roman" panose="02020603050405020304" pitchFamily="18" charset="0"/>
                </a:rPr>
                <a:t>使上式的局部截断</a:t>
              </a:r>
              <a:endParaRPr lang="zh-CN" altLang="en-US" b="1" dirty="0">
                <a:latin typeface="Times New Roman" panose="02020603050405020304" pitchFamily="18" charset="0"/>
              </a:endParaRPr>
            </a:p>
          </p:txBody>
        </p:sp>
        <p:graphicFrame>
          <p:nvGraphicFramePr>
            <p:cNvPr id="28677" name="Object 5"/>
            <p:cNvGraphicFramePr/>
            <p:nvPr/>
          </p:nvGraphicFramePr>
          <p:xfrm>
            <a:off x="2195" y="1610"/>
            <a:ext cx="1056" cy="352"/>
          </p:xfrm>
          <a:graphic>
            <a:graphicData uri="http://schemas.openxmlformats.org/presentationml/2006/ole">
              <mc:AlternateContent xmlns:mc="http://schemas.openxmlformats.org/markup-compatibility/2006">
                <mc:Choice xmlns:v="urn:schemas-microsoft-com:vml" Requires="v">
                  <p:oleObj spid="_x0000_s3144" name="" r:id="rId3" imgW="685800" imgH="228600" progId="Equation.DSMT4">
                    <p:embed/>
                  </p:oleObj>
                </mc:Choice>
                <mc:Fallback>
                  <p:oleObj name="" r:id="rId3" imgW="685800" imgH="228600" progId="Equation.DSMT4">
                    <p:embed/>
                    <p:pic>
                      <p:nvPicPr>
                        <p:cNvPr id="0" name="图片 3143"/>
                        <p:cNvPicPr/>
                        <p:nvPr/>
                      </p:nvPicPr>
                      <p:blipFill>
                        <a:blip r:embed="rId4"/>
                        <a:stretch>
                          <a:fillRect/>
                        </a:stretch>
                      </p:blipFill>
                      <p:spPr>
                        <a:xfrm>
                          <a:off x="2195" y="1610"/>
                          <a:ext cx="1056" cy="352"/>
                        </a:xfrm>
                        <a:prstGeom prst="rect">
                          <a:avLst/>
                        </a:prstGeom>
                        <a:noFill/>
                        <a:ln w="38100">
                          <a:noFill/>
                          <a:miter/>
                        </a:ln>
                      </p:spPr>
                    </p:pic>
                  </p:oleObj>
                </mc:Fallback>
              </mc:AlternateContent>
            </a:graphicData>
          </a:graphic>
        </p:graphicFrame>
      </p:grpSp>
      <p:grpSp>
        <p:nvGrpSpPr>
          <p:cNvPr id="3" name="Group 48"/>
          <p:cNvGrpSpPr/>
          <p:nvPr/>
        </p:nvGrpSpPr>
        <p:grpSpPr>
          <a:xfrm>
            <a:off x="0" y="3171825"/>
            <a:ext cx="5975350" cy="604838"/>
            <a:chOff x="0" y="1910"/>
            <a:chExt cx="3764" cy="381"/>
          </a:xfrm>
        </p:grpSpPr>
        <p:sp>
          <p:nvSpPr>
            <p:cNvPr id="28687" name="Text Box 47"/>
            <p:cNvSpPr txBox="1"/>
            <p:nvPr/>
          </p:nvSpPr>
          <p:spPr>
            <a:xfrm>
              <a:off x="0" y="1916"/>
              <a:ext cx="3764" cy="365"/>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误差为                                            </a:t>
              </a:r>
              <a:r>
                <a:rPr lang="en-US" altLang="zh-CN" b="1" dirty="0">
                  <a:latin typeface="Times New Roman" panose="02020603050405020304" pitchFamily="18" charset="0"/>
                </a:rPr>
                <a:t>,</a:t>
              </a:r>
              <a:endParaRPr lang="en-US" altLang="zh-CN" b="1" dirty="0">
                <a:latin typeface="Times New Roman" panose="02020603050405020304" pitchFamily="18" charset="0"/>
              </a:endParaRPr>
            </a:p>
          </p:txBody>
        </p:sp>
        <p:graphicFrame>
          <p:nvGraphicFramePr>
            <p:cNvPr id="28676" name="Object 4"/>
            <p:cNvGraphicFramePr/>
            <p:nvPr/>
          </p:nvGraphicFramePr>
          <p:xfrm>
            <a:off x="889" y="1910"/>
            <a:ext cx="2705" cy="381"/>
          </p:xfrm>
          <a:graphic>
            <a:graphicData uri="http://schemas.openxmlformats.org/presentationml/2006/ole">
              <mc:AlternateContent xmlns:mc="http://schemas.openxmlformats.org/markup-compatibility/2006">
                <mc:Choice xmlns:v="urn:schemas-microsoft-com:vml" Requires="v">
                  <p:oleObj spid="_x0000_s3148" name="" r:id="rId5" imgW="1713865" imgH="241300" progId="Equation.DSMT4">
                    <p:embed/>
                  </p:oleObj>
                </mc:Choice>
                <mc:Fallback>
                  <p:oleObj name="" r:id="rId5" imgW="1713865" imgH="241300" progId="Equation.DSMT4">
                    <p:embed/>
                    <p:pic>
                      <p:nvPicPr>
                        <p:cNvPr id="0" name="图片 3147"/>
                        <p:cNvPicPr/>
                        <p:nvPr/>
                      </p:nvPicPr>
                      <p:blipFill>
                        <a:blip r:embed="rId6"/>
                        <a:stretch>
                          <a:fillRect/>
                        </a:stretch>
                      </p:blipFill>
                      <p:spPr>
                        <a:xfrm>
                          <a:off x="889" y="1910"/>
                          <a:ext cx="2705" cy="381"/>
                        </a:xfrm>
                        <a:prstGeom prst="rect">
                          <a:avLst/>
                        </a:prstGeom>
                        <a:noFill/>
                        <a:ln w="38100">
                          <a:noFill/>
                          <a:miter/>
                        </a:ln>
                      </p:spPr>
                    </p:pic>
                  </p:oleObj>
                </mc:Fallback>
              </mc:AlternateContent>
            </a:graphicData>
          </a:graphic>
        </p:graphicFrame>
      </p:grpSp>
      <p:sp>
        <p:nvSpPr>
          <p:cNvPr id="92195" name="Rectangle 35"/>
          <p:cNvSpPr/>
          <p:nvPr/>
        </p:nvSpPr>
        <p:spPr>
          <a:xfrm>
            <a:off x="6032500" y="3189288"/>
            <a:ext cx="2724150" cy="579437"/>
          </a:xfrm>
          <a:prstGeom prst="rect">
            <a:avLst/>
          </a:prstGeom>
          <a:noFill/>
          <a:ln w="9525">
            <a:noFill/>
          </a:ln>
        </p:spPr>
        <p:txBody>
          <a:bodyPr wrap="none">
            <a:spAutoFit/>
          </a:bodyPr>
          <a:p>
            <a:pPr>
              <a:buClr>
                <a:schemeClr val="accent2"/>
              </a:buClr>
              <a:buFont typeface="ZapfDingbats" pitchFamily="82" charset="2"/>
            </a:pPr>
            <a:r>
              <a:rPr lang="zh-CN" altLang="en-US" b="1" dirty="0">
                <a:latin typeface="Times New Roman" panose="02020603050405020304" pitchFamily="18" charset="0"/>
              </a:rPr>
              <a:t>即为二阶方法.</a:t>
            </a:r>
            <a:endParaRPr lang="zh-CN" altLang="en-US" b="1" dirty="0">
              <a:latin typeface="Times New Roman" panose="02020603050405020304" pitchFamily="18" charset="0"/>
            </a:endParaRPr>
          </a:p>
        </p:txBody>
      </p:sp>
      <p:graphicFrame>
        <p:nvGraphicFramePr>
          <p:cNvPr id="208899" name="Object 3"/>
          <p:cNvGraphicFramePr/>
          <p:nvPr/>
        </p:nvGraphicFramePr>
        <p:xfrm>
          <a:off x="111125" y="4792663"/>
          <a:ext cx="9032875" cy="1227137"/>
        </p:xfrm>
        <a:graphic>
          <a:graphicData uri="http://schemas.openxmlformats.org/presentationml/2006/ole">
            <mc:AlternateContent xmlns:mc="http://schemas.openxmlformats.org/markup-compatibility/2006">
              <mc:Choice xmlns:v="urn:schemas-microsoft-com:vml" Requires="v">
                <p:oleObj spid="_x0000_s3146" name="" r:id="rId7" imgW="3542030" imgH="482600" progId="Equation.3">
                  <p:embed/>
                </p:oleObj>
              </mc:Choice>
              <mc:Fallback>
                <p:oleObj name="" r:id="rId7" imgW="3542030" imgH="482600" progId="Equation.3">
                  <p:embed/>
                  <p:pic>
                    <p:nvPicPr>
                      <p:cNvPr id="0" name="图片 3145"/>
                      <p:cNvPicPr/>
                      <p:nvPr/>
                    </p:nvPicPr>
                    <p:blipFill>
                      <a:blip r:embed="rId8"/>
                      <a:stretch>
                        <a:fillRect/>
                      </a:stretch>
                    </p:blipFill>
                    <p:spPr>
                      <a:xfrm>
                        <a:off x="111125" y="4792663"/>
                        <a:ext cx="9032875" cy="1227137"/>
                      </a:xfrm>
                      <a:prstGeom prst="rect">
                        <a:avLst/>
                      </a:prstGeom>
                      <a:gradFill rotWithShape="0">
                        <a:gsLst>
                          <a:gs pos="0">
                            <a:srgbClr val="FFFFFF"/>
                          </a:gs>
                          <a:gs pos="50000">
                            <a:schemeClr val="accent1"/>
                          </a:gs>
                          <a:gs pos="100000">
                            <a:srgbClr val="FFFFFF"/>
                          </a:gs>
                        </a:gsLst>
                        <a:lin ang="5400000" scaled="1"/>
                        <a:tileRect/>
                      </a:gradFill>
                      <a:ln w="38100">
                        <a:noFill/>
                        <a:miter/>
                      </a:ln>
                    </p:spPr>
                  </p:pic>
                </p:oleObj>
              </mc:Fallback>
            </mc:AlternateContent>
          </a:graphicData>
        </a:graphic>
      </p:graphicFrame>
      <p:sp>
        <p:nvSpPr>
          <p:cNvPr id="92206" name="AutoShape 46"/>
          <p:cNvSpPr>
            <a:spLocks noChangeArrowheads="1"/>
          </p:cNvSpPr>
          <p:nvPr/>
        </p:nvSpPr>
        <p:spPr bwMode="auto">
          <a:xfrm>
            <a:off x="2946400" y="3922713"/>
            <a:ext cx="5267325" cy="763588"/>
          </a:xfrm>
          <a:prstGeom prst="wedgeRoundRectCallout">
            <a:avLst>
              <a:gd name="adj1" fmla="val -36588"/>
              <a:gd name="adj2" fmla="val -104468"/>
              <a:gd name="adj3" fmla="val 16667"/>
            </a:avLst>
          </a:prstGeom>
          <a:gradFill rotWithShape="0">
            <a:gsLst>
              <a:gs pos="0">
                <a:schemeClr val="accent1"/>
              </a:gs>
              <a:gs pos="50000">
                <a:srgbClr val="FFFFFF"/>
              </a:gs>
              <a:gs pos="100000">
                <a:schemeClr val="accent1"/>
              </a:gs>
            </a:gsLst>
            <a:lin ang="5400000" scaled="1"/>
          </a:gradFill>
          <a:ln w="9525">
            <a:solidFill>
              <a:schemeClr val="tx1"/>
            </a:solidFill>
            <a:miter lim="800000"/>
          </a:ln>
          <a:effectLst/>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下面将</a:t>
            </a:r>
            <a:r>
              <a:rPr kumimoji="0" lang="en-US" altLang="zh-CN" sz="32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y</a:t>
            </a:r>
            <a:r>
              <a:rPr kumimoji="0" lang="en-US" altLang="zh-CN" sz="32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n</a:t>
            </a:r>
            <a:r>
              <a:rPr kumimoji="0" lang="en-US" altLang="zh-CN" sz="32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a:t>
            </a:r>
            <a:r>
              <a:rPr kumimoji="0" lang="zh-CN" altLang="en-US" sz="3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与</a:t>
            </a:r>
            <a:r>
              <a:rPr kumimoji="0" lang="en-US" altLang="zh-CN" sz="32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y</a:t>
            </a:r>
            <a:r>
              <a:rPr kumimoji="0" lang="en-US" altLang="zh-CN" sz="3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3200" b="1" i="1"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en-US" altLang="zh-CN" sz="3200" b="1" i="1"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n</a:t>
            </a:r>
            <a:r>
              <a:rPr kumimoji="0" lang="en-US" altLang="zh-CN" sz="32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a:t>
            </a:r>
            <a:r>
              <a:rPr kumimoji="0" lang="en-US" altLang="zh-CN" sz="3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3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作比较</a:t>
            </a:r>
            <a:endParaRPr kumimoji="0" lang="zh-CN" altLang="en-US" sz="3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89"/>
                                        </p:tgtEl>
                                        <p:attrNameLst>
                                          <p:attrName>style.visibility</p:attrName>
                                        </p:attrNameLst>
                                      </p:cBhvr>
                                      <p:to>
                                        <p:strVal val="visible"/>
                                      </p:to>
                                    </p:set>
                                    <p:animEffect transition="in" filter="blinds(horizontal)">
                                      <p:cBhvr>
                                        <p:cTn id="7" dur="500"/>
                                        <p:tgtEl>
                                          <p:spTgt spid="9218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8898"/>
                                        </p:tgtEl>
                                        <p:attrNameLst>
                                          <p:attrName>style.visibility</p:attrName>
                                        </p:attrNameLst>
                                      </p:cBhvr>
                                      <p:to>
                                        <p:strVal val="visible"/>
                                      </p:to>
                                    </p:set>
                                    <p:animEffect transition="in" filter="blinds(horizontal)">
                                      <p:cBhvr>
                                        <p:cTn id="12" dur="500"/>
                                        <p:tgtEl>
                                          <p:spTgt spid="2088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195"/>
                                        </p:tgtEl>
                                        <p:attrNameLst>
                                          <p:attrName>style.visibility</p:attrName>
                                        </p:attrNameLst>
                                      </p:cBhvr>
                                      <p:to>
                                        <p:strVal val="visible"/>
                                      </p:to>
                                    </p:set>
                                    <p:animEffect transition="in" filter="wipe(left)">
                                      <p:cBhvr>
                                        <p:cTn id="27" dur="1000"/>
                                        <p:tgtEl>
                                          <p:spTgt spid="9219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2206"/>
                                        </p:tgtEl>
                                        <p:attrNameLst>
                                          <p:attrName>style.visibility</p:attrName>
                                        </p:attrNameLst>
                                      </p:cBhvr>
                                      <p:to>
                                        <p:strVal val="visible"/>
                                      </p:to>
                                    </p:set>
                                    <p:animEffect transition="in" filter="dissolve">
                                      <p:cBhvr>
                                        <p:cTn id="32" dur="500"/>
                                        <p:tgtEl>
                                          <p:spTgt spid="92206"/>
                                        </p:tgtEl>
                                      </p:cBhvr>
                                    </p:animEffect>
                                  </p:childTnLst>
                                  <p:subTnLst>
                                    <p:set>
                                      <p:cBhvr override="childStyle">
                                        <p:cTn dur="1" fill="hold" display="0" masterRel="nextClick" afterEffect="1"/>
                                        <p:tgtEl>
                                          <p:spTgt spid="92206"/>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2196"/>
                                        </p:tgtEl>
                                        <p:attrNameLst>
                                          <p:attrName>style.visibility</p:attrName>
                                        </p:attrNameLst>
                                      </p:cBhvr>
                                      <p:to>
                                        <p:strVal val="visible"/>
                                      </p:to>
                                    </p:set>
                                    <p:animEffect transition="in" filter="blinds(horizontal)">
                                      <p:cBhvr>
                                        <p:cTn id="37" dur="500"/>
                                        <p:tgtEl>
                                          <p:spTgt spid="92196"/>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08899"/>
                                        </p:tgtEl>
                                        <p:attrNameLst>
                                          <p:attrName>style.visibility</p:attrName>
                                        </p:attrNameLst>
                                      </p:cBhvr>
                                      <p:to>
                                        <p:strVal val="visible"/>
                                      </p:to>
                                    </p:set>
                                    <p:animEffect transition="in" filter="checkerboard(across)">
                                      <p:cBhvr>
                                        <p:cTn id="42" dur="500"/>
                                        <p:tgtEl>
                                          <p:spTgt spid="208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9" grpId="0"/>
      <p:bldP spid="92196" grpId="0"/>
      <p:bldP spid="92195" grpId="0"/>
      <p:bldP spid="9220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704"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29705" name="Rectangle 2"/>
          <p:cNvSpPr>
            <a:spLocks noGrp="1"/>
          </p:cNvSpPr>
          <p:nvPr>
            <p:ph type="title"/>
          </p:nvPr>
        </p:nvSpPr>
        <p:spPr>
          <a:ln/>
        </p:spPr>
        <p:txBody>
          <a:bodyPr vert="horz" wrap="square" lIns="91440" tIns="45720" rIns="91440" bIns="45720" anchor="ctr" anchorCtr="0"/>
          <a:p>
            <a:endParaRPr lang="zh-CN" altLang="en-US" dirty="0"/>
          </a:p>
        </p:txBody>
      </p:sp>
      <p:graphicFrame>
        <p:nvGraphicFramePr>
          <p:cNvPr id="207877" name="Object 5"/>
          <p:cNvGraphicFramePr/>
          <p:nvPr/>
        </p:nvGraphicFramePr>
        <p:xfrm>
          <a:off x="1241425" y="3727450"/>
          <a:ext cx="6338888" cy="635000"/>
        </p:xfrm>
        <a:graphic>
          <a:graphicData uri="http://schemas.openxmlformats.org/presentationml/2006/ole">
            <mc:AlternateContent xmlns:mc="http://schemas.openxmlformats.org/markup-compatibility/2006">
              <mc:Choice xmlns:v="urn:schemas-microsoft-com:vml" Requires="v">
                <p:oleObj spid="_x0000_s3149" name="" r:id="rId1" imgW="2499995" imgH="254000" progId="Equation.3">
                  <p:embed/>
                </p:oleObj>
              </mc:Choice>
              <mc:Fallback>
                <p:oleObj name="" r:id="rId1" imgW="2499995" imgH="254000" progId="Equation.3">
                  <p:embed/>
                  <p:pic>
                    <p:nvPicPr>
                      <p:cNvPr id="0" name="图片 3148"/>
                      <p:cNvPicPr/>
                      <p:nvPr/>
                    </p:nvPicPr>
                    <p:blipFill>
                      <a:blip r:embed="rId2"/>
                      <a:stretch>
                        <a:fillRect/>
                      </a:stretch>
                    </p:blipFill>
                    <p:spPr>
                      <a:xfrm>
                        <a:off x="1241425" y="3727450"/>
                        <a:ext cx="6338888" cy="635000"/>
                      </a:xfrm>
                      <a:prstGeom prst="rect">
                        <a:avLst/>
                      </a:prstGeom>
                      <a:noFill/>
                      <a:ln w="38100">
                        <a:noFill/>
                        <a:miter/>
                      </a:ln>
                    </p:spPr>
                  </p:pic>
                </p:oleObj>
              </mc:Fallback>
            </mc:AlternateContent>
          </a:graphicData>
        </a:graphic>
      </p:graphicFrame>
      <p:sp>
        <p:nvSpPr>
          <p:cNvPr id="144390" name="Text Box 6"/>
          <p:cNvSpPr txBox="1"/>
          <p:nvPr/>
        </p:nvSpPr>
        <p:spPr>
          <a:xfrm>
            <a:off x="5821363" y="3046413"/>
            <a:ext cx="1403350" cy="579437"/>
          </a:xfrm>
          <a:prstGeom prst="rect">
            <a:avLst/>
          </a:prstGeom>
          <a:noFill/>
          <a:ln w="9525">
            <a:noFill/>
          </a:ln>
        </p:spPr>
        <p:txBody>
          <a:bodyPr wrap="none">
            <a:spAutoFit/>
          </a:bodyPr>
          <a:p>
            <a:pPr algn="ctr" eaLnBrk="0" hangingPunct="0"/>
            <a:r>
              <a:rPr lang="zh-CN" altLang="en-US" dirty="0">
                <a:latin typeface="Times New Roman" panose="02020603050405020304" pitchFamily="18" charset="0"/>
              </a:rPr>
              <a:t>从而有</a:t>
            </a:r>
            <a:endParaRPr lang="zh-CN" altLang="en-US" dirty="0">
              <a:latin typeface="Times New Roman" panose="02020603050405020304" pitchFamily="18" charset="0"/>
            </a:endParaRPr>
          </a:p>
        </p:txBody>
      </p:sp>
      <p:graphicFrame>
        <p:nvGraphicFramePr>
          <p:cNvPr id="207878" name="Object 6"/>
          <p:cNvGraphicFramePr/>
          <p:nvPr/>
        </p:nvGraphicFramePr>
        <p:xfrm>
          <a:off x="2684463" y="4541838"/>
          <a:ext cx="4297362" cy="603250"/>
        </p:xfrm>
        <a:graphic>
          <a:graphicData uri="http://schemas.openxmlformats.org/presentationml/2006/ole">
            <mc:AlternateContent xmlns:mc="http://schemas.openxmlformats.org/markup-compatibility/2006">
              <mc:Choice xmlns:v="urn:schemas-microsoft-com:vml" Requires="v">
                <p:oleObj spid="_x0000_s3147" name="" r:id="rId3" imgW="1726565" imgH="241300" progId="Equation.3">
                  <p:embed/>
                </p:oleObj>
              </mc:Choice>
              <mc:Fallback>
                <p:oleObj name="" r:id="rId3" imgW="1726565" imgH="241300" progId="Equation.3">
                  <p:embed/>
                  <p:pic>
                    <p:nvPicPr>
                      <p:cNvPr id="0" name="图片 3146"/>
                      <p:cNvPicPr/>
                      <p:nvPr/>
                    </p:nvPicPr>
                    <p:blipFill>
                      <a:blip r:embed="rId4"/>
                      <a:stretch>
                        <a:fillRect/>
                      </a:stretch>
                    </p:blipFill>
                    <p:spPr>
                      <a:xfrm>
                        <a:off x="2684463" y="4541838"/>
                        <a:ext cx="4297362" cy="603250"/>
                      </a:xfrm>
                      <a:prstGeom prst="rect">
                        <a:avLst/>
                      </a:prstGeom>
                      <a:noFill/>
                      <a:ln w="38100">
                        <a:noFill/>
                        <a:miter/>
                      </a:ln>
                    </p:spPr>
                  </p:pic>
                </p:oleObj>
              </mc:Fallback>
            </mc:AlternateContent>
          </a:graphicData>
        </a:graphic>
      </p:graphicFrame>
      <p:sp>
        <p:nvSpPr>
          <p:cNvPr id="144392" name="Text Box 8"/>
          <p:cNvSpPr txBox="1"/>
          <p:nvPr/>
        </p:nvSpPr>
        <p:spPr>
          <a:xfrm>
            <a:off x="312738" y="4513263"/>
            <a:ext cx="2216150" cy="579437"/>
          </a:xfrm>
          <a:prstGeom prst="rect">
            <a:avLst/>
          </a:prstGeom>
          <a:noFill/>
          <a:ln w="9525">
            <a:noFill/>
          </a:ln>
        </p:spPr>
        <p:txBody>
          <a:bodyPr wrap="none">
            <a:spAutoFit/>
          </a:bodyPr>
          <a:p>
            <a:pPr algn="ctr" eaLnBrk="0" hangingPunct="0"/>
            <a:r>
              <a:rPr lang="zh-CN" altLang="en-US" dirty="0">
                <a:latin typeface="Times New Roman" panose="02020603050405020304" pitchFamily="18" charset="0"/>
              </a:rPr>
              <a:t>将上式代入</a:t>
            </a:r>
            <a:endParaRPr lang="zh-CN" altLang="en-US" dirty="0">
              <a:latin typeface="Times New Roman" panose="02020603050405020304" pitchFamily="18" charset="0"/>
            </a:endParaRPr>
          </a:p>
        </p:txBody>
      </p:sp>
      <p:grpSp>
        <p:nvGrpSpPr>
          <p:cNvPr id="2" name="Group 13"/>
          <p:cNvGrpSpPr/>
          <p:nvPr/>
        </p:nvGrpSpPr>
        <p:grpSpPr>
          <a:xfrm>
            <a:off x="288925" y="3070225"/>
            <a:ext cx="5272088" cy="623888"/>
            <a:chOff x="549" y="2200"/>
            <a:chExt cx="3321" cy="393"/>
          </a:xfrm>
        </p:grpSpPr>
        <p:graphicFrame>
          <p:nvGraphicFramePr>
            <p:cNvPr id="29702" name="Object 7"/>
            <p:cNvGraphicFramePr/>
            <p:nvPr/>
          </p:nvGraphicFramePr>
          <p:xfrm>
            <a:off x="1243" y="2246"/>
            <a:ext cx="2627" cy="347"/>
          </p:xfrm>
          <a:graphic>
            <a:graphicData uri="http://schemas.openxmlformats.org/presentationml/2006/ole">
              <mc:AlternateContent xmlns:mc="http://schemas.openxmlformats.org/markup-compatibility/2006">
                <mc:Choice xmlns:v="urn:schemas-microsoft-com:vml" Requires="v">
                  <p:oleObj spid="_x0000_s3151" name="" r:id="rId5" imgW="1739900" imgH="228600" progId="Equation.3">
                    <p:embed/>
                  </p:oleObj>
                </mc:Choice>
                <mc:Fallback>
                  <p:oleObj name="" r:id="rId5" imgW="1739900" imgH="228600" progId="Equation.3">
                    <p:embed/>
                    <p:pic>
                      <p:nvPicPr>
                        <p:cNvPr id="0" name="图片 3150"/>
                        <p:cNvPicPr/>
                        <p:nvPr/>
                      </p:nvPicPr>
                      <p:blipFill>
                        <a:blip r:embed="rId6"/>
                        <a:stretch>
                          <a:fillRect/>
                        </a:stretch>
                      </p:blipFill>
                      <p:spPr>
                        <a:xfrm>
                          <a:off x="1243" y="2246"/>
                          <a:ext cx="2627" cy="347"/>
                        </a:xfrm>
                        <a:prstGeom prst="rect">
                          <a:avLst/>
                        </a:prstGeom>
                        <a:noFill/>
                        <a:ln w="38100">
                          <a:noFill/>
                          <a:miter/>
                        </a:ln>
                      </p:spPr>
                    </p:pic>
                  </p:oleObj>
                </mc:Fallback>
              </mc:AlternateContent>
            </a:graphicData>
          </a:graphic>
        </p:graphicFrame>
        <p:sp>
          <p:nvSpPr>
            <p:cNvPr id="29709" name="Text Box 12"/>
            <p:cNvSpPr txBox="1"/>
            <p:nvPr/>
          </p:nvSpPr>
          <p:spPr>
            <a:xfrm>
              <a:off x="549" y="2200"/>
              <a:ext cx="628" cy="365"/>
            </a:xfrm>
            <a:prstGeom prst="rect">
              <a:avLst/>
            </a:prstGeom>
            <a:noFill/>
            <a:ln w="9525">
              <a:noFill/>
            </a:ln>
          </p:spPr>
          <p:txBody>
            <a:bodyPr wrap="none">
              <a:spAutoFit/>
            </a:bodyPr>
            <a:p>
              <a:pPr algn="ctr" eaLnBrk="0" hangingPunct="0"/>
              <a:r>
                <a:rPr lang="zh-CN" altLang="en-US" dirty="0">
                  <a:latin typeface="Times New Roman" panose="02020603050405020304" pitchFamily="18" charset="0"/>
                </a:rPr>
                <a:t>再由</a:t>
              </a:r>
              <a:endParaRPr lang="zh-CN" altLang="en-US" dirty="0">
                <a:latin typeface="Times New Roman" panose="02020603050405020304" pitchFamily="18" charset="0"/>
              </a:endParaRPr>
            </a:p>
          </p:txBody>
        </p:sp>
      </p:grpSp>
      <p:graphicFrame>
        <p:nvGraphicFramePr>
          <p:cNvPr id="207874" name="Object 2"/>
          <p:cNvGraphicFramePr/>
          <p:nvPr/>
        </p:nvGraphicFramePr>
        <p:xfrm>
          <a:off x="111125" y="292100"/>
          <a:ext cx="9032875" cy="1227138"/>
        </p:xfrm>
        <a:graphic>
          <a:graphicData uri="http://schemas.openxmlformats.org/presentationml/2006/ole">
            <mc:AlternateContent xmlns:mc="http://schemas.openxmlformats.org/markup-compatibility/2006">
              <mc:Choice xmlns:v="urn:schemas-microsoft-com:vml" Requires="v">
                <p:oleObj spid="_x0000_s3154" name="" r:id="rId7" imgW="3542030" imgH="482600" progId="Equation.3">
                  <p:embed/>
                </p:oleObj>
              </mc:Choice>
              <mc:Fallback>
                <p:oleObj name="" r:id="rId7" imgW="3542030" imgH="482600" progId="Equation.3">
                  <p:embed/>
                  <p:pic>
                    <p:nvPicPr>
                      <p:cNvPr id="0" name="图片 3153"/>
                      <p:cNvPicPr/>
                      <p:nvPr/>
                    </p:nvPicPr>
                    <p:blipFill>
                      <a:blip r:embed="rId8"/>
                      <a:stretch>
                        <a:fillRect/>
                      </a:stretch>
                    </p:blipFill>
                    <p:spPr>
                      <a:xfrm>
                        <a:off x="111125" y="292100"/>
                        <a:ext cx="9032875" cy="1227138"/>
                      </a:xfrm>
                      <a:prstGeom prst="rect">
                        <a:avLst/>
                      </a:prstGeom>
                      <a:noFill/>
                      <a:ln w="38100">
                        <a:noFill/>
                        <a:miter/>
                      </a:ln>
                    </p:spPr>
                  </p:pic>
                </p:oleObj>
              </mc:Fallback>
            </mc:AlternateContent>
          </a:graphicData>
        </a:graphic>
      </p:graphicFrame>
      <p:graphicFrame>
        <p:nvGraphicFramePr>
          <p:cNvPr id="207875" name="Object 3"/>
          <p:cNvGraphicFramePr/>
          <p:nvPr/>
        </p:nvGraphicFramePr>
        <p:xfrm>
          <a:off x="1458913" y="1492250"/>
          <a:ext cx="5700712" cy="1500188"/>
        </p:xfrm>
        <a:graphic>
          <a:graphicData uri="http://schemas.openxmlformats.org/presentationml/2006/ole">
            <mc:AlternateContent xmlns:mc="http://schemas.openxmlformats.org/markup-compatibility/2006">
              <mc:Choice xmlns:v="urn:schemas-microsoft-com:vml" Requires="v">
                <p:oleObj spid="_x0000_s3150" name="" r:id="rId9" imgW="2221230" imgH="584200" progId="Equation.3">
                  <p:embed/>
                </p:oleObj>
              </mc:Choice>
              <mc:Fallback>
                <p:oleObj name="" r:id="rId9" imgW="2221230" imgH="584200" progId="Equation.3">
                  <p:embed/>
                  <p:pic>
                    <p:nvPicPr>
                      <p:cNvPr id="0" name="图片 3149"/>
                      <p:cNvPicPr/>
                      <p:nvPr/>
                    </p:nvPicPr>
                    <p:blipFill>
                      <a:blip r:embed="rId10"/>
                      <a:stretch>
                        <a:fillRect/>
                      </a:stretch>
                    </p:blipFill>
                    <p:spPr>
                      <a:xfrm>
                        <a:off x="1458913" y="1492250"/>
                        <a:ext cx="5700712" cy="15001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07874"/>
                                        </p:tgtEl>
                                        <p:attrNameLst>
                                          <p:attrName>style.visibility</p:attrName>
                                        </p:attrNameLst>
                                      </p:cBhvr>
                                      <p:to>
                                        <p:strVal val="visible"/>
                                      </p:to>
                                    </p:set>
                                    <p:animEffect transition="in" filter="checkerboard(across)">
                                      <p:cBhvr>
                                        <p:cTn id="7" dur="500"/>
                                        <p:tgtEl>
                                          <p:spTgt spid="2078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07875"/>
                                        </p:tgtEl>
                                        <p:attrNameLst>
                                          <p:attrName>style.visibility</p:attrName>
                                        </p:attrNameLst>
                                      </p:cBhvr>
                                      <p:to>
                                        <p:strVal val="visible"/>
                                      </p:to>
                                    </p:set>
                                    <p:animEffect transition="in" filter="wipe(up)">
                                      <p:cBhvr>
                                        <p:cTn id="12" dur="1000"/>
                                        <p:tgtEl>
                                          <p:spTgt spid="20787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4390"/>
                                        </p:tgtEl>
                                        <p:attrNameLst>
                                          <p:attrName>style.visibility</p:attrName>
                                        </p:attrNameLst>
                                      </p:cBhvr>
                                      <p:to>
                                        <p:strVal val="visible"/>
                                      </p:to>
                                    </p:set>
                                    <p:animEffect transition="in" filter="wipe(left)">
                                      <p:cBhvr>
                                        <p:cTn id="22" dur="1000"/>
                                        <p:tgtEl>
                                          <p:spTgt spid="14439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7877"/>
                                        </p:tgtEl>
                                        <p:attrNameLst>
                                          <p:attrName>style.visibility</p:attrName>
                                        </p:attrNameLst>
                                      </p:cBhvr>
                                      <p:to>
                                        <p:strVal val="visible"/>
                                      </p:to>
                                    </p:set>
                                    <p:animEffect transition="in" filter="blinds(horizontal)">
                                      <p:cBhvr>
                                        <p:cTn id="27" dur="500"/>
                                        <p:tgtEl>
                                          <p:spTgt spid="20787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144392"/>
                                        </p:tgtEl>
                                        <p:attrNameLst>
                                          <p:attrName>style.visibility</p:attrName>
                                        </p:attrNameLst>
                                      </p:cBhvr>
                                      <p:to>
                                        <p:strVal val="visible"/>
                                      </p:to>
                                    </p:set>
                                    <p:anim calcmode="lin" valueType="num">
                                      <p:cBhvr additive="base">
                                        <p:cTn id="32" dur="500" fill="hold"/>
                                        <p:tgtEl>
                                          <p:spTgt spid="144392"/>
                                        </p:tgtEl>
                                        <p:attrNameLst>
                                          <p:attrName>ppt_x</p:attrName>
                                        </p:attrNameLst>
                                      </p:cBhvr>
                                      <p:tavLst>
                                        <p:tav tm="0">
                                          <p:val>
                                            <p:strVal val="0-#ppt_w/2"/>
                                          </p:val>
                                        </p:tav>
                                        <p:tav tm="100000">
                                          <p:val>
                                            <p:strVal val="#ppt_x"/>
                                          </p:val>
                                        </p:tav>
                                      </p:tavLst>
                                    </p:anim>
                                    <p:anim calcmode="lin" valueType="num">
                                      <p:cBhvr additive="base">
                                        <p:cTn id="33" dur="500" fill="hold"/>
                                        <p:tgtEl>
                                          <p:spTgt spid="144392"/>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207878"/>
                                        </p:tgtEl>
                                        <p:attrNameLst>
                                          <p:attrName>style.visibility</p:attrName>
                                        </p:attrNameLst>
                                      </p:cBhvr>
                                      <p:to>
                                        <p:strVal val="visible"/>
                                      </p:to>
                                    </p:set>
                                    <p:animEffect transition="in" filter="dissolve">
                                      <p:cBhvr>
                                        <p:cTn id="38" dur="500"/>
                                        <p:tgtEl>
                                          <p:spTgt spid="207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0" grpId="0"/>
      <p:bldP spid="14439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6"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30727" name="Rectangle 2"/>
          <p:cNvSpPr>
            <a:spLocks noGrp="1"/>
          </p:cNvSpPr>
          <p:nvPr>
            <p:ph type="title"/>
          </p:nvPr>
        </p:nvSpPr>
        <p:spPr>
          <a:xfrm>
            <a:off x="390525" y="228600"/>
            <a:ext cx="7772400" cy="1143000"/>
          </a:xfrm>
          <a:ln/>
        </p:spPr>
        <p:txBody>
          <a:bodyPr vert="horz" wrap="square" lIns="91440" tIns="45720" rIns="91440" bIns="45720" anchor="ctr" anchorCtr="0"/>
          <a:p>
            <a:pPr algn="l"/>
            <a:r>
              <a:rPr lang="zh-CN" altLang="en-US" u="none" dirty="0">
                <a:solidFill>
                  <a:schemeClr val="tx1"/>
                </a:solidFill>
              </a:rPr>
              <a:t>得到</a:t>
            </a:r>
            <a:endParaRPr lang="zh-CN" altLang="en-US" u="none" dirty="0">
              <a:solidFill>
                <a:schemeClr val="tx1"/>
              </a:solidFill>
            </a:endParaRPr>
          </a:p>
        </p:txBody>
      </p:sp>
      <p:graphicFrame>
        <p:nvGraphicFramePr>
          <p:cNvPr id="206850" name="Object 2"/>
          <p:cNvGraphicFramePr/>
          <p:nvPr/>
        </p:nvGraphicFramePr>
        <p:xfrm>
          <a:off x="596900" y="1154113"/>
          <a:ext cx="7800975" cy="3090862"/>
        </p:xfrm>
        <a:graphic>
          <a:graphicData uri="http://schemas.openxmlformats.org/presentationml/2006/ole">
            <mc:AlternateContent xmlns:mc="http://schemas.openxmlformats.org/markup-compatibility/2006">
              <mc:Choice xmlns:v="urn:schemas-microsoft-com:vml" Requires="v">
                <p:oleObj spid="_x0000_s3153" name="" r:id="rId1" imgW="3251200" imgH="1282700" progId="Equation.3">
                  <p:embed/>
                </p:oleObj>
              </mc:Choice>
              <mc:Fallback>
                <p:oleObj name="" r:id="rId1" imgW="3251200" imgH="1282700" progId="Equation.3">
                  <p:embed/>
                  <p:pic>
                    <p:nvPicPr>
                      <p:cNvPr id="0" name="图片 3152"/>
                      <p:cNvPicPr/>
                      <p:nvPr/>
                    </p:nvPicPr>
                    <p:blipFill>
                      <a:blip r:embed="rId2"/>
                      <a:stretch>
                        <a:fillRect/>
                      </a:stretch>
                    </p:blipFill>
                    <p:spPr>
                      <a:xfrm>
                        <a:off x="596900" y="1154113"/>
                        <a:ext cx="7800975" cy="3090862"/>
                      </a:xfrm>
                      <a:prstGeom prst="rect">
                        <a:avLst/>
                      </a:prstGeom>
                      <a:noFill/>
                      <a:ln w="38100">
                        <a:noFill/>
                        <a:miter/>
                      </a:ln>
                    </p:spPr>
                  </p:pic>
                </p:oleObj>
              </mc:Fallback>
            </mc:AlternateContent>
          </a:graphicData>
        </a:graphic>
      </p:graphicFrame>
      <p:sp>
        <p:nvSpPr>
          <p:cNvPr id="145413" name="Text Box 5"/>
          <p:cNvSpPr txBox="1"/>
          <p:nvPr/>
        </p:nvSpPr>
        <p:spPr>
          <a:xfrm>
            <a:off x="228600" y="4232275"/>
            <a:ext cx="8494713" cy="1555750"/>
          </a:xfrm>
          <a:prstGeom prst="rect">
            <a:avLst/>
          </a:prstGeom>
          <a:noFill/>
          <a:ln w="9525">
            <a:noFill/>
          </a:ln>
        </p:spPr>
        <p:txBody>
          <a:bodyPr>
            <a:spAutoFit/>
          </a:bodyPr>
          <a:p>
            <a:pPr eaLnBrk="0" hangingPunct="0">
              <a:lnSpc>
                <a:spcPct val="150000"/>
              </a:lnSpc>
            </a:pPr>
            <a:r>
              <a:rPr lang="zh-CN" altLang="en-US" dirty="0">
                <a:latin typeface="Times New Roman" panose="02020603050405020304" pitchFamily="18" charset="0"/>
              </a:rPr>
              <a:t>在下面要将</a:t>
            </a:r>
            <a:r>
              <a:rPr lang="en-US" altLang="zh-CN" i="1" dirty="0">
                <a:latin typeface="Times New Roman" panose="02020603050405020304" pitchFamily="18" charset="0"/>
              </a:rPr>
              <a:t>y</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+1</a:t>
            </a:r>
            <a:r>
              <a:rPr lang="zh-CN" altLang="en-US" dirty="0">
                <a:latin typeface="Times New Roman" panose="02020603050405020304" pitchFamily="18" charset="0"/>
              </a:rPr>
              <a:t>与</a:t>
            </a:r>
            <a:r>
              <a:rPr lang="en-US" altLang="zh-CN" i="1" dirty="0">
                <a:latin typeface="Times New Roman" panose="02020603050405020304" pitchFamily="18" charset="0"/>
              </a:rPr>
              <a:t>y</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zh-CN" altLang="en-US" dirty="0">
                <a:latin typeface="Times New Roman" panose="02020603050405020304" pitchFamily="18" charset="0"/>
              </a:rPr>
              <a:t>作比较，使它们的局部截断误差满足</a:t>
            </a:r>
            <a:endParaRPr lang="zh-CN" altLang="en-US" dirty="0">
              <a:latin typeface="Times New Roman" panose="02020603050405020304" pitchFamily="18" charset="0"/>
            </a:endParaRPr>
          </a:p>
        </p:txBody>
      </p:sp>
      <p:graphicFrame>
        <p:nvGraphicFramePr>
          <p:cNvPr id="206851" name="Object 3"/>
          <p:cNvGraphicFramePr/>
          <p:nvPr/>
        </p:nvGraphicFramePr>
        <p:xfrm>
          <a:off x="1555750" y="512763"/>
          <a:ext cx="6338888" cy="635000"/>
        </p:xfrm>
        <a:graphic>
          <a:graphicData uri="http://schemas.openxmlformats.org/presentationml/2006/ole">
            <mc:AlternateContent xmlns:mc="http://schemas.openxmlformats.org/markup-compatibility/2006">
              <mc:Choice xmlns:v="urn:schemas-microsoft-com:vml" Requires="v">
                <p:oleObj spid="_x0000_s3155" name="" r:id="rId3" imgW="2499995" imgH="254000" progId="Equation.3">
                  <p:embed/>
                </p:oleObj>
              </mc:Choice>
              <mc:Fallback>
                <p:oleObj name="" r:id="rId3" imgW="2499995" imgH="254000" progId="Equation.3">
                  <p:embed/>
                  <p:pic>
                    <p:nvPicPr>
                      <p:cNvPr id="0" name="图片 3154"/>
                      <p:cNvPicPr/>
                      <p:nvPr/>
                    </p:nvPicPr>
                    <p:blipFill>
                      <a:blip r:embed="rId4"/>
                      <a:stretch>
                        <a:fillRect/>
                      </a:stretch>
                    </p:blipFill>
                    <p:spPr>
                      <a:xfrm>
                        <a:off x="1555750" y="512763"/>
                        <a:ext cx="6338888" cy="635000"/>
                      </a:xfrm>
                      <a:prstGeom prst="rect">
                        <a:avLst/>
                      </a:prstGeom>
                      <a:solidFill>
                        <a:schemeClr val="accent1"/>
                      </a:solidFill>
                      <a:ln w="38100">
                        <a:noFill/>
                        <a:miter/>
                      </a:ln>
                    </p:spPr>
                  </p:pic>
                </p:oleObj>
              </mc:Fallback>
            </mc:AlternateContent>
          </a:graphicData>
        </a:graphic>
      </p:graphicFrame>
      <p:graphicFrame>
        <p:nvGraphicFramePr>
          <p:cNvPr id="206852" name="Object 4"/>
          <p:cNvGraphicFramePr/>
          <p:nvPr/>
        </p:nvGraphicFramePr>
        <p:xfrm>
          <a:off x="2944813" y="5176838"/>
          <a:ext cx="4271962" cy="582612"/>
        </p:xfrm>
        <a:graphic>
          <a:graphicData uri="http://schemas.openxmlformats.org/presentationml/2006/ole">
            <mc:AlternateContent xmlns:mc="http://schemas.openxmlformats.org/markup-compatibility/2006">
              <mc:Choice xmlns:v="urn:schemas-microsoft-com:vml" Requires="v">
                <p:oleObj spid="_x0000_s3152" name="" r:id="rId5" imgW="1790065" imgH="241300" progId="Equation.3">
                  <p:embed/>
                </p:oleObj>
              </mc:Choice>
              <mc:Fallback>
                <p:oleObj name="" r:id="rId5" imgW="1790065" imgH="241300" progId="Equation.3">
                  <p:embed/>
                  <p:pic>
                    <p:nvPicPr>
                      <p:cNvPr id="0" name="图片 3151"/>
                      <p:cNvPicPr/>
                      <p:nvPr/>
                    </p:nvPicPr>
                    <p:blipFill>
                      <a:blip r:embed="rId6"/>
                      <a:stretch>
                        <a:fillRect/>
                      </a:stretch>
                    </p:blipFill>
                    <p:spPr>
                      <a:xfrm>
                        <a:off x="2944813" y="5176838"/>
                        <a:ext cx="4271962" cy="582612"/>
                      </a:xfrm>
                      <a:prstGeom prst="rect">
                        <a:avLst/>
                      </a:prstGeom>
                      <a:gradFill rotWithShape="0">
                        <a:gsLst>
                          <a:gs pos="0">
                            <a:srgbClr val="FFFFFF"/>
                          </a:gs>
                          <a:gs pos="50000">
                            <a:schemeClr val="accent1"/>
                          </a:gs>
                          <a:gs pos="100000">
                            <a:srgbClr val="FFFFFF"/>
                          </a:gs>
                        </a:gsLst>
                        <a:lin ang="5400000" scaled="1"/>
                        <a:tileRect/>
                      </a:gradFill>
                      <a:ln w="38100">
                        <a:noFill/>
                        <a:miter/>
                      </a:ln>
                    </p:spPr>
                  </p:pic>
                </p:oleObj>
              </mc:Fallback>
            </mc:AlternateContent>
          </a:graphicData>
        </a:graphic>
      </p:graphicFrame>
      <p:sp>
        <p:nvSpPr>
          <p:cNvPr id="145416" name="Text Box 8"/>
          <p:cNvSpPr txBox="1"/>
          <p:nvPr/>
        </p:nvSpPr>
        <p:spPr>
          <a:xfrm>
            <a:off x="260350" y="5853113"/>
            <a:ext cx="3265488" cy="579437"/>
          </a:xfrm>
          <a:prstGeom prst="rect">
            <a:avLst/>
          </a:prstGeom>
          <a:noFill/>
          <a:ln w="9525">
            <a:noFill/>
          </a:ln>
        </p:spPr>
        <p:txBody>
          <a:bodyPr wrap="none">
            <a:spAutoFit/>
          </a:bodyPr>
          <a:p>
            <a:pPr eaLnBrk="0" hangingPunct="0"/>
            <a:r>
              <a:rPr lang="zh-CN" altLang="en-US" dirty="0">
                <a:latin typeface="Times New Roman" panose="02020603050405020304" pitchFamily="18" charset="0"/>
              </a:rPr>
              <a:t>为此考虑</a:t>
            </a:r>
            <a:r>
              <a:rPr lang="en-US" altLang="zh-CN" i="1" dirty="0">
                <a:latin typeface="Times New Roman" panose="02020603050405020304" pitchFamily="18" charset="0"/>
              </a:rPr>
              <a:t>y</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6850"/>
                                        </p:tgtEl>
                                        <p:attrNameLst>
                                          <p:attrName>style.visibility</p:attrName>
                                        </p:attrNameLst>
                                      </p:cBhvr>
                                      <p:to>
                                        <p:strVal val="visible"/>
                                      </p:to>
                                    </p:set>
                                    <p:animEffect transition="in" filter="wipe(up)">
                                      <p:cBhvr>
                                        <p:cTn id="7" dur="500"/>
                                        <p:tgtEl>
                                          <p:spTgt spid="2068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6851"/>
                                        </p:tgtEl>
                                        <p:attrNameLst>
                                          <p:attrName>style.visibility</p:attrName>
                                        </p:attrNameLst>
                                      </p:cBhvr>
                                      <p:to>
                                        <p:strVal val="visible"/>
                                      </p:to>
                                    </p:set>
                                    <p:animEffect transition="in" filter="blinds(horizontal)">
                                      <p:cBhvr>
                                        <p:cTn id="12" dur="500"/>
                                        <p:tgtEl>
                                          <p:spTgt spid="206851"/>
                                        </p:tgtEl>
                                      </p:cBhvr>
                                    </p:animEffect>
                                  </p:childTnLst>
                                  <p:subTnLst>
                                    <p:set>
                                      <p:cBhvr override="childStyle">
                                        <p:cTn dur="1" fill="hold" display="0" masterRel="nextClick" afterEffect="1"/>
                                        <p:tgtEl>
                                          <p:spTgt spid="20685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45413"/>
                                        </p:tgtEl>
                                        <p:attrNameLst>
                                          <p:attrName>style.visibility</p:attrName>
                                        </p:attrNameLst>
                                      </p:cBhvr>
                                      <p:to>
                                        <p:strVal val="visible"/>
                                      </p:to>
                                    </p:set>
                                    <p:animEffect transition="in" filter="box(in)">
                                      <p:cBhvr>
                                        <p:cTn id="17" dur="500"/>
                                        <p:tgtEl>
                                          <p:spTgt spid="14541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06852"/>
                                        </p:tgtEl>
                                        <p:attrNameLst>
                                          <p:attrName>style.visibility</p:attrName>
                                        </p:attrNameLst>
                                      </p:cBhvr>
                                      <p:to>
                                        <p:strVal val="visible"/>
                                      </p:to>
                                    </p:set>
                                    <p:anim calcmode="lin" valueType="num">
                                      <p:cBhvr additive="base">
                                        <p:cTn id="22" dur="500" fill="hold"/>
                                        <p:tgtEl>
                                          <p:spTgt spid="206852"/>
                                        </p:tgtEl>
                                        <p:attrNameLst>
                                          <p:attrName>ppt_x</p:attrName>
                                        </p:attrNameLst>
                                      </p:cBhvr>
                                      <p:tavLst>
                                        <p:tav tm="0">
                                          <p:val>
                                            <p:strVal val="#ppt_x"/>
                                          </p:val>
                                        </p:tav>
                                        <p:tav tm="100000">
                                          <p:val>
                                            <p:strVal val="#ppt_x"/>
                                          </p:val>
                                        </p:tav>
                                      </p:tavLst>
                                    </p:anim>
                                    <p:anim calcmode="lin" valueType="num">
                                      <p:cBhvr additive="base">
                                        <p:cTn id="23" dur="500" fill="hold"/>
                                        <p:tgtEl>
                                          <p:spTgt spid="20685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45416"/>
                                        </p:tgtEl>
                                        <p:attrNameLst>
                                          <p:attrName>style.visibility</p:attrName>
                                        </p:attrNameLst>
                                      </p:cBhvr>
                                      <p:to>
                                        <p:strVal val="visible"/>
                                      </p:to>
                                    </p:set>
                                    <p:anim calcmode="lin" valueType="num">
                                      <p:cBhvr additive="base">
                                        <p:cTn id="28" dur="500" fill="hold"/>
                                        <p:tgtEl>
                                          <p:spTgt spid="145416"/>
                                        </p:tgtEl>
                                        <p:attrNameLst>
                                          <p:attrName>ppt_x</p:attrName>
                                        </p:attrNameLst>
                                      </p:cBhvr>
                                      <p:tavLst>
                                        <p:tav tm="0">
                                          <p:val>
                                            <p:strVal val="#ppt_x"/>
                                          </p:val>
                                        </p:tav>
                                        <p:tav tm="100000">
                                          <p:val>
                                            <p:strVal val="#ppt_x"/>
                                          </p:val>
                                        </p:tav>
                                      </p:tavLst>
                                    </p:anim>
                                    <p:anim calcmode="lin" valueType="num">
                                      <p:cBhvr additive="base">
                                        <p:cTn id="29" dur="500" fill="hold"/>
                                        <p:tgtEl>
                                          <p:spTgt spid="1454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3" grpId="0"/>
      <p:bldP spid="1454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50"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31751" name="Rectangle 2"/>
          <p:cNvSpPr>
            <a:spLocks noGrp="1"/>
          </p:cNvSpPr>
          <p:nvPr>
            <p:ph type="title"/>
          </p:nvPr>
        </p:nvSpPr>
        <p:spPr>
          <a:xfrm>
            <a:off x="261938" y="228600"/>
            <a:ext cx="8653462" cy="922338"/>
          </a:xfrm>
          <a:ln/>
        </p:spPr>
        <p:txBody>
          <a:bodyPr vert="horz" wrap="square" lIns="91440" tIns="45720" rIns="91440" bIns="45720" anchor="ctr" anchorCtr="0"/>
          <a:p>
            <a:pPr algn="l"/>
            <a:r>
              <a:rPr lang="zh-CN" altLang="en-US" u="none" dirty="0">
                <a:solidFill>
                  <a:schemeClr val="tx1"/>
                </a:solidFill>
                <a:latin typeface="Times New Roman" panose="02020603050405020304" pitchFamily="18" charset="0"/>
              </a:rPr>
              <a:t>再根据 </a:t>
            </a:r>
            <a:r>
              <a:rPr lang="en-US" altLang="zh-CN" i="1" u="none" dirty="0">
                <a:solidFill>
                  <a:schemeClr val="tx1"/>
                </a:solidFill>
                <a:latin typeface="Times New Roman" panose="02020603050405020304" pitchFamily="18" charset="0"/>
              </a:rPr>
              <a:t>y</a:t>
            </a:r>
            <a:r>
              <a:rPr lang="en-US" altLang="zh-CN" u="none" dirty="0">
                <a:solidFill>
                  <a:schemeClr val="tx1"/>
                </a:solidFill>
                <a:latin typeface="Times New Roman" panose="02020603050405020304" pitchFamily="18" charset="0"/>
              </a:rPr>
              <a:t>(</a:t>
            </a:r>
            <a:r>
              <a:rPr lang="en-US" altLang="zh-CN" i="1" u="none" dirty="0">
                <a:solidFill>
                  <a:schemeClr val="tx1"/>
                </a:solidFill>
                <a:latin typeface="Times New Roman" panose="02020603050405020304" pitchFamily="18" charset="0"/>
              </a:rPr>
              <a:t>x</a:t>
            </a:r>
            <a:r>
              <a:rPr lang="en-US" altLang="zh-CN" i="1" u="none" baseline="-25000" dirty="0">
                <a:solidFill>
                  <a:schemeClr val="tx1"/>
                </a:solidFill>
                <a:latin typeface="Times New Roman" panose="02020603050405020304" pitchFamily="18" charset="0"/>
              </a:rPr>
              <a:t>n</a:t>
            </a:r>
            <a:r>
              <a:rPr lang="en-US" altLang="zh-CN" u="none" baseline="-25000" dirty="0">
                <a:solidFill>
                  <a:schemeClr val="tx1"/>
                </a:solidFill>
                <a:latin typeface="Times New Roman" panose="02020603050405020304" pitchFamily="18" charset="0"/>
              </a:rPr>
              <a:t>+1</a:t>
            </a:r>
            <a:r>
              <a:rPr lang="en-US" altLang="zh-CN" u="none" dirty="0">
                <a:solidFill>
                  <a:schemeClr val="tx1"/>
                </a:solidFill>
                <a:latin typeface="Times New Roman" panose="02020603050405020304" pitchFamily="18" charset="0"/>
              </a:rPr>
              <a:t>) </a:t>
            </a:r>
            <a:r>
              <a:rPr lang="zh-CN" altLang="en-US" u="none" dirty="0">
                <a:solidFill>
                  <a:schemeClr val="tx1"/>
                </a:solidFill>
                <a:latin typeface="Times New Roman" panose="02020603050405020304" pitchFamily="18" charset="0"/>
              </a:rPr>
              <a:t>在点 </a:t>
            </a:r>
            <a:r>
              <a:rPr lang="en-US" altLang="zh-CN" i="1" u="none" dirty="0">
                <a:solidFill>
                  <a:schemeClr val="tx1"/>
                </a:solidFill>
                <a:latin typeface="Times New Roman" panose="02020603050405020304" pitchFamily="18" charset="0"/>
              </a:rPr>
              <a:t>x</a:t>
            </a:r>
            <a:r>
              <a:rPr lang="en-US" altLang="zh-CN" i="1" u="none" baseline="-25000" dirty="0">
                <a:solidFill>
                  <a:schemeClr val="tx1"/>
                </a:solidFill>
                <a:latin typeface="Times New Roman" panose="02020603050405020304" pitchFamily="18" charset="0"/>
              </a:rPr>
              <a:t>n</a:t>
            </a:r>
            <a:r>
              <a:rPr lang="zh-CN" altLang="en-US" u="none" dirty="0">
                <a:solidFill>
                  <a:schemeClr val="tx1"/>
                </a:solidFill>
                <a:latin typeface="Times New Roman" panose="02020603050405020304" pitchFamily="18" charset="0"/>
              </a:rPr>
              <a:t>的一元 3 阶 </a:t>
            </a:r>
            <a:r>
              <a:rPr lang="en-US" altLang="zh-CN" u="none" dirty="0">
                <a:solidFill>
                  <a:schemeClr val="tx1"/>
                </a:solidFill>
                <a:latin typeface="Times New Roman" panose="02020603050405020304" pitchFamily="18" charset="0"/>
              </a:rPr>
              <a:t>Taylor </a:t>
            </a:r>
            <a:r>
              <a:rPr lang="zh-CN" altLang="en-US" u="none" dirty="0">
                <a:solidFill>
                  <a:schemeClr val="tx1"/>
                </a:solidFill>
                <a:latin typeface="Times New Roman" panose="02020603050405020304" pitchFamily="18" charset="0"/>
              </a:rPr>
              <a:t>展开式</a:t>
            </a:r>
            <a:endParaRPr lang="zh-CN" altLang="en-US" u="none" dirty="0">
              <a:solidFill>
                <a:schemeClr val="tx1"/>
              </a:solidFill>
            </a:endParaRPr>
          </a:p>
        </p:txBody>
      </p:sp>
      <p:graphicFrame>
        <p:nvGraphicFramePr>
          <p:cNvPr id="216064" name="Object 1024"/>
          <p:cNvGraphicFramePr/>
          <p:nvPr/>
        </p:nvGraphicFramePr>
        <p:xfrm>
          <a:off x="377825" y="925513"/>
          <a:ext cx="7858125" cy="3055937"/>
        </p:xfrm>
        <a:graphic>
          <a:graphicData uri="http://schemas.openxmlformats.org/presentationml/2006/ole">
            <mc:AlternateContent xmlns:mc="http://schemas.openxmlformats.org/markup-compatibility/2006">
              <mc:Choice xmlns:v="urn:schemas-microsoft-com:vml" Requires="v">
                <p:oleObj spid="_x0000_s3157" name="" r:id="rId1" imgW="3275330" imgH="1269365" progId="Equation.3">
                  <p:embed/>
                </p:oleObj>
              </mc:Choice>
              <mc:Fallback>
                <p:oleObj name="" r:id="rId1" imgW="3275330" imgH="1269365" progId="Equation.3">
                  <p:embed/>
                  <p:pic>
                    <p:nvPicPr>
                      <p:cNvPr id="0" name="图片 3156"/>
                      <p:cNvPicPr/>
                      <p:nvPr/>
                    </p:nvPicPr>
                    <p:blipFill>
                      <a:blip r:embed="rId2"/>
                      <a:stretch>
                        <a:fillRect/>
                      </a:stretch>
                    </p:blipFill>
                    <p:spPr>
                      <a:xfrm>
                        <a:off x="377825" y="925513"/>
                        <a:ext cx="7858125" cy="3055937"/>
                      </a:xfrm>
                      <a:prstGeom prst="rect">
                        <a:avLst/>
                      </a:prstGeom>
                      <a:noFill/>
                      <a:ln w="38100">
                        <a:noFill/>
                        <a:miter/>
                      </a:ln>
                    </p:spPr>
                  </p:pic>
                </p:oleObj>
              </mc:Fallback>
            </mc:AlternateContent>
          </a:graphicData>
        </a:graphic>
      </p:graphicFrame>
      <p:graphicFrame>
        <p:nvGraphicFramePr>
          <p:cNvPr id="216065" name="Object 1025"/>
          <p:cNvGraphicFramePr/>
          <p:nvPr/>
        </p:nvGraphicFramePr>
        <p:xfrm>
          <a:off x="566738" y="4454525"/>
          <a:ext cx="7180262" cy="1270000"/>
        </p:xfrm>
        <a:graphic>
          <a:graphicData uri="http://schemas.openxmlformats.org/presentationml/2006/ole">
            <mc:AlternateContent xmlns:mc="http://schemas.openxmlformats.org/markup-compatibility/2006">
              <mc:Choice xmlns:v="urn:schemas-microsoft-com:vml" Requires="v">
                <p:oleObj spid="_x0000_s3159" name="" r:id="rId3" imgW="2882900" imgH="508000" progId="Equation.3">
                  <p:embed/>
                </p:oleObj>
              </mc:Choice>
              <mc:Fallback>
                <p:oleObj name="" r:id="rId3" imgW="2882900" imgH="508000" progId="Equation.3">
                  <p:embed/>
                  <p:pic>
                    <p:nvPicPr>
                      <p:cNvPr id="0" name="图片 3158"/>
                      <p:cNvPicPr/>
                      <p:nvPr/>
                    </p:nvPicPr>
                    <p:blipFill>
                      <a:blip r:embed="rId4"/>
                      <a:stretch>
                        <a:fillRect/>
                      </a:stretch>
                    </p:blipFill>
                    <p:spPr>
                      <a:xfrm>
                        <a:off x="566738" y="4454525"/>
                        <a:ext cx="7180262" cy="1270000"/>
                      </a:xfrm>
                      <a:prstGeom prst="rect">
                        <a:avLst/>
                      </a:prstGeom>
                      <a:noFill/>
                      <a:ln w="38100">
                        <a:noFill/>
                        <a:miter/>
                      </a:ln>
                    </p:spPr>
                  </p:pic>
                </p:oleObj>
              </mc:Fallback>
            </mc:AlternateContent>
          </a:graphicData>
        </a:graphic>
      </p:graphicFrame>
      <p:sp>
        <p:nvSpPr>
          <p:cNvPr id="146438" name="Text Box 6"/>
          <p:cNvSpPr txBox="1"/>
          <p:nvPr/>
        </p:nvSpPr>
        <p:spPr>
          <a:xfrm>
            <a:off x="144463" y="3898900"/>
            <a:ext cx="3028950" cy="579438"/>
          </a:xfrm>
          <a:prstGeom prst="rect">
            <a:avLst/>
          </a:prstGeom>
          <a:noFill/>
          <a:ln w="9525">
            <a:noFill/>
          </a:ln>
        </p:spPr>
        <p:txBody>
          <a:bodyPr wrap="none">
            <a:spAutoFit/>
          </a:bodyPr>
          <a:p>
            <a:pPr algn="ctr" eaLnBrk="0" hangingPunct="0"/>
            <a:r>
              <a:rPr lang="zh-CN" altLang="en-US" dirty="0">
                <a:latin typeface="Comic Sans MS" panose="030F0702030302020204" pitchFamily="66" charset="0"/>
              </a:rPr>
              <a:t>由刚才已得到的</a:t>
            </a:r>
            <a:endParaRPr lang="zh-CN" altLang="en-US" dirty="0">
              <a:latin typeface="Comic Sans MS" panose="030F0702030302020204" pitchFamily="66" charset="0"/>
            </a:endParaRPr>
          </a:p>
        </p:txBody>
      </p:sp>
      <p:graphicFrame>
        <p:nvGraphicFramePr>
          <p:cNvPr id="216066" name="Object 1026"/>
          <p:cNvGraphicFramePr/>
          <p:nvPr/>
        </p:nvGraphicFramePr>
        <p:xfrm>
          <a:off x="2417763" y="5734050"/>
          <a:ext cx="4405312" cy="600075"/>
        </p:xfrm>
        <a:graphic>
          <a:graphicData uri="http://schemas.openxmlformats.org/presentationml/2006/ole">
            <mc:AlternateContent xmlns:mc="http://schemas.openxmlformats.org/markup-compatibility/2006">
              <mc:Choice xmlns:v="urn:schemas-microsoft-com:vml" Requires="v">
                <p:oleObj spid="_x0000_s3158" name="" r:id="rId5" imgW="1790065" imgH="241300" progId="Equation.3">
                  <p:embed/>
                </p:oleObj>
              </mc:Choice>
              <mc:Fallback>
                <p:oleObj name="" r:id="rId5" imgW="1790065" imgH="241300" progId="Equation.3">
                  <p:embed/>
                  <p:pic>
                    <p:nvPicPr>
                      <p:cNvPr id="0" name="图片 3157"/>
                      <p:cNvPicPr/>
                      <p:nvPr/>
                    </p:nvPicPr>
                    <p:blipFill>
                      <a:blip r:embed="rId6"/>
                      <a:stretch>
                        <a:fillRect/>
                      </a:stretch>
                    </p:blipFill>
                    <p:spPr>
                      <a:xfrm>
                        <a:off x="2417763" y="5734050"/>
                        <a:ext cx="4405312" cy="600075"/>
                      </a:xfrm>
                      <a:prstGeom prst="rect">
                        <a:avLst/>
                      </a:prstGeom>
                      <a:gradFill rotWithShape="0">
                        <a:gsLst>
                          <a:gs pos="0">
                            <a:schemeClr val="accent1"/>
                          </a:gs>
                          <a:gs pos="50000">
                            <a:srgbClr val="FFFFFF"/>
                          </a:gs>
                          <a:gs pos="100000">
                            <a:schemeClr val="accent1"/>
                          </a:gs>
                        </a:gsLst>
                        <a:lin ang="5400000" scaled="1"/>
                        <a:tileRect/>
                      </a:gradFill>
                      <a:ln w="38100">
                        <a:noFill/>
                        <a:miter/>
                      </a:ln>
                    </p:spPr>
                  </p:pic>
                </p:oleObj>
              </mc:Fallback>
            </mc:AlternateContent>
          </a:graphicData>
        </a:graphic>
      </p:graphicFrame>
      <p:sp>
        <p:nvSpPr>
          <p:cNvPr id="146441" name="Text Box 9"/>
          <p:cNvSpPr txBox="1"/>
          <p:nvPr/>
        </p:nvSpPr>
        <p:spPr>
          <a:xfrm>
            <a:off x="206375" y="5715000"/>
            <a:ext cx="2216150" cy="579438"/>
          </a:xfrm>
          <a:prstGeom prst="rect">
            <a:avLst/>
          </a:prstGeom>
          <a:noFill/>
          <a:ln w="9525">
            <a:noFill/>
          </a:ln>
        </p:spPr>
        <p:txBody>
          <a:bodyPr wrap="none">
            <a:spAutoFit/>
          </a:bodyPr>
          <a:p>
            <a:pPr eaLnBrk="0" hangingPunct="0"/>
            <a:r>
              <a:rPr lang="zh-CN" altLang="en-US" dirty="0">
                <a:latin typeface="Times New Roman" panose="02020603050405020304" pitchFamily="18" charset="0"/>
              </a:rPr>
              <a:t>让它们满足</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16064"/>
                                        </p:tgtEl>
                                        <p:attrNameLst>
                                          <p:attrName>style.visibility</p:attrName>
                                        </p:attrNameLst>
                                      </p:cBhvr>
                                      <p:to>
                                        <p:strVal val="visible"/>
                                      </p:to>
                                    </p:set>
                                    <p:animEffect transition="in" filter="checkerboard(across)">
                                      <p:cBhvr>
                                        <p:cTn id="7" dur="500"/>
                                        <p:tgtEl>
                                          <p:spTgt spid="21606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46438"/>
                                        </p:tgtEl>
                                        <p:attrNameLst>
                                          <p:attrName>style.visibility</p:attrName>
                                        </p:attrNameLst>
                                      </p:cBhvr>
                                      <p:to>
                                        <p:strVal val="visible"/>
                                      </p:to>
                                    </p:set>
                                    <p:anim calcmode="lin" valueType="num">
                                      <p:cBhvr additive="base">
                                        <p:cTn id="12" dur="500" fill="hold"/>
                                        <p:tgtEl>
                                          <p:spTgt spid="146438"/>
                                        </p:tgtEl>
                                        <p:attrNameLst>
                                          <p:attrName>ppt_x</p:attrName>
                                        </p:attrNameLst>
                                      </p:cBhvr>
                                      <p:tavLst>
                                        <p:tav tm="0">
                                          <p:val>
                                            <p:strVal val="0-#ppt_w/2"/>
                                          </p:val>
                                        </p:tav>
                                        <p:tav tm="100000">
                                          <p:val>
                                            <p:strVal val="#ppt_x"/>
                                          </p:val>
                                        </p:tav>
                                      </p:tavLst>
                                    </p:anim>
                                    <p:anim calcmode="lin" valueType="num">
                                      <p:cBhvr additive="base">
                                        <p:cTn id="13" dur="500" fill="hold"/>
                                        <p:tgtEl>
                                          <p:spTgt spid="14643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216065"/>
                                        </p:tgtEl>
                                        <p:attrNameLst>
                                          <p:attrName>style.visibility</p:attrName>
                                        </p:attrNameLst>
                                      </p:cBhvr>
                                      <p:to>
                                        <p:strVal val="visible"/>
                                      </p:to>
                                    </p:set>
                                    <p:animEffect transition="in" filter="checkerboard(across)">
                                      <p:cBhvr>
                                        <p:cTn id="18" dur="500"/>
                                        <p:tgtEl>
                                          <p:spTgt spid="216065"/>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464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16066"/>
                                        </p:tgtEl>
                                        <p:attrNameLst>
                                          <p:attrName>style.visibility</p:attrName>
                                        </p:attrNameLst>
                                      </p:cBhvr>
                                      <p:to>
                                        <p:strVal val="visible"/>
                                      </p:to>
                                    </p:set>
                                    <p:animEffect transition="in" filter="checkerboard(across)">
                                      <p:cBhvr>
                                        <p:cTn id="27" dur="500"/>
                                        <p:tgtEl>
                                          <p:spTgt spid="216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8" grpId="0"/>
      <p:bldP spid="14644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74"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32775" name="Rectangle 2"/>
          <p:cNvSpPr>
            <a:spLocks noGrp="1"/>
          </p:cNvSpPr>
          <p:nvPr>
            <p:ph type="title"/>
          </p:nvPr>
        </p:nvSpPr>
        <p:spPr>
          <a:xfrm>
            <a:off x="319088" y="365125"/>
            <a:ext cx="1327150" cy="823913"/>
          </a:xfrm>
          <a:ln/>
        </p:spPr>
        <p:txBody>
          <a:bodyPr vert="horz" wrap="square" lIns="91440" tIns="45720" rIns="91440" bIns="45720" anchor="ctr" anchorCtr="0"/>
          <a:p>
            <a:pPr algn="l"/>
            <a:r>
              <a:rPr lang="zh-CN" altLang="en-US" u="none" dirty="0">
                <a:solidFill>
                  <a:schemeClr val="tx1"/>
                </a:solidFill>
                <a:latin typeface="Times New Roman" panose="02020603050405020304" pitchFamily="18" charset="0"/>
              </a:rPr>
              <a:t>即由</a:t>
            </a:r>
            <a:endParaRPr lang="zh-CN" altLang="en-US" u="none" dirty="0">
              <a:solidFill>
                <a:schemeClr val="tx1"/>
              </a:solidFill>
              <a:latin typeface="Times New Roman" panose="02020603050405020304" pitchFamily="18" charset="0"/>
            </a:endParaRPr>
          </a:p>
        </p:txBody>
      </p:sp>
      <p:graphicFrame>
        <p:nvGraphicFramePr>
          <p:cNvPr id="217088" name="Object 1024"/>
          <p:cNvGraphicFramePr/>
          <p:nvPr/>
        </p:nvGraphicFramePr>
        <p:xfrm>
          <a:off x="827088" y="3430588"/>
          <a:ext cx="1803400" cy="3041650"/>
        </p:xfrm>
        <a:graphic>
          <a:graphicData uri="http://schemas.openxmlformats.org/presentationml/2006/ole">
            <mc:AlternateContent xmlns:mc="http://schemas.openxmlformats.org/markup-compatibility/2006">
              <mc:Choice xmlns:v="urn:schemas-microsoft-com:vml" Requires="v">
                <p:oleObj spid="_x0000_s3156" name="" r:id="rId1" imgW="723900" imgH="1218565" progId="Equation.DSMT4">
                  <p:embed/>
                </p:oleObj>
              </mc:Choice>
              <mc:Fallback>
                <p:oleObj name="" r:id="rId1" imgW="723900" imgH="1218565" progId="Equation.DSMT4">
                  <p:embed/>
                  <p:pic>
                    <p:nvPicPr>
                      <p:cNvPr id="0" name="图片 3155"/>
                      <p:cNvPicPr/>
                      <p:nvPr/>
                    </p:nvPicPr>
                    <p:blipFill>
                      <a:blip r:embed="rId2"/>
                      <a:stretch>
                        <a:fillRect/>
                      </a:stretch>
                    </p:blipFill>
                    <p:spPr>
                      <a:xfrm>
                        <a:off x="827088" y="3430588"/>
                        <a:ext cx="1803400" cy="3041650"/>
                      </a:xfrm>
                      <a:prstGeom prst="rect">
                        <a:avLst/>
                      </a:prstGeom>
                      <a:noFill/>
                      <a:ln w="38100">
                        <a:noFill/>
                        <a:miter/>
                      </a:ln>
                    </p:spPr>
                  </p:pic>
                </p:oleObj>
              </mc:Fallback>
            </mc:AlternateContent>
          </a:graphicData>
        </a:graphic>
      </p:graphicFrame>
      <p:sp>
        <p:nvSpPr>
          <p:cNvPr id="143364" name="AutoShape 4"/>
          <p:cNvSpPr/>
          <p:nvPr/>
        </p:nvSpPr>
        <p:spPr>
          <a:xfrm>
            <a:off x="4194175" y="3502025"/>
            <a:ext cx="4643438" cy="1819275"/>
          </a:xfrm>
          <a:prstGeom prst="wedgeRoundRectCallout">
            <a:avLst>
              <a:gd name="adj1" fmla="val -87574"/>
              <a:gd name="adj2" fmla="val 63440"/>
              <a:gd name="adj3" fmla="val 16667"/>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800" b="1" dirty="0">
                <a:latin typeface="Times New Roman" panose="02020603050405020304" pitchFamily="18" charset="0"/>
              </a:rPr>
              <a:t>左式含有四个未知元三个</a:t>
            </a:r>
            <a:endParaRPr lang="zh-CN" altLang="en-US" sz="2800" b="1" dirty="0">
              <a:latin typeface="Times New Roman" panose="02020603050405020304" pitchFamily="18" charset="0"/>
            </a:endParaRPr>
          </a:p>
          <a:p>
            <a:pPr algn="ctr"/>
            <a:r>
              <a:rPr lang="zh-CN" altLang="en-US" sz="2800" b="1" dirty="0">
                <a:latin typeface="Times New Roman" panose="02020603050405020304" pitchFamily="18" charset="0"/>
              </a:rPr>
              <a:t>方程, 因此</a:t>
            </a:r>
            <a:r>
              <a:rPr lang="zh-CN" altLang="en-US" sz="2800" b="1" dirty="0">
                <a:solidFill>
                  <a:schemeClr val="accent2"/>
                </a:solidFill>
                <a:latin typeface="Times New Roman" panose="02020603050405020304" pitchFamily="18" charset="0"/>
              </a:rPr>
              <a:t>解不唯一</a:t>
            </a:r>
            <a:r>
              <a:rPr lang="zh-CN" altLang="en-US" sz="2800" b="1" dirty="0">
                <a:latin typeface="Times New Roman" panose="02020603050405020304" pitchFamily="18" charset="0"/>
              </a:rPr>
              <a:t>. 参数</a:t>
            </a:r>
            <a:endParaRPr lang="zh-CN" altLang="en-US" sz="2800" b="1" dirty="0">
              <a:latin typeface="Times New Roman" panose="02020603050405020304" pitchFamily="18" charset="0"/>
            </a:endParaRPr>
          </a:p>
          <a:p>
            <a:pPr algn="ctr"/>
            <a:r>
              <a:rPr lang="zh-CN" altLang="en-US" sz="2800" b="1" dirty="0">
                <a:latin typeface="Times New Roman" panose="02020603050405020304" pitchFamily="18" charset="0"/>
              </a:rPr>
              <a:t>满足左式的</a:t>
            </a:r>
            <a:r>
              <a:rPr lang="zh-CN" altLang="en-US" sz="2800" b="1" dirty="0">
                <a:solidFill>
                  <a:schemeClr val="accent2"/>
                </a:solidFill>
                <a:latin typeface="Times New Roman" panose="02020603050405020304" pitchFamily="18" charset="0"/>
              </a:rPr>
              <a:t>一族公式</a:t>
            </a:r>
            <a:r>
              <a:rPr lang="zh-CN" altLang="en-US" sz="2800" b="1" dirty="0">
                <a:latin typeface="Times New Roman" panose="02020603050405020304" pitchFamily="18" charset="0"/>
              </a:rPr>
              <a:t>统称</a:t>
            </a:r>
            <a:endParaRPr lang="zh-CN" altLang="en-US" sz="2800" b="1" dirty="0">
              <a:latin typeface="Times New Roman" panose="02020603050405020304" pitchFamily="18" charset="0"/>
            </a:endParaRPr>
          </a:p>
          <a:p>
            <a:pPr algn="ctr"/>
            <a:r>
              <a:rPr lang="zh-CN" altLang="en-US" sz="2800" b="1" dirty="0">
                <a:latin typeface="Times New Roman" panose="02020603050405020304" pitchFamily="18" charset="0"/>
              </a:rPr>
              <a:t>二阶 </a:t>
            </a:r>
            <a:r>
              <a:rPr lang="en-US" altLang="zh-CN" sz="2800" b="1" dirty="0">
                <a:latin typeface="Times New Roman" panose="02020603050405020304" pitchFamily="18" charset="0"/>
              </a:rPr>
              <a:t>Runge-Kutta </a:t>
            </a:r>
            <a:r>
              <a:rPr lang="zh-CN" altLang="zh-CN" sz="2800" b="1" dirty="0">
                <a:latin typeface="Times New Roman" panose="02020603050405020304" pitchFamily="18" charset="0"/>
              </a:rPr>
              <a:t>公式</a:t>
            </a:r>
            <a:r>
              <a:rPr lang="zh-CN" altLang="en-US" sz="2800" b="1" dirty="0">
                <a:latin typeface="Times New Roman" panose="02020603050405020304" pitchFamily="18" charset="0"/>
              </a:rPr>
              <a:t>.</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143366" name="Text Box 6"/>
          <p:cNvSpPr txBox="1"/>
          <p:nvPr/>
        </p:nvSpPr>
        <p:spPr>
          <a:xfrm>
            <a:off x="296863" y="2749550"/>
            <a:ext cx="5173662" cy="579438"/>
          </a:xfrm>
          <a:prstGeom prst="rect">
            <a:avLst/>
          </a:prstGeom>
          <a:noFill/>
          <a:ln w="9525">
            <a:noFill/>
          </a:ln>
        </p:spPr>
        <p:txBody>
          <a:bodyPr wrap="none">
            <a:spAutoFit/>
          </a:bodyPr>
          <a:p>
            <a:pPr eaLnBrk="0" hangingPunct="0"/>
            <a:r>
              <a:rPr lang="zh-CN" altLang="en-US" dirty="0">
                <a:latin typeface="Times New Roman" panose="02020603050405020304" pitchFamily="18" charset="0"/>
              </a:rPr>
              <a:t>可得参数应满足下列方程组:</a:t>
            </a:r>
            <a:endParaRPr lang="zh-CN" altLang="en-US" dirty="0">
              <a:latin typeface="Times New Roman" panose="02020603050405020304" pitchFamily="18" charset="0"/>
            </a:endParaRPr>
          </a:p>
        </p:txBody>
      </p:sp>
      <p:graphicFrame>
        <p:nvGraphicFramePr>
          <p:cNvPr id="217089" name="Object 1025"/>
          <p:cNvGraphicFramePr/>
          <p:nvPr/>
        </p:nvGraphicFramePr>
        <p:xfrm>
          <a:off x="531813" y="1728788"/>
          <a:ext cx="8140700" cy="1044575"/>
        </p:xfrm>
        <a:graphic>
          <a:graphicData uri="http://schemas.openxmlformats.org/presentationml/2006/ole">
            <mc:AlternateContent xmlns:mc="http://schemas.openxmlformats.org/markup-compatibility/2006">
              <mc:Choice xmlns:v="urn:schemas-microsoft-com:vml" Requires="v">
                <p:oleObj spid="_x0000_s3161" name="" r:id="rId3" imgW="3276600" imgH="419100" progId="Equation.3">
                  <p:embed/>
                </p:oleObj>
              </mc:Choice>
              <mc:Fallback>
                <p:oleObj name="" r:id="rId3" imgW="3276600" imgH="419100" progId="Equation.3">
                  <p:embed/>
                  <p:pic>
                    <p:nvPicPr>
                      <p:cNvPr id="0" name="图片 3160"/>
                      <p:cNvPicPr/>
                      <p:nvPr/>
                    </p:nvPicPr>
                    <p:blipFill>
                      <a:blip r:embed="rId4"/>
                      <a:stretch>
                        <a:fillRect/>
                      </a:stretch>
                    </p:blipFill>
                    <p:spPr>
                      <a:xfrm>
                        <a:off x="531813" y="1728788"/>
                        <a:ext cx="8140700" cy="1044575"/>
                      </a:xfrm>
                      <a:prstGeom prst="rect">
                        <a:avLst/>
                      </a:prstGeom>
                      <a:noFill/>
                      <a:ln w="38100">
                        <a:noFill/>
                        <a:miter/>
                      </a:ln>
                    </p:spPr>
                  </p:pic>
                </p:oleObj>
              </mc:Fallback>
            </mc:AlternateContent>
          </a:graphicData>
        </a:graphic>
      </p:graphicFrame>
      <p:graphicFrame>
        <p:nvGraphicFramePr>
          <p:cNvPr id="217090" name="Object 1026"/>
          <p:cNvGraphicFramePr/>
          <p:nvPr/>
        </p:nvGraphicFramePr>
        <p:xfrm>
          <a:off x="1325563" y="539750"/>
          <a:ext cx="7180262" cy="1270000"/>
        </p:xfrm>
        <a:graphic>
          <a:graphicData uri="http://schemas.openxmlformats.org/presentationml/2006/ole">
            <mc:AlternateContent xmlns:mc="http://schemas.openxmlformats.org/markup-compatibility/2006">
              <mc:Choice xmlns:v="urn:schemas-microsoft-com:vml" Requires="v">
                <p:oleObj spid="_x0000_s3160" name="" r:id="rId5" imgW="2882900" imgH="508000" progId="Equation.3">
                  <p:embed/>
                </p:oleObj>
              </mc:Choice>
              <mc:Fallback>
                <p:oleObj name="" r:id="rId5" imgW="2882900" imgH="508000" progId="Equation.3">
                  <p:embed/>
                  <p:pic>
                    <p:nvPicPr>
                      <p:cNvPr id="0" name="图片 3159"/>
                      <p:cNvPicPr/>
                      <p:nvPr/>
                    </p:nvPicPr>
                    <p:blipFill>
                      <a:blip r:embed="rId6"/>
                      <a:stretch>
                        <a:fillRect/>
                      </a:stretch>
                    </p:blipFill>
                    <p:spPr>
                      <a:xfrm>
                        <a:off x="1325563" y="539750"/>
                        <a:ext cx="7180262" cy="12700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170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217089"/>
                                        </p:tgtEl>
                                        <p:attrNameLst>
                                          <p:attrName>style.visibility</p:attrName>
                                        </p:attrNameLst>
                                      </p:cBhvr>
                                      <p:to>
                                        <p:strVal val="visible"/>
                                      </p:to>
                                    </p:set>
                                    <p:animEffect transition="in" filter="checkerboard(across)">
                                      <p:cBhvr>
                                        <p:cTn id="11" dur="500"/>
                                        <p:tgtEl>
                                          <p:spTgt spid="217089"/>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43366"/>
                                        </p:tgtEl>
                                        <p:attrNameLst>
                                          <p:attrName>style.visibility</p:attrName>
                                        </p:attrNameLst>
                                      </p:cBhvr>
                                      <p:to>
                                        <p:strVal val="visible"/>
                                      </p:to>
                                    </p:set>
                                    <p:anim calcmode="lin" valueType="num">
                                      <p:cBhvr additive="base">
                                        <p:cTn id="16" dur="500" fill="hold"/>
                                        <p:tgtEl>
                                          <p:spTgt spid="143366"/>
                                        </p:tgtEl>
                                        <p:attrNameLst>
                                          <p:attrName>ppt_x</p:attrName>
                                        </p:attrNameLst>
                                      </p:cBhvr>
                                      <p:tavLst>
                                        <p:tav tm="0">
                                          <p:val>
                                            <p:strVal val="0-#ppt_w/2"/>
                                          </p:val>
                                        </p:tav>
                                        <p:tav tm="100000">
                                          <p:val>
                                            <p:strVal val="#ppt_x"/>
                                          </p:val>
                                        </p:tav>
                                      </p:tavLst>
                                    </p:anim>
                                    <p:anim calcmode="lin" valueType="num">
                                      <p:cBhvr additive="base">
                                        <p:cTn id="17" dur="500" fill="hold"/>
                                        <p:tgtEl>
                                          <p:spTgt spid="143366"/>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17088"/>
                                        </p:tgtEl>
                                        <p:attrNameLst>
                                          <p:attrName>style.visibility</p:attrName>
                                        </p:attrNameLst>
                                      </p:cBhvr>
                                      <p:to>
                                        <p:strVal val="visible"/>
                                      </p:to>
                                    </p:set>
                                    <p:anim calcmode="lin" valueType="num">
                                      <p:cBhvr additive="base">
                                        <p:cTn id="22" dur="500" fill="hold"/>
                                        <p:tgtEl>
                                          <p:spTgt spid="217088"/>
                                        </p:tgtEl>
                                        <p:attrNameLst>
                                          <p:attrName>ppt_x</p:attrName>
                                        </p:attrNameLst>
                                      </p:cBhvr>
                                      <p:tavLst>
                                        <p:tav tm="0">
                                          <p:val>
                                            <p:strVal val="0-#ppt_w/2"/>
                                          </p:val>
                                        </p:tav>
                                        <p:tav tm="100000">
                                          <p:val>
                                            <p:strVal val="#ppt_x"/>
                                          </p:val>
                                        </p:tav>
                                      </p:tavLst>
                                    </p:anim>
                                    <p:anim calcmode="lin" valueType="num">
                                      <p:cBhvr additive="base">
                                        <p:cTn id="23" dur="500" fill="hold"/>
                                        <p:tgtEl>
                                          <p:spTgt spid="217088"/>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433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4" grpId="0" animBg="1"/>
      <p:bldP spid="14336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805"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pSp>
        <p:nvGrpSpPr>
          <p:cNvPr id="2" name="Group 49"/>
          <p:cNvGrpSpPr/>
          <p:nvPr/>
        </p:nvGrpSpPr>
        <p:grpSpPr>
          <a:xfrm>
            <a:off x="4486275" y="127000"/>
            <a:ext cx="4513263" cy="3219450"/>
            <a:chOff x="2826" y="80"/>
            <a:chExt cx="2843" cy="2028"/>
          </a:xfrm>
        </p:grpSpPr>
        <p:sp>
          <p:nvSpPr>
            <p:cNvPr id="33817" name="Rectangle 15"/>
            <p:cNvSpPr/>
            <p:nvPr/>
          </p:nvSpPr>
          <p:spPr>
            <a:xfrm>
              <a:off x="2826" y="142"/>
              <a:ext cx="436" cy="327"/>
            </a:xfrm>
            <a:prstGeom prst="rect">
              <a:avLst/>
            </a:prstGeom>
            <a:noFill/>
            <a:ln w="9525">
              <a:noFill/>
            </a:ln>
          </p:spPr>
          <p:txBody>
            <a:bodyPr wrap="none">
              <a:spAutoFit/>
            </a:bodyPr>
            <a:p>
              <a:pPr>
                <a:buClr>
                  <a:schemeClr val="accent2"/>
                </a:buClr>
                <a:buSzPct val="70000"/>
                <a:buFont typeface="ZapfDingbats" pitchFamily="82" charset="2"/>
              </a:pPr>
              <a:r>
                <a:rPr lang="zh-CN" altLang="en-US" sz="2400" dirty="0">
                  <a:latin typeface="Times New Roman" panose="02020603050405020304" pitchFamily="18" charset="0"/>
                </a:rPr>
                <a:t>  </a:t>
              </a:r>
              <a:r>
                <a:rPr lang="zh-CN" altLang="en-US" sz="2800" dirty="0">
                  <a:latin typeface="Times New Roman" panose="02020603050405020304" pitchFamily="18" charset="0"/>
                </a:rPr>
                <a:t>取</a:t>
              </a:r>
              <a:endParaRPr lang="zh-CN" altLang="en-US" sz="2800" dirty="0">
                <a:latin typeface="Times New Roman" panose="02020603050405020304" pitchFamily="18" charset="0"/>
              </a:endParaRPr>
            </a:p>
          </p:txBody>
        </p:sp>
        <p:sp>
          <p:nvSpPr>
            <p:cNvPr id="33818" name="Rectangle 17"/>
            <p:cNvSpPr/>
            <p:nvPr/>
          </p:nvSpPr>
          <p:spPr>
            <a:xfrm>
              <a:off x="3009" y="1781"/>
              <a:ext cx="2031" cy="327"/>
            </a:xfrm>
            <a:prstGeom prst="rect">
              <a:avLst/>
            </a:prstGeom>
            <a:solidFill>
              <a:schemeClr val="accent1"/>
            </a:solidFill>
            <a:ln w="9525">
              <a:noFill/>
            </a:ln>
          </p:spPr>
          <p:txBody>
            <a:bodyPr wrap="none">
              <a:spAutoFit/>
            </a:bodyPr>
            <a:p>
              <a:pPr>
                <a:buClr>
                  <a:schemeClr val="accent2"/>
                </a:buClr>
                <a:buSzPct val="70000"/>
                <a:buFont typeface="ZapfDingbats" pitchFamily="82" charset="2"/>
              </a:pPr>
              <a:r>
                <a:rPr lang="zh-CN" altLang="en-US" sz="2800" b="1" dirty="0">
                  <a:latin typeface="Times New Roman" panose="02020603050405020304" pitchFamily="18" charset="0"/>
                </a:rPr>
                <a:t>上式称为</a:t>
              </a:r>
              <a:r>
                <a:rPr lang="zh-CN" altLang="en-US" sz="2800" b="1" dirty="0">
                  <a:solidFill>
                    <a:schemeClr val="accent2"/>
                  </a:solidFill>
                  <a:latin typeface="Times New Roman" panose="02020603050405020304" pitchFamily="18" charset="0"/>
                </a:rPr>
                <a:t>中点公式</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graphicFrame>
          <p:nvGraphicFramePr>
            <p:cNvPr id="33800" name="Object 1030"/>
            <p:cNvGraphicFramePr/>
            <p:nvPr/>
          </p:nvGraphicFramePr>
          <p:xfrm>
            <a:off x="3264" y="80"/>
            <a:ext cx="1997" cy="518"/>
          </p:xfrm>
          <a:graphic>
            <a:graphicData uri="http://schemas.openxmlformats.org/presentationml/2006/ole">
              <mc:AlternateContent xmlns:mc="http://schemas.openxmlformats.org/markup-compatibility/2006">
                <mc:Choice xmlns:v="urn:schemas-microsoft-com:vml" Requires="v">
                  <p:oleObj spid="_x0000_s3162" name="" r:id="rId1" imgW="1510665" imgH="393700" progId="Equation.DSMT4">
                    <p:embed/>
                  </p:oleObj>
                </mc:Choice>
                <mc:Fallback>
                  <p:oleObj name="" r:id="rId1" imgW="1510665" imgH="393700" progId="Equation.DSMT4">
                    <p:embed/>
                    <p:pic>
                      <p:nvPicPr>
                        <p:cNvPr id="0" name="图片 3161"/>
                        <p:cNvPicPr/>
                        <p:nvPr/>
                      </p:nvPicPr>
                      <p:blipFill>
                        <a:blip r:embed="rId2"/>
                        <a:stretch>
                          <a:fillRect/>
                        </a:stretch>
                      </p:blipFill>
                      <p:spPr>
                        <a:xfrm>
                          <a:off x="3264" y="80"/>
                          <a:ext cx="1997" cy="518"/>
                        </a:xfrm>
                        <a:prstGeom prst="rect">
                          <a:avLst/>
                        </a:prstGeom>
                        <a:noFill/>
                        <a:ln w="38100">
                          <a:noFill/>
                          <a:miter/>
                        </a:ln>
                      </p:spPr>
                    </p:pic>
                  </p:oleObj>
                </mc:Fallback>
              </mc:AlternateContent>
            </a:graphicData>
          </a:graphic>
        </p:graphicFrame>
        <p:grpSp>
          <p:nvGrpSpPr>
            <p:cNvPr id="33819" name="Group 29"/>
            <p:cNvGrpSpPr>
              <a:grpSpLocks noChangeAspect="1"/>
            </p:cNvGrpSpPr>
            <p:nvPr/>
          </p:nvGrpSpPr>
          <p:grpSpPr>
            <a:xfrm>
              <a:off x="3014" y="447"/>
              <a:ext cx="2655" cy="1332"/>
              <a:chOff x="3242" y="2385"/>
              <a:chExt cx="2212" cy="1110"/>
            </a:xfrm>
          </p:grpSpPr>
          <p:graphicFrame>
            <p:nvGraphicFramePr>
              <p:cNvPr id="33801" name="Object 1031"/>
              <p:cNvGraphicFramePr>
                <a:graphicFrameLocks noChangeAspect="1"/>
              </p:cNvGraphicFramePr>
              <p:nvPr/>
            </p:nvGraphicFramePr>
            <p:xfrm>
              <a:off x="3377" y="2385"/>
              <a:ext cx="1186" cy="277"/>
            </p:xfrm>
            <a:graphic>
              <a:graphicData uri="http://schemas.openxmlformats.org/presentationml/2006/ole">
                <mc:AlternateContent xmlns:mc="http://schemas.openxmlformats.org/markup-compatibility/2006">
                  <mc:Choice xmlns:v="urn:schemas-microsoft-com:vml" Requires="v">
                    <p:oleObj spid="_x0000_s3170" name="" r:id="rId3" imgW="977900" imgH="228600" progId="Equation.DSMT4">
                      <p:embed/>
                    </p:oleObj>
                  </mc:Choice>
                  <mc:Fallback>
                    <p:oleObj name="" r:id="rId3" imgW="977900" imgH="228600" progId="Equation.DSMT4">
                      <p:embed/>
                      <p:pic>
                        <p:nvPicPr>
                          <p:cNvPr id="0" name="图片 3169"/>
                          <p:cNvPicPr/>
                          <p:nvPr/>
                        </p:nvPicPr>
                        <p:blipFill>
                          <a:blip r:embed="rId4"/>
                          <a:stretch>
                            <a:fillRect/>
                          </a:stretch>
                        </p:blipFill>
                        <p:spPr>
                          <a:xfrm>
                            <a:off x="3377" y="2385"/>
                            <a:ext cx="1186" cy="277"/>
                          </a:xfrm>
                          <a:prstGeom prst="rect">
                            <a:avLst/>
                          </a:prstGeom>
                          <a:noFill/>
                          <a:ln w="38100">
                            <a:noFill/>
                            <a:miter/>
                          </a:ln>
                        </p:spPr>
                      </p:pic>
                    </p:oleObj>
                  </mc:Fallback>
                </mc:AlternateContent>
              </a:graphicData>
            </a:graphic>
          </p:graphicFrame>
          <p:graphicFrame>
            <p:nvGraphicFramePr>
              <p:cNvPr id="33802" name="Object 1032"/>
              <p:cNvGraphicFramePr>
                <a:graphicFrameLocks noChangeAspect="1"/>
              </p:cNvGraphicFramePr>
              <p:nvPr/>
            </p:nvGraphicFramePr>
            <p:xfrm>
              <a:off x="3380" y="2751"/>
              <a:ext cx="1109" cy="277"/>
            </p:xfrm>
            <a:graphic>
              <a:graphicData uri="http://schemas.openxmlformats.org/presentationml/2006/ole">
                <mc:AlternateContent xmlns:mc="http://schemas.openxmlformats.org/markup-compatibility/2006">
                  <mc:Choice xmlns:v="urn:schemas-microsoft-com:vml" Requires="v">
                    <p:oleObj spid="_x0000_s3165" name="" r:id="rId5" imgW="914400" imgH="228600" progId="Equation.DSMT4">
                      <p:embed/>
                    </p:oleObj>
                  </mc:Choice>
                  <mc:Fallback>
                    <p:oleObj name="" r:id="rId5" imgW="914400" imgH="228600" progId="Equation.DSMT4">
                      <p:embed/>
                      <p:pic>
                        <p:nvPicPr>
                          <p:cNvPr id="0" name="图片 3164"/>
                          <p:cNvPicPr/>
                          <p:nvPr/>
                        </p:nvPicPr>
                        <p:blipFill>
                          <a:blip r:embed="rId6"/>
                          <a:stretch>
                            <a:fillRect/>
                          </a:stretch>
                        </p:blipFill>
                        <p:spPr>
                          <a:xfrm>
                            <a:off x="3380" y="2751"/>
                            <a:ext cx="1109" cy="277"/>
                          </a:xfrm>
                          <a:prstGeom prst="rect">
                            <a:avLst/>
                          </a:prstGeom>
                          <a:noFill/>
                          <a:ln w="38100">
                            <a:noFill/>
                            <a:miter/>
                          </a:ln>
                        </p:spPr>
                      </p:pic>
                    </p:oleObj>
                  </mc:Fallback>
                </mc:AlternateContent>
              </a:graphicData>
            </a:graphic>
          </p:graphicFrame>
          <p:graphicFrame>
            <p:nvGraphicFramePr>
              <p:cNvPr id="33803" name="Object 1033"/>
              <p:cNvGraphicFramePr>
                <a:graphicFrameLocks noChangeAspect="1"/>
              </p:cNvGraphicFramePr>
              <p:nvPr/>
            </p:nvGraphicFramePr>
            <p:xfrm>
              <a:off x="3390" y="3020"/>
              <a:ext cx="2064" cy="475"/>
            </p:xfrm>
            <a:graphic>
              <a:graphicData uri="http://schemas.openxmlformats.org/presentationml/2006/ole">
                <mc:AlternateContent xmlns:mc="http://schemas.openxmlformats.org/markup-compatibility/2006">
                  <mc:Choice xmlns:v="urn:schemas-microsoft-com:vml" Requires="v">
                    <p:oleObj spid="_x0000_s3166" name="" r:id="rId7" imgW="1701165" imgH="393700" progId="Equation.DSMT4">
                      <p:embed/>
                    </p:oleObj>
                  </mc:Choice>
                  <mc:Fallback>
                    <p:oleObj name="" r:id="rId7" imgW="1701165" imgH="393700" progId="Equation.DSMT4">
                      <p:embed/>
                      <p:pic>
                        <p:nvPicPr>
                          <p:cNvPr id="0" name="图片 3165"/>
                          <p:cNvPicPr/>
                          <p:nvPr/>
                        </p:nvPicPr>
                        <p:blipFill>
                          <a:blip r:embed="rId8"/>
                          <a:stretch>
                            <a:fillRect/>
                          </a:stretch>
                        </p:blipFill>
                        <p:spPr>
                          <a:xfrm>
                            <a:off x="3390" y="3020"/>
                            <a:ext cx="2064" cy="475"/>
                          </a:xfrm>
                          <a:prstGeom prst="rect">
                            <a:avLst/>
                          </a:prstGeom>
                          <a:noFill/>
                          <a:ln w="38100">
                            <a:noFill/>
                            <a:miter/>
                          </a:ln>
                        </p:spPr>
                      </p:pic>
                    </p:oleObj>
                  </mc:Fallback>
                </mc:AlternateContent>
              </a:graphicData>
            </a:graphic>
          </p:graphicFrame>
          <p:sp>
            <p:nvSpPr>
              <p:cNvPr id="33820" name="AutoShape 28"/>
              <p:cNvSpPr>
                <a:spLocks noChangeAspect="1"/>
              </p:cNvSpPr>
              <p:nvPr/>
            </p:nvSpPr>
            <p:spPr>
              <a:xfrm>
                <a:off x="3242" y="2533"/>
                <a:ext cx="93" cy="764"/>
              </a:xfrm>
              <a:prstGeom prst="leftBrace">
                <a:avLst>
                  <a:gd name="adj1" fmla="val 68268"/>
                  <a:gd name="adj2" fmla="val 50000"/>
                </a:avLst>
              </a:prstGeom>
              <a:noFill/>
              <a:ln w="9525" cap="flat" cmpd="sng">
                <a:solidFill>
                  <a:schemeClr val="tx1"/>
                </a:solidFill>
                <a:prstDash val="solid"/>
                <a:headEnd type="none" w="med" len="med"/>
                <a:tailEnd type="none" w="med" len="med"/>
              </a:ln>
            </p:spPr>
            <p:txBody>
              <a:bodyPr wrap="none" anchor="ctr" anchorCtr="0"/>
              <a:p>
                <a:pPr eaLnBrk="0" hangingPunct="0"/>
                <a:endParaRPr lang="zh-CN" altLang="en-US" dirty="0">
                  <a:latin typeface="Times New Roman" panose="02020603050405020304" pitchFamily="18" charset="0"/>
                </a:endParaRPr>
              </a:p>
            </p:txBody>
          </p:sp>
        </p:grpSp>
      </p:grpSp>
      <p:grpSp>
        <p:nvGrpSpPr>
          <p:cNvPr id="4" name="Group 52"/>
          <p:cNvGrpSpPr/>
          <p:nvPr/>
        </p:nvGrpSpPr>
        <p:grpSpPr>
          <a:xfrm>
            <a:off x="127000" y="3346450"/>
            <a:ext cx="4610100" cy="3273425"/>
            <a:chOff x="80" y="2108"/>
            <a:chExt cx="2904" cy="2062"/>
          </a:xfrm>
        </p:grpSpPr>
        <p:sp>
          <p:nvSpPr>
            <p:cNvPr id="33813" name="Rectangle 30"/>
            <p:cNvSpPr/>
            <p:nvPr/>
          </p:nvSpPr>
          <p:spPr>
            <a:xfrm>
              <a:off x="80" y="2194"/>
              <a:ext cx="388" cy="327"/>
            </a:xfrm>
            <a:prstGeom prst="rect">
              <a:avLst/>
            </a:prstGeom>
            <a:noFill/>
            <a:ln w="9525">
              <a:noFill/>
            </a:ln>
          </p:spPr>
          <p:txBody>
            <a:bodyPr wrap="none">
              <a:spAutoFit/>
            </a:bodyPr>
            <a:p>
              <a:pPr>
                <a:buClr>
                  <a:schemeClr val="accent2"/>
                </a:buClr>
                <a:buSzPct val="70000"/>
                <a:buFont typeface="ZapfDingbats" pitchFamily="82" charset="2"/>
              </a:pPr>
              <a:r>
                <a:rPr lang="zh-CN" altLang="en-US" sz="2400" dirty="0">
                  <a:latin typeface="Times New Roman" panose="02020603050405020304" pitchFamily="18" charset="0"/>
                </a:rPr>
                <a:t> </a:t>
              </a:r>
              <a:r>
                <a:rPr lang="zh-CN" altLang="en-US" sz="2800" dirty="0">
                  <a:latin typeface="Times New Roman" panose="02020603050405020304" pitchFamily="18" charset="0"/>
                </a:rPr>
                <a:t>取</a:t>
              </a:r>
              <a:endParaRPr lang="zh-CN" altLang="en-US" sz="2800" dirty="0">
                <a:latin typeface="Times New Roman" panose="02020603050405020304" pitchFamily="18" charset="0"/>
              </a:endParaRPr>
            </a:p>
          </p:txBody>
        </p:sp>
        <p:sp>
          <p:nvSpPr>
            <p:cNvPr id="33814" name="Rectangle 31"/>
            <p:cNvSpPr/>
            <p:nvPr/>
          </p:nvSpPr>
          <p:spPr>
            <a:xfrm>
              <a:off x="157" y="3843"/>
              <a:ext cx="2219" cy="327"/>
            </a:xfrm>
            <a:prstGeom prst="rect">
              <a:avLst/>
            </a:prstGeom>
            <a:solidFill>
              <a:schemeClr val="accent1"/>
            </a:solidFill>
            <a:ln w="9525">
              <a:noFill/>
            </a:ln>
          </p:spPr>
          <p:txBody>
            <a:bodyPr wrap="none">
              <a:spAutoFit/>
            </a:bodyPr>
            <a:p>
              <a:pPr>
                <a:buClr>
                  <a:schemeClr val="accent2"/>
                </a:buClr>
                <a:buSzPct val="70000"/>
                <a:buFont typeface="ZapfDingbats" pitchFamily="82" charset="2"/>
              </a:pPr>
              <a:r>
                <a:rPr lang="zh-CN" altLang="en-US" sz="2800" b="1" dirty="0">
                  <a:latin typeface="Times New Roman" panose="02020603050405020304" pitchFamily="18" charset="0"/>
                </a:rPr>
                <a:t>上式称为 </a:t>
              </a:r>
              <a:r>
                <a:rPr lang="en-US" altLang="zh-CN" sz="2800" b="1" dirty="0">
                  <a:solidFill>
                    <a:schemeClr val="accent2"/>
                  </a:solidFill>
                  <a:latin typeface="Times New Roman" panose="02020603050405020304" pitchFamily="18" charset="0"/>
                </a:rPr>
                <a:t>Heun </a:t>
              </a:r>
              <a:r>
                <a:rPr lang="zh-CN" altLang="zh-CN" sz="2800" b="1" dirty="0">
                  <a:solidFill>
                    <a:schemeClr val="accent2"/>
                  </a:solidFill>
                  <a:latin typeface="Times New Roman" panose="02020603050405020304" pitchFamily="18" charset="0"/>
                </a:rPr>
                <a:t>公式</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grpSp>
          <p:nvGrpSpPr>
            <p:cNvPr id="33815" name="Group 50"/>
            <p:cNvGrpSpPr/>
            <p:nvPr/>
          </p:nvGrpSpPr>
          <p:grpSpPr>
            <a:xfrm>
              <a:off x="173" y="2497"/>
              <a:ext cx="2811" cy="1396"/>
              <a:chOff x="173" y="2497"/>
              <a:chExt cx="2811" cy="1396"/>
            </a:xfrm>
          </p:grpSpPr>
          <p:graphicFrame>
            <p:nvGraphicFramePr>
              <p:cNvPr id="33797" name="Object 1027"/>
              <p:cNvGraphicFramePr>
                <a:graphicFrameLocks noChangeAspect="1"/>
              </p:cNvGraphicFramePr>
              <p:nvPr/>
            </p:nvGraphicFramePr>
            <p:xfrm>
              <a:off x="248" y="2497"/>
              <a:ext cx="2108" cy="570"/>
            </p:xfrm>
            <a:graphic>
              <a:graphicData uri="http://schemas.openxmlformats.org/presentationml/2006/ole">
                <mc:AlternateContent xmlns:mc="http://schemas.openxmlformats.org/markup-compatibility/2006">
                  <mc:Choice xmlns:v="urn:schemas-microsoft-com:vml" Requires="v">
                    <p:oleObj spid="_x0000_s3171" name="" r:id="rId9" imgW="1447165" imgH="393700" progId="Equation.DSMT4">
                      <p:embed/>
                    </p:oleObj>
                  </mc:Choice>
                  <mc:Fallback>
                    <p:oleObj name="" r:id="rId9" imgW="1447165" imgH="393700" progId="Equation.DSMT4">
                      <p:embed/>
                      <p:pic>
                        <p:nvPicPr>
                          <p:cNvPr id="0" name="图片 3170"/>
                          <p:cNvPicPr/>
                          <p:nvPr/>
                        </p:nvPicPr>
                        <p:blipFill>
                          <a:blip r:embed="rId10"/>
                          <a:stretch>
                            <a:fillRect/>
                          </a:stretch>
                        </p:blipFill>
                        <p:spPr>
                          <a:xfrm>
                            <a:off x="248" y="2497"/>
                            <a:ext cx="2108" cy="570"/>
                          </a:xfrm>
                          <a:prstGeom prst="rect">
                            <a:avLst/>
                          </a:prstGeom>
                          <a:noFill/>
                          <a:ln w="38100">
                            <a:noFill/>
                            <a:miter/>
                          </a:ln>
                        </p:spPr>
                      </p:pic>
                    </p:oleObj>
                  </mc:Fallback>
                </mc:AlternateContent>
              </a:graphicData>
            </a:graphic>
          </p:graphicFrame>
          <p:graphicFrame>
            <p:nvGraphicFramePr>
              <p:cNvPr id="33798" name="Object 1028"/>
              <p:cNvGraphicFramePr>
                <a:graphicFrameLocks noChangeAspect="1"/>
              </p:cNvGraphicFramePr>
              <p:nvPr/>
            </p:nvGraphicFramePr>
            <p:xfrm>
              <a:off x="307" y="3002"/>
              <a:ext cx="1331" cy="333"/>
            </p:xfrm>
            <a:graphic>
              <a:graphicData uri="http://schemas.openxmlformats.org/presentationml/2006/ole">
                <mc:AlternateContent xmlns:mc="http://schemas.openxmlformats.org/markup-compatibility/2006">
                  <mc:Choice xmlns:v="urn:schemas-microsoft-com:vml" Requires="v">
                    <p:oleObj spid="_x0000_s3167" name="" r:id="rId11" imgW="914400" imgH="228600" progId="Equation.DSMT4">
                      <p:embed/>
                    </p:oleObj>
                  </mc:Choice>
                  <mc:Fallback>
                    <p:oleObj name="" r:id="rId11" imgW="914400" imgH="228600" progId="Equation.DSMT4">
                      <p:embed/>
                      <p:pic>
                        <p:nvPicPr>
                          <p:cNvPr id="0" name="图片 3166"/>
                          <p:cNvPicPr/>
                          <p:nvPr/>
                        </p:nvPicPr>
                        <p:blipFill>
                          <a:blip r:embed="rId6"/>
                          <a:stretch>
                            <a:fillRect/>
                          </a:stretch>
                        </p:blipFill>
                        <p:spPr>
                          <a:xfrm>
                            <a:off x="307" y="3002"/>
                            <a:ext cx="1331" cy="333"/>
                          </a:xfrm>
                          <a:prstGeom prst="rect">
                            <a:avLst/>
                          </a:prstGeom>
                          <a:noFill/>
                          <a:ln w="38100">
                            <a:noFill/>
                            <a:miter/>
                          </a:ln>
                        </p:spPr>
                      </p:pic>
                    </p:oleObj>
                  </mc:Fallback>
                </mc:AlternateContent>
              </a:graphicData>
            </a:graphic>
          </p:graphicFrame>
          <p:graphicFrame>
            <p:nvGraphicFramePr>
              <p:cNvPr id="33799" name="Object 1029"/>
              <p:cNvGraphicFramePr>
                <a:graphicFrameLocks noChangeAspect="1"/>
              </p:cNvGraphicFramePr>
              <p:nvPr/>
            </p:nvGraphicFramePr>
            <p:xfrm>
              <a:off x="285" y="3323"/>
              <a:ext cx="2699" cy="570"/>
            </p:xfrm>
            <a:graphic>
              <a:graphicData uri="http://schemas.openxmlformats.org/presentationml/2006/ole">
                <mc:AlternateContent xmlns:mc="http://schemas.openxmlformats.org/markup-compatibility/2006">
                  <mc:Choice xmlns:v="urn:schemas-microsoft-com:vml" Requires="v">
                    <p:oleObj spid="_x0000_s3164" name="" r:id="rId12" imgW="1853565" imgH="393700" progId="Equation.DSMT4">
                      <p:embed/>
                    </p:oleObj>
                  </mc:Choice>
                  <mc:Fallback>
                    <p:oleObj name="" r:id="rId12" imgW="1853565" imgH="393700" progId="Equation.DSMT4">
                      <p:embed/>
                      <p:pic>
                        <p:nvPicPr>
                          <p:cNvPr id="0" name="图片 3163"/>
                          <p:cNvPicPr/>
                          <p:nvPr/>
                        </p:nvPicPr>
                        <p:blipFill>
                          <a:blip r:embed="rId13"/>
                          <a:stretch>
                            <a:fillRect/>
                          </a:stretch>
                        </p:blipFill>
                        <p:spPr>
                          <a:xfrm>
                            <a:off x="285" y="3323"/>
                            <a:ext cx="2699" cy="570"/>
                          </a:xfrm>
                          <a:prstGeom prst="rect">
                            <a:avLst/>
                          </a:prstGeom>
                          <a:noFill/>
                          <a:ln w="38100">
                            <a:noFill/>
                            <a:miter/>
                          </a:ln>
                        </p:spPr>
                      </p:pic>
                    </p:oleObj>
                  </mc:Fallback>
                </mc:AlternateContent>
              </a:graphicData>
            </a:graphic>
          </p:graphicFrame>
          <p:sp>
            <p:nvSpPr>
              <p:cNvPr id="33816" name="AutoShape 36"/>
              <p:cNvSpPr>
                <a:spLocks noChangeAspect="1"/>
              </p:cNvSpPr>
              <p:nvPr/>
            </p:nvSpPr>
            <p:spPr>
              <a:xfrm>
                <a:off x="173" y="2811"/>
                <a:ext cx="98" cy="804"/>
              </a:xfrm>
              <a:prstGeom prst="leftBrace">
                <a:avLst>
                  <a:gd name="adj1" fmla="val 68177"/>
                  <a:gd name="adj2" fmla="val 50000"/>
                </a:avLst>
              </a:prstGeom>
              <a:noFill/>
              <a:ln w="9525" cap="flat" cmpd="sng">
                <a:solidFill>
                  <a:schemeClr val="tx1"/>
                </a:solidFill>
                <a:prstDash val="solid"/>
                <a:headEnd type="none" w="med" len="med"/>
                <a:tailEnd type="none" w="med" len="med"/>
              </a:ln>
            </p:spPr>
            <p:txBody>
              <a:bodyPr wrap="none" anchor="ctr" anchorCtr="0"/>
              <a:p>
                <a:pPr eaLnBrk="0" hangingPunct="0"/>
                <a:endParaRPr lang="zh-CN" altLang="en-US" dirty="0">
                  <a:latin typeface="Times New Roman" panose="02020603050405020304" pitchFamily="18" charset="0"/>
                </a:endParaRPr>
              </a:p>
            </p:txBody>
          </p:sp>
        </p:grpSp>
        <p:graphicFrame>
          <p:nvGraphicFramePr>
            <p:cNvPr id="33796" name="Object 1026"/>
            <p:cNvGraphicFramePr/>
            <p:nvPr/>
          </p:nvGraphicFramePr>
          <p:xfrm>
            <a:off x="396" y="2108"/>
            <a:ext cx="2233" cy="519"/>
          </p:xfrm>
          <a:graphic>
            <a:graphicData uri="http://schemas.openxmlformats.org/presentationml/2006/ole">
              <mc:AlternateContent xmlns:mc="http://schemas.openxmlformats.org/markup-compatibility/2006">
                <mc:Choice xmlns:v="urn:schemas-microsoft-com:vml" Requires="v">
                  <p:oleObj spid="_x0000_s3169" name="" r:id="rId14" imgW="1688465" imgH="393700" progId="Equation.DSMT4">
                    <p:embed/>
                  </p:oleObj>
                </mc:Choice>
                <mc:Fallback>
                  <p:oleObj name="" r:id="rId14" imgW="1688465" imgH="393700" progId="Equation.DSMT4">
                    <p:embed/>
                    <p:pic>
                      <p:nvPicPr>
                        <p:cNvPr id="0" name="图片 3168"/>
                        <p:cNvPicPr/>
                        <p:nvPr/>
                      </p:nvPicPr>
                      <p:blipFill>
                        <a:blip r:embed="rId15"/>
                        <a:stretch>
                          <a:fillRect/>
                        </a:stretch>
                      </p:blipFill>
                      <p:spPr>
                        <a:xfrm>
                          <a:off x="396" y="2108"/>
                          <a:ext cx="2233" cy="519"/>
                        </a:xfrm>
                        <a:prstGeom prst="rect">
                          <a:avLst/>
                        </a:prstGeom>
                        <a:noFill/>
                        <a:ln w="38100">
                          <a:noFill/>
                          <a:miter/>
                        </a:ln>
                      </p:spPr>
                    </p:pic>
                  </p:oleObj>
                </mc:Fallback>
              </mc:AlternateContent>
            </a:graphicData>
          </a:graphic>
        </p:graphicFrame>
      </p:grpSp>
      <p:sp>
        <p:nvSpPr>
          <p:cNvPr id="93224" name="AutoShape 40"/>
          <p:cNvSpPr/>
          <p:nvPr/>
        </p:nvSpPr>
        <p:spPr>
          <a:xfrm>
            <a:off x="4587875" y="3676650"/>
            <a:ext cx="4233863" cy="2630488"/>
          </a:xfrm>
          <a:prstGeom prst="cloudCallout">
            <a:avLst>
              <a:gd name="adj1" fmla="val -57125"/>
              <a:gd name="adj2" fmla="val -98463"/>
            </a:avLst>
          </a:prstGeom>
          <a:solidFill>
            <a:srgbClr val="FFFFFF"/>
          </a:solidFill>
          <a:ln w="9525" cap="flat" cmpd="sng">
            <a:solidFill>
              <a:schemeClr val="accent2"/>
            </a:solidFill>
            <a:prstDash val="solid"/>
            <a:headEnd type="none" w="med" len="med"/>
            <a:tailEnd type="none" w="med" len="med"/>
          </a:ln>
        </p:spPr>
        <p:txBody>
          <a:bodyPr wrap="none" anchor="ctr" anchorCtr="0"/>
          <a:p>
            <a:pPr algn="ctr"/>
            <a:r>
              <a:rPr lang="zh-CN" altLang="en-US" sz="2000" dirty="0">
                <a:latin typeface="Times New Roman" panose="02020603050405020304" pitchFamily="18" charset="0"/>
              </a:rPr>
              <a:t>    </a:t>
            </a:r>
            <a:r>
              <a:rPr lang="zh-CN" altLang="en-US" sz="2800" b="1" dirty="0">
                <a:latin typeface="Times New Roman" panose="02020603050405020304" pitchFamily="18" charset="0"/>
              </a:rPr>
              <a:t>可见, 二阶 </a:t>
            </a:r>
            <a:r>
              <a:rPr lang="en-US" altLang="zh-CN" sz="2800" b="1" dirty="0">
                <a:latin typeface="Times New Roman" panose="02020603050405020304" pitchFamily="18" charset="0"/>
              </a:rPr>
              <a:t>Runge-Kutta</a:t>
            </a:r>
            <a:endParaRPr lang="en-US" altLang="zh-CN" sz="2800" b="1" dirty="0">
              <a:latin typeface="Times New Roman" panose="02020603050405020304" pitchFamily="18" charset="0"/>
            </a:endParaRPr>
          </a:p>
          <a:p>
            <a:pPr algn="ctr"/>
            <a:r>
              <a:rPr lang="zh-CN" altLang="en-US" sz="2800" b="1" dirty="0">
                <a:latin typeface="Times New Roman" panose="02020603050405020304" pitchFamily="18" charset="0"/>
              </a:rPr>
              <a:t>    公式, 每计算一步需要</a:t>
            </a:r>
            <a:endParaRPr lang="zh-CN" altLang="en-US" sz="2800" b="1" dirty="0">
              <a:latin typeface="Times New Roman" panose="02020603050405020304" pitchFamily="18" charset="0"/>
            </a:endParaRPr>
          </a:p>
          <a:p>
            <a:pPr algn="ctr"/>
            <a:r>
              <a:rPr lang="zh-CN" altLang="en-US" sz="2800" b="1" dirty="0">
                <a:latin typeface="Times New Roman" panose="02020603050405020304" pitchFamily="18" charset="0"/>
              </a:rPr>
              <a:t>   两次调用 </a:t>
            </a:r>
            <a:r>
              <a:rPr lang="en-US" altLang="zh-CN" sz="2800" b="1" i="1" dirty="0">
                <a:latin typeface="Times New Roman" panose="02020603050405020304" pitchFamily="18" charset="0"/>
              </a:rPr>
              <a:t>f</a:t>
            </a:r>
            <a:r>
              <a:rPr lang="en-US" altLang="zh-CN" sz="2800" b="1" dirty="0">
                <a:latin typeface="Times New Roman" panose="02020603050405020304" pitchFamily="18" charset="0"/>
              </a:rPr>
              <a:t> </a:t>
            </a:r>
            <a:r>
              <a:rPr lang="zh-CN" altLang="zh-CN" sz="2800" b="1" dirty="0">
                <a:latin typeface="Times New Roman" panose="02020603050405020304" pitchFamily="18" charset="0"/>
              </a:rPr>
              <a:t>的函数值</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p:txBody>
      </p:sp>
      <p:grpSp>
        <p:nvGrpSpPr>
          <p:cNvPr id="6" name="Group 48"/>
          <p:cNvGrpSpPr/>
          <p:nvPr/>
        </p:nvGrpSpPr>
        <p:grpSpPr>
          <a:xfrm>
            <a:off x="71438" y="188913"/>
            <a:ext cx="4332287" cy="3097212"/>
            <a:chOff x="45" y="119"/>
            <a:chExt cx="2729" cy="1951"/>
          </a:xfrm>
        </p:grpSpPr>
        <p:sp>
          <p:nvSpPr>
            <p:cNvPr id="33810" name="Rectangle 11"/>
            <p:cNvSpPr/>
            <p:nvPr/>
          </p:nvSpPr>
          <p:spPr>
            <a:xfrm>
              <a:off x="45" y="176"/>
              <a:ext cx="396" cy="327"/>
            </a:xfrm>
            <a:prstGeom prst="rect">
              <a:avLst/>
            </a:prstGeom>
            <a:noFill/>
            <a:ln w="9525">
              <a:noFill/>
            </a:ln>
          </p:spPr>
          <p:txBody>
            <a:bodyPr wrap="none">
              <a:spAutoFit/>
            </a:bodyPr>
            <a:p>
              <a:pPr>
                <a:buClr>
                  <a:schemeClr val="accent2"/>
                </a:buClr>
                <a:buSzPct val="70000"/>
                <a:buFont typeface="ZapfDingbats" pitchFamily="82" charset="2"/>
              </a:pPr>
              <a:r>
                <a:rPr lang="zh-CN" altLang="en-US" sz="2800" dirty="0">
                  <a:latin typeface="Times New Roman" panose="02020603050405020304" pitchFamily="18" charset="0"/>
                </a:rPr>
                <a:t> 取</a:t>
              </a:r>
              <a:endParaRPr lang="zh-CN" altLang="en-US" sz="2800" dirty="0">
                <a:latin typeface="Times New Roman" panose="02020603050405020304" pitchFamily="18" charset="0"/>
              </a:endParaRPr>
            </a:p>
          </p:txBody>
        </p:sp>
        <p:graphicFrame>
          <p:nvGraphicFramePr>
            <p:cNvPr id="33794" name="Object 1024"/>
            <p:cNvGraphicFramePr/>
            <p:nvPr/>
          </p:nvGraphicFramePr>
          <p:xfrm>
            <a:off x="445" y="119"/>
            <a:ext cx="1854" cy="520"/>
          </p:xfrm>
          <a:graphic>
            <a:graphicData uri="http://schemas.openxmlformats.org/presentationml/2006/ole">
              <mc:AlternateContent xmlns:mc="http://schemas.openxmlformats.org/markup-compatibility/2006">
                <mc:Choice xmlns:v="urn:schemas-microsoft-com:vml" Requires="v">
                  <p:oleObj spid="_x0000_s3168" name="" r:id="rId16" imgW="1396365" imgH="393700" progId="Equation.DSMT4">
                    <p:embed/>
                  </p:oleObj>
                </mc:Choice>
                <mc:Fallback>
                  <p:oleObj name="" r:id="rId16" imgW="1396365" imgH="393700" progId="Equation.DSMT4">
                    <p:embed/>
                    <p:pic>
                      <p:nvPicPr>
                        <p:cNvPr id="0" name="图片 3167"/>
                        <p:cNvPicPr/>
                        <p:nvPr/>
                      </p:nvPicPr>
                      <p:blipFill>
                        <a:blip r:embed="rId17"/>
                        <a:stretch>
                          <a:fillRect/>
                        </a:stretch>
                      </p:blipFill>
                      <p:spPr>
                        <a:xfrm>
                          <a:off x="445" y="119"/>
                          <a:ext cx="1854" cy="520"/>
                        </a:xfrm>
                        <a:prstGeom prst="rect">
                          <a:avLst/>
                        </a:prstGeom>
                        <a:noFill/>
                        <a:ln w="38100">
                          <a:noFill/>
                          <a:miter/>
                        </a:ln>
                      </p:spPr>
                    </p:pic>
                  </p:oleObj>
                </mc:Fallback>
              </mc:AlternateContent>
            </a:graphicData>
          </a:graphic>
        </p:graphicFrame>
        <p:graphicFrame>
          <p:nvGraphicFramePr>
            <p:cNvPr id="33795" name="Object 1025"/>
            <p:cNvGraphicFramePr>
              <a:graphicFrameLocks noChangeAspect="1"/>
            </p:cNvGraphicFramePr>
            <p:nvPr/>
          </p:nvGraphicFramePr>
          <p:xfrm>
            <a:off x="427" y="516"/>
            <a:ext cx="2138" cy="1409"/>
          </p:xfrm>
          <a:graphic>
            <a:graphicData uri="http://schemas.openxmlformats.org/presentationml/2006/ole">
              <mc:AlternateContent xmlns:mc="http://schemas.openxmlformats.org/markup-compatibility/2006">
                <mc:Choice xmlns:v="urn:schemas-microsoft-com:vml" Requires="v">
                  <p:oleObj spid="_x0000_s3163" name="" r:id="rId18" imgW="1612900" imgH="1066800" progId="Equation.DSMT4">
                    <p:embed/>
                  </p:oleObj>
                </mc:Choice>
                <mc:Fallback>
                  <p:oleObj name="" r:id="rId18" imgW="1612900" imgH="1066800" progId="Equation.DSMT4">
                    <p:embed/>
                    <p:pic>
                      <p:nvPicPr>
                        <p:cNvPr id="0" name="图片 3162"/>
                        <p:cNvPicPr/>
                        <p:nvPr/>
                      </p:nvPicPr>
                      <p:blipFill>
                        <a:blip r:embed="rId19"/>
                        <a:stretch>
                          <a:fillRect/>
                        </a:stretch>
                      </p:blipFill>
                      <p:spPr>
                        <a:xfrm>
                          <a:off x="427" y="516"/>
                          <a:ext cx="2138" cy="1409"/>
                        </a:xfrm>
                        <a:prstGeom prst="rect">
                          <a:avLst/>
                        </a:prstGeom>
                        <a:noFill/>
                        <a:ln w="38100">
                          <a:noFill/>
                          <a:miter/>
                        </a:ln>
                      </p:spPr>
                    </p:pic>
                  </p:oleObj>
                </mc:Fallback>
              </mc:AlternateContent>
            </a:graphicData>
          </a:graphic>
        </p:graphicFrame>
        <p:sp>
          <p:nvSpPr>
            <p:cNvPr id="33811" name="Text Box 44"/>
            <p:cNvSpPr txBox="1"/>
            <p:nvPr/>
          </p:nvSpPr>
          <p:spPr>
            <a:xfrm>
              <a:off x="107" y="1058"/>
              <a:ext cx="340" cy="327"/>
            </a:xfrm>
            <a:prstGeom prst="rect">
              <a:avLst/>
            </a:prstGeom>
            <a:noFill/>
            <a:ln w="9525">
              <a:noFill/>
            </a:ln>
          </p:spPr>
          <p:txBody>
            <a:bodyPr wrap="none">
              <a:spAutoFit/>
            </a:bodyPr>
            <a:p>
              <a:pPr eaLnBrk="0" hangingPunct="0"/>
              <a:r>
                <a:rPr lang="zh-CN" altLang="en-US" sz="2800" dirty="0">
                  <a:latin typeface="Times New Roman" panose="02020603050405020304" pitchFamily="18" charset="0"/>
                </a:rPr>
                <a:t>得</a:t>
              </a:r>
              <a:endParaRPr lang="zh-CN" altLang="en-US" sz="2800" dirty="0">
                <a:latin typeface="Times New Roman" panose="02020603050405020304" pitchFamily="18" charset="0"/>
              </a:endParaRPr>
            </a:p>
          </p:txBody>
        </p:sp>
        <p:sp>
          <p:nvSpPr>
            <p:cNvPr id="33812" name="Rectangle 14"/>
            <p:cNvSpPr/>
            <p:nvPr/>
          </p:nvSpPr>
          <p:spPr>
            <a:xfrm>
              <a:off x="100" y="1743"/>
              <a:ext cx="2674" cy="327"/>
            </a:xfrm>
            <a:prstGeom prst="rect">
              <a:avLst/>
            </a:prstGeom>
            <a:solidFill>
              <a:schemeClr val="accent1"/>
            </a:solidFill>
            <a:ln w="9525">
              <a:noFill/>
            </a:ln>
          </p:spPr>
          <p:txBody>
            <a:bodyPr wrap="none">
              <a:spAutoFit/>
            </a:bodyPr>
            <a:p>
              <a:pPr>
                <a:buClr>
                  <a:schemeClr val="accent2"/>
                </a:buClr>
                <a:buSzPct val="70000"/>
                <a:buFont typeface="ZapfDingbats" pitchFamily="82" charset="2"/>
              </a:pPr>
              <a:r>
                <a:rPr lang="zh-CN" altLang="en-US" sz="2800" b="1" dirty="0">
                  <a:latin typeface="Times New Roman" panose="02020603050405020304" pitchFamily="18" charset="0"/>
                </a:rPr>
                <a:t>这正是</a:t>
              </a:r>
              <a:r>
                <a:rPr lang="zh-CN" altLang="en-US" sz="2800" b="1" dirty="0">
                  <a:solidFill>
                    <a:schemeClr val="accent2"/>
                  </a:solidFill>
                  <a:latin typeface="Times New Roman" panose="02020603050405020304" pitchFamily="18" charset="0"/>
                </a:rPr>
                <a:t>改进的 </a:t>
              </a:r>
              <a:r>
                <a:rPr lang="en-US" altLang="zh-CN" sz="2800" b="1" dirty="0">
                  <a:solidFill>
                    <a:schemeClr val="accent2"/>
                  </a:solidFill>
                  <a:latin typeface="Times New Roman" panose="02020603050405020304" pitchFamily="18" charset="0"/>
                </a:rPr>
                <a:t>Euler </a:t>
              </a:r>
              <a:r>
                <a:rPr lang="zh-CN" altLang="zh-CN" sz="2800" b="1" dirty="0">
                  <a:solidFill>
                    <a:schemeClr val="accent2"/>
                  </a:solidFill>
                  <a:latin typeface="Times New Roman" panose="02020603050405020304" pitchFamily="18" charset="0"/>
                </a:rPr>
                <a:t>公式</a:t>
              </a:r>
              <a:r>
                <a:rPr lang="zh-CN" altLang="en-US" sz="2800" b="1" dirty="0">
                  <a:latin typeface="Times New Roman" panose="02020603050405020304" pitchFamily="18" charset="0"/>
                </a:rPr>
                <a:t>.</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3224"/>
                                        </p:tgtEl>
                                        <p:attrNameLst>
                                          <p:attrName>style.visibility</p:attrName>
                                        </p:attrNameLst>
                                      </p:cBhvr>
                                      <p:to>
                                        <p:strVal val="visible"/>
                                      </p:to>
                                    </p:set>
                                    <p:animEffect transition="in" filter="dissolve">
                                      <p:cBhvr>
                                        <p:cTn id="22" dur="500"/>
                                        <p:tgtEl>
                                          <p:spTgt spid="93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2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820"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34821" name="Rectangle 44"/>
          <p:cNvSpPr>
            <a:spLocks noGrp="1"/>
          </p:cNvSpPr>
          <p:nvPr>
            <p:ph type="title"/>
          </p:nvPr>
        </p:nvSpPr>
        <p:spPr>
          <a:xfrm>
            <a:off x="241300" y="0"/>
            <a:ext cx="7772400" cy="1143000"/>
          </a:xfrm>
          <a:ln/>
        </p:spPr>
        <p:txBody>
          <a:bodyPr vert="horz" wrap="square" lIns="91440" tIns="45720" rIns="91440" bIns="45720" anchor="ctr" anchorCtr="0"/>
          <a:p>
            <a:pPr algn="l"/>
            <a:r>
              <a:rPr lang="zh-CN" altLang="zh-CN" sz="2800" u="none" dirty="0">
                <a:solidFill>
                  <a:srgbClr val="0033CC"/>
                </a:solidFill>
              </a:rPr>
              <a:t> </a:t>
            </a:r>
            <a:r>
              <a:rPr lang="en-US" altLang="zh-CN" b="1" u="none" dirty="0">
                <a:solidFill>
                  <a:srgbClr val="0033CC"/>
                </a:solidFill>
                <a:latin typeface="Times New Roman" panose="02020603050405020304" pitchFamily="18" charset="0"/>
              </a:rPr>
              <a:t>9.</a:t>
            </a:r>
            <a:r>
              <a:rPr lang="zh-CN" altLang="en-US" b="1" u="none" dirty="0">
                <a:solidFill>
                  <a:srgbClr val="0033CC"/>
                </a:solidFill>
                <a:latin typeface="Times New Roman" panose="02020603050405020304" pitchFamily="18" charset="0"/>
              </a:rPr>
              <a:t>2.3</a:t>
            </a:r>
            <a:r>
              <a:rPr lang="zh-CN" altLang="en-US" b="1" u="none" dirty="0">
                <a:solidFill>
                  <a:srgbClr val="0033CC"/>
                </a:solidFill>
              </a:rPr>
              <a:t> </a:t>
            </a:r>
            <a:r>
              <a:rPr lang="zh-CN" altLang="zh-CN" b="1" u="none" dirty="0">
                <a:solidFill>
                  <a:srgbClr val="0033CC"/>
                </a:solidFill>
              </a:rPr>
              <a:t>四阶</a:t>
            </a:r>
            <a:r>
              <a:rPr lang="en-US" altLang="zh-CN" b="1" u="none" dirty="0">
                <a:solidFill>
                  <a:srgbClr val="0033CC"/>
                </a:solidFill>
                <a:latin typeface="Times New Roman" panose="02020603050405020304" pitchFamily="18" charset="0"/>
              </a:rPr>
              <a:t>Runge-Kutta</a:t>
            </a:r>
            <a:r>
              <a:rPr lang="zh-CN" altLang="zh-CN" b="1" u="none" dirty="0">
                <a:solidFill>
                  <a:srgbClr val="0033CC"/>
                </a:solidFill>
              </a:rPr>
              <a:t>方法</a:t>
            </a:r>
            <a:endParaRPr lang="zh-CN" altLang="zh-CN" sz="3600" b="1" u="none" dirty="0"/>
          </a:p>
        </p:txBody>
      </p:sp>
      <p:sp>
        <p:nvSpPr>
          <p:cNvPr id="94253" name="Rectangle 45"/>
          <p:cNvSpPr/>
          <p:nvPr/>
        </p:nvSpPr>
        <p:spPr>
          <a:xfrm>
            <a:off x="254000" y="739775"/>
            <a:ext cx="8621713" cy="560388"/>
          </a:xfrm>
          <a:prstGeom prst="rect">
            <a:avLst/>
          </a:prstGeom>
          <a:noFill/>
          <a:ln w="9525">
            <a:noFill/>
          </a:ln>
        </p:spPr>
        <p:txBody>
          <a:bodyPr>
            <a:spAutoFit/>
          </a:bodyPr>
          <a:p>
            <a:pPr>
              <a:lnSpc>
                <a:spcPct val="120000"/>
              </a:lnSpc>
              <a:buClr>
                <a:schemeClr val="accent2"/>
              </a:buClr>
              <a:buFont typeface="ZapfDingbats" pitchFamily="82" charset="2"/>
            </a:pPr>
            <a:r>
              <a:rPr lang="zh-CN" altLang="en-US" sz="2800" b="1" dirty="0">
                <a:latin typeface="Times New Roman" panose="02020603050405020304" pitchFamily="18" charset="0"/>
              </a:rPr>
              <a:t>对于</a:t>
            </a:r>
            <a:r>
              <a:rPr lang="zh-CN" altLang="zh-CN" sz="2800" b="1" dirty="0">
                <a:latin typeface="Times New Roman" panose="02020603050405020304" pitchFamily="18" charset="0"/>
              </a:rPr>
              <a:t> Runge-Kutta 公式</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p:txBody>
      </p:sp>
      <p:sp>
        <p:nvSpPr>
          <p:cNvPr id="94255" name="Rectangle 47"/>
          <p:cNvSpPr/>
          <p:nvPr/>
        </p:nvSpPr>
        <p:spPr>
          <a:xfrm>
            <a:off x="190500" y="3937000"/>
            <a:ext cx="8585200" cy="954088"/>
          </a:xfrm>
          <a:prstGeom prst="rect">
            <a:avLst/>
          </a:prstGeom>
          <a:noFill/>
          <a:ln w="9525">
            <a:noFill/>
          </a:ln>
        </p:spPr>
        <p:txBody>
          <a:bodyPr>
            <a:spAutoFit/>
          </a:bodyPr>
          <a:p>
            <a:pPr>
              <a:buClr>
                <a:schemeClr val="accent2"/>
              </a:buClr>
              <a:buSzPct val="70000"/>
              <a:buFont typeface="ZapfDingbats" pitchFamily="82" charset="2"/>
            </a:pPr>
            <a:r>
              <a:rPr lang="zh-CN" altLang="en-US" sz="2800" b="1" dirty="0">
                <a:latin typeface="Times New Roman" panose="02020603050405020304" pitchFamily="18" charset="0"/>
              </a:rPr>
              <a:t>当 </a:t>
            </a:r>
            <a:r>
              <a:rPr lang="en-US" altLang="zh-CN" sz="2800" b="1" i="1" dirty="0">
                <a:latin typeface="Times New Roman" panose="02020603050405020304" pitchFamily="18" charset="0"/>
              </a:rPr>
              <a:t>s</a:t>
            </a:r>
            <a:r>
              <a:rPr lang="en-US" altLang="zh-CN" sz="2800" b="1" dirty="0">
                <a:latin typeface="Times New Roman" panose="02020603050405020304" pitchFamily="18" charset="0"/>
              </a:rPr>
              <a:t> = 4 </a:t>
            </a:r>
            <a:r>
              <a:rPr lang="zh-CN" altLang="en-US" sz="2800" b="1" dirty="0">
                <a:latin typeface="Times New Roman" panose="02020603050405020304" pitchFamily="18" charset="0"/>
              </a:rPr>
              <a:t>时, </a:t>
            </a:r>
            <a:r>
              <a:rPr lang="zh-CN" altLang="zh-CN" sz="2800" b="1" dirty="0">
                <a:latin typeface="Times New Roman" panose="02020603050405020304" pitchFamily="18" charset="0"/>
              </a:rPr>
              <a:t>类似地可</a:t>
            </a:r>
            <a:r>
              <a:rPr lang="zh-CN" altLang="en-US" sz="2800" b="1" dirty="0">
                <a:latin typeface="Times New Roman" panose="02020603050405020304" pitchFamily="18" charset="0"/>
              </a:rPr>
              <a:t>以</a:t>
            </a:r>
            <a:r>
              <a:rPr lang="zh-CN" altLang="zh-CN" sz="2800" b="1" dirty="0">
                <a:latin typeface="Times New Roman" panose="02020603050405020304" pitchFamily="18" charset="0"/>
              </a:rPr>
              <a:t>导出</a:t>
            </a:r>
            <a:r>
              <a:rPr lang="zh-CN" altLang="en-US" sz="2800" b="1" dirty="0">
                <a:latin typeface="Times New Roman" panose="02020603050405020304" pitchFamily="18" charset="0"/>
              </a:rPr>
              <a:t>一族</a:t>
            </a:r>
            <a:r>
              <a:rPr lang="zh-CN" altLang="zh-CN" sz="2800" b="1" dirty="0">
                <a:latin typeface="Times New Roman" panose="02020603050405020304" pitchFamily="18" charset="0"/>
              </a:rPr>
              <a:t>四阶</a:t>
            </a:r>
            <a:r>
              <a:rPr lang="zh-CN" altLang="en-US" sz="2800" b="1" dirty="0">
                <a:latin typeface="Times New Roman" panose="02020603050405020304" pitchFamily="18" charset="0"/>
              </a:rPr>
              <a:t>的 </a:t>
            </a:r>
            <a:r>
              <a:rPr lang="en-US" altLang="zh-CN" sz="2800" b="1" dirty="0">
                <a:latin typeface="Times New Roman" panose="02020603050405020304" pitchFamily="18" charset="0"/>
              </a:rPr>
              <a:t>Runge-Kutta </a:t>
            </a:r>
            <a:r>
              <a:rPr lang="zh-CN" altLang="en-US" sz="2800" b="1" dirty="0">
                <a:latin typeface="Times New Roman" panose="02020603050405020304" pitchFamily="18" charset="0"/>
              </a:rPr>
              <a:t>公式。 </a:t>
            </a:r>
            <a:endParaRPr lang="zh-CN" altLang="en-US" sz="2800" b="1" dirty="0">
              <a:latin typeface="Times New Roman" panose="02020603050405020304" pitchFamily="18" charset="0"/>
            </a:endParaRPr>
          </a:p>
        </p:txBody>
      </p:sp>
      <p:graphicFrame>
        <p:nvGraphicFramePr>
          <p:cNvPr id="140301" name="Object 13"/>
          <p:cNvGraphicFramePr/>
          <p:nvPr/>
        </p:nvGraphicFramePr>
        <p:xfrm>
          <a:off x="915988" y="1187450"/>
          <a:ext cx="6924675" cy="2919413"/>
        </p:xfrm>
        <a:graphic>
          <a:graphicData uri="http://schemas.openxmlformats.org/presentationml/2006/ole">
            <mc:AlternateContent xmlns:mc="http://schemas.openxmlformats.org/markup-compatibility/2006">
              <mc:Choice xmlns:v="urn:schemas-microsoft-com:vml" Requires="v">
                <p:oleObj spid="_x0000_s3177" name="" r:id="rId1" imgW="2781300" imgH="1168400" progId="Equation.3">
                  <p:embed/>
                </p:oleObj>
              </mc:Choice>
              <mc:Fallback>
                <p:oleObj name="" r:id="rId1" imgW="2781300" imgH="1168400" progId="Equation.3">
                  <p:embed/>
                  <p:pic>
                    <p:nvPicPr>
                      <p:cNvPr id="0" name="图片 3176"/>
                      <p:cNvPicPr/>
                      <p:nvPr/>
                    </p:nvPicPr>
                    <p:blipFill>
                      <a:blip r:embed="rId2"/>
                      <a:stretch>
                        <a:fillRect/>
                      </a:stretch>
                    </p:blipFill>
                    <p:spPr>
                      <a:xfrm>
                        <a:off x="915988" y="1187450"/>
                        <a:ext cx="6924675" cy="2919413"/>
                      </a:xfrm>
                      <a:prstGeom prst="rect">
                        <a:avLst/>
                      </a:prstGeom>
                      <a:noFill/>
                      <a:ln w="38100">
                        <a:noFill/>
                        <a:miter/>
                      </a:ln>
                    </p:spPr>
                  </p:pic>
                </p:oleObj>
              </mc:Fallback>
            </mc:AlternateContent>
          </a:graphicData>
        </a:graphic>
      </p:graphicFrame>
      <p:sp>
        <p:nvSpPr>
          <p:cNvPr id="16" name="Rectangle 49"/>
          <p:cNvSpPr/>
          <p:nvPr/>
        </p:nvSpPr>
        <p:spPr>
          <a:xfrm>
            <a:off x="195263" y="4797425"/>
            <a:ext cx="8675687" cy="1593850"/>
          </a:xfrm>
          <a:prstGeom prst="rect">
            <a:avLst/>
          </a:prstGeom>
          <a:noFill/>
          <a:ln w="9525">
            <a:noFill/>
          </a:ln>
        </p:spPr>
        <p:txBody>
          <a:bodyPr>
            <a:spAutoFit/>
          </a:bodyPr>
          <a:p>
            <a:pPr>
              <a:lnSpc>
                <a:spcPct val="120000"/>
              </a:lnSpc>
              <a:buClr>
                <a:schemeClr val="accent2"/>
              </a:buClr>
              <a:buFont typeface="ZapfDingbats" pitchFamily="82" charset="2"/>
            </a:pPr>
            <a:r>
              <a:rPr lang="zh-CN" altLang="en-US" sz="2800" b="1" dirty="0">
                <a:latin typeface="Times New Roman" panose="02020603050405020304" pitchFamily="18" charset="0"/>
              </a:rPr>
              <a:t>四阶 </a:t>
            </a:r>
            <a:r>
              <a:rPr lang="en-US" altLang="zh-CN" sz="2800" b="1" dirty="0">
                <a:latin typeface="Times New Roman" panose="02020603050405020304" pitchFamily="18" charset="0"/>
              </a:rPr>
              <a:t>Runge-Kutta </a:t>
            </a:r>
            <a:r>
              <a:rPr lang="zh-CN" altLang="zh-CN" sz="2800" b="1" dirty="0">
                <a:latin typeface="Times New Roman" panose="02020603050405020304" pitchFamily="18" charset="0"/>
              </a:rPr>
              <a:t>公式</a:t>
            </a:r>
            <a:r>
              <a:rPr lang="zh-CN" altLang="en-US" sz="2800" b="1" dirty="0">
                <a:latin typeface="Times New Roman" panose="02020603050405020304" pitchFamily="18" charset="0"/>
              </a:rPr>
              <a:t>, 每一步计算需四次调用 </a:t>
            </a:r>
            <a:r>
              <a:rPr lang="en-US" altLang="zh-CN" sz="2800" b="1" dirty="0">
                <a:latin typeface="Times New Roman" panose="02020603050405020304" pitchFamily="18" charset="0"/>
              </a:rPr>
              <a:t>f </a:t>
            </a:r>
            <a:r>
              <a:rPr lang="zh-CN" altLang="zh-CN" sz="2800" b="1" dirty="0">
                <a:latin typeface="Times New Roman" panose="02020603050405020304" pitchFamily="18" charset="0"/>
              </a:rPr>
              <a:t>的函数值</a:t>
            </a:r>
            <a:r>
              <a:rPr lang="zh-CN" altLang="en-US" sz="2800" b="1" dirty="0">
                <a:latin typeface="Times New Roman" panose="02020603050405020304" pitchFamily="18" charset="0"/>
              </a:rPr>
              <a:t>, 计算量较大, 但其局部截断误差可达 </a:t>
            </a:r>
            <a:r>
              <a:rPr lang="en-US" altLang="zh-CN" sz="2800" b="1" i="1" dirty="0">
                <a:latin typeface="Times New Roman" panose="02020603050405020304" pitchFamily="18" charset="0"/>
              </a:rPr>
              <a:t>O</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h</a:t>
            </a:r>
            <a:r>
              <a:rPr lang="en-US" altLang="zh-CN" sz="2800" b="1" baseline="30000" dirty="0">
                <a:latin typeface="Times New Roman" panose="02020603050405020304" pitchFamily="18" charset="0"/>
              </a:rPr>
              <a:t>5</a:t>
            </a:r>
            <a:r>
              <a:rPr lang="en-US" altLang="zh-CN" sz="2800" b="1" dirty="0">
                <a:latin typeface="Times New Roman" panose="02020603050405020304" pitchFamily="18" charset="0"/>
              </a:rPr>
              <a:t>), </a:t>
            </a:r>
            <a:r>
              <a:rPr lang="zh-CN" altLang="zh-CN" sz="2800" b="1" dirty="0">
                <a:latin typeface="Times New Roman" panose="02020603050405020304" pitchFamily="18" charset="0"/>
              </a:rPr>
              <a:t>精度较高</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253"/>
                                        </p:tgtEl>
                                        <p:attrNameLst>
                                          <p:attrName>style.visibility</p:attrName>
                                        </p:attrNameLst>
                                      </p:cBhvr>
                                      <p:to>
                                        <p:strVal val="visible"/>
                                      </p:to>
                                    </p:set>
                                    <p:animEffect transition="in" filter="blinds(horizontal)">
                                      <p:cBhvr>
                                        <p:cTn id="7" dur="500"/>
                                        <p:tgtEl>
                                          <p:spTgt spid="942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0301"/>
                                        </p:tgtEl>
                                        <p:attrNameLst>
                                          <p:attrName>style.visibility</p:attrName>
                                        </p:attrNameLst>
                                      </p:cBhvr>
                                      <p:to>
                                        <p:strVal val="visible"/>
                                      </p:to>
                                    </p:set>
                                    <p:animEffect transition="in" filter="wipe(up)">
                                      <p:cBhvr>
                                        <p:cTn id="12" dur="500"/>
                                        <p:tgtEl>
                                          <p:spTgt spid="14030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4255"/>
                                        </p:tgtEl>
                                        <p:attrNameLst>
                                          <p:attrName>style.visibility</p:attrName>
                                        </p:attrNameLst>
                                      </p:cBhvr>
                                      <p:to>
                                        <p:strVal val="visible"/>
                                      </p:to>
                                    </p:set>
                                    <p:animEffect transition="in" filter="blinds(horizontal)">
                                      <p:cBhvr>
                                        <p:cTn id="17" dur="500"/>
                                        <p:tgtEl>
                                          <p:spTgt spid="9425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53" grpId="0"/>
      <p:bldP spid="94255" grpId="0"/>
      <p:bldP spid="1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848"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35849" name="Rectangle 44"/>
          <p:cNvSpPr>
            <a:spLocks noGrp="1"/>
          </p:cNvSpPr>
          <p:nvPr>
            <p:ph type="title"/>
          </p:nvPr>
        </p:nvSpPr>
        <p:spPr>
          <a:xfrm>
            <a:off x="241300" y="0"/>
            <a:ext cx="7772400" cy="1143000"/>
          </a:xfrm>
          <a:ln/>
        </p:spPr>
        <p:txBody>
          <a:bodyPr vert="horz" wrap="square" lIns="91440" tIns="45720" rIns="91440" bIns="45720" anchor="ctr" anchorCtr="0"/>
          <a:p>
            <a:pPr algn="l"/>
            <a:r>
              <a:rPr lang="zh-CN" altLang="zh-CN" sz="2800" u="none" dirty="0">
                <a:solidFill>
                  <a:srgbClr val="0033CC"/>
                </a:solidFill>
              </a:rPr>
              <a:t> </a:t>
            </a:r>
            <a:r>
              <a:rPr lang="en-US" altLang="zh-CN" b="1" u="none" dirty="0">
                <a:solidFill>
                  <a:srgbClr val="0033CC"/>
                </a:solidFill>
                <a:latin typeface="Times New Roman" panose="02020603050405020304" pitchFamily="18" charset="0"/>
              </a:rPr>
              <a:t>9.</a:t>
            </a:r>
            <a:r>
              <a:rPr lang="zh-CN" altLang="en-US" b="1" u="none" dirty="0">
                <a:solidFill>
                  <a:srgbClr val="0033CC"/>
                </a:solidFill>
                <a:latin typeface="Times New Roman" panose="02020603050405020304" pitchFamily="18" charset="0"/>
              </a:rPr>
              <a:t>2.3</a:t>
            </a:r>
            <a:r>
              <a:rPr lang="zh-CN" altLang="en-US" b="1" u="none" dirty="0">
                <a:solidFill>
                  <a:srgbClr val="0033CC"/>
                </a:solidFill>
              </a:rPr>
              <a:t> </a:t>
            </a:r>
            <a:r>
              <a:rPr lang="zh-CN" altLang="zh-CN" b="1" u="none" dirty="0">
                <a:solidFill>
                  <a:srgbClr val="0033CC"/>
                </a:solidFill>
              </a:rPr>
              <a:t>四阶</a:t>
            </a:r>
            <a:r>
              <a:rPr lang="en-US" altLang="zh-CN" b="1" u="none" dirty="0">
                <a:solidFill>
                  <a:srgbClr val="0033CC"/>
                </a:solidFill>
                <a:latin typeface="Times New Roman" panose="02020603050405020304" pitchFamily="18" charset="0"/>
              </a:rPr>
              <a:t>Runge-Kutta</a:t>
            </a:r>
            <a:r>
              <a:rPr lang="zh-CN" altLang="zh-CN" b="1" u="none" dirty="0">
                <a:solidFill>
                  <a:srgbClr val="0033CC"/>
                </a:solidFill>
              </a:rPr>
              <a:t>方法</a:t>
            </a:r>
            <a:endParaRPr lang="zh-CN" altLang="zh-CN" sz="3600" b="1" u="none" dirty="0"/>
          </a:p>
        </p:txBody>
      </p:sp>
      <p:sp>
        <p:nvSpPr>
          <p:cNvPr id="94253" name="Rectangle 45"/>
          <p:cNvSpPr/>
          <p:nvPr/>
        </p:nvSpPr>
        <p:spPr>
          <a:xfrm>
            <a:off x="254000" y="787400"/>
            <a:ext cx="8621713" cy="627063"/>
          </a:xfrm>
          <a:prstGeom prst="rect">
            <a:avLst/>
          </a:prstGeom>
          <a:noFill/>
          <a:ln w="9525">
            <a:noFill/>
          </a:ln>
        </p:spPr>
        <p:txBody>
          <a:bodyPr>
            <a:spAutoFit/>
          </a:bodyPr>
          <a:p>
            <a:pPr>
              <a:lnSpc>
                <a:spcPct val="120000"/>
              </a:lnSpc>
              <a:buClr>
                <a:schemeClr val="accent2"/>
              </a:buClr>
              <a:buFont typeface="ZapfDingbats" pitchFamily="82" charset="2"/>
            </a:pPr>
            <a:r>
              <a:rPr lang="zh-CN" altLang="en-US" b="1" dirty="0">
                <a:latin typeface="Times New Roman" panose="02020603050405020304" pitchFamily="18" charset="0"/>
              </a:rPr>
              <a:t>当 </a:t>
            </a:r>
            <a:r>
              <a:rPr lang="en-US" altLang="zh-CN" b="1" i="1" dirty="0">
                <a:latin typeface="Times New Roman" panose="02020603050405020304" pitchFamily="18" charset="0"/>
              </a:rPr>
              <a:t>s</a:t>
            </a:r>
            <a:r>
              <a:rPr lang="en-US" altLang="zh-CN" b="1" dirty="0">
                <a:latin typeface="Times New Roman" panose="02020603050405020304" pitchFamily="18" charset="0"/>
              </a:rPr>
              <a:t> = 4 </a:t>
            </a:r>
            <a:r>
              <a:rPr lang="zh-CN" altLang="en-US" b="1" dirty="0">
                <a:latin typeface="Times New Roman" panose="02020603050405020304" pitchFamily="18" charset="0"/>
              </a:rPr>
              <a:t>时,常用的</a:t>
            </a:r>
            <a:r>
              <a:rPr lang="zh-CN" altLang="zh-CN" b="1" dirty="0">
                <a:latin typeface="Times New Roman" panose="02020603050405020304" pitchFamily="18" charset="0"/>
              </a:rPr>
              <a:t>四阶 Runge-Kutta 公式</a:t>
            </a: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sp>
        <p:nvSpPr>
          <p:cNvPr id="94255" name="Rectangle 47"/>
          <p:cNvSpPr/>
          <p:nvPr/>
        </p:nvSpPr>
        <p:spPr>
          <a:xfrm>
            <a:off x="231775" y="1462088"/>
            <a:ext cx="5948363" cy="584200"/>
          </a:xfrm>
          <a:prstGeom prst="rect">
            <a:avLst/>
          </a:prstGeom>
          <a:noFill/>
          <a:ln w="9525">
            <a:noFill/>
          </a:ln>
        </p:spPr>
        <p:txBody>
          <a:bodyPr wrap="none">
            <a:spAutoFit/>
          </a:bodyPr>
          <a:p>
            <a:pPr>
              <a:buClr>
                <a:schemeClr val="accent2"/>
              </a:buClr>
              <a:buSzPct val="70000"/>
              <a:buFont typeface="ZapfDingbats" pitchFamily="82" charset="2"/>
            </a:pPr>
            <a:r>
              <a:rPr lang="zh-CN" altLang="en-US" b="1" dirty="0">
                <a:latin typeface="Times New Roman" panose="02020603050405020304" pitchFamily="18" charset="0"/>
              </a:rPr>
              <a:t>标准 (经典) 的 </a:t>
            </a:r>
            <a:r>
              <a:rPr lang="en-US" altLang="zh-CN" b="1" dirty="0">
                <a:latin typeface="Times New Roman" panose="02020603050405020304" pitchFamily="18" charset="0"/>
              </a:rPr>
              <a:t>Runge-Kutta</a:t>
            </a:r>
            <a:r>
              <a:rPr lang="zh-CN" altLang="zh-CN" b="1" dirty="0">
                <a:latin typeface="Times New Roman" panose="02020603050405020304" pitchFamily="18" charset="0"/>
              </a:rPr>
              <a:t>公式</a:t>
            </a:r>
            <a:endParaRPr lang="zh-CN" altLang="en-US" b="1" dirty="0">
              <a:latin typeface="Times New Roman" panose="02020603050405020304" pitchFamily="18" charset="0"/>
            </a:endParaRPr>
          </a:p>
        </p:txBody>
      </p:sp>
      <p:grpSp>
        <p:nvGrpSpPr>
          <p:cNvPr id="2" name="Group 69"/>
          <p:cNvGrpSpPr/>
          <p:nvPr/>
        </p:nvGrpSpPr>
        <p:grpSpPr>
          <a:xfrm>
            <a:off x="1325563" y="2154238"/>
            <a:ext cx="5646737" cy="3965575"/>
            <a:chOff x="815" y="1601"/>
            <a:chExt cx="3557" cy="2498"/>
          </a:xfrm>
        </p:grpSpPr>
        <p:grpSp>
          <p:nvGrpSpPr>
            <p:cNvPr id="35853" name="Group 68"/>
            <p:cNvGrpSpPr/>
            <p:nvPr/>
          </p:nvGrpSpPr>
          <p:grpSpPr>
            <a:xfrm>
              <a:off x="815" y="1601"/>
              <a:ext cx="3557" cy="2370"/>
              <a:chOff x="815" y="1601"/>
              <a:chExt cx="3557" cy="2370"/>
            </a:xfrm>
          </p:grpSpPr>
          <p:graphicFrame>
            <p:nvGraphicFramePr>
              <p:cNvPr id="35843" name="Object 51"/>
              <p:cNvGraphicFramePr>
                <a:graphicFrameLocks noChangeAspect="1"/>
              </p:cNvGraphicFramePr>
              <p:nvPr/>
            </p:nvGraphicFramePr>
            <p:xfrm>
              <a:off x="1053" y="1601"/>
              <a:ext cx="3319" cy="619"/>
            </p:xfrm>
            <a:graphic>
              <a:graphicData uri="http://schemas.openxmlformats.org/presentationml/2006/ole">
                <mc:AlternateContent xmlns:mc="http://schemas.openxmlformats.org/markup-compatibility/2006">
                  <mc:Choice xmlns:v="urn:schemas-microsoft-com:vml" Requires="v">
                    <p:oleObj spid="_x0000_s3174" name="" r:id="rId1" imgW="2107565" imgH="393700" progId="Equation.DSMT4">
                      <p:embed/>
                    </p:oleObj>
                  </mc:Choice>
                  <mc:Fallback>
                    <p:oleObj name="" r:id="rId1" imgW="2107565" imgH="393700" progId="Equation.DSMT4">
                      <p:embed/>
                      <p:pic>
                        <p:nvPicPr>
                          <p:cNvPr id="0" name="图片 3173"/>
                          <p:cNvPicPr/>
                          <p:nvPr/>
                        </p:nvPicPr>
                        <p:blipFill>
                          <a:blip r:embed="rId2"/>
                          <a:stretch>
                            <a:fillRect/>
                          </a:stretch>
                        </p:blipFill>
                        <p:spPr>
                          <a:xfrm>
                            <a:off x="1053" y="1601"/>
                            <a:ext cx="3319" cy="619"/>
                          </a:xfrm>
                          <a:prstGeom prst="rect">
                            <a:avLst/>
                          </a:prstGeom>
                          <a:noFill/>
                          <a:ln w="38100">
                            <a:noFill/>
                            <a:miter/>
                          </a:ln>
                        </p:spPr>
                      </p:pic>
                    </p:oleObj>
                  </mc:Fallback>
                </mc:AlternateContent>
              </a:graphicData>
            </a:graphic>
          </p:graphicFrame>
          <p:graphicFrame>
            <p:nvGraphicFramePr>
              <p:cNvPr id="35844" name="Object 52"/>
              <p:cNvGraphicFramePr>
                <a:graphicFrameLocks noChangeAspect="1"/>
              </p:cNvGraphicFramePr>
              <p:nvPr/>
            </p:nvGraphicFramePr>
            <p:xfrm>
              <a:off x="1079" y="2212"/>
              <a:ext cx="1679" cy="360"/>
            </p:xfrm>
            <a:graphic>
              <a:graphicData uri="http://schemas.openxmlformats.org/presentationml/2006/ole">
                <mc:AlternateContent xmlns:mc="http://schemas.openxmlformats.org/markup-compatibility/2006">
                  <mc:Choice xmlns:v="urn:schemas-microsoft-com:vml" Requires="v">
                    <p:oleObj spid="_x0000_s3172" name="" r:id="rId3" imgW="1066800" imgH="228600" progId="Equation.DSMT4">
                      <p:embed/>
                    </p:oleObj>
                  </mc:Choice>
                  <mc:Fallback>
                    <p:oleObj name="" r:id="rId3" imgW="1066800" imgH="228600" progId="Equation.DSMT4">
                      <p:embed/>
                      <p:pic>
                        <p:nvPicPr>
                          <p:cNvPr id="0" name="图片 3171"/>
                          <p:cNvPicPr/>
                          <p:nvPr/>
                        </p:nvPicPr>
                        <p:blipFill>
                          <a:blip r:embed="rId4"/>
                          <a:stretch>
                            <a:fillRect/>
                          </a:stretch>
                        </p:blipFill>
                        <p:spPr>
                          <a:xfrm>
                            <a:off x="1079" y="2212"/>
                            <a:ext cx="1679" cy="360"/>
                          </a:xfrm>
                          <a:prstGeom prst="rect">
                            <a:avLst/>
                          </a:prstGeom>
                          <a:noFill/>
                          <a:ln w="38100">
                            <a:noFill/>
                            <a:miter/>
                          </a:ln>
                        </p:spPr>
                      </p:pic>
                    </p:oleObj>
                  </mc:Fallback>
                </mc:AlternateContent>
              </a:graphicData>
            </a:graphic>
          </p:graphicFrame>
          <p:graphicFrame>
            <p:nvGraphicFramePr>
              <p:cNvPr id="35845" name="Object 53"/>
              <p:cNvGraphicFramePr>
                <a:graphicFrameLocks noChangeAspect="1"/>
              </p:cNvGraphicFramePr>
              <p:nvPr/>
            </p:nvGraphicFramePr>
            <p:xfrm>
              <a:off x="1075" y="2560"/>
              <a:ext cx="2699" cy="619"/>
            </p:xfrm>
            <a:graphic>
              <a:graphicData uri="http://schemas.openxmlformats.org/presentationml/2006/ole">
                <mc:AlternateContent xmlns:mc="http://schemas.openxmlformats.org/markup-compatibility/2006">
                  <mc:Choice xmlns:v="urn:schemas-microsoft-com:vml" Requires="v">
                    <p:oleObj spid="_x0000_s3175" name="" r:id="rId5" imgW="1713865" imgH="393700" progId="Equation.DSMT4">
                      <p:embed/>
                    </p:oleObj>
                  </mc:Choice>
                  <mc:Fallback>
                    <p:oleObj name="" r:id="rId5" imgW="1713865" imgH="393700" progId="Equation.DSMT4">
                      <p:embed/>
                      <p:pic>
                        <p:nvPicPr>
                          <p:cNvPr id="0" name="图片 3174"/>
                          <p:cNvPicPr/>
                          <p:nvPr/>
                        </p:nvPicPr>
                        <p:blipFill>
                          <a:blip r:embed="rId6"/>
                          <a:stretch>
                            <a:fillRect/>
                          </a:stretch>
                        </p:blipFill>
                        <p:spPr>
                          <a:xfrm>
                            <a:off x="1075" y="2560"/>
                            <a:ext cx="2699" cy="619"/>
                          </a:xfrm>
                          <a:prstGeom prst="rect">
                            <a:avLst/>
                          </a:prstGeom>
                          <a:noFill/>
                          <a:ln w="38100">
                            <a:noFill/>
                            <a:miter/>
                          </a:ln>
                        </p:spPr>
                      </p:pic>
                    </p:oleObj>
                  </mc:Fallback>
                </mc:AlternateContent>
              </a:graphicData>
            </a:graphic>
          </p:graphicFrame>
          <p:graphicFrame>
            <p:nvGraphicFramePr>
              <p:cNvPr id="35846" name="Object 55"/>
              <p:cNvGraphicFramePr>
                <a:graphicFrameLocks noChangeAspect="1"/>
              </p:cNvGraphicFramePr>
              <p:nvPr/>
            </p:nvGraphicFramePr>
            <p:xfrm>
              <a:off x="1088" y="3130"/>
              <a:ext cx="2719" cy="619"/>
            </p:xfrm>
            <a:graphic>
              <a:graphicData uri="http://schemas.openxmlformats.org/presentationml/2006/ole">
                <mc:AlternateContent xmlns:mc="http://schemas.openxmlformats.org/markup-compatibility/2006">
                  <mc:Choice xmlns:v="urn:schemas-microsoft-com:vml" Requires="v">
                    <p:oleObj spid="_x0000_s3173" name="" r:id="rId7" imgW="1726565" imgH="393700" progId="Equation.DSMT4">
                      <p:embed/>
                    </p:oleObj>
                  </mc:Choice>
                  <mc:Fallback>
                    <p:oleObj name="" r:id="rId7" imgW="1726565" imgH="393700" progId="Equation.DSMT4">
                      <p:embed/>
                      <p:pic>
                        <p:nvPicPr>
                          <p:cNvPr id="0" name="图片 3172"/>
                          <p:cNvPicPr/>
                          <p:nvPr/>
                        </p:nvPicPr>
                        <p:blipFill>
                          <a:blip r:embed="rId8"/>
                          <a:stretch>
                            <a:fillRect/>
                          </a:stretch>
                        </p:blipFill>
                        <p:spPr>
                          <a:xfrm>
                            <a:off x="1088" y="3130"/>
                            <a:ext cx="2719" cy="619"/>
                          </a:xfrm>
                          <a:prstGeom prst="rect">
                            <a:avLst/>
                          </a:prstGeom>
                          <a:noFill/>
                          <a:ln w="38100">
                            <a:noFill/>
                            <a:miter/>
                          </a:ln>
                        </p:spPr>
                      </p:pic>
                    </p:oleObj>
                  </mc:Fallback>
                </mc:AlternateContent>
              </a:graphicData>
            </a:graphic>
          </p:graphicFrame>
          <p:sp>
            <p:nvSpPr>
              <p:cNvPr id="35854" name="AutoShape 57"/>
              <p:cNvSpPr>
                <a:spLocks noChangeAspect="1"/>
              </p:cNvSpPr>
              <p:nvPr/>
            </p:nvSpPr>
            <p:spPr>
              <a:xfrm>
                <a:off x="815" y="1912"/>
                <a:ext cx="214" cy="2059"/>
              </a:xfrm>
              <a:prstGeom prst="leftBrace">
                <a:avLst>
                  <a:gd name="adj1" fmla="val 79956"/>
                  <a:gd name="adj2" fmla="val 50000"/>
                </a:avLst>
              </a:prstGeom>
              <a:noFill/>
              <a:ln w="9525" cap="flat" cmpd="sng">
                <a:solidFill>
                  <a:schemeClr val="tx1"/>
                </a:solidFill>
                <a:prstDash val="solid"/>
                <a:headEnd type="none" w="med" len="med"/>
                <a:tailEnd type="none" w="med" len="med"/>
              </a:ln>
            </p:spPr>
            <p:txBody>
              <a:bodyPr wrap="none" anchor="ctr" anchorCtr="0"/>
              <a:p>
                <a:pPr eaLnBrk="0" hangingPunct="0"/>
                <a:endParaRPr lang="zh-CN" altLang="en-US" dirty="0">
                  <a:latin typeface="Times New Roman" panose="02020603050405020304" pitchFamily="18" charset="0"/>
                </a:endParaRPr>
              </a:p>
            </p:txBody>
          </p:sp>
        </p:grpSp>
        <p:graphicFrame>
          <p:nvGraphicFramePr>
            <p:cNvPr id="35842" name="Object 67"/>
            <p:cNvGraphicFramePr/>
            <p:nvPr/>
          </p:nvGraphicFramePr>
          <p:xfrm>
            <a:off x="1108" y="3754"/>
            <a:ext cx="2188" cy="345"/>
          </p:xfrm>
          <a:graphic>
            <a:graphicData uri="http://schemas.openxmlformats.org/presentationml/2006/ole">
              <mc:AlternateContent xmlns:mc="http://schemas.openxmlformats.org/markup-compatibility/2006">
                <mc:Choice xmlns:v="urn:schemas-microsoft-com:vml" Requires="v">
                  <p:oleObj spid="_x0000_s3176" name="" r:id="rId9" imgW="1447800" imgH="228600" progId="Equation.3">
                    <p:embed/>
                  </p:oleObj>
                </mc:Choice>
                <mc:Fallback>
                  <p:oleObj name="" r:id="rId9" imgW="1447800" imgH="228600" progId="Equation.3">
                    <p:embed/>
                    <p:pic>
                      <p:nvPicPr>
                        <p:cNvPr id="0" name="图片 3175"/>
                        <p:cNvPicPr/>
                        <p:nvPr/>
                      </p:nvPicPr>
                      <p:blipFill>
                        <a:blip r:embed="rId10"/>
                        <a:stretch>
                          <a:fillRect/>
                        </a:stretch>
                      </p:blipFill>
                      <p:spPr>
                        <a:xfrm>
                          <a:off x="1108" y="3754"/>
                          <a:ext cx="2188" cy="345"/>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253"/>
                                        </p:tgtEl>
                                        <p:attrNameLst>
                                          <p:attrName>style.visibility</p:attrName>
                                        </p:attrNameLst>
                                      </p:cBhvr>
                                      <p:to>
                                        <p:strVal val="visible"/>
                                      </p:to>
                                    </p:set>
                                    <p:animEffect transition="in" filter="blinds(horizontal)">
                                      <p:cBhvr>
                                        <p:cTn id="7" dur="500"/>
                                        <p:tgtEl>
                                          <p:spTgt spid="9425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4255"/>
                                        </p:tgtEl>
                                        <p:attrNameLst>
                                          <p:attrName>style.visibility</p:attrName>
                                        </p:attrNameLst>
                                      </p:cBhvr>
                                      <p:to>
                                        <p:strVal val="visible"/>
                                      </p:to>
                                    </p:set>
                                    <p:animEffect transition="in" filter="blinds(horizontal)">
                                      <p:cBhvr>
                                        <p:cTn id="12" dur="500"/>
                                        <p:tgtEl>
                                          <p:spTgt spid="942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53" grpId="0"/>
      <p:bldP spid="9425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872"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pSp>
        <p:nvGrpSpPr>
          <p:cNvPr id="2" name="Group 51"/>
          <p:cNvGrpSpPr>
            <a:grpSpLocks noChangeAspect="1"/>
          </p:cNvGrpSpPr>
          <p:nvPr/>
        </p:nvGrpSpPr>
        <p:grpSpPr>
          <a:xfrm>
            <a:off x="823913" y="669925"/>
            <a:ext cx="6467475" cy="4049713"/>
            <a:chOff x="97" y="495"/>
            <a:chExt cx="3705" cy="2320"/>
          </a:xfrm>
        </p:grpSpPr>
        <p:graphicFrame>
          <p:nvGraphicFramePr>
            <p:cNvPr id="36866" name="Object 1024"/>
            <p:cNvGraphicFramePr>
              <a:graphicFrameLocks noChangeAspect="1"/>
            </p:cNvGraphicFramePr>
            <p:nvPr/>
          </p:nvGraphicFramePr>
          <p:xfrm>
            <a:off x="282" y="495"/>
            <a:ext cx="3520" cy="469"/>
          </p:xfrm>
          <a:graphic>
            <a:graphicData uri="http://schemas.openxmlformats.org/presentationml/2006/ole">
              <mc:AlternateContent xmlns:mc="http://schemas.openxmlformats.org/markup-compatibility/2006">
                <mc:Choice xmlns:v="urn:schemas-microsoft-com:vml" Requires="v">
                  <p:oleObj spid="_x0000_s3181" name="" r:id="rId1" imgW="2945130" imgH="393700" progId="Equation.DSMT4">
                    <p:embed/>
                  </p:oleObj>
                </mc:Choice>
                <mc:Fallback>
                  <p:oleObj name="" r:id="rId1" imgW="2945130" imgH="393700" progId="Equation.DSMT4">
                    <p:embed/>
                    <p:pic>
                      <p:nvPicPr>
                        <p:cNvPr id="0" name="图片 3180"/>
                        <p:cNvPicPr/>
                        <p:nvPr/>
                      </p:nvPicPr>
                      <p:blipFill>
                        <a:blip r:embed="rId2"/>
                        <a:stretch>
                          <a:fillRect/>
                        </a:stretch>
                      </p:blipFill>
                      <p:spPr>
                        <a:xfrm>
                          <a:off x="282" y="495"/>
                          <a:ext cx="3520" cy="469"/>
                        </a:xfrm>
                        <a:prstGeom prst="rect">
                          <a:avLst/>
                        </a:prstGeom>
                        <a:noFill/>
                        <a:ln w="38100">
                          <a:noFill/>
                          <a:miter/>
                        </a:ln>
                      </p:spPr>
                    </p:pic>
                  </p:oleObj>
                </mc:Fallback>
              </mc:AlternateContent>
            </a:graphicData>
          </a:graphic>
        </p:graphicFrame>
        <p:graphicFrame>
          <p:nvGraphicFramePr>
            <p:cNvPr id="36867" name="Object 1025"/>
            <p:cNvGraphicFramePr>
              <a:graphicFrameLocks noChangeAspect="1"/>
            </p:cNvGraphicFramePr>
            <p:nvPr/>
          </p:nvGraphicFramePr>
          <p:xfrm>
            <a:off x="321" y="1031"/>
            <a:ext cx="1275" cy="274"/>
          </p:xfrm>
          <a:graphic>
            <a:graphicData uri="http://schemas.openxmlformats.org/presentationml/2006/ole">
              <mc:AlternateContent xmlns:mc="http://schemas.openxmlformats.org/markup-compatibility/2006">
                <mc:Choice xmlns:v="urn:schemas-microsoft-com:vml" Requires="v">
                  <p:oleObj spid="_x0000_s3182" name="" r:id="rId3" imgW="1066800" imgH="228600" progId="Equation.DSMT4">
                    <p:embed/>
                  </p:oleObj>
                </mc:Choice>
                <mc:Fallback>
                  <p:oleObj name="" r:id="rId3" imgW="1066800" imgH="228600" progId="Equation.DSMT4">
                    <p:embed/>
                    <p:pic>
                      <p:nvPicPr>
                        <p:cNvPr id="0" name="图片 3181"/>
                        <p:cNvPicPr/>
                        <p:nvPr/>
                      </p:nvPicPr>
                      <p:blipFill>
                        <a:blip r:embed="rId4"/>
                        <a:stretch>
                          <a:fillRect/>
                        </a:stretch>
                      </p:blipFill>
                      <p:spPr>
                        <a:xfrm>
                          <a:off x="321" y="1031"/>
                          <a:ext cx="1275" cy="274"/>
                        </a:xfrm>
                        <a:prstGeom prst="rect">
                          <a:avLst/>
                        </a:prstGeom>
                        <a:noFill/>
                        <a:ln w="38100">
                          <a:noFill/>
                          <a:miter/>
                        </a:ln>
                      </p:spPr>
                    </p:pic>
                  </p:oleObj>
                </mc:Fallback>
              </mc:AlternateContent>
            </a:graphicData>
          </a:graphic>
        </p:graphicFrame>
        <p:graphicFrame>
          <p:nvGraphicFramePr>
            <p:cNvPr id="36868" name="Object 1026"/>
            <p:cNvGraphicFramePr>
              <a:graphicFrameLocks noChangeAspect="1"/>
            </p:cNvGraphicFramePr>
            <p:nvPr/>
          </p:nvGraphicFramePr>
          <p:xfrm>
            <a:off x="308" y="1367"/>
            <a:ext cx="2047" cy="469"/>
          </p:xfrm>
          <a:graphic>
            <a:graphicData uri="http://schemas.openxmlformats.org/presentationml/2006/ole">
              <mc:AlternateContent xmlns:mc="http://schemas.openxmlformats.org/markup-compatibility/2006">
                <mc:Choice xmlns:v="urn:schemas-microsoft-com:vml" Requires="v">
                  <p:oleObj spid="_x0000_s3179" name="" r:id="rId5" imgW="1713865" imgH="393700" progId="Equation.DSMT4">
                    <p:embed/>
                  </p:oleObj>
                </mc:Choice>
                <mc:Fallback>
                  <p:oleObj name="" r:id="rId5" imgW="1713865" imgH="393700" progId="Equation.DSMT4">
                    <p:embed/>
                    <p:pic>
                      <p:nvPicPr>
                        <p:cNvPr id="0" name="图片 3178"/>
                        <p:cNvPicPr/>
                        <p:nvPr/>
                      </p:nvPicPr>
                      <p:blipFill>
                        <a:blip r:embed="rId6"/>
                        <a:stretch>
                          <a:fillRect/>
                        </a:stretch>
                      </p:blipFill>
                      <p:spPr>
                        <a:xfrm>
                          <a:off x="308" y="1367"/>
                          <a:ext cx="2047" cy="469"/>
                        </a:xfrm>
                        <a:prstGeom prst="rect">
                          <a:avLst/>
                        </a:prstGeom>
                        <a:noFill/>
                        <a:ln w="38100">
                          <a:noFill/>
                          <a:miter/>
                        </a:ln>
                      </p:spPr>
                    </p:pic>
                  </p:oleObj>
                </mc:Fallback>
              </mc:AlternateContent>
            </a:graphicData>
          </a:graphic>
        </p:graphicFrame>
        <p:graphicFrame>
          <p:nvGraphicFramePr>
            <p:cNvPr id="36869" name="Object 1027"/>
            <p:cNvGraphicFramePr>
              <a:graphicFrameLocks noChangeAspect="1"/>
            </p:cNvGraphicFramePr>
            <p:nvPr/>
          </p:nvGraphicFramePr>
          <p:xfrm>
            <a:off x="333" y="1818"/>
            <a:ext cx="3428" cy="515"/>
          </p:xfrm>
          <a:graphic>
            <a:graphicData uri="http://schemas.openxmlformats.org/presentationml/2006/ole">
              <mc:AlternateContent xmlns:mc="http://schemas.openxmlformats.org/markup-compatibility/2006">
                <mc:Choice xmlns:v="urn:schemas-microsoft-com:vml" Requires="v">
                  <p:oleObj spid="_x0000_s3178" name="" r:id="rId7" imgW="2868930" imgH="431800" progId="Equation.DSMT4">
                    <p:embed/>
                  </p:oleObj>
                </mc:Choice>
                <mc:Fallback>
                  <p:oleObj name="" r:id="rId7" imgW="2868930" imgH="431800" progId="Equation.DSMT4">
                    <p:embed/>
                    <p:pic>
                      <p:nvPicPr>
                        <p:cNvPr id="0" name="图片 3177"/>
                        <p:cNvPicPr/>
                        <p:nvPr/>
                      </p:nvPicPr>
                      <p:blipFill>
                        <a:blip r:embed="rId8"/>
                        <a:stretch>
                          <a:fillRect/>
                        </a:stretch>
                      </p:blipFill>
                      <p:spPr>
                        <a:xfrm>
                          <a:off x="333" y="1818"/>
                          <a:ext cx="3428" cy="515"/>
                        </a:xfrm>
                        <a:prstGeom prst="rect">
                          <a:avLst/>
                        </a:prstGeom>
                        <a:noFill/>
                        <a:ln w="38100">
                          <a:noFill/>
                          <a:miter/>
                        </a:ln>
                      </p:spPr>
                    </p:pic>
                  </p:oleObj>
                </mc:Fallback>
              </mc:AlternateContent>
            </a:graphicData>
          </a:graphic>
        </p:graphicFrame>
        <p:graphicFrame>
          <p:nvGraphicFramePr>
            <p:cNvPr id="36870" name="Object 1028"/>
            <p:cNvGraphicFramePr>
              <a:graphicFrameLocks noChangeAspect="1"/>
            </p:cNvGraphicFramePr>
            <p:nvPr/>
          </p:nvGraphicFramePr>
          <p:xfrm>
            <a:off x="342" y="2299"/>
            <a:ext cx="3171" cy="516"/>
          </p:xfrm>
          <a:graphic>
            <a:graphicData uri="http://schemas.openxmlformats.org/presentationml/2006/ole">
              <mc:AlternateContent xmlns:mc="http://schemas.openxmlformats.org/markup-compatibility/2006">
                <mc:Choice xmlns:v="urn:schemas-microsoft-com:vml" Requires="v">
                  <p:oleObj spid="_x0000_s3180" name="" r:id="rId9" imgW="2653030" imgH="431800" progId="Equation.DSMT4">
                    <p:embed/>
                  </p:oleObj>
                </mc:Choice>
                <mc:Fallback>
                  <p:oleObj name="" r:id="rId9" imgW="2653030" imgH="431800" progId="Equation.DSMT4">
                    <p:embed/>
                    <p:pic>
                      <p:nvPicPr>
                        <p:cNvPr id="0" name="图片 3179"/>
                        <p:cNvPicPr/>
                        <p:nvPr/>
                      </p:nvPicPr>
                      <p:blipFill>
                        <a:blip r:embed="rId10"/>
                        <a:stretch>
                          <a:fillRect/>
                        </a:stretch>
                      </p:blipFill>
                      <p:spPr>
                        <a:xfrm>
                          <a:off x="342" y="2299"/>
                          <a:ext cx="3171" cy="516"/>
                        </a:xfrm>
                        <a:prstGeom prst="rect">
                          <a:avLst/>
                        </a:prstGeom>
                        <a:noFill/>
                        <a:ln w="38100">
                          <a:noFill/>
                          <a:miter/>
                        </a:ln>
                      </p:spPr>
                    </p:pic>
                  </p:oleObj>
                </mc:Fallback>
              </mc:AlternateContent>
            </a:graphicData>
          </a:graphic>
        </p:graphicFrame>
        <p:sp>
          <p:nvSpPr>
            <p:cNvPr id="36876" name="AutoShape 45"/>
            <p:cNvSpPr>
              <a:spLocks noChangeAspect="1"/>
            </p:cNvSpPr>
            <p:nvPr/>
          </p:nvSpPr>
          <p:spPr>
            <a:xfrm>
              <a:off x="97" y="764"/>
              <a:ext cx="163" cy="1842"/>
            </a:xfrm>
            <a:prstGeom prst="leftBrace">
              <a:avLst>
                <a:gd name="adj1" fmla="val 93910"/>
                <a:gd name="adj2" fmla="val 50000"/>
              </a:avLst>
            </a:prstGeom>
            <a:noFill/>
            <a:ln w="9525" cap="flat" cmpd="sng">
              <a:solidFill>
                <a:schemeClr val="tx1"/>
              </a:solidFill>
              <a:prstDash val="solid"/>
              <a:headEnd type="none" w="med" len="med"/>
              <a:tailEnd type="none" w="med" len="med"/>
            </a:ln>
          </p:spPr>
          <p:txBody>
            <a:bodyPr wrap="none" anchor="ctr" anchorCtr="0"/>
            <a:p>
              <a:pPr eaLnBrk="0" hangingPunct="0"/>
              <a:endParaRPr lang="zh-CN" altLang="en-US" dirty="0">
                <a:latin typeface="Times New Roman" panose="02020603050405020304" pitchFamily="18" charset="0"/>
              </a:endParaRPr>
            </a:p>
          </p:txBody>
        </p:sp>
      </p:grpSp>
      <p:sp>
        <p:nvSpPr>
          <p:cNvPr id="95279" name="Rectangle 47"/>
          <p:cNvSpPr>
            <a:spLocks noChangeAspect="1"/>
          </p:cNvSpPr>
          <p:nvPr/>
        </p:nvSpPr>
        <p:spPr>
          <a:xfrm>
            <a:off x="133350" y="350838"/>
            <a:ext cx="1962150" cy="579437"/>
          </a:xfrm>
          <a:prstGeom prst="rect">
            <a:avLst/>
          </a:prstGeom>
          <a:noFill/>
          <a:ln w="9525">
            <a:noFill/>
          </a:ln>
        </p:spPr>
        <p:txBody>
          <a:bodyPr wrap="none">
            <a:spAutoFit/>
          </a:bodyPr>
          <a:p>
            <a:pPr>
              <a:buClr>
                <a:schemeClr val="accent2"/>
              </a:buClr>
              <a:buSzPct val="70000"/>
              <a:buFont typeface="ZapfDingbats" pitchFamily="82" charset="2"/>
            </a:pPr>
            <a:r>
              <a:rPr lang="zh-CN" altLang="en-US" b="1" dirty="0">
                <a:latin typeface="Times New Roman" panose="02020603050405020304" pitchFamily="18" charset="0"/>
              </a:rPr>
              <a:t>  </a:t>
            </a:r>
            <a:r>
              <a:rPr lang="en-US" altLang="zh-CN" b="1" dirty="0">
                <a:latin typeface="Times New Roman" panose="02020603050405020304" pitchFamily="18" charset="0"/>
              </a:rPr>
              <a:t>Gill </a:t>
            </a:r>
            <a:r>
              <a:rPr lang="zh-CN" altLang="zh-CN" b="1" dirty="0">
                <a:latin typeface="Times New Roman" panose="02020603050405020304" pitchFamily="18" charset="0"/>
              </a:rPr>
              <a:t>公式</a:t>
            </a:r>
            <a:endParaRPr lang="zh-CN" altLang="en-US" b="1" dirty="0">
              <a:latin typeface="Times New Roman" panose="02020603050405020304" pitchFamily="18" charset="0"/>
            </a:endParaRPr>
          </a:p>
        </p:txBody>
      </p:sp>
      <p:sp>
        <p:nvSpPr>
          <p:cNvPr id="95280" name="Rectangle 48"/>
          <p:cNvSpPr/>
          <p:nvPr/>
        </p:nvSpPr>
        <p:spPr>
          <a:xfrm>
            <a:off x="206375" y="4632325"/>
            <a:ext cx="8528050" cy="1844675"/>
          </a:xfrm>
          <a:prstGeom prst="rect">
            <a:avLst/>
          </a:prstGeom>
          <a:noFill/>
          <a:ln w="9525">
            <a:noFill/>
          </a:ln>
        </p:spPr>
        <p:txBody>
          <a:bodyPr>
            <a:spAutoFit/>
          </a:bodyPr>
          <a:p>
            <a:pPr>
              <a:lnSpc>
                <a:spcPct val="120000"/>
              </a:lnSpc>
              <a:buClr>
                <a:schemeClr val="accent2"/>
              </a:buClr>
              <a:buFont typeface="ZapfDingbats" pitchFamily="82" charset="2"/>
            </a:pPr>
            <a:r>
              <a:rPr lang="zh-CN" altLang="en-US" sz="2400" dirty="0">
                <a:latin typeface="Times New Roman" panose="02020603050405020304" pitchFamily="18" charset="0"/>
              </a:rPr>
              <a:t> </a:t>
            </a:r>
            <a:r>
              <a:rPr lang="en-US" altLang="zh-CN" b="1" dirty="0">
                <a:latin typeface="Times New Roman" panose="02020603050405020304" pitchFamily="18" charset="0"/>
              </a:rPr>
              <a:t>Gill </a:t>
            </a:r>
            <a:r>
              <a:rPr lang="zh-CN" altLang="zh-CN" b="1" dirty="0">
                <a:latin typeface="Times New Roman" panose="02020603050405020304" pitchFamily="18" charset="0"/>
              </a:rPr>
              <a:t>公式是标准的</a:t>
            </a:r>
            <a:r>
              <a:rPr lang="zh-CN" altLang="en-US" b="1" dirty="0">
                <a:latin typeface="Times New Roman" panose="02020603050405020304" pitchFamily="18" charset="0"/>
              </a:rPr>
              <a:t> </a:t>
            </a:r>
            <a:r>
              <a:rPr lang="en-US" altLang="zh-CN" b="1" dirty="0">
                <a:latin typeface="Times New Roman" panose="02020603050405020304" pitchFamily="18" charset="0"/>
              </a:rPr>
              <a:t>Runge-Kutta </a:t>
            </a:r>
            <a:r>
              <a:rPr lang="zh-CN" altLang="zh-CN" b="1" dirty="0">
                <a:latin typeface="Times New Roman" panose="02020603050405020304" pitchFamily="18" charset="0"/>
              </a:rPr>
              <a:t>公式的改进形式</a:t>
            </a:r>
            <a:r>
              <a:rPr lang="zh-CN" altLang="en-US" b="1" dirty="0">
                <a:latin typeface="Times New Roman" panose="02020603050405020304" pitchFamily="18" charset="0"/>
              </a:rPr>
              <a:t>, 这种算法可节省存储单元, 并能控制舍入误差的增长.</a:t>
            </a:r>
            <a:endParaRPr lang="zh-CN" altLang="en-US"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279"/>
                                        </p:tgtEl>
                                        <p:attrNameLst>
                                          <p:attrName>style.visibility</p:attrName>
                                        </p:attrNameLst>
                                      </p:cBhvr>
                                      <p:to>
                                        <p:strVal val="visible"/>
                                      </p:to>
                                    </p:set>
                                    <p:animEffect transition="in" filter="blinds(horizontal)">
                                      <p:cBhvr>
                                        <p:cTn id="7" dur="500"/>
                                        <p:tgtEl>
                                          <p:spTgt spid="952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5280"/>
                                        </p:tgtEl>
                                        <p:attrNameLst>
                                          <p:attrName>style.visibility</p:attrName>
                                        </p:attrNameLst>
                                      </p:cBhvr>
                                      <p:to>
                                        <p:strVal val="visible"/>
                                      </p:to>
                                    </p:set>
                                    <p:animEffect transition="in" filter="blinds(horizontal)">
                                      <p:cBhvr>
                                        <p:cTn id="17" dur="500"/>
                                        <p:tgtEl>
                                          <p:spTgt spid="95280"/>
                                        </p:tgtEl>
                                      </p:cBhvr>
                                    </p:animEffect>
                                  </p:childTnLst>
                                  <p:subTnLst>
                                    <p:set>
                                      <p:cBhvr override="childStyle">
                                        <p:cTn dur="1" fill="hold" display="0" masterRel="nextClick" afterEffect="1"/>
                                        <p:tgtEl>
                                          <p:spTgt spid="9528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79" grpId="0"/>
      <p:bldP spid="9528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899"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97347" name="Text Box 67"/>
          <p:cNvSpPr txBox="1"/>
          <p:nvPr/>
        </p:nvSpPr>
        <p:spPr>
          <a:xfrm>
            <a:off x="222250" y="1579563"/>
            <a:ext cx="4500563" cy="579437"/>
          </a:xfrm>
          <a:prstGeom prst="rect">
            <a:avLst/>
          </a:prstGeom>
          <a:noFill/>
          <a:ln w="9525">
            <a:noFill/>
          </a:ln>
        </p:spPr>
        <p:txBody>
          <a:bodyPr wrap="none">
            <a:spAutoFit/>
          </a:bodyPr>
          <a:p>
            <a:r>
              <a:rPr lang="zh-CN" altLang="en-US" b="1" dirty="0">
                <a:solidFill>
                  <a:srgbClr val="FF0000"/>
                </a:solidFill>
                <a:latin typeface="Times New Roman" panose="02020603050405020304" pitchFamily="18" charset="0"/>
              </a:rPr>
              <a:t>解</a:t>
            </a:r>
            <a:r>
              <a:rPr lang="zh-CN" altLang="en-US" b="1" dirty="0">
                <a:latin typeface="Times New Roman" panose="02020603050405020304" pitchFamily="18" charset="0"/>
              </a:rPr>
              <a:t>:</a:t>
            </a:r>
            <a:r>
              <a:rPr lang="en-US" altLang="zh-CN" b="1" dirty="0">
                <a:latin typeface="Times New Roman" panose="02020603050405020304" pitchFamily="18" charset="0"/>
              </a:rPr>
              <a:t> </a:t>
            </a:r>
            <a:r>
              <a:rPr lang="zh-CN" altLang="zh-CN" b="1" dirty="0">
                <a:latin typeface="Times New Roman" panose="02020603050405020304" pitchFamily="18" charset="0"/>
              </a:rPr>
              <a:t>此问题的计算公式为</a:t>
            </a:r>
            <a:endParaRPr lang="zh-CN" altLang="en-US" b="1" dirty="0">
              <a:latin typeface="Times New Roman" panose="02020603050405020304" pitchFamily="18" charset="0"/>
            </a:endParaRPr>
          </a:p>
        </p:txBody>
      </p:sp>
      <p:grpSp>
        <p:nvGrpSpPr>
          <p:cNvPr id="2" name="Group 119"/>
          <p:cNvGrpSpPr/>
          <p:nvPr/>
        </p:nvGrpSpPr>
        <p:grpSpPr>
          <a:xfrm>
            <a:off x="238125" y="2179638"/>
            <a:ext cx="4210050" cy="4678362"/>
            <a:chOff x="150" y="1263"/>
            <a:chExt cx="2652" cy="2947"/>
          </a:xfrm>
        </p:grpSpPr>
        <p:graphicFrame>
          <p:nvGraphicFramePr>
            <p:cNvPr id="37893" name="Object 14"/>
            <p:cNvGraphicFramePr>
              <a:graphicFrameLocks noChangeAspect="1"/>
            </p:cNvGraphicFramePr>
            <p:nvPr/>
          </p:nvGraphicFramePr>
          <p:xfrm>
            <a:off x="368" y="1263"/>
            <a:ext cx="2434" cy="432"/>
          </p:xfrm>
          <a:graphic>
            <a:graphicData uri="http://schemas.openxmlformats.org/presentationml/2006/ole">
              <mc:AlternateContent xmlns:mc="http://schemas.openxmlformats.org/markup-compatibility/2006">
                <mc:Choice xmlns:v="urn:schemas-microsoft-com:vml" Requires="v">
                  <p:oleObj spid="_x0000_s3135" name="" r:id="rId1" imgW="2208530" imgH="393700" progId="Equation.DSMT4">
                    <p:embed/>
                  </p:oleObj>
                </mc:Choice>
                <mc:Fallback>
                  <p:oleObj name="" r:id="rId1" imgW="2208530" imgH="393700" progId="Equation.DSMT4">
                    <p:embed/>
                    <p:pic>
                      <p:nvPicPr>
                        <p:cNvPr id="0" name="图片 3134"/>
                        <p:cNvPicPr/>
                        <p:nvPr/>
                      </p:nvPicPr>
                      <p:blipFill>
                        <a:blip r:embed="rId2"/>
                        <a:stretch>
                          <a:fillRect/>
                        </a:stretch>
                      </p:blipFill>
                      <p:spPr>
                        <a:xfrm>
                          <a:off x="368" y="1263"/>
                          <a:ext cx="2434" cy="432"/>
                        </a:xfrm>
                        <a:prstGeom prst="rect">
                          <a:avLst/>
                        </a:prstGeom>
                        <a:noFill/>
                        <a:ln w="38100">
                          <a:noFill/>
                          <a:miter/>
                        </a:ln>
                      </p:spPr>
                    </p:pic>
                  </p:oleObj>
                </mc:Fallback>
              </mc:AlternateContent>
            </a:graphicData>
          </a:graphic>
        </p:graphicFrame>
        <p:graphicFrame>
          <p:nvGraphicFramePr>
            <p:cNvPr id="37894" name="Object 15"/>
            <p:cNvGraphicFramePr>
              <a:graphicFrameLocks noChangeAspect="1"/>
            </p:cNvGraphicFramePr>
            <p:nvPr/>
          </p:nvGraphicFramePr>
          <p:xfrm>
            <a:off x="402" y="1698"/>
            <a:ext cx="1193" cy="493"/>
          </p:xfrm>
          <a:graphic>
            <a:graphicData uri="http://schemas.openxmlformats.org/presentationml/2006/ole">
              <mc:AlternateContent xmlns:mc="http://schemas.openxmlformats.org/markup-compatibility/2006">
                <mc:Choice xmlns:v="urn:schemas-microsoft-com:vml" Requires="v">
                  <p:oleObj spid="_x0000_s3134" name="" r:id="rId3" imgW="1040765" imgH="431800" progId="Equation.DSMT4">
                    <p:embed/>
                  </p:oleObj>
                </mc:Choice>
                <mc:Fallback>
                  <p:oleObj name="" r:id="rId3" imgW="1040765" imgH="431800" progId="Equation.DSMT4">
                    <p:embed/>
                    <p:pic>
                      <p:nvPicPr>
                        <p:cNvPr id="0" name="图片 3133"/>
                        <p:cNvPicPr/>
                        <p:nvPr/>
                      </p:nvPicPr>
                      <p:blipFill>
                        <a:blip r:embed="rId4"/>
                        <a:stretch>
                          <a:fillRect/>
                        </a:stretch>
                      </p:blipFill>
                      <p:spPr>
                        <a:xfrm>
                          <a:off x="402" y="1698"/>
                          <a:ext cx="1193" cy="493"/>
                        </a:xfrm>
                        <a:prstGeom prst="rect">
                          <a:avLst/>
                        </a:prstGeom>
                        <a:noFill/>
                        <a:ln w="38100">
                          <a:noFill/>
                          <a:miter/>
                        </a:ln>
                      </p:spPr>
                    </p:pic>
                  </p:oleObj>
                </mc:Fallback>
              </mc:AlternateContent>
            </a:graphicData>
          </a:graphic>
        </p:graphicFrame>
        <p:graphicFrame>
          <p:nvGraphicFramePr>
            <p:cNvPr id="37895" name="Object 16"/>
            <p:cNvGraphicFramePr>
              <a:graphicFrameLocks noChangeAspect="1"/>
            </p:cNvGraphicFramePr>
            <p:nvPr/>
          </p:nvGraphicFramePr>
          <p:xfrm>
            <a:off x="408" y="2001"/>
            <a:ext cx="2039" cy="870"/>
          </p:xfrm>
          <a:graphic>
            <a:graphicData uri="http://schemas.openxmlformats.org/presentationml/2006/ole">
              <mc:AlternateContent xmlns:mc="http://schemas.openxmlformats.org/markup-compatibility/2006">
                <mc:Choice xmlns:v="urn:schemas-microsoft-com:vml" Requires="v">
                  <p:oleObj spid="_x0000_s3137" name="" r:id="rId5" imgW="1790065" imgH="761365" progId="Equation.DSMT4">
                    <p:embed/>
                  </p:oleObj>
                </mc:Choice>
                <mc:Fallback>
                  <p:oleObj name="" r:id="rId5" imgW="1790065" imgH="761365" progId="Equation.DSMT4">
                    <p:embed/>
                    <p:pic>
                      <p:nvPicPr>
                        <p:cNvPr id="0" name="图片 3136"/>
                        <p:cNvPicPr/>
                        <p:nvPr/>
                      </p:nvPicPr>
                      <p:blipFill>
                        <a:blip r:embed="rId6"/>
                        <a:stretch>
                          <a:fillRect/>
                        </a:stretch>
                      </p:blipFill>
                      <p:spPr>
                        <a:xfrm>
                          <a:off x="408" y="2001"/>
                          <a:ext cx="2039" cy="870"/>
                        </a:xfrm>
                        <a:prstGeom prst="rect">
                          <a:avLst/>
                        </a:prstGeom>
                        <a:noFill/>
                        <a:ln w="38100">
                          <a:noFill/>
                          <a:miter/>
                        </a:ln>
                      </p:spPr>
                    </p:pic>
                  </p:oleObj>
                </mc:Fallback>
              </mc:AlternateContent>
            </a:graphicData>
          </a:graphic>
        </p:graphicFrame>
        <p:graphicFrame>
          <p:nvGraphicFramePr>
            <p:cNvPr id="37896" name="Object 17"/>
            <p:cNvGraphicFramePr>
              <a:graphicFrameLocks noChangeAspect="1"/>
            </p:cNvGraphicFramePr>
            <p:nvPr/>
          </p:nvGraphicFramePr>
          <p:xfrm>
            <a:off x="448" y="2807"/>
            <a:ext cx="1998" cy="847"/>
          </p:xfrm>
          <a:graphic>
            <a:graphicData uri="http://schemas.openxmlformats.org/presentationml/2006/ole">
              <mc:AlternateContent xmlns:mc="http://schemas.openxmlformats.org/markup-compatibility/2006">
                <mc:Choice xmlns:v="urn:schemas-microsoft-com:vml" Requires="v">
                  <p:oleObj spid="_x0000_s3136" name="" r:id="rId7" imgW="1802765" imgH="761365" progId="Equation.DSMT4">
                    <p:embed/>
                  </p:oleObj>
                </mc:Choice>
                <mc:Fallback>
                  <p:oleObj name="" r:id="rId7" imgW="1802765" imgH="761365" progId="Equation.DSMT4">
                    <p:embed/>
                    <p:pic>
                      <p:nvPicPr>
                        <p:cNvPr id="0" name="图片 3135"/>
                        <p:cNvPicPr/>
                        <p:nvPr/>
                      </p:nvPicPr>
                      <p:blipFill>
                        <a:blip r:embed="rId8"/>
                        <a:stretch>
                          <a:fillRect/>
                        </a:stretch>
                      </p:blipFill>
                      <p:spPr>
                        <a:xfrm>
                          <a:off x="448" y="2807"/>
                          <a:ext cx="1998" cy="847"/>
                        </a:xfrm>
                        <a:prstGeom prst="rect">
                          <a:avLst/>
                        </a:prstGeom>
                        <a:noFill/>
                        <a:ln w="38100">
                          <a:noFill/>
                          <a:miter/>
                        </a:ln>
                      </p:spPr>
                    </p:pic>
                  </p:oleObj>
                </mc:Fallback>
              </mc:AlternateContent>
            </a:graphicData>
          </a:graphic>
        </p:graphicFrame>
        <p:graphicFrame>
          <p:nvGraphicFramePr>
            <p:cNvPr id="37897" name="Object 18"/>
            <p:cNvGraphicFramePr>
              <a:graphicFrameLocks noChangeAspect="1"/>
            </p:cNvGraphicFramePr>
            <p:nvPr/>
          </p:nvGraphicFramePr>
          <p:xfrm>
            <a:off x="441" y="3704"/>
            <a:ext cx="2003" cy="506"/>
          </p:xfrm>
          <a:graphic>
            <a:graphicData uri="http://schemas.openxmlformats.org/presentationml/2006/ole">
              <mc:AlternateContent xmlns:mc="http://schemas.openxmlformats.org/markup-compatibility/2006">
                <mc:Choice xmlns:v="urn:schemas-microsoft-com:vml" Requires="v">
                  <p:oleObj spid="_x0000_s3133" name="" r:id="rId9" imgW="1816100" imgH="457200" progId="Equation.DSMT4">
                    <p:embed/>
                  </p:oleObj>
                </mc:Choice>
                <mc:Fallback>
                  <p:oleObj name="" r:id="rId9" imgW="1816100" imgH="457200" progId="Equation.DSMT4">
                    <p:embed/>
                    <p:pic>
                      <p:nvPicPr>
                        <p:cNvPr id="0" name="图片 3132"/>
                        <p:cNvPicPr/>
                        <p:nvPr/>
                      </p:nvPicPr>
                      <p:blipFill>
                        <a:blip r:embed="rId10"/>
                        <a:stretch>
                          <a:fillRect/>
                        </a:stretch>
                      </p:blipFill>
                      <p:spPr>
                        <a:xfrm>
                          <a:off x="441" y="3704"/>
                          <a:ext cx="2003" cy="506"/>
                        </a:xfrm>
                        <a:prstGeom prst="rect">
                          <a:avLst/>
                        </a:prstGeom>
                        <a:noFill/>
                        <a:ln w="38100">
                          <a:noFill/>
                          <a:miter/>
                        </a:ln>
                      </p:spPr>
                    </p:pic>
                  </p:oleObj>
                </mc:Fallback>
              </mc:AlternateContent>
            </a:graphicData>
          </a:graphic>
        </p:graphicFrame>
        <p:sp>
          <p:nvSpPr>
            <p:cNvPr id="37935" name="AutoShape 77"/>
            <p:cNvSpPr>
              <a:spLocks noChangeAspect="1"/>
            </p:cNvSpPr>
            <p:nvPr/>
          </p:nvSpPr>
          <p:spPr>
            <a:xfrm>
              <a:off x="150" y="1448"/>
              <a:ext cx="232" cy="2529"/>
            </a:xfrm>
            <a:prstGeom prst="leftBrace">
              <a:avLst>
                <a:gd name="adj1" fmla="val 58087"/>
                <a:gd name="adj2" fmla="val 50000"/>
              </a:avLst>
            </a:prstGeom>
            <a:noFill/>
            <a:ln w="9525" cap="flat" cmpd="sng">
              <a:solidFill>
                <a:schemeClr val="tx1"/>
              </a:solidFill>
              <a:prstDash val="solid"/>
              <a:headEnd type="none" w="med" len="med"/>
              <a:tailEnd type="none" w="med" len="med"/>
            </a:ln>
          </p:spPr>
          <p:txBody>
            <a:bodyPr wrap="none" anchor="ctr" anchorCtr="0"/>
            <a:p>
              <a:pPr eaLnBrk="0" hangingPunct="0"/>
              <a:endParaRPr lang="zh-CN" altLang="en-US" dirty="0">
                <a:latin typeface="Times New Roman" panose="02020603050405020304" pitchFamily="18" charset="0"/>
              </a:endParaRPr>
            </a:p>
          </p:txBody>
        </p:sp>
      </p:grpSp>
      <p:grpSp>
        <p:nvGrpSpPr>
          <p:cNvPr id="3" name="Group 109"/>
          <p:cNvGrpSpPr/>
          <p:nvPr/>
        </p:nvGrpSpPr>
        <p:grpSpPr>
          <a:xfrm>
            <a:off x="3570288" y="4995863"/>
            <a:ext cx="5399087" cy="1136650"/>
            <a:chOff x="2359" y="2006"/>
            <a:chExt cx="3401" cy="716"/>
          </a:xfrm>
        </p:grpSpPr>
        <p:sp>
          <p:nvSpPr>
            <p:cNvPr id="37908" name="Line 80"/>
            <p:cNvSpPr/>
            <p:nvPr/>
          </p:nvSpPr>
          <p:spPr>
            <a:xfrm>
              <a:off x="2376" y="2038"/>
              <a:ext cx="3336" cy="0"/>
            </a:xfrm>
            <a:prstGeom prst="line">
              <a:avLst/>
            </a:prstGeom>
            <a:ln w="25400" cap="flat" cmpd="sng">
              <a:solidFill>
                <a:schemeClr val="accent2"/>
              </a:solidFill>
              <a:prstDash val="solid"/>
              <a:headEnd type="none" w="med" len="med"/>
              <a:tailEnd type="none" w="med" len="med"/>
            </a:ln>
          </p:spPr>
        </p:sp>
        <p:sp>
          <p:nvSpPr>
            <p:cNvPr id="37909" name="Line 81"/>
            <p:cNvSpPr/>
            <p:nvPr/>
          </p:nvSpPr>
          <p:spPr>
            <a:xfrm>
              <a:off x="2367" y="2262"/>
              <a:ext cx="3344" cy="0"/>
            </a:xfrm>
            <a:prstGeom prst="line">
              <a:avLst/>
            </a:prstGeom>
            <a:ln w="12700" cap="flat" cmpd="sng">
              <a:solidFill>
                <a:schemeClr val="accent2"/>
              </a:solidFill>
              <a:prstDash val="solid"/>
              <a:headEnd type="none" w="med" len="med"/>
              <a:tailEnd type="none" w="med" len="med"/>
            </a:ln>
          </p:spPr>
        </p:sp>
        <p:sp>
          <p:nvSpPr>
            <p:cNvPr id="37910" name="Line 82"/>
            <p:cNvSpPr/>
            <p:nvPr/>
          </p:nvSpPr>
          <p:spPr>
            <a:xfrm>
              <a:off x="2383" y="2478"/>
              <a:ext cx="3336" cy="0"/>
            </a:xfrm>
            <a:prstGeom prst="line">
              <a:avLst/>
            </a:prstGeom>
            <a:ln w="12700" cap="flat" cmpd="sng">
              <a:solidFill>
                <a:schemeClr val="accent2"/>
              </a:solidFill>
              <a:prstDash val="solid"/>
              <a:headEnd type="none" w="med" len="med"/>
              <a:tailEnd type="none" w="med" len="med"/>
            </a:ln>
          </p:spPr>
        </p:sp>
        <p:sp>
          <p:nvSpPr>
            <p:cNvPr id="37911" name="Line 83"/>
            <p:cNvSpPr/>
            <p:nvPr/>
          </p:nvSpPr>
          <p:spPr>
            <a:xfrm>
              <a:off x="2398" y="2710"/>
              <a:ext cx="3321" cy="0"/>
            </a:xfrm>
            <a:prstGeom prst="line">
              <a:avLst/>
            </a:prstGeom>
            <a:ln w="25400" cap="flat" cmpd="sng">
              <a:solidFill>
                <a:schemeClr val="accent2"/>
              </a:solidFill>
              <a:prstDash val="solid"/>
              <a:headEnd type="none" w="med" len="med"/>
              <a:tailEnd type="none" w="med" len="med"/>
            </a:ln>
          </p:spPr>
        </p:sp>
        <p:sp>
          <p:nvSpPr>
            <p:cNvPr id="37912" name="Line 84"/>
            <p:cNvSpPr/>
            <p:nvPr/>
          </p:nvSpPr>
          <p:spPr>
            <a:xfrm>
              <a:off x="4130" y="2034"/>
              <a:ext cx="0" cy="678"/>
            </a:xfrm>
            <a:prstGeom prst="line">
              <a:avLst/>
            </a:prstGeom>
            <a:ln w="12700" cap="flat" cmpd="sng">
              <a:solidFill>
                <a:schemeClr val="accent2"/>
              </a:solidFill>
              <a:prstDash val="solid"/>
              <a:headEnd type="none" w="med" len="med"/>
              <a:tailEnd type="none" w="med" len="med"/>
            </a:ln>
          </p:spPr>
        </p:sp>
        <p:sp>
          <p:nvSpPr>
            <p:cNvPr id="37913" name="Line 86"/>
            <p:cNvSpPr/>
            <p:nvPr/>
          </p:nvSpPr>
          <p:spPr>
            <a:xfrm>
              <a:off x="4693" y="2044"/>
              <a:ext cx="0" cy="678"/>
            </a:xfrm>
            <a:prstGeom prst="line">
              <a:avLst/>
            </a:prstGeom>
            <a:ln w="12700" cap="flat" cmpd="sng">
              <a:solidFill>
                <a:schemeClr val="accent2"/>
              </a:solidFill>
              <a:prstDash val="solid"/>
              <a:headEnd type="none" w="med" len="med"/>
              <a:tailEnd type="none" w="med" len="med"/>
            </a:ln>
          </p:spPr>
        </p:sp>
        <p:sp>
          <p:nvSpPr>
            <p:cNvPr id="37914" name="Line 87"/>
            <p:cNvSpPr/>
            <p:nvPr/>
          </p:nvSpPr>
          <p:spPr>
            <a:xfrm>
              <a:off x="5223" y="2044"/>
              <a:ext cx="0" cy="678"/>
            </a:xfrm>
            <a:prstGeom prst="line">
              <a:avLst/>
            </a:prstGeom>
            <a:ln w="12700" cap="flat" cmpd="sng">
              <a:solidFill>
                <a:schemeClr val="accent2"/>
              </a:solidFill>
              <a:prstDash val="solid"/>
              <a:headEnd type="none" w="med" len="med"/>
              <a:tailEnd type="none" w="med" len="med"/>
            </a:ln>
          </p:spPr>
        </p:sp>
        <p:sp>
          <p:nvSpPr>
            <p:cNvPr id="37915" name="Line 88"/>
            <p:cNvSpPr/>
            <p:nvPr/>
          </p:nvSpPr>
          <p:spPr>
            <a:xfrm>
              <a:off x="3578" y="2044"/>
              <a:ext cx="0" cy="678"/>
            </a:xfrm>
            <a:prstGeom prst="line">
              <a:avLst/>
            </a:prstGeom>
            <a:ln w="12700" cap="flat" cmpd="sng">
              <a:solidFill>
                <a:schemeClr val="accent2"/>
              </a:solidFill>
              <a:prstDash val="solid"/>
              <a:headEnd type="none" w="med" len="med"/>
              <a:tailEnd type="none" w="med" len="med"/>
            </a:ln>
          </p:spPr>
        </p:sp>
        <p:sp>
          <p:nvSpPr>
            <p:cNvPr id="37916" name="Line 89"/>
            <p:cNvSpPr/>
            <p:nvPr/>
          </p:nvSpPr>
          <p:spPr>
            <a:xfrm>
              <a:off x="3002" y="2044"/>
              <a:ext cx="0" cy="678"/>
            </a:xfrm>
            <a:prstGeom prst="line">
              <a:avLst/>
            </a:prstGeom>
            <a:ln w="12700" cap="flat" cmpd="sng">
              <a:solidFill>
                <a:schemeClr val="accent2"/>
              </a:solidFill>
              <a:prstDash val="solid"/>
              <a:headEnd type="none" w="med" len="med"/>
              <a:tailEnd type="none" w="med" len="med"/>
            </a:ln>
          </p:spPr>
        </p:sp>
        <p:sp>
          <p:nvSpPr>
            <p:cNvPr id="37917" name="Text Box 90"/>
            <p:cNvSpPr txBox="1"/>
            <p:nvPr/>
          </p:nvSpPr>
          <p:spPr>
            <a:xfrm>
              <a:off x="2632" y="2006"/>
              <a:ext cx="239" cy="250"/>
            </a:xfrm>
            <a:prstGeom prst="rect">
              <a:avLst/>
            </a:prstGeom>
            <a:noFill/>
            <a:ln w="9525">
              <a:noFill/>
            </a:ln>
          </p:spPr>
          <p:txBody>
            <a:bodyPr wrap="none">
              <a:spAutoFit/>
            </a:bodyPr>
            <a:p>
              <a:pPr algn="ctr"/>
              <a:r>
                <a:rPr lang="en-US" altLang="en-US" sz="2000" i="1" dirty="0">
                  <a:latin typeface="Times New Roman" panose="02020603050405020304" pitchFamily="18" charset="0"/>
                </a:rPr>
                <a:t>x</a:t>
              </a:r>
              <a:r>
                <a:rPr lang="en-US" altLang="en-US" sz="2000" baseline="-25000" dirty="0">
                  <a:latin typeface="Times New Roman" panose="02020603050405020304" pitchFamily="18" charset="0"/>
                </a:rPr>
                <a:t>n</a:t>
              </a:r>
              <a:endParaRPr lang="en-US" altLang="zh-CN" sz="2000" dirty="0">
                <a:latin typeface="Times New Roman" panose="02020603050405020304" pitchFamily="18" charset="0"/>
              </a:endParaRPr>
            </a:p>
          </p:txBody>
        </p:sp>
        <p:sp>
          <p:nvSpPr>
            <p:cNvPr id="37918" name="Text Box 91"/>
            <p:cNvSpPr txBox="1"/>
            <p:nvPr/>
          </p:nvSpPr>
          <p:spPr>
            <a:xfrm>
              <a:off x="3148" y="2029"/>
              <a:ext cx="296" cy="231"/>
            </a:xfrm>
            <a:prstGeom prst="rect">
              <a:avLst/>
            </a:prstGeom>
            <a:noFill/>
            <a:ln w="9525">
              <a:noFill/>
            </a:ln>
          </p:spPr>
          <p:txBody>
            <a:bodyPr wrap="none">
              <a:spAutoFit/>
            </a:bodyPr>
            <a:p>
              <a:pPr algn="ctr"/>
              <a:r>
                <a:rPr lang="zh-CN" altLang="en-US" sz="1800" dirty="0">
                  <a:latin typeface="Times New Roman" panose="02020603050405020304" pitchFamily="18" charset="0"/>
                </a:rPr>
                <a:t>0.2</a:t>
              </a:r>
              <a:endParaRPr lang="zh-CN" altLang="zh-CN" sz="2000" dirty="0">
                <a:latin typeface="Times New Roman" panose="02020603050405020304" pitchFamily="18" charset="0"/>
              </a:endParaRPr>
            </a:p>
          </p:txBody>
        </p:sp>
        <p:sp>
          <p:nvSpPr>
            <p:cNvPr id="37919" name="Text Box 92"/>
            <p:cNvSpPr txBox="1"/>
            <p:nvPr/>
          </p:nvSpPr>
          <p:spPr>
            <a:xfrm>
              <a:off x="3726" y="2031"/>
              <a:ext cx="296" cy="231"/>
            </a:xfrm>
            <a:prstGeom prst="rect">
              <a:avLst/>
            </a:prstGeom>
            <a:noFill/>
            <a:ln w="9525">
              <a:noFill/>
            </a:ln>
          </p:spPr>
          <p:txBody>
            <a:bodyPr wrap="none">
              <a:spAutoFit/>
            </a:bodyPr>
            <a:p>
              <a:pPr algn="ctr"/>
              <a:r>
                <a:rPr lang="zh-CN" altLang="en-US" sz="1800" dirty="0">
                  <a:latin typeface="Times New Roman" panose="02020603050405020304" pitchFamily="18" charset="0"/>
                </a:rPr>
                <a:t>0.4</a:t>
              </a:r>
              <a:endParaRPr lang="zh-CN" altLang="zh-CN" sz="2000" dirty="0">
                <a:latin typeface="Times New Roman" panose="02020603050405020304" pitchFamily="18" charset="0"/>
              </a:endParaRPr>
            </a:p>
          </p:txBody>
        </p:sp>
        <p:sp>
          <p:nvSpPr>
            <p:cNvPr id="37920" name="Text Box 93"/>
            <p:cNvSpPr txBox="1"/>
            <p:nvPr/>
          </p:nvSpPr>
          <p:spPr>
            <a:xfrm>
              <a:off x="4288" y="2031"/>
              <a:ext cx="296" cy="231"/>
            </a:xfrm>
            <a:prstGeom prst="rect">
              <a:avLst/>
            </a:prstGeom>
            <a:noFill/>
            <a:ln w="9525">
              <a:noFill/>
            </a:ln>
          </p:spPr>
          <p:txBody>
            <a:bodyPr wrap="none">
              <a:spAutoFit/>
            </a:bodyPr>
            <a:p>
              <a:pPr algn="ctr"/>
              <a:r>
                <a:rPr lang="zh-CN" altLang="en-US" sz="1800" dirty="0">
                  <a:latin typeface="Times New Roman" panose="02020603050405020304" pitchFamily="18" charset="0"/>
                </a:rPr>
                <a:t>0.6</a:t>
              </a:r>
              <a:endParaRPr lang="zh-CN" altLang="zh-CN" sz="2000" dirty="0">
                <a:latin typeface="Times New Roman" panose="02020603050405020304" pitchFamily="18" charset="0"/>
              </a:endParaRPr>
            </a:p>
          </p:txBody>
        </p:sp>
        <p:sp>
          <p:nvSpPr>
            <p:cNvPr id="37921" name="Text Box 94"/>
            <p:cNvSpPr txBox="1"/>
            <p:nvPr/>
          </p:nvSpPr>
          <p:spPr>
            <a:xfrm>
              <a:off x="4834" y="2032"/>
              <a:ext cx="296" cy="231"/>
            </a:xfrm>
            <a:prstGeom prst="rect">
              <a:avLst/>
            </a:prstGeom>
            <a:noFill/>
            <a:ln w="9525">
              <a:noFill/>
            </a:ln>
          </p:spPr>
          <p:txBody>
            <a:bodyPr wrap="none">
              <a:spAutoFit/>
            </a:bodyPr>
            <a:p>
              <a:pPr algn="ctr"/>
              <a:r>
                <a:rPr lang="zh-CN" altLang="en-US" sz="1800" dirty="0">
                  <a:latin typeface="Times New Roman" panose="02020603050405020304" pitchFamily="18" charset="0"/>
                </a:rPr>
                <a:t>0.8</a:t>
              </a:r>
              <a:endParaRPr lang="zh-CN" altLang="zh-CN" sz="2000" dirty="0">
                <a:latin typeface="Times New Roman" panose="02020603050405020304" pitchFamily="18" charset="0"/>
              </a:endParaRPr>
            </a:p>
          </p:txBody>
        </p:sp>
        <p:sp>
          <p:nvSpPr>
            <p:cNvPr id="37922" name="Text Box 95"/>
            <p:cNvSpPr txBox="1"/>
            <p:nvPr/>
          </p:nvSpPr>
          <p:spPr>
            <a:xfrm>
              <a:off x="5364" y="2031"/>
              <a:ext cx="296" cy="231"/>
            </a:xfrm>
            <a:prstGeom prst="rect">
              <a:avLst/>
            </a:prstGeom>
            <a:noFill/>
            <a:ln w="9525">
              <a:noFill/>
            </a:ln>
          </p:spPr>
          <p:txBody>
            <a:bodyPr wrap="none">
              <a:spAutoFit/>
            </a:bodyPr>
            <a:p>
              <a:pPr algn="ctr"/>
              <a:r>
                <a:rPr lang="zh-CN" altLang="en-US" sz="1800" dirty="0">
                  <a:latin typeface="Times New Roman" panose="02020603050405020304" pitchFamily="18" charset="0"/>
                </a:rPr>
                <a:t>1.0</a:t>
              </a:r>
              <a:endParaRPr lang="zh-CN" altLang="zh-CN" sz="2000" dirty="0">
                <a:latin typeface="Times New Roman" panose="02020603050405020304" pitchFamily="18" charset="0"/>
              </a:endParaRPr>
            </a:p>
          </p:txBody>
        </p:sp>
        <p:sp>
          <p:nvSpPr>
            <p:cNvPr id="37923" name="Text Box 96"/>
            <p:cNvSpPr txBox="1"/>
            <p:nvPr/>
          </p:nvSpPr>
          <p:spPr>
            <a:xfrm>
              <a:off x="2640" y="2238"/>
              <a:ext cx="239" cy="250"/>
            </a:xfrm>
            <a:prstGeom prst="rect">
              <a:avLst/>
            </a:prstGeom>
            <a:noFill/>
            <a:ln w="9525">
              <a:noFill/>
            </a:ln>
          </p:spPr>
          <p:txBody>
            <a:bodyPr wrap="none">
              <a:spAutoFit/>
            </a:bodyPr>
            <a:p>
              <a:pPr algn="ctr"/>
              <a:r>
                <a:rPr lang="en-US" altLang="en-US" sz="2000" i="1" dirty="0">
                  <a:latin typeface="Times New Roman" panose="02020603050405020304" pitchFamily="18" charset="0"/>
                </a:rPr>
                <a:t>y</a:t>
              </a:r>
              <a:r>
                <a:rPr lang="en-US" altLang="en-US" sz="2000" baseline="-25000" dirty="0">
                  <a:latin typeface="Times New Roman" panose="02020603050405020304" pitchFamily="18" charset="0"/>
                </a:rPr>
                <a:t>n</a:t>
              </a:r>
              <a:endParaRPr lang="en-US" altLang="zh-CN" sz="2000" dirty="0">
                <a:latin typeface="Times New Roman" panose="02020603050405020304" pitchFamily="18" charset="0"/>
              </a:endParaRPr>
            </a:p>
          </p:txBody>
        </p:sp>
        <p:sp>
          <p:nvSpPr>
            <p:cNvPr id="37924" name="Text Box 97"/>
            <p:cNvSpPr txBox="1"/>
            <p:nvPr/>
          </p:nvSpPr>
          <p:spPr>
            <a:xfrm>
              <a:off x="2359" y="2453"/>
              <a:ext cx="672" cy="250"/>
            </a:xfrm>
            <a:prstGeom prst="rect">
              <a:avLst/>
            </a:prstGeom>
            <a:noFill/>
            <a:ln w="9525">
              <a:noFill/>
            </a:ln>
          </p:spPr>
          <p:txBody>
            <a:bodyPr wrap="none">
              <a:spAutoFit/>
            </a:bodyPr>
            <a:p>
              <a:r>
                <a:rPr lang="en-US" altLang="en-US" sz="2000" i="1" dirty="0">
                  <a:latin typeface="Times New Roman" panose="02020603050405020304" pitchFamily="18" charset="0"/>
                </a:rPr>
                <a:t>y</a:t>
              </a:r>
              <a:r>
                <a:rPr lang="en-US" altLang="en-US" sz="2000" baseline="-25000" dirty="0">
                  <a:latin typeface="Times New Roman" panose="02020603050405020304" pitchFamily="18" charset="0"/>
                </a:rPr>
                <a:t>n</a:t>
              </a:r>
              <a:r>
                <a:rPr lang="en-US" altLang="en-US" sz="2000" dirty="0">
                  <a:latin typeface="Times New Roman" panose="02020603050405020304" pitchFamily="18" charset="0"/>
                </a:rPr>
                <a:t>- </a:t>
              </a:r>
              <a:r>
                <a:rPr lang="en-US" altLang="en-US" sz="2000" i="1" dirty="0">
                  <a:latin typeface="Times New Roman" panose="02020603050405020304" pitchFamily="18" charset="0"/>
                </a:rPr>
                <a:t>y </a:t>
              </a:r>
              <a:r>
                <a:rPr lang="en-US" altLang="en-US" sz="2000" dirty="0">
                  <a:latin typeface="Times New Roman" panose="02020603050405020304" pitchFamily="18" charset="0"/>
                </a:rPr>
                <a:t>(</a:t>
              </a:r>
              <a:r>
                <a:rPr lang="en-US" altLang="en-US" sz="2000" i="1" dirty="0">
                  <a:latin typeface="Times New Roman" panose="02020603050405020304" pitchFamily="18" charset="0"/>
                </a:rPr>
                <a:t>x</a:t>
              </a:r>
              <a:r>
                <a:rPr lang="en-US" altLang="en-US" sz="2000" baseline="-25000" dirty="0">
                  <a:latin typeface="Times New Roman" panose="02020603050405020304" pitchFamily="18" charset="0"/>
                </a:rPr>
                <a:t>n</a:t>
              </a:r>
              <a:r>
                <a:rPr lang="en-US" altLang="en-US" sz="2000" dirty="0">
                  <a:latin typeface="Times New Roman" panose="02020603050405020304" pitchFamily="18" charset="0"/>
                </a:rPr>
                <a:t>)</a:t>
              </a:r>
              <a:endParaRPr lang="en-US" altLang="zh-CN" sz="2000" dirty="0">
                <a:latin typeface="Times New Roman" panose="02020603050405020304" pitchFamily="18" charset="0"/>
              </a:endParaRPr>
            </a:p>
          </p:txBody>
        </p:sp>
        <p:sp>
          <p:nvSpPr>
            <p:cNvPr id="37925" name="Text Box 98"/>
            <p:cNvSpPr txBox="1"/>
            <p:nvPr/>
          </p:nvSpPr>
          <p:spPr>
            <a:xfrm>
              <a:off x="3038" y="2261"/>
              <a:ext cx="548" cy="231"/>
            </a:xfrm>
            <a:prstGeom prst="rect">
              <a:avLst/>
            </a:prstGeom>
            <a:noFill/>
            <a:ln w="9525">
              <a:noFill/>
            </a:ln>
          </p:spPr>
          <p:txBody>
            <a:bodyPr wrap="none">
              <a:spAutoFit/>
            </a:bodyPr>
            <a:p>
              <a:pPr algn="ctr"/>
              <a:r>
                <a:rPr lang="zh-CN" altLang="en-US" sz="1800" dirty="0">
                  <a:latin typeface="Times New Roman" panose="02020603050405020304" pitchFamily="18" charset="0"/>
                </a:rPr>
                <a:t>1.183 2</a:t>
              </a:r>
              <a:endParaRPr lang="zh-CN" altLang="zh-CN" sz="2000" dirty="0">
                <a:latin typeface="Times New Roman" panose="02020603050405020304" pitchFamily="18" charset="0"/>
              </a:endParaRPr>
            </a:p>
          </p:txBody>
        </p:sp>
        <p:sp>
          <p:nvSpPr>
            <p:cNvPr id="37926" name="Text Box 99"/>
            <p:cNvSpPr txBox="1"/>
            <p:nvPr/>
          </p:nvSpPr>
          <p:spPr>
            <a:xfrm>
              <a:off x="3594" y="2255"/>
              <a:ext cx="548" cy="231"/>
            </a:xfrm>
            <a:prstGeom prst="rect">
              <a:avLst/>
            </a:prstGeom>
            <a:noFill/>
            <a:ln w="9525">
              <a:noFill/>
            </a:ln>
          </p:spPr>
          <p:txBody>
            <a:bodyPr wrap="none">
              <a:spAutoFit/>
            </a:bodyPr>
            <a:p>
              <a:pPr algn="ctr"/>
              <a:r>
                <a:rPr lang="zh-CN" altLang="en-US" sz="1800" dirty="0">
                  <a:latin typeface="Times New Roman" panose="02020603050405020304" pitchFamily="18" charset="0"/>
                </a:rPr>
                <a:t>1.341 7</a:t>
              </a:r>
              <a:endParaRPr lang="zh-CN" altLang="zh-CN" sz="2000" dirty="0">
                <a:latin typeface="Times New Roman" panose="02020603050405020304" pitchFamily="18" charset="0"/>
              </a:endParaRPr>
            </a:p>
          </p:txBody>
        </p:sp>
        <p:sp>
          <p:nvSpPr>
            <p:cNvPr id="37927" name="Text Box 100"/>
            <p:cNvSpPr txBox="1"/>
            <p:nvPr/>
          </p:nvSpPr>
          <p:spPr>
            <a:xfrm>
              <a:off x="4162" y="2264"/>
              <a:ext cx="548" cy="231"/>
            </a:xfrm>
            <a:prstGeom prst="rect">
              <a:avLst/>
            </a:prstGeom>
            <a:noFill/>
            <a:ln w="9525">
              <a:noFill/>
            </a:ln>
          </p:spPr>
          <p:txBody>
            <a:bodyPr wrap="none">
              <a:spAutoFit/>
            </a:bodyPr>
            <a:p>
              <a:pPr algn="ctr"/>
              <a:r>
                <a:rPr lang="zh-CN" altLang="en-US" sz="1800" dirty="0">
                  <a:latin typeface="Times New Roman" panose="02020603050405020304" pitchFamily="18" charset="0"/>
                </a:rPr>
                <a:t>1.483 3</a:t>
              </a:r>
              <a:endParaRPr lang="zh-CN" altLang="zh-CN" sz="2000" dirty="0">
                <a:latin typeface="Times New Roman" panose="02020603050405020304" pitchFamily="18" charset="0"/>
              </a:endParaRPr>
            </a:p>
          </p:txBody>
        </p:sp>
        <p:sp>
          <p:nvSpPr>
            <p:cNvPr id="37928" name="Text Box 101"/>
            <p:cNvSpPr txBox="1"/>
            <p:nvPr/>
          </p:nvSpPr>
          <p:spPr>
            <a:xfrm>
              <a:off x="4692" y="2256"/>
              <a:ext cx="548" cy="231"/>
            </a:xfrm>
            <a:prstGeom prst="rect">
              <a:avLst/>
            </a:prstGeom>
            <a:noFill/>
            <a:ln w="9525">
              <a:noFill/>
            </a:ln>
          </p:spPr>
          <p:txBody>
            <a:bodyPr wrap="none">
              <a:spAutoFit/>
            </a:bodyPr>
            <a:p>
              <a:pPr algn="ctr"/>
              <a:r>
                <a:rPr lang="zh-CN" altLang="en-US" sz="1800" dirty="0">
                  <a:latin typeface="Times New Roman" panose="02020603050405020304" pitchFamily="18" charset="0"/>
                </a:rPr>
                <a:t>1.612 5</a:t>
              </a:r>
              <a:endParaRPr lang="zh-CN" altLang="zh-CN" sz="2000" dirty="0">
                <a:latin typeface="Times New Roman" panose="02020603050405020304" pitchFamily="18" charset="0"/>
              </a:endParaRPr>
            </a:p>
          </p:txBody>
        </p:sp>
        <p:sp>
          <p:nvSpPr>
            <p:cNvPr id="37929" name="Text Box 102"/>
            <p:cNvSpPr txBox="1"/>
            <p:nvPr/>
          </p:nvSpPr>
          <p:spPr>
            <a:xfrm>
              <a:off x="5212" y="2256"/>
              <a:ext cx="548" cy="231"/>
            </a:xfrm>
            <a:prstGeom prst="rect">
              <a:avLst/>
            </a:prstGeom>
            <a:noFill/>
            <a:ln w="9525">
              <a:noFill/>
            </a:ln>
          </p:spPr>
          <p:txBody>
            <a:bodyPr wrap="none">
              <a:spAutoFit/>
            </a:bodyPr>
            <a:p>
              <a:pPr algn="ctr"/>
              <a:r>
                <a:rPr lang="zh-CN" altLang="en-US" sz="1800" dirty="0">
                  <a:latin typeface="Times New Roman" panose="02020603050405020304" pitchFamily="18" charset="0"/>
                </a:rPr>
                <a:t>1.732 1</a:t>
              </a:r>
              <a:endParaRPr lang="zh-CN" altLang="zh-CN" sz="2000" dirty="0">
                <a:latin typeface="Times New Roman" panose="02020603050405020304" pitchFamily="18" charset="0"/>
              </a:endParaRPr>
            </a:p>
          </p:txBody>
        </p:sp>
        <p:sp>
          <p:nvSpPr>
            <p:cNvPr id="37930" name="Text Box 103"/>
            <p:cNvSpPr txBox="1"/>
            <p:nvPr/>
          </p:nvSpPr>
          <p:spPr>
            <a:xfrm>
              <a:off x="3030" y="2485"/>
              <a:ext cx="548" cy="231"/>
            </a:xfrm>
            <a:prstGeom prst="rect">
              <a:avLst/>
            </a:prstGeom>
            <a:noFill/>
            <a:ln w="9525">
              <a:noFill/>
            </a:ln>
          </p:spPr>
          <p:txBody>
            <a:bodyPr wrap="none">
              <a:spAutoFit/>
            </a:bodyPr>
            <a:p>
              <a:pPr algn="ctr"/>
              <a:r>
                <a:rPr lang="zh-CN" altLang="en-US" sz="1800" dirty="0">
                  <a:latin typeface="Times New Roman" panose="02020603050405020304" pitchFamily="18" charset="0"/>
                </a:rPr>
                <a:t>0.000 0</a:t>
              </a:r>
              <a:endParaRPr lang="zh-CN" altLang="zh-CN" sz="2000" dirty="0">
                <a:latin typeface="Times New Roman" panose="02020603050405020304" pitchFamily="18" charset="0"/>
              </a:endParaRPr>
            </a:p>
          </p:txBody>
        </p:sp>
        <p:sp>
          <p:nvSpPr>
            <p:cNvPr id="37931" name="Text Box 104"/>
            <p:cNvSpPr txBox="1"/>
            <p:nvPr/>
          </p:nvSpPr>
          <p:spPr>
            <a:xfrm>
              <a:off x="3593" y="2480"/>
              <a:ext cx="548" cy="231"/>
            </a:xfrm>
            <a:prstGeom prst="rect">
              <a:avLst/>
            </a:prstGeom>
            <a:noFill/>
            <a:ln w="9525">
              <a:noFill/>
            </a:ln>
          </p:spPr>
          <p:txBody>
            <a:bodyPr wrap="none">
              <a:spAutoFit/>
            </a:bodyPr>
            <a:p>
              <a:pPr algn="ctr"/>
              <a:r>
                <a:rPr lang="zh-CN" altLang="en-US" sz="1800" dirty="0">
                  <a:latin typeface="Times New Roman" panose="02020603050405020304" pitchFamily="18" charset="0"/>
                </a:rPr>
                <a:t>0.000 0</a:t>
              </a:r>
              <a:endParaRPr lang="zh-CN" altLang="zh-CN" sz="2000" dirty="0">
                <a:latin typeface="Times New Roman" panose="02020603050405020304" pitchFamily="18" charset="0"/>
              </a:endParaRPr>
            </a:p>
          </p:txBody>
        </p:sp>
        <p:sp>
          <p:nvSpPr>
            <p:cNvPr id="37932" name="Text Box 105"/>
            <p:cNvSpPr txBox="1"/>
            <p:nvPr/>
          </p:nvSpPr>
          <p:spPr>
            <a:xfrm>
              <a:off x="4155" y="2480"/>
              <a:ext cx="548" cy="231"/>
            </a:xfrm>
            <a:prstGeom prst="rect">
              <a:avLst/>
            </a:prstGeom>
            <a:noFill/>
            <a:ln w="9525">
              <a:noFill/>
            </a:ln>
          </p:spPr>
          <p:txBody>
            <a:bodyPr wrap="none">
              <a:spAutoFit/>
            </a:bodyPr>
            <a:p>
              <a:pPr algn="ctr"/>
              <a:r>
                <a:rPr lang="zh-CN" altLang="en-US" sz="1800" dirty="0">
                  <a:latin typeface="Times New Roman" panose="02020603050405020304" pitchFamily="18" charset="0"/>
                </a:rPr>
                <a:t>0.000 0</a:t>
              </a:r>
              <a:endParaRPr lang="zh-CN" altLang="zh-CN" sz="2000" dirty="0">
                <a:latin typeface="Times New Roman" panose="02020603050405020304" pitchFamily="18" charset="0"/>
              </a:endParaRPr>
            </a:p>
          </p:txBody>
        </p:sp>
        <p:sp>
          <p:nvSpPr>
            <p:cNvPr id="37933" name="Text Box 106"/>
            <p:cNvSpPr txBox="1"/>
            <p:nvPr/>
          </p:nvSpPr>
          <p:spPr>
            <a:xfrm>
              <a:off x="4693" y="2472"/>
              <a:ext cx="548" cy="231"/>
            </a:xfrm>
            <a:prstGeom prst="rect">
              <a:avLst/>
            </a:prstGeom>
            <a:noFill/>
            <a:ln w="9525">
              <a:noFill/>
            </a:ln>
          </p:spPr>
          <p:txBody>
            <a:bodyPr wrap="none">
              <a:spAutoFit/>
            </a:bodyPr>
            <a:p>
              <a:pPr algn="ctr"/>
              <a:r>
                <a:rPr lang="zh-CN" altLang="en-US" sz="1800" dirty="0">
                  <a:latin typeface="Times New Roman" panose="02020603050405020304" pitchFamily="18" charset="0"/>
                </a:rPr>
                <a:t>0.000 1</a:t>
              </a:r>
              <a:endParaRPr lang="zh-CN" altLang="zh-CN" sz="2000" dirty="0">
                <a:latin typeface="Times New Roman" panose="02020603050405020304" pitchFamily="18" charset="0"/>
              </a:endParaRPr>
            </a:p>
          </p:txBody>
        </p:sp>
        <p:sp>
          <p:nvSpPr>
            <p:cNvPr id="37934" name="Text Box 107"/>
            <p:cNvSpPr txBox="1"/>
            <p:nvPr/>
          </p:nvSpPr>
          <p:spPr>
            <a:xfrm>
              <a:off x="5212" y="2488"/>
              <a:ext cx="548" cy="231"/>
            </a:xfrm>
            <a:prstGeom prst="rect">
              <a:avLst/>
            </a:prstGeom>
            <a:noFill/>
            <a:ln w="9525">
              <a:noFill/>
            </a:ln>
          </p:spPr>
          <p:txBody>
            <a:bodyPr wrap="none">
              <a:spAutoFit/>
            </a:bodyPr>
            <a:p>
              <a:pPr algn="ctr"/>
              <a:r>
                <a:rPr lang="zh-CN" altLang="en-US" sz="1800" dirty="0">
                  <a:latin typeface="Times New Roman" panose="02020603050405020304" pitchFamily="18" charset="0"/>
                </a:rPr>
                <a:t>0.000 1</a:t>
              </a:r>
              <a:endParaRPr lang="zh-CN" altLang="zh-CN" sz="2000" dirty="0">
                <a:latin typeface="Times New Roman" panose="02020603050405020304" pitchFamily="18" charset="0"/>
              </a:endParaRPr>
            </a:p>
          </p:txBody>
        </p:sp>
      </p:grpSp>
      <p:sp>
        <p:nvSpPr>
          <p:cNvPr id="97390" name="Text Box 110"/>
          <p:cNvSpPr txBox="1"/>
          <p:nvPr/>
        </p:nvSpPr>
        <p:spPr>
          <a:xfrm>
            <a:off x="3552825" y="4176713"/>
            <a:ext cx="2767013" cy="579437"/>
          </a:xfrm>
          <a:prstGeom prst="rect">
            <a:avLst/>
          </a:prstGeom>
          <a:noFill/>
          <a:ln w="9525">
            <a:noFill/>
          </a:ln>
        </p:spPr>
        <p:txBody>
          <a:bodyPr wrap="none">
            <a:spAutoFit/>
          </a:bodyPr>
          <a:p>
            <a:r>
              <a:rPr lang="zh-CN" altLang="en-US" b="1" dirty="0">
                <a:solidFill>
                  <a:schemeClr val="accent2"/>
                </a:solidFill>
                <a:latin typeface="Times New Roman" panose="02020603050405020304" pitchFamily="18" charset="0"/>
              </a:rPr>
              <a:t>计算结果如下:</a:t>
            </a:r>
            <a:endParaRPr lang="zh-CN" altLang="en-US" b="1" dirty="0">
              <a:solidFill>
                <a:schemeClr val="accent2"/>
              </a:solidFill>
              <a:latin typeface="Times New Roman" panose="02020603050405020304" pitchFamily="18" charset="0"/>
            </a:endParaRPr>
          </a:p>
        </p:txBody>
      </p:sp>
      <p:sp>
        <p:nvSpPr>
          <p:cNvPr id="97391" name="AutoShape 111"/>
          <p:cNvSpPr/>
          <p:nvPr/>
        </p:nvSpPr>
        <p:spPr>
          <a:xfrm>
            <a:off x="4624388" y="1323975"/>
            <a:ext cx="4119562" cy="2849563"/>
          </a:xfrm>
          <a:prstGeom prst="cloudCallout">
            <a:avLst>
              <a:gd name="adj1" fmla="val -7380"/>
              <a:gd name="adj2" fmla="val 74347"/>
            </a:avLst>
          </a:prstGeom>
          <a:solidFill>
            <a:srgbClr val="FFFFFF"/>
          </a:solidFill>
          <a:ln w="15875" cap="flat" cmpd="sng">
            <a:solidFill>
              <a:srgbClr val="FF0000"/>
            </a:solidFill>
            <a:prstDash val="solid"/>
            <a:headEnd type="none" w="med" len="med"/>
            <a:tailEnd type="none" w="med" len="med"/>
          </a:ln>
        </p:spPr>
        <p:txBody>
          <a:bodyPr wrap="none" anchor="ctr" anchorCtr="0"/>
          <a:p>
            <a:r>
              <a:rPr lang="zh-CN" altLang="en-US" sz="2000" b="1" dirty="0">
                <a:latin typeface="Times New Roman" panose="02020603050405020304" pitchFamily="18" charset="0"/>
              </a:rPr>
              <a:t>显然在计算量大致相同的情</a:t>
            </a:r>
            <a:endParaRPr lang="zh-CN" altLang="en-US" sz="2000" b="1" dirty="0">
              <a:latin typeface="Times New Roman" panose="02020603050405020304" pitchFamily="18" charset="0"/>
            </a:endParaRPr>
          </a:p>
          <a:p>
            <a:r>
              <a:rPr lang="zh-CN" altLang="en-US" sz="2000" b="1" dirty="0">
                <a:latin typeface="Times New Roman" panose="02020603050405020304" pitchFamily="18" charset="0"/>
              </a:rPr>
              <a:t>况下, 标准的 </a:t>
            </a:r>
            <a:r>
              <a:rPr lang="en-US" altLang="zh-CN" sz="2000" b="1" dirty="0">
                <a:latin typeface="Times New Roman" panose="02020603050405020304" pitchFamily="18" charset="0"/>
              </a:rPr>
              <a:t>Runge-Kutta</a:t>
            </a:r>
            <a:endParaRPr lang="zh-CN" altLang="zh-CN" sz="2000" b="1" dirty="0">
              <a:latin typeface="Times New Roman" panose="02020603050405020304" pitchFamily="18" charset="0"/>
            </a:endParaRPr>
          </a:p>
          <a:p>
            <a:r>
              <a:rPr lang="zh-CN" altLang="zh-CN" sz="2000" b="1" dirty="0">
                <a:latin typeface="Times New Roman" panose="02020603050405020304" pitchFamily="18" charset="0"/>
              </a:rPr>
              <a:t>法比改进的</a:t>
            </a:r>
            <a:r>
              <a:rPr lang="zh-CN" altLang="en-US" sz="2000" b="1" dirty="0">
                <a:latin typeface="Times New Roman" panose="02020603050405020304" pitchFamily="18" charset="0"/>
              </a:rPr>
              <a:t> </a:t>
            </a:r>
            <a:r>
              <a:rPr lang="en-US" altLang="zh-CN" sz="2000" b="1" dirty="0">
                <a:latin typeface="Times New Roman" panose="02020603050405020304" pitchFamily="18" charset="0"/>
              </a:rPr>
              <a:t>Euler </a:t>
            </a:r>
            <a:r>
              <a:rPr lang="zh-CN" altLang="zh-CN" sz="2000" b="1" dirty="0">
                <a:latin typeface="Times New Roman" panose="02020603050405020304" pitchFamily="18" charset="0"/>
              </a:rPr>
              <a:t>方法精确</a:t>
            </a:r>
            <a:endParaRPr lang="zh-CN" altLang="en-US" sz="2000" b="1" dirty="0">
              <a:latin typeface="Times New Roman" panose="02020603050405020304" pitchFamily="18" charset="0"/>
            </a:endParaRPr>
          </a:p>
          <a:p>
            <a:r>
              <a:rPr lang="zh-CN" altLang="zh-CN" sz="2000" b="1" dirty="0">
                <a:latin typeface="Times New Roman" panose="02020603050405020304" pitchFamily="18" charset="0"/>
              </a:rPr>
              <a:t>度更高</a:t>
            </a:r>
            <a:r>
              <a:rPr lang="zh-CN" altLang="en-US" sz="2000" b="1" dirty="0">
                <a:latin typeface="Times New Roman" panose="02020603050405020304" pitchFamily="18" charset="0"/>
              </a:rPr>
              <a:t>.</a:t>
            </a:r>
            <a:r>
              <a:rPr lang="zh-CN" altLang="en-US" sz="2000" dirty="0">
                <a:latin typeface="Times New Roman" panose="02020603050405020304" pitchFamily="18" charset="0"/>
              </a:rPr>
              <a:t> </a:t>
            </a:r>
            <a:endParaRPr lang="zh-CN" altLang="en-US" sz="2000" dirty="0">
              <a:latin typeface="Times New Roman" panose="02020603050405020304" pitchFamily="18" charset="0"/>
            </a:endParaRPr>
          </a:p>
        </p:txBody>
      </p:sp>
      <p:sp>
        <p:nvSpPr>
          <p:cNvPr id="37905" name="Rectangle 3"/>
          <p:cNvSpPr/>
          <p:nvPr/>
        </p:nvSpPr>
        <p:spPr>
          <a:xfrm>
            <a:off x="0" y="308610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ndParaRPr>
          </a:p>
        </p:txBody>
      </p:sp>
      <p:graphicFrame>
        <p:nvGraphicFramePr>
          <p:cNvPr id="37890" name="Object 2"/>
          <p:cNvGraphicFramePr/>
          <p:nvPr/>
        </p:nvGraphicFramePr>
        <p:xfrm>
          <a:off x="890588" y="608013"/>
          <a:ext cx="4932362" cy="1073150"/>
        </p:xfrm>
        <a:graphic>
          <a:graphicData uri="http://schemas.openxmlformats.org/presentationml/2006/ole">
            <mc:AlternateContent xmlns:mc="http://schemas.openxmlformats.org/markup-compatibility/2006">
              <mc:Choice xmlns:v="urn:schemas-microsoft-com:vml" Requires="v">
                <p:oleObj spid="_x0000_s3138" name="" r:id="rId11" imgW="1930400" imgH="419100" progId="Equation.3">
                  <p:embed/>
                </p:oleObj>
              </mc:Choice>
              <mc:Fallback>
                <p:oleObj name="" r:id="rId11" imgW="1930400" imgH="419100" progId="Equation.3">
                  <p:embed/>
                  <p:pic>
                    <p:nvPicPr>
                      <p:cNvPr id="0" name="图片 3137"/>
                      <p:cNvPicPr/>
                      <p:nvPr/>
                    </p:nvPicPr>
                    <p:blipFill>
                      <a:blip r:embed="rId12"/>
                      <a:stretch>
                        <a:fillRect/>
                      </a:stretch>
                    </p:blipFill>
                    <p:spPr>
                      <a:xfrm>
                        <a:off x="890588" y="608013"/>
                        <a:ext cx="4932362" cy="1073150"/>
                      </a:xfrm>
                      <a:prstGeom prst="rect">
                        <a:avLst/>
                      </a:prstGeom>
                      <a:noFill/>
                      <a:ln w="38100">
                        <a:noFill/>
                        <a:miter/>
                      </a:ln>
                    </p:spPr>
                  </p:pic>
                </p:oleObj>
              </mc:Fallback>
            </mc:AlternateContent>
          </a:graphicData>
        </a:graphic>
      </p:graphicFrame>
      <p:graphicFrame>
        <p:nvGraphicFramePr>
          <p:cNvPr id="37891" name="Object 6"/>
          <p:cNvGraphicFramePr/>
          <p:nvPr/>
        </p:nvGraphicFramePr>
        <p:xfrm>
          <a:off x="890588" y="608013"/>
          <a:ext cx="4932362" cy="1073150"/>
        </p:xfrm>
        <a:graphic>
          <a:graphicData uri="http://schemas.openxmlformats.org/presentationml/2006/ole">
            <mc:AlternateContent xmlns:mc="http://schemas.openxmlformats.org/markup-compatibility/2006">
              <mc:Choice xmlns:v="urn:schemas-microsoft-com:vml" Requires="v">
                <p:oleObj spid="_x0000_s3199" name="" r:id="rId13" imgW="1930400" imgH="419100" progId="Equation.3">
                  <p:embed/>
                </p:oleObj>
              </mc:Choice>
              <mc:Fallback>
                <p:oleObj name="" r:id="rId13" imgW="1930400" imgH="419100" progId="Equation.3">
                  <p:embed/>
                  <p:pic>
                    <p:nvPicPr>
                      <p:cNvPr id="0" name="图片 3198"/>
                      <p:cNvPicPr/>
                      <p:nvPr/>
                    </p:nvPicPr>
                    <p:blipFill>
                      <a:blip r:embed="rId12"/>
                      <a:stretch>
                        <a:fillRect/>
                      </a:stretch>
                    </p:blipFill>
                    <p:spPr>
                      <a:xfrm>
                        <a:off x="890588" y="608013"/>
                        <a:ext cx="4932362" cy="1073150"/>
                      </a:xfrm>
                      <a:prstGeom prst="rect">
                        <a:avLst/>
                      </a:prstGeom>
                      <a:noFill/>
                      <a:ln w="38100">
                        <a:noFill/>
                        <a:miter/>
                      </a:ln>
                    </p:spPr>
                  </p:pic>
                </p:oleObj>
              </mc:Fallback>
            </mc:AlternateContent>
          </a:graphicData>
        </a:graphic>
      </p:graphicFrame>
      <p:grpSp>
        <p:nvGrpSpPr>
          <p:cNvPr id="37906" name="Group 13"/>
          <p:cNvGrpSpPr/>
          <p:nvPr/>
        </p:nvGrpSpPr>
        <p:grpSpPr>
          <a:xfrm>
            <a:off x="209550" y="-71437"/>
            <a:ext cx="8589963" cy="1752600"/>
            <a:chOff x="132" y="-45"/>
            <a:chExt cx="5411" cy="1104"/>
          </a:xfrm>
        </p:grpSpPr>
        <p:sp>
          <p:nvSpPr>
            <p:cNvPr id="37907" name="Text Box 62"/>
            <p:cNvSpPr txBox="1"/>
            <p:nvPr/>
          </p:nvSpPr>
          <p:spPr>
            <a:xfrm>
              <a:off x="132" y="-45"/>
              <a:ext cx="5411" cy="988"/>
            </a:xfrm>
            <a:prstGeom prst="rect">
              <a:avLst/>
            </a:prstGeom>
            <a:noFill/>
            <a:ln w="9525">
              <a:noFill/>
            </a:ln>
          </p:spPr>
          <p:txBody>
            <a:bodyPr>
              <a:spAutoFit/>
            </a:bodyPr>
            <a:p>
              <a:pPr eaLnBrk="0" hangingPunct="0">
                <a:lnSpc>
                  <a:spcPct val="150000"/>
                </a:lnSpc>
              </a:pPr>
              <a:r>
                <a:rPr lang="zh-CN" altLang="en-US" b="1" dirty="0">
                  <a:solidFill>
                    <a:srgbClr val="FF0000"/>
                  </a:solidFill>
                  <a:latin typeface="Times New Roman" panose="02020603050405020304" pitchFamily="18" charset="0"/>
                </a:rPr>
                <a:t>例</a:t>
              </a:r>
              <a:r>
                <a:rPr lang="en-US" altLang="zh-CN" b="1" dirty="0">
                  <a:solidFill>
                    <a:srgbClr val="FF0000"/>
                  </a:solidFill>
                  <a:latin typeface="Times New Roman" panose="02020603050405020304" pitchFamily="18" charset="0"/>
                </a:rPr>
                <a:t>9.</a:t>
              </a:r>
              <a:r>
                <a:rPr lang="zh-CN" altLang="en-US" b="1" dirty="0">
                  <a:solidFill>
                    <a:srgbClr val="FF0000"/>
                  </a:solidFill>
                  <a:latin typeface="Times New Roman" panose="02020603050405020304" pitchFamily="18" charset="0"/>
                </a:rPr>
                <a:t>2.1 </a:t>
              </a:r>
              <a:r>
                <a:rPr lang="zh-CN" altLang="en-US" b="1" dirty="0">
                  <a:latin typeface="Times New Roman" panose="02020603050405020304" pitchFamily="18" charset="0"/>
                </a:rPr>
                <a:t>用标准的四阶</a:t>
              </a:r>
              <a:r>
                <a:rPr lang="en-US" altLang="en-US" b="1" dirty="0">
                  <a:latin typeface="Times New Roman" panose="02020603050405020304" pitchFamily="18" charset="0"/>
                </a:rPr>
                <a:t>Rung-Kutta </a:t>
              </a:r>
              <a:r>
                <a:rPr lang="zh-CN" altLang="en-US" b="1" dirty="0">
                  <a:latin typeface="Times New Roman" panose="02020603050405020304" pitchFamily="18" charset="0"/>
                </a:rPr>
                <a:t>法解初值问题</a:t>
              </a:r>
              <a:r>
                <a:rPr lang="en-US" altLang="zh-CN" b="1" dirty="0">
                  <a:latin typeface="Times New Roman" panose="02020603050405020304" pitchFamily="18" charset="0"/>
                </a:rPr>
                <a:t>:                                                  </a:t>
              </a:r>
              <a:r>
                <a:rPr lang="zh-CN" altLang="en-US" b="1" dirty="0">
                  <a:latin typeface="Times New Roman" panose="02020603050405020304" pitchFamily="18" charset="0"/>
                </a:rPr>
                <a:t>取步长</a:t>
              </a:r>
              <a:r>
                <a:rPr lang="en-US" altLang="zh-CN" b="1" i="1" dirty="0">
                  <a:latin typeface="Times New Roman" panose="02020603050405020304" pitchFamily="18" charset="0"/>
                </a:rPr>
                <a:t>h</a:t>
              </a:r>
              <a:r>
                <a:rPr lang="en-US" altLang="zh-CN" b="1" dirty="0">
                  <a:latin typeface="Times New Roman" panose="02020603050405020304" pitchFamily="18" charset="0"/>
                </a:rPr>
                <a:t>=0.2</a:t>
              </a: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graphicFrame>
          <p:nvGraphicFramePr>
            <p:cNvPr id="37892" name="Object 9"/>
            <p:cNvGraphicFramePr/>
            <p:nvPr/>
          </p:nvGraphicFramePr>
          <p:xfrm>
            <a:off x="561" y="383"/>
            <a:ext cx="3107" cy="676"/>
          </p:xfrm>
          <a:graphic>
            <a:graphicData uri="http://schemas.openxmlformats.org/presentationml/2006/ole">
              <mc:AlternateContent xmlns:mc="http://schemas.openxmlformats.org/markup-compatibility/2006">
                <mc:Choice xmlns:v="urn:schemas-microsoft-com:vml" Requires="v">
                  <p:oleObj spid="_x0000_s3200" name="" r:id="rId14" imgW="1930400" imgH="419100" progId="Equation.3">
                    <p:embed/>
                  </p:oleObj>
                </mc:Choice>
                <mc:Fallback>
                  <p:oleObj name="" r:id="rId14" imgW="1930400" imgH="419100" progId="Equation.3">
                    <p:embed/>
                    <p:pic>
                      <p:nvPicPr>
                        <p:cNvPr id="0" name="图片 3199"/>
                        <p:cNvPicPr/>
                        <p:nvPr/>
                      </p:nvPicPr>
                      <p:blipFill>
                        <a:blip r:embed="rId12"/>
                        <a:stretch>
                          <a:fillRect/>
                        </a:stretch>
                      </p:blipFill>
                      <p:spPr>
                        <a:xfrm>
                          <a:off x="561" y="383"/>
                          <a:ext cx="3107" cy="676"/>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7347"/>
                                        </p:tgtEl>
                                        <p:attrNameLst>
                                          <p:attrName>style.visibility</p:attrName>
                                        </p:attrNameLst>
                                      </p:cBhvr>
                                      <p:to>
                                        <p:strVal val="visible"/>
                                      </p:to>
                                    </p:set>
                                    <p:animEffect transition="in" filter="blinds(horizontal)">
                                      <p:cBhvr>
                                        <p:cTn id="7" dur="500"/>
                                        <p:tgtEl>
                                          <p:spTgt spid="973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7390"/>
                                        </p:tgtEl>
                                        <p:attrNameLst>
                                          <p:attrName>style.visibility</p:attrName>
                                        </p:attrNameLst>
                                      </p:cBhvr>
                                      <p:to>
                                        <p:strVal val="visible"/>
                                      </p:to>
                                    </p:set>
                                    <p:animEffect transition="in" filter="blinds(horizontal)">
                                      <p:cBhvr>
                                        <p:cTn id="17" dur="500"/>
                                        <p:tgtEl>
                                          <p:spTgt spid="9739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7391"/>
                                        </p:tgtEl>
                                        <p:attrNameLst>
                                          <p:attrName>style.visibility</p:attrName>
                                        </p:attrNameLst>
                                      </p:cBhvr>
                                      <p:to>
                                        <p:strVal val="visible"/>
                                      </p:to>
                                    </p:set>
                                    <p:animEffect transition="in" filter="blinds(horizontal)">
                                      <p:cBhvr>
                                        <p:cTn id="27" dur="500"/>
                                        <p:tgtEl>
                                          <p:spTgt spid="97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标题 1"/>
          <p:cNvSpPr>
            <a:spLocks noGrp="1"/>
          </p:cNvSpPr>
          <p:nvPr>
            <p:ph type="title"/>
          </p:nvPr>
        </p:nvSpPr>
        <p:spPr>
          <a:ln/>
        </p:spPr>
        <p:txBody>
          <a:bodyPr vert="horz" wrap="square" lIns="91440" tIns="45720" rIns="91440" bIns="45720" anchor="ctr" anchorCtr="0"/>
          <a:p>
            <a:pPr algn="l"/>
            <a:r>
              <a:rPr lang="en-US" altLang="zh-CN" sz="3600" b="1" u="none" dirty="0">
                <a:latin typeface="Times New Roman" panose="02020603050405020304" pitchFamily="18" charset="0"/>
              </a:rPr>
              <a:t>9.3  </a:t>
            </a:r>
            <a:r>
              <a:rPr lang="zh-CN" altLang="en-US" sz="3600" b="1" u="none" dirty="0"/>
              <a:t>收敛性与稳定性</a:t>
            </a:r>
            <a:endParaRPr lang="zh-CN" altLang="en-US" sz="3600" b="1" u="none" dirty="0"/>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917"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75782" name="矩形 4"/>
          <p:cNvSpPr/>
          <p:nvPr/>
        </p:nvSpPr>
        <p:spPr>
          <a:xfrm>
            <a:off x="463550" y="1139825"/>
            <a:ext cx="8223250" cy="2554288"/>
          </a:xfrm>
          <a:prstGeom prst="rect">
            <a:avLst/>
          </a:prstGeom>
          <a:noFill/>
          <a:ln w="9525">
            <a:noFill/>
          </a:ln>
        </p:spPr>
        <p:txBody>
          <a:bodyPr>
            <a:spAutoFit/>
          </a:bodyPr>
          <a:p>
            <a:pPr eaLnBrk="0" hangingPunct="0"/>
            <a:r>
              <a:rPr lang="zh-CN" altLang="en-US" dirty="0">
                <a:latin typeface="Times New Roman" panose="02020603050405020304" pitchFamily="18" charset="0"/>
              </a:rPr>
              <a:t>        收敛性与稳定性从不同角度反应数值方法的可靠性</a:t>
            </a:r>
            <a:r>
              <a:rPr lang="en-US" altLang="zh-CN" dirty="0">
                <a:latin typeface="Times New Roman" panose="02020603050405020304" pitchFamily="18" charset="0"/>
              </a:rPr>
              <a:t>, </a:t>
            </a:r>
            <a:r>
              <a:rPr lang="zh-CN" altLang="en-US" dirty="0">
                <a:latin typeface="Times New Roman" panose="02020603050405020304" pitchFamily="18" charset="0"/>
              </a:rPr>
              <a:t>只有既稳定又收敛的计算格式才能给出满足要求的数值解。如何使数值结果的误差满足事先给定的精度要求，是数值方法需要研究解决的一个实际问题。</a:t>
            </a:r>
            <a:endParaRPr lang="zh-CN" altLang="en-US" dirty="0">
              <a:latin typeface="Times New Roman" panose="02020603050405020304" pitchFamily="18" charset="0"/>
            </a:endParaRPr>
          </a:p>
        </p:txBody>
      </p:sp>
      <p:sp>
        <p:nvSpPr>
          <p:cNvPr id="75783" name="矩形 5"/>
          <p:cNvSpPr/>
          <p:nvPr/>
        </p:nvSpPr>
        <p:spPr>
          <a:xfrm>
            <a:off x="517525" y="3743325"/>
            <a:ext cx="8097838" cy="1570038"/>
          </a:xfrm>
          <a:prstGeom prst="rect">
            <a:avLst/>
          </a:prstGeom>
          <a:noFill/>
          <a:ln w="9525">
            <a:noFill/>
          </a:ln>
        </p:spPr>
        <p:txBody>
          <a:bodyPr>
            <a:spAutoFit/>
          </a:bodyPr>
          <a:p>
            <a:pPr eaLnBrk="0" hangingPunct="0"/>
            <a:r>
              <a:rPr lang="en-US" altLang="zh-CN" dirty="0">
                <a:latin typeface="Times New Roman" panose="02020603050405020304" pitchFamily="18" charset="0"/>
              </a:rPr>
              <a:t>	</a:t>
            </a:r>
            <a:r>
              <a:rPr lang="zh-CN" altLang="zh-CN" dirty="0">
                <a:latin typeface="Times New Roman" panose="02020603050405020304" pitchFamily="18" charset="0"/>
              </a:rPr>
              <a:t>我们</a:t>
            </a:r>
            <a:r>
              <a:rPr lang="zh-CN" altLang="en-US" dirty="0">
                <a:latin typeface="Times New Roman" panose="02020603050405020304" pitchFamily="18" charset="0"/>
              </a:rPr>
              <a:t>主要讨论</a:t>
            </a:r>
            <a:r>
              <a:rPr lang="zh-CN" altLang="en-US" b="1" dirty="0">
                <a:solidFill>
                  <a:srgbClr val="FF0000"/>
                </a:solidFill>
                <a:latin typeface="Times New Roman" panose="02020603050405020304" pitchFamily="18" charset="0"/>
              </a:rPr>
              <a:t>一阶常微分方程</a:t>
            </a:r>
            <a:r>
              <a:rPr lang="en-US" altLang="zh-CN" b="1" dirty="0">
                <a:solidFill>
                  <a:srgbClr val="FF0000"/>
                </a:solidFill>
                <a:latin typeface="Times New Roman" panose="02020603050405020304" pitchFamily="18" charset="0"/>
              </a:rPr>
              <a:t>(</a:t>
            </a:r>
            <a:r>
              <a:rPr lang="zh-CN" altLang="en-US" b="1" dirty="0">
                <a:solidFill>
                  <a:srgbClr val="FF0000"/>
                </a:solidFill>
                <a:latin typeface="Times New Roman" panose="02020603050405020304" pitchFamily="18" charset="0"/>
              </a:rPr>
              <a:t>组</a:t>
            </a:r>
            <a:r>
              <a:rPr lang="en-US" altLang="zh-CN" b="1" dirty="0">
                <a:solidFill>
                  <a:srgbClr val="FF0000"/>
                </a:solidFill>
                <a:latin typeface="Times New Roman" panose="02020603050405020304" pitchFamily="18" charset="0"/>
              </a:rPr>
              <a:t>)</a:t>
            </a:r>
            <a:r>
              <a:rPr lang="zh-CN" altLang="en-US" dirty="0">
                <a:latin typeface="Times New Roman" panose="02020603050405020304" pitchFamily="18" charset="0"/>
              </a:rPr>
              <a:t>初值问题的显式单步法的收敛性与稳定性, 其一般形式为</a:t>
            </a:r>
            <a:endParaRPr lang="zh-CN" altLang="en-US" dirty="0">
              <a:latin typeface="Times New Roman" panose="02020603050405020304" pitchFamily="18" charset="0"/>
            </a:endParaRPr>
          </a:p>
        </p:txBody>
      </p:sp>
      <p:graphicFrame>
        <p:nvGraphicFramePr>
          <p:cNvPr id="89108" name="Object 20"/>
          <p:cNvGraphicFramePr/>
          <p:nvPr/>
        </p:nvGraphicFramePr>
        <p:xfrm>
          <a:off x="2282666" y="5067300"/>
          <a:ext cx="6205855" cy="603250"/>
        </p:xfrm>
        <a:graphic>
          <a:graphicData uri="http://schemas.openxmlformats.org/presentationml/2006/ole">
            <mc:AlternateContent xmlns:mc="http://schemas.openxmlformats.org/markup-compatibility/2006">
              <mc:Choice xmlns:v="urn:schemas-microsoft-com:vml" Requires="v">
                <p:oleObj spid="_x0000_s3198" name="" r:id="rId1" imgW="2489200" imgH="241300" progId="Equation.3">
                  <p:embed/>
                </p:oleObj>
              </mc:Choice>
              <mc:Fallback>
                <p:oleObj name="" r:id="rId1" imgW="2489200" imgH="241300" progId="Equation.3">
                  <p:embed/>
                  <p:pic>
                    <p:nvPicPr>
                      <p:cNvPr id="0" name="图片 3197"/>
                      <p:cNvPicPr/>
                      <p:nvPr/>
                    </p:nvPicPr>
                    <p:blipFill>
                      <a:blip r:embed="rId2"/>
                      <a:stretch>
                        <a:fillRect/>
                      </a:stretch>
                    </p:blipFill>
                    <p:spPr>
                      <a:xfrm>
                        <a:off x="2282666" y="5067300"/>
                        <a:ext cx="6205855" cy="603250"/>
                      </a:xfrm>
                      <a:prstGeom prst="rect">
                        <a:avLst/>
                      </a:prstGeom>
                      <a:noFill/>
                      <a:ln w="38100">
                        <a:noFill/>
                        <a:miter/>
                      </a:ln>
                    </p:spPr>
                  </p:pic>
                </p:oleObj>
              </mc:Fallback>
            </mc:AlternateContent>
          </a:graphicData>
        </a:graphic>
      </p:graphicFrame>
      <p:sp>
        <p:nvSpPr>
          <p:cNvPr id="75784" name="矩形 7"/>
          <p:cNvSpPr/>
          <p:nvPr/>
        </p:nvSpPr>
        <p:spPr>
          <a:xfrm>
            <a:off x="615950" y="5694363"/>
            <a:ext cx="6235700" cy="584200"/>
          </a:xfrm>
          <a:prstGeom prst="rect">
            <a:avLst/>
          </a:prstGeom>
          <a:noFill/>
          <a:ln w="9525">
            <a:noFill/>
          </a:ln>
        </p:spPr>
        <p:txBody>
          <a:bodyPr>
            <a:spAutoFit/>
          </a:bodyPr>
          <a:p>
            <a:pPr>
              <a:buClr>
                <a:schemeClr val="accent2"/>
              </a:buClr>
            </a:pPr>
            <a:r>
              <a:rPr lang="zh-CN" altLang="en-US" dirty="0">
                <a:latin typeface="Times New Roman" panose="02020603050405020304" pitchFamily="18" charset="0"/>
              </a:rPr>
              <a:t>其中</a:t>
            </a:r>
            <a:r>
              <a:rPr lang="en-US" altLang="zh-CN" i="1" dirty="0">
                <a:latin typeface="Times New Roman" panose="02020603050405020304" pitchFamily="18" charset="0"/>
              </a:rPr>
              <a:t>φ</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dirty="0">
                <a:latin typeface="Times New Roman" panose="02020603050405020304" pitchFamily="18" charset="0"/>
              </a:rPr>
              <a:t>,</a:t>
            </a:r>
            <a:r>
              <a:rPr lang="en-US" altLang="zh-CN" i="1" dirty="0">
                <a:latin typeface="Times New Roman" panose="02020603050405020304" pitchFamily="18" charset="0"/>
              </a:rPr>
              <a:t> y</a:t>
            </a:r>
            <a:r>
              <a:rPr lang="en-US" altLang="zh-CN" dirty="0">
                <a:latin typeface="Times New Roman" panose="02020603050405020304" pitchFamily="18" charset="0"/>
              </a:rPr>
              <a:t>,</a:t>
            </a:r>
            <a:r>
              <a:rPr lang="en-US" altLang="zh-CN" i="1" dirty="0">
                <a:latin typeface="Times New Roman" panose="02020603050405020304" pitchFamily="18" charset="0"/>
              </a:rPr>
              <a:t> h</a:t>
            </a:r>
            <a:r>
              <a:rPr lang="en-US" altLang="zh-CN" dirty="0">
                <a:latin typeface="Times New Roman" panose="02020603050405020304" pitchFamily="18" charset="0"/>
              </a:rPr>
              <a:t>)</a:t>
            </a:r>
            <a:r>
              <a:rPr lang="zh-CN" altLang="en-US" dirty="0">
                <a:latin typeface="Times New Roman" panose="02020603050405020304" pitchFamily="18" charset="0"/>
              </a:rPr>
              <a:t>是增量函数。</a:t>
            </a:r>
            <a:endParaRPr lang="zh-CN" altLang="en-US" dirty="0">
              <a:latin typeface="Times New Roman" panose="02020603050405020304" pitchFamily="18" charset="0"/>
            </a:endParaRPr>
          </a:p>
        </p:txBody>
      </p:sp>
      <p:sp>
        <p:nvSpPr>
          <p:cNvPr id="9" name="AutoShape 25"/>
          <p:cNvSpPr/>
          <p:nvPr/>
        </p:nvSpPr>
        <p:spPr>
          <a:xfrm>
            <a:off x="1474788" y="917575"/>
            <a:ext cx="6350000" cy="2395538"/>
          </a:xfrm>
          <a:prstGeom prst="cloudCallout">
            <a:avLst>
              <a:gd name="adj1" fmla="val -28704"/>
              <a:gd name="adj2" fmla="val 129676"/>
            </a:avLst>
          </a:prstGeom>
          <a:solidFill>
            <a:srgbClr val="FFFFFF"/>
          </a:solidFill>
          <a:ln w="9525" cap="flat" cmpd="sng">
            <a:solidFill>
              <a:schemeClr val="tx1"/>
            </a:solidFill>
            <a:prstDash val="solid"/>
            <a:headEnd type="none" w="med" len="med"/>
            <a:tailEnd type="none" w="med" len="med"/>
          </a:ln>
        </p:spPr>
        <p:txBody>
          <a:bodyPr wrap="none" anchor="ctr" anchorCtr="0"/>
          <a:p>
            <a:r>
              <a:rPr lang="zh-CN" altLang="en-US" b="1" dirty="0">
                <a:latin typeface="隶书" panose="02010509060101010101" pitchFamily="49" charset="-122"/>
                <a:ea typeface="隶书" panose="02010509060101010101" pitchFamily="49" charset="-122"/>
              </a:rPr>
              <a:t>若是方程组</a:t>
            </a:r>
            <a:r>
              <a:rPr lang="en-US" altLang="zh-CN" b="1" dirty="0">
                <a:latin typeface="隶书" panose="02010509060101010101" pitchFamily="49" charset="-122"/>
                <a:ea typeface="隶书" panose="02010509060101010101" pitchFamily="49" charset="-122"/>
              </a:rPr>
              <a:t>,</a:t>
            </a:r>
            <a:r>
              <a:rPr lang="en-US" altLang="zh-CN" b="1" i="1" dirty="0">
                <a:latin typeface="Times New Roman" panose="02020603050405020304" pitchFamily="18" charset="0"/>
                <a:ea typeface="隶书" panose="02010509060101010101" pitchFamily="49" charset="-122"/>
              </a:rPr>
              <a:t>y</a:t>
            </a:r>
            <a:r>
              <a:rPr lang="en-US" altLang="zh-CN" b="1" i="1" baseline="-25000" dirty="0">
                <a:latin typeface="Times New Roman" panose="02020603050405020304" pitchFamily="18" charset="0"/>
                <a:ea typeface="隶书" panose="02010509060101010101" pitchFamily="49" charset="-122"/>
              </a:rPr>
              <a:t>n</a:t>
            </a:r>
            <a:r>
              <a:rPr lang="zh-CN" altLang="en-US" b="1" dirty="0">
                <a:latin typeface="隶书" panose="02010509060101010101" pitchFamily="49" charset="-122"/>
                <a:ea typeface="隶书" panose="02010509060101010101" pitchFamily="49" charset="-122"/>
              </a:rPr>
              <a:t>和</a:t>
            </a:r>
            <a:r>
              <a:rPr lang="en-US" altLang="zh-CN" b="1" i="1" dirty="0">
                <a:latin typeface="Times New Roman" panose="02020603050405020304" pitchFamily="18" charset="0"/>
                <a:ea typeface="隶书" panose="02010509060101010101" pitchFamily="49" charset="-122"/>
              </a:rPr>
              <a:t>y</a:t>
            </a:r>
            <a:r>
              <a:rPr lang="en-US" altLang="zh-CN" b="1" i="1" baseline="-25000" dirty="0">
                <a:latin typeface="Times New Roman" panose="02020603050405020304" pitchFamily="18" charset="0"/>
                <a:ea typeface="隶书" panose="02010509060101010101" pitchFamily="49" charset="-122"/>
              </a:rPr>
              <a:t>n+</a:t>
            </a:r>
            <a:r>
              <a:rPr lang="en-US" altLang="zh-CN" b="1" baseline="-25000" dirty="0">
                <a:latin typeface="Times New Roman" panose="02020603050405020304" pitchFamily="18" charset="0"/>
                <a:ea typeface="隶书" panose="02010509060101010101" pitchFamily="49" charset="-122"/>
              </a:rPr>
              <a:t>1</a:t>
            </a:r>
            <a:r>
              <a:rPr lang="zh-CN" altLang="en-US" b="1" dirty="0">
                <a:latin typeface="隶书" panose="02010509060101010101" pitchFamily="49" charset="-122"/>
                <a:ea typeface="隶书" panose="02010509060101010101" pitchFamily="49" charset="-122"/>
              </a:rPr>
              <a:t>都是向量</a:t>
            </a:r>
            <a:endParaRPr lang="en-US" altLang="zh-CN" b="1" dirty="0">
              <a:latin typeface="隶书" panose="02010509060101010101" pitchFamily="49" charset="-122"/>
              <a:ea typeface="隶书" panose="02010509060101010101" pitchFamily="49" charset="-122"/>
            </a:endParaRPr>
          </a:p>
          <a:p>
            <a:r>
              <a:rPr lang="en-US" altLang="zh-CN" b="1" i="1" dirty="0">
                <a:latin typeface="Times New Roman" panose="02020603050405020304" pitchFamily="18" charset="0"/>
                <a:ea typeface="隶书" panose="02010509060101010101" pitchFamily="49" charset="-122"/>
              </a:rPr>
              <a:t>φ</a:t>
            </a:r>
            <a:r>
              <a:rPr lang="en-US" altLang="zh-CN" b="1" dirty="0">
                <a:latin typeface="Times New Roman" panose="02020603050405020304" pitchFamily="18" charset="0"/>
                <a:ea typeface="隶书" panose="02010509060101010101" pitchFamily="49" charset="-122"/>
              </a:rPr>
              <a:t>(</a:t>
            </a:r>
            <a:r>
              <a:rPr lang="en-US" altLang="zh-CN" b="1" i="1" dirty="0">
                <a:latin typeface="Times New Roman" panose="02020603050405020304" pitchFamily="18" charset="0"/>
                <a:ea typeface="隶书" panose="02010509060101010101" pitchFamily="49" charset="-122"/>
              </a:rPr>
              <a:t>x</a:t>
            </a:r>
            <a:r>
              <a:rPr lang="en-US" altLang="zh-CN" b="1" dirty="0">
                <a:latin typeface="Times New Roman" panose="02020603050405020304" pitchFamily="18" charset="0"/>
                <a:ea typeface="隶书" panose="02010509060101010101" pitchFamily="49" charset="-122"/>
              </a:rPr>
              <a:t>,</a:t>
            </a:r>
            <a:r>
              <a:rPr lang="en-US" altLang="zh-CN" b="1" i="1" dirty="0">
                <a:latin typeface="Times New Roman" panose="02020603050405020304" pitchFamily="18" charset="0"/>
                <a:ea typeface="隶书" panose="02010509060101010101" pitchFamily="49" charset="-122"/>
              </a:rPr>
              <a:t> y</a:t>
            </a:r>
            <a:r>
              <a:rPr lang="en-US" altLang="zh-CN" b="1" dirty="0">
                <a:latin typeface="Times New Roman" panose="02020603050405020304" pitchFamily="18" charset="0"/>
                <a:ea typeface="隶书" panose="02010509060101010101" pitchFamily="49" charset="-122"/>
              </a:rPr>
              <a:t>,</a:t>
            </a:r>
            <a:r>
              <a:rPr lang="en-US" altLang="zh-CN" b="1" i="1" dirty="0">
                <a:latin typeface="Times New Roman" panose="02020603050405020304" pitchFamily="18" charset="0"/>
                <a:ea typeface="隶书" panose="02010509060101010101" pitchFamily="49" charset="-122"/>
              </a:rPr>
              <a:t> h</a:t>
            </a:r>
            <a:r>
              <a:rPr lang="en-US" altLang="zh-CN" b="1" dirty="0">
                <a:latin typeface="Times New Roman" panose="02020603050405020304" pitchFamily="18" charset="0"/>
                <a:ea typeface="隶书" panose="02010509060101010101" pitchFamily="49" charset="-122"/>
              </a:rPr>
              <a:t>)</a:t>
            </a:r>
            <a:r>
              <a:rPr lang="zh-CN" altLang="en-US" b="1" dirty="0">
                <a:latin typeface="隶书" panose="02010509060101010101" pitchFamily="49" charset="-122"/>
                <a:ea typeface="隶书" panose="02010509060101010101" pitchFamily="49" charset="-122"/>
              </a:rPr>
              <a:t>是向量值的增量函数</a:t>
            </a:r>
            <a:r>
              <a:rPr lang="en-US" altLang="zh-CN" b="1" dirty="0">
                <a:latin typeface="隶书" panose="02010509060101010101" pitchFamily="49" charset="-122"/>
                <a:ea typeface="隶书" panose="02010509060101010101" pitchFamily="49" charset="-122"/>
              </a:rPr>
              <a:t>,</a:t>
            </a:r>
            <a:endParaRPr lang="en-US" altLang="zh-CN" b="1" dirty="0">
              <a:latin typeface="隶书" panose="02010509060101010101" pitchFamily="49" charset="-122"/>
              <a:ea typeface="隶书" panose="02010509060101010101" pitchFamily="49" charset="-122"/>
            </a:endParaRPr>
          </a:p>
          <a:p>
            <a:r>
              <a:rPr lang="en-US" altLang="zh-CN" b="1" i="1" dirty="0">
                <a:latin typeface="Times New Roman" panose="02020603050405020304" pitchFamily="18" charset="0"/>
                <a:ea typeface="隶书" panose="02010509060101010101" pitchFamily="49" charset="-122"/>
              </a:rPr>
              <a:t>h</a:t>
            </a:r>
            <a:r>
              <a:rPr lang="zh-CN" altLang="en-US" b="1" dirty="0">
                <a:latin typeface="隶书" panose="02010509060101010101" pitchFamily="49" charset="-122"/>
                <a:ea typeface="隶书" panose="02010509060101010101" pitchFamily="49" charset="-122"/>
              </a:rPr>
              <a:t>是标量</a:t>
            </a:r>
            <a:r>
              <a:rPr lang="en-US" altLang="zh-CN" b="1" dirty="0">
                <a:latin typeface="隶书" panose="02010509060101010101" pitchFamily="49" charset="-122"/>
                <a:ea typeface="隶书" panose="02010509060101010101" pitchFamily="49" charset="-122"/>
              </a:rPr>
              <a:t>(</a:t>
            </a:r>
            <a:r>
              <a:rPr lang="zh-CN" altLang="en-US" b="1" dirty="0">
                <a:latin typeface="隶书" panose="02010509060101010101" pitchFamily="49" charset="-122"/>
                <a:ea typeface="隶书" panose="02010509060101010101" pitchFamily="49" charset="-122"/>
              </a:rPr>
              <a:t>步长</a:t>
            </a:r>
            <a:r>
              <a:rPr lang="en-US" altLang="zh-CN" b="1" dirty="0">
                <a:latin typeface="隶书" panose="02010509060101010101" pitchFamily="49" charset="-122"/>
                <a:ea typeface="隶书" panose="02010509060101010101" pitchFamily="49" charset="-122"/>
              </a:rPr>
              <a:t>).</a:t>
            </a:r>
            <a:r>
              <a:rPr lang="zh-CN" altLang="en-US" b="1" dirty="0">
                <a:latin typeface="隶书" panose="02010509060101010101" pitchFamily="49" charset="-122"/>
                <a:ea typeface="隶书" panose="02010509060101010101" pitchFamily="49" charset="-122"/>
              </a:rPr>
              <a:t>             </a:t>
            </a:r>
            <a:r>
              <a:rPr lang="zh-CN" altLang="en-US" dirty="0">
                <a:latin typeface="Times New Roman" panose="02020603050405020304" pitchFamily="18" charset="0"/>
              </a:rPr>
              <a:t>   </a:t>
            </a:r>
            <a:endParaRPr lang="zh-CN" altLang="en-US" sz="36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5782"/>
                                        </p:tgtEl>
                                        <p:attrNameLst>
                                          <p:attrName>style.visibility</p:attrName>
                                        </p:attrNameLst>
                                      </p:cBhvr>
                                      <p:to>
                                        <p:strVal val="visible"/>
                                      </p:to>
                                    </p:set>
                                    <p:animEffect transition="in" filter="checkerboard(across)">
                                      <p:cBhvr>
                                        <p:cTn id="7" dur="500"/>
                                        <p:tgtEl>
                                          <p:spTgt spid="7578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5783"/>
                                        </p:tgtEl>
                                        <p:attrNameLst>
                                          <p:attrName>style.visibility</p:attrName>
                                        </p:attrNameLst>
                                      </p:cBhvr>
                                      <p:to>
                                        <p:strVal val="visible"/>
                                      </p:to>
                                    </p:set>
                                    <p:animEffect transition="in" filter="box(in)">
                                      <p:cBhvr>
                                        <p:cTn id="12" dur="500"/>
                                        <p:tgtEl>
                                          <p:spTgt spid="757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9108"/>
                                        </p:tgtEl>
                                        <p:attrNameLst>
                                          <p:attrName>style.visibility</p:attrName>
                                        </p:attrNameLst>
                                      </p:cBhvr>
                                      <p:to>
                                        <p:strVal val="visible"/>
                                      </p:to>
                                    </p:set>
                                    <p:animEffect transition="in" filter="wipe(up)">
                                      <p:cBhvr>
                                        <p:cTn id="17" dur="500"/>
                                        <p:tgtEl>
                                          <p:spTgt spid="891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784"/>
                                        </p:tgtEl>
                                        <p:attrNameLst>
                                          <p:attrName>style.visibility</p:attrName>
                                        </p:attrNameLst>
                                      </p:cBhvr>
                                      <p:to>
                                        <p:strVal val="visible"/>
                                      </p:to>
                                    </p:set>
                                    <p:animEffect transition="in" filter="wipe(left)">
                                      <p:cBhvr>
                                        <p:cTn id="22" dur="500"/>
                                        <p:tgtEl>
                                          <p:spTgt spid="7578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2" grpId="0"/>
      <p:bldP spid="75783" grpId="0"/>
      <p:bldP spid="75784" grpId="0"/>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940"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39941" name="Rectangle 11"/>
          <p:cNvSpPr>
            <a:spLocks noGrp="1"/>
          </p:cNvSpPr>
          <p:nvPr>
            <p:ph type="title"/>
          </p:nvPr>
        </p:nvSpPr>
        <p:spPr>
          <a:xfrm>
            <a:off x="398463" y="212725"/>
            <a:ext cx="7772400" cy="804863"/>
          </a:xfrm>
          <a:ln/>
        </p:spPr>
        <p:txBody>
          <a:bodyPr vert="horz" wrap="square" lIns="91440" tIns="45720" rIns="91440" bIns="45720" anchor="ctr" anchorCtr="0"/>
          <a:p>
            <a:pPr algn="l"/>
            <a:r>
              <a:rPr lang="en-US" altLang="zh-CN" sz="2400" u="none" dirty="0">
                <a:latin typeface="Times New Roman" panose="02020603050405020304" pitchFamily="18" charset="0"/>
              </a:rPr>
              <a:t>9.3  </a:t>
            </a:r>
            <a:r>
              <a:rPr lang="zh-CN" altLang="en-US" sz="2400" u="none" dirty="0"/>
              <a:t>收敛性与稳定性</a:t>
            </a:r>
            <a:endParaRPr lang="zh-CN" altLang="zh-CN" sz="2800" dirty="0"/>
          </a:p>
        </p:txBody>
      </p:sp>
      <p:sp>
        <p:nvSpPr>
          <p:cNvPr id="98320" name="Rectangle 16"/>
          <p:cNvSpPr/>
          <p:nvPr/>
        </p:nvSpPr>
        <p:spPr>
          <a:xfrm>
            <a:off x="503238" y="1511300"/>
            <a:ext cx="7951787" cy="4815840"/>
          </a:xfrm>
          <a:prstGeom prst="rect">
            <a:avLst/>
          </a:prstGeom>
          <a:noFill/>
          <a:ln w="9525">
            <a:noFill/>
          </a:ln>
        </p:spPr>
        <p:txBody>
          <a:bodyPr>
            <a:spAutoFit/>
          </a:bodyPr>
          <a:p>
            <a:pPr>
              <a:lnSpc>
                <a:spcPct val="120000"/>
              </a:lnSpc>
              <a:buClr>
                <a:schemeClr val="accent2"/>
              </a:buClr>
              <a:buFont typeface="ZapfDingbats" pitchFamily="82" charset="2"/>
            </a:pPr>
            <a:r>
              <a:rPr lang="en-US" altLang="zh-CN" dirty="0">
                <a:latin typeface="Times New Roman" panose="02020603050405020304" pitchFamily="18" charset="0"/>
              </a:rPr>
              <a:t>(9.3.1) </a:t>
            </a:r>
            <a:r>
              <a:rPr lang="zh-CN" altLang="en-US" dirty="0">
                <a:latin typeface="Times New Roman" panose="02020603050405020304" pitchFamily="18" charset="0"/>
              </a:rPr>
              <a:t>这样的差分公式在理论上是否合理, </a:t>
            </a:r>
            <a:r>
              <a:rPr lang="zh-CN" altLang="en-US" b="1" dirty="0">
                <a:latin typeface="Times New Roman" panose="02020603050405020304" pitchFamily="18" charset="0"/>
              </a:rPr>
              <a:t>一方面</a:t>
            </a:r>
            <a:r>
              <a:rPr lang="zh-CN" altLang="en-US" dirty="0">
                <a:latin typeface="Times New Roman" panose="02020603050405020304" pitchFamily="18" charset="0"/>
              </a:rPr>
              <a:t>要看</a:t>
            </a:r>
            <a:r>
              <a:rPr lang="zh-CN" altLang="en-US" b="1" dirty="0">
                <a:solidFill>
                  <a:srgbClr val="FF0000"/>
                </a:solidFill>
                <a:latin typeface="Times New Roman" panose="02020603050405020304" pitchFamily="18" charset="0"/>
              </a:rPr>
              <a:t>差分方程的解 </a:t>
            </a:r>
            <a:r>
              <a:rPr lang="en-US" altLang="zh-CN" b="1" i="1" dirty="0">
                <a:solidFill>
                  <a:srgbClr val="FF0000"/>
                </a:solidFill>
                <a:latin typeface="Times New Roman" panose="02020603050405020304" pitchFamily="18" charset="0"/>
              </a:rPr>
              <a:t>y</a:t>
            </a:r>
            <a:r>
              <a:rPr lang="en-US" altLang="zh-CN" b="1" i="1" baseline="-25000" dirty="0">
                <a:solidFill>
                  <a:srgbClr val="FF0000"/>
                </a:solidFill>
                <a:latin typeface="Times New Roman" panose="02020603050405020304" pitchFamily="18" charset="0"/>
              </a:rPr>
              <a:t>n</a:t>
            </a:r>
            <a:r>
              <a:rPr lang="zh-CN" altLang="zh-CN" b="1" dirty="0">
                <a:solidFill>
                  <a:srgbClr val="FF0000"/>
                </a:solidFill>
                <a:latin typeface="Times New Roman" panose="02020603050405020304" pitchFamily="18" charset="0"/>
              </a:rPr>
              <a:t>是否收敛于原方程的精确解</a:t>
            </a:r>
            <a:r>
              <a:rPr lang="en-US" altLang="zh-CN" b="1" i="1" dirty="0">
                <a:solidFill>
                  <a:srgbClr val="FF0000"/>
                </a:solidFill>
                <a:latin typeface="Times New Roman" panose="02020603050405020304" pitchFamily="18" charset="0"/>
              </a:rPr>
              <a:t>y</a:t>
            </a:r>
            <a:r>
              <a:rPr lang="en-US" altLang="zh-CN" b="1" dirty="0">
                <a:solidFill>
                  <a:srgbClr val="FF0000"/>
                </a:solidFill>
                <a:latin typeface="Times New Roman" panose="02020603050405020304" pitchFamily="18" charset="0"/>
              </a:rPr>
              <a:t>(</a:t>
            </a:r>
            <a:r>
              <a:rPr lang="en-US" altLang="zh-CN" b="1" i="1" dirty="0">
                <a:solidFill>
                  <a:srgbClr val="FF0000"/>
                </a:solidFill>
                <a:latin typeface="Times New Roman" panose="02020603050405020304" pitchFamily="18" charset="0"/>
              </a:rPr>
              <a:t>x</a:t>
            </a:r>
            <a:r>
              <a:rPr lang="en-US" altLang="zh-CN" b="1" i="1" baseline="-25000" dirty="0">
                <a:solidFill>
                  <a:srgbClr val="FF0000"/>
                </a:solidFill>
                <a:latin typeface="Times New Roman" panose="02020603050405020304" pitchFamily="18" charset="0"/>
              </a:rPr>
              <a:t>n</a:t>
            </a:r>
            <a:r>
              <a:rPr lang="en-US" altLang="zh-CN" b="1" dirty="0">
                <a:solidFill>
                  <a:srgbClr val="FF0000"/>
                </a:solidFill>
                <a:latin typeface="Times New Roman" panose="02020603050405020304" pitchFamily="18" charset="0"/>
              </a:rPr>
              <a:t>),</a:t>
            </a:r>
            <a:r>
              <a:rPr lang="en-US" altLang="zh-CN" b="1" dirty="0">
                <a:latin typeface="Times New Roman" panose="02020603050405020304" pitchFamily="18" charset="0"/>
              </a:rPr>
              <a:t>  </a:t>
            </a:r>
            <a:r>
              <a:rPr lang="zh-CN" altLang="zh-CN" b="1" dirty="0">
                <a:latin typeface="Times New Roman" panose="02020603050405020304" pitchFamily="18" charset="0"/>
              </a:rPr>
              <a:t>另一方面</a:t>
            </a:r>
            <a:r>
              <a:rPr lang="zh-CN" altLang="zh-CN" dirty="0">
                <a:latin typeface="Times New Roman" panose="02020603050405020304" pitchFamily="18" charset="0"/>
              </a:rPr>
              <a:t>要讨论的问题是</a:t>
            </a:r>
            <a:r>
              <a:rPr lang="zh-CN" altLang="en-US" dirty="0">
                <a:latin typeface="Times New Roman" panose="02020603050405020304" pitchFamily="18" charset="0"/>
              </a:rPr>
              <a:t>: 若计算中某一步</a:t>
            </a:r>
            <a:r>
              <a:rPr lang="en-US" altLang="zh-CN" i="1" dirty="0">
                <a:latin typeface="Times New Roman" panose="02020603050405020304" pitchFamily="18" charset="0"/>
              </a:rPr>
              <a:t>y</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 </a:t>
            </a:r>
            <a:r>
              <a:rPr lang="zh-CN" altLang="zh-CN" dirty="0">
                <a:latin typeface="Times New Roman" panose="02020603050405020304" pitchFamily="18" charset="0"/>
              </a:rPr>
              <a:t>有舍入误差</a:t>
            </a:r>
            <a:r>
              <a:rPr lang="zh-CN" altLang="en-US" dirty="0">
                <a:latin typeface="Times New Roman" panose="02020603050405020304" pitchFamily="18" charset="0"/>
              </a:rPr>
              <a:t>, 随着计算的逐步推进, </a:t>
            </a:r>
            <a:r>
              <a:rPr lang="zh-CN" altLang="en-US" b="1" dirty="0">
                <a:solidFill>
                  <a:srgbClr val="FF0000"/>
                </a:solidFill>
                <a:latin typeface="Times New Roman" panose="02020603050405020304" pitchFamily="18" charset="0"/>
              </a:rPr>
              <a:t>此舍入误差的传播能否得到控制的问题。</a:t>
            </a:r>
            <a:r>
              <a:rPr lang="zh-CN" altLang="en-US" b="1" dirty="0">
                <a:latin typeface="Times New Roman" panose="02020603050405020304" pitchFamily="18" charset="0"/>
              </a:rPr>
              <a:t> </a:t>
            </a:r>
            <a:r>
              <a:rPr lang="zh-CN" altLang="en-US" dirty="0">
                <a:latin typeface="Times New Roman" panose="02020603050405020304" pitchFamily="18" charset="0"/>
              </a:rPr>
              <a:t>前者是方法的</a:t>
            </a:r>
            <a:r>
              <a:rPr lang="zh-CN" altLang="en-US" b="1" dirty="0">
                <a:solidFill>
                  <a:schemeClr val="accent2"/>
                </a:solidFill>
                <a:latin typeface="Times New Roman" panose="02020603050405020304" pitchFamily="18" charset="0"/>
              </a:rPr>
              <a:t>收敛性问题，</a:t>
            </a:r>
            <a:r>
              <a:rPr lang="zh-CN" altLang="en-US" dirty="0">
                <a:latin typeface="Times New Roman" panose="02020603050405020304" pitchFamily="18" charset="0"/>
              </a:rPr>
              <a:t>后者是方法的</a:t>
            </a:r>
            <a:r>
              <a:rPr lang="zh-CN" altLang="en-US" b="1" dirty="0">
                <a:solidFill>
                  <a:schemeClr val="accent2"/>
                </a:solidFill>
                <a:latin typeface="Times New Roman" panose="02020603050405020304" pitchFamily="18" charset="0"/>
              </a:rPr>
              <a:t>数值稳定性问题</a:t>
            </a:r>
            <a:r>
              <a:rPr lang="zh-CN" altLang="en-US" b="1" dirty="0">
                <a:latin typeface="Times New Roman" panose="02020603050405020304" pitchFamily="18" charset="0"/>
              </a:rPr>
              <a:t>，</a:t>
            </a:r>
            <a:r>
              <a:rPr lang="zh-CN" altLang="en-US" dirty="0">
                <a:latin typeface="Times New Roman" panose="02020603050405020304" pitchFamily="18" charset="0"/>
              </a:rPr>
              <a:t> </a:t>
            </a:r>
            <a:r>
              <a:rPr lang="zh-CN" altLang="en-US" b="1" dirty="0">
                <a:latin typeface="Times New Roman" panose="02020603050405020304" pitchFamily="18" charset="0"/>
              </a:rPr>
              <a:t>一个不收敛或不稳定的数值方法是毫无实用价值的。</a:t>
            </a:r>
            <a:endParaRPr lang="zh-CN" altLang="en-US" baseline="-25000" dirty="0">
              <a:latin typeface="Times New Roman" panose="02020603050405020304" pitchFamily="18" charset="0"/>
            </a:endParaRPr>
          </a:p>
        </p:txBody>
      </p:sp>
      <p:graphicFrame>
        <p:nvGraphicFramePr>
          <p:cNvPr id="39938" name="Object 20"/>
          <p:cNvGraphicFramePr/>
          <p:nvPr/>
        </p:nvGraphicFramePr>
        <p:xfrm>
          <a:off x="2190433" y="847725"/>
          <a:ext cx="6207760" cy="603250"/>
        </p:xfrm>
        <a:graphic>
          <a:graphicData uri="http://schemas.openxmlformats.org/presentationml/2006/ole">
            <mc:AlternateContent xmlns:mc="http://schemas.openxmlformats.org/markup-compatibility/2006">
              <mc:Choice xmlns:v="urn:schemas-microsoft-com:vml" Requires="v">
                <p:oleObj spid="_x0000_s3202" name="" r:id="rId1" imgW="2489200" imgH="241300" progId="Equation.3">
                  <p:embed/>
                </p:oleObj>
              </mc:Choice>
              <mc:Fallback>
                <p:oleObj name="" r:id="rId1" imgW="2489200" imgH="241300" progId="Equation.3">
                  <p:embed/>
                  <p:pic>
                    <p:nvPicPr>
                      <p:cNvPr id="0" name="图片 3201"/>
                      <p:cNvPicPr/>
                      <p:nvPr/>
                    </p:nvPicPr>
                    <p:blipFill>
                      <a:blip r:embed="rId2"/>
                      <a:stretch>
                        <a:fillRect/>
                      </a:stretch>
                    </p:blipFill>
                    <p:spPr>
                      <a:xfrm>
                        <a:off x="2190433" y="847725"/>
                        <a:ext cx="6207760" cy="6032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8320"/>
                                        </p:tgtEl>
                                        <p:attrNameLst>
                                          <p:attrName>style.visibility</p:attrName>
                                        </p:attrNameLst>
                                      </p:cBhvr>
                                      <p:to>
                                        <p:strVal val="visible"/>
                                      </p:to>
                                    </p:set>
                                    <p:animEffect transition="in" filter="blinds(horizontal)">
                                      <p:cBhvr>
                                        <p:cTn id="7" dur="500"/>
                                        <p:tgtEl>
                                          <p:spTgt spid="98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2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964"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40965" name="Rectangle 11"/>
          <p:cNvSpPr>
            <a:spLocks noGrp="1"/>
          </p:cNvSpPr>
          <p:nvPr>
            <p:ph type="title"/>
          </p:nvPr>
        </p:nvSpPr>
        <p:spPr>
          <a:xfrm>
            <a:off x="239713" y="120650"/>
            <a:ext cx="7772400" cy="1143000"/>
          </a:xfrm>
          <a:ln/>
        </p:spPr>
        <p:txBody>
          <a:bodyPr vert="horz" wrap="square" lIns="91440" tIns="45720" rIns="91440" bIns="45720" anchor="ctr" anchorCtr="0"/>
          <a:p>
            <a:pPr algn="l"/>
            <a:r>
              <a:rPr lang="en-US" altLang="zh-CN" sz="3600" b="1" u="none" dirty="0">
                <a:solidFill>
                  <a:srgbClr val="0033CC"/>
                </a:solidFill>
                <a:latin typeface="Times New Roman" panose="02020603050405020304" pitchFamily="18" charset="0"/>
              </a:rPr>
              <a:t>3.1</a:t>
            </a:r>
            <a:r>
              <a:rPr lang="zh-CN" altLang="zh-CN" sz="3600" b="1" u="none" dirty="0">
                <a:solidFill>
                  <a:srgbClr val="0033CC"/>
                </a:solidFill>
                <a:latin typeface="Times New Roman" panose="02020603050405020304" pitchFamily="18" charset="0"/>
              </a:rPr>
              <a:t> 收敛性</a:t>
            </a:r>
            <a:endParaRPr lang="zh-CN" altLang="zh-CN" sz="3600" b="1" u="none" dirty="0">
              <a:latin typeface="Times New Roman" panose="02020603050405020304" pitchFamily="18" charset="0"/>
              <a:ea typeface="Times New Roman" panose="02020603050405020304" pitchFamily="18" charset="0"/>
            </a:endParaRPr>
          </a:p>
        </p:txBody>
      </p:sp>
      <p:sp>
        <p:nvSpPr>
          <p:cNvPr id="99340" name="Rectangle 12"/>
          <p:cNvSpPr/>
          <p:nvPr/>
        </p:nvSpPr>
        <p:spPr>
          <a:xfrm>
            <a:off x="396875" y="1000125"/>
            <a:ext cx="8447088" cy="1938020"/>
          </a:xfrm>
          <a:prstGeom prst="rect">
            <a:avLst/>
          </a:prstGeom>
          <a:noFill/>
          <a:ln w="9525">
            <a:noFill/>
          </a:ln>
        </p:spPr>
        <p:txBody>
          <a:bodyPr>
            <a:spAutoFit/>
          </a:bodyPr>
          <a:p>
            <a:pPr>
              <a:lnSpc>
                <a:spcPct val="125000"/>
              </a:lnSpc>
            </a:pPr>
            <a:r>
              <a:rPr lang="zh-CN" altLang="zh-CN" b="1" dirty="0">
                <a:latin typeface="Times New Roman" panose="02020603050405020304" pitchFamily="18" charset="0"/>
              </a:rPr>
              <a:t>定义 </a:t>
            </a:r>
            <a:r>
              <a:rPr lang="en-US" altLang="zh-CN" b="1" dirty="0">
                <a:latin typeface="Times New Roman" panose="02020603050405020304" pitchFamily="18" charset="0"/>
              </a:rPr>
              <a:t>9.</a:t>
            </a:r>
            <a:r>
              <a:rPr lang="en-US" altLang="zh-CN" b="1" dirty="0">
                <a:latin typeface="Times New Roman" panose="02020603050405020304" pitchFamily="18" charset="0"/>
              </a:rPr>
              <a:t>3</a:t>
            </a:r>
            <a:r>
              <a:rPr lang="zh-CN" altLang="en-US" b="1" dirty="0">
                <a:latin typeface="Times New Roman" panose="02020603050405020304" pitchFamily="18" charset="0"/>
              </a:rPr>
              <a:t>.1</a:t>
            </a:r>
            <a:r>
              <a:rPr lang="zh-CN" altLang="en-US" dirty="0">
                <a:solidFill>
                  <a:srgbClr val="0033CC"/>
                </a:solidFill>
                <a:latin typeface="Times New Roman" panose="02020603050405020304" pitchFamily="18" charset="0"/>
              </a:rPr>
              <a:t>  </a:t>
            </a:r>
            <a:r>
              <a:rPr lang="zh-CN" altLang="en-US" dirty="0">
                <a:latin typeface="Times New Roman" panose="02020603050405020304" pitchFamily="18" charset="0"/>
              </a:rPr>
              <a:t>设一阶常微分方程初值问题的准确解为 </a:t>
            </a:r>
            <a:r>
              <a:rPr lang="en-US" altLang="zh-CN" i="1" dirty="0">
                <a:latin typeface="Times New Roman" panose="02020603050405020304" pitchFamily="18" charset="0"/>
              </a:rPr>
              <a:t>y </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dirty="0">
                <a:latin typeface="Times New Roman" panose="02020603050405020304" pitchFamily="18" charset="0"/>
              </a:rPr>
              <a:t>), </a:t>
            </a:r>
            <a:r>
              <a:rPr lang="zh-CN" altLang="zh-CN" dirty="0">
                <a:latin typeface="Times New Roman" panose="02020603050405020304" pitchFamily="18" charset="0"/>
              </a:rPr>
              <a:t>若对于任意节点</a:t>
            </a:r>
            <a:r>
              <a:rPr lang="zh-CN" altLang="en-US" dirty="0">
                <a:latin typeface="Times New Roman" panose="02020603050405020304" pitchFamily="18" charset="0"/>
              </a:rPr>
              <a:t> </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 </a:t>
            </a:r>
            <a:r>
              <a:rPr lang="en-US" altLang="zh-CN" dirty="0">
                <a:latin typeface="Times New Roman" panose="02020603050405020304" pitchFamily="18" charset="0"/>
              </a:rPr>
              <a:t>= </a:t>
            </a:r>
            <a:r>
              <a:rPr lang="en-US" altLang="zh-CN" i="1" dirty="0">
                <a:latin typeface="Times New Roman" panose="02020603050405020304" pitchFamily="18" charset="0"/>
              </a:rPr>
              <a:t>x</a:t>
            </a:r>
            <a:r>
              <a:rPr lang="en-US" altLang="zh-CN" baseline="-25000" dirty="0">
                <a:latin typeface="Times New Roman" panose="02020603050405020304" pitchFamily="18" charset="0"/>
              </a:rPr>
              <a:t>0</a:t>
            </a:r>
            <a:r>
              <a:rPr lang="en-US" altLang="zh-CN" dirty="0">
                <a:latin typeface="Times New Roman" panose="02020603050405020304" pitchFamily="18" charset="0"/>
              </a:rPr>
              <a:t>+</a:t>
            </a:r>
            <a:r>
              <a:rPr lang="en-US" altLang="zh-CN" i="1" dirty="0">
                <a:latin typeface="Times New Roman" panose="02020603050405020304" pitchFamily="18" charset="0"/>
              </a:rPr>
              <a:t>nh</a:t>
            </a:r>
            <a:r>
              <a:rPr lang="en-US" altLang="zh-CN" dirty="0">
                <a:latin typeface="Times New Roman" panose="02020603050405020304" pitchFamily="18" charset="0"/>
              </a:rPr>
              <a:t>, </a:t>
            </a:r>
            <a:r>
              <a:rPr lang="en-US" altLang="zh-CN" i="1" dirty="0">
                <a:latin typeface="Times New Roman" panose="02020603050405020304" pitchFamily="18" charset="0"/>
              </a:rPr>
              <a:t>n </a:t>
            </a:r>
            <a:r>
              <a:rPr lang="en-US" altLang="zh-CN" dirty="0">
                <a:latin typeface="Times New Roman" panose="02020603050405020304" pitchFamily="18" charset="0"/>
              </a:rPr>
              <a:t>= 0,1,2,</a:t>
            </a:r>
            <a:endParaRPr lang="en-US" altLang="zh-CN" dirty="0">
              <a:latin typeface="Times New Roman" panose="02020603050405020304" pitchFamily="18" charset="0"/>
            </a:endParaRPr>
          </a:p>
          <a:p>
            <a:pPr>
              <a:lnSpc>
                <a:spcPct val="125000"/>
              </a:lnSpc>
            </a:pP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zh-CN" altLang="zh-CN" dirty="0">
                <a:latin typeface="Times New Roman" panose="02020603050405020304" pitchFamily="18" charset="0"/>
              </a:rPr>
              <a:t>当</a:t>
            </a:r>
            <a:r>
              <a:rPr lang="zh-CN" altLang="en-US" dirty="0">
                <a:latin typeface="Times New Roman" panose="02020603050405020304" pitchFamily="18" charset="0"/>
              </a:rPr>
              <a:t> </a:t>
            </a:r>
            <a:r>
              <a:rPr lang="en-US" altLang="zh-CN" i="1" dirty="0">
                <a:latin typeface="Times New Roman" panose="02020603050405020304" pitchFamily="18" charset="0"/>
              </a:rPr>
              <a:t>h</a:t>
            </a:r>
            <a:r>
              <a:rPr lang="zh-CN" altLang="en-US" dirty="0">
                <a:latin typeface="Times New Roman" panose="02020603050405020304" pitchFamily="18" charset="0"/>
              </a:rPr>
              <a:t>→0 (同时有</a:t>
            </a:r>
            <a:r>
              <a:rPr lang="en-US" altLang="en-US" i="1" dirty="0">
                <a:latin typeface="Times New Roman" panose="02020603050405020304" pitchFamily="18" charset="0"/>
              </a:rPr>
              <a:t>N</a:t>
            </a:r>
            <a:r>
              <a:rPr lang="zh-CN" altLang="en-US" dirty="0">
                <a:latin typeface="Times New Roman" panose="02020603050405020304" pitchFamily="18" charset="0"/>
              </a:rPr>
              <a:t>→∞) 时, 由单步法</a:t>
            </a:r>
            <a:r>
              <a:rPr lang="en-US" altLang="zh-CN" dirty="0">
                <a:latin typeface="Times New Roman" panose="02020603050405020304" pitchFamily="18" charset="0"/>
              </a:rPr>
              <a:t>(9.3.1)</a:t>
            </a:r>
            <a:endParaRPr lang="zh-CN" altLang="en-US" dirty="0">
              <a:latin typeface="Times New Roman" panose="02020603050405020304" pitchFamily="18" charset="0"/>
              <a:ea typeface="Times New Roman" panose="02020603050405020304" pitchFamily="18" charset="0"/>
            </a:endParaRPr>
          </a:p>
        </p:txBody>
      </p:sp>
      <p:graphicFrame>
        <p:nvGraphicFramePr>
          <p:cNvPr id="89108" name="Object 20"/>
          <p:cNvGraphicFramePr/>
          <p:nvPr/>
        </p:nvGraphicFramePr>
        <p:xfrm>
          <a:off x="2190433" y="2995613"/>
          <a:ext cx="6207760" cy="603250"/>
        </p:xfrm>
        <a:graphic>
          <a:graphicData uri="http://schemas.openxmlformats.org/presentationml/2006/ole">
            <mc:AlternateContent xmlns:mc="http://schemas.openxmlformats.org/markup-compatibility/2006">
              <mc:Choice xmlns:v="urn:schemas-microsoft-com:vml" Requires="v">
                <p:oleObj spid="_x0000_s3201" name="" r:id="rId1" imgW="2489200" imgH="241300" progId="Equation.3">
                  <p:embed/>
                </p:oleObj>
              </mc:Choice>
              <mc:Fallback>
                <p:oleObj name="" r:id="rId1" imgW="2489200" imgH="241300" progId="Equation.3">
                  <p:embed/>
                  <p:pic>
                    <p:nvPicPr>
                      <p:cNvPr id="0" name="图片 3200"/>
                      <p:cNvPicPr/>
                      <p:nvPr/>
                    </p:nvPicPr>
                    <p:blipFill>
                      <a:blip r:embed="rId2"/>
                      <a:stretch>
                        <a:fillRect/>
                      </a:stretch>
                    </p:blipFill>
                    <p:spPr>
                      <a:xfrm>
                        <a:off x="2190433" y="2995613"/>
                        <a:ext cx="6207760" cy="603250"/>
                      </a:xfrm>
                      <a:prstGeom prst="rect">
                        <a:avLst/>
                      </a:prstGeom>
                      <a:noFill/>
                      <a:ln w="38100">
                        <a:noFill/>
                        <a:miter/>
                      </a:ln>
                    </p:spPr>
                  </p:pic>
                </p:oleObj>
              </mc:Fallback>
            </mc:AlternateContent>
          </a:graphicData>
        </a:graphic>
      </p:graphicFrame>
      <p:sp>
        <p:nvSpPr>
          <p:cNvPr id="18" name="矩形 17"/>
          <p:cNvSpPr/>
          <p:nvPr/>
        </p:nvSpPr>
        <p:spPr>
          <a:xfrm>
            <a:off x="436563" y="3613150"/>
            <a:ext cx="8018462" cy="1938338"/>
          </a:xfrm>
          <a:prstGeom prst="rect">
            <a:avLst/>
          </a:prstGeom>
          <a:noFill/>
          <a:ln w="9525">
            <a:noFill/>
          </a:ln>
        </p:spPr>
        <p:txBody>
          <a:bodyPr>
            <a:spAutoFit/>
          </a:bodyPr>
          <a:p>
            <a:pPr>
              <a:lnSpc>
                <a:spcPct val="125000"/>
              </a:lnSpc>
            </a:pPr>
            <a:r>
              <a:rPr lang="zh-CN" altLang="en-US" dirty="0">
                <a:latin typeface="Times New Roman" panose="02020603050405020304" pitchFamily="18" charset="0"/>
              </a:rPr>
              <a:t>求出的数值解 </a:t>
            </a:r>
            <a:r>
              <a:rPr lang="en-US" altLang="zh-CN" i="1" dirty="0">
                <a:latin typeface="Times New Roman" panose="02020603050405020304" pitchFamily="18" charset="0"/>
              </a:rPr>
              <a:t>y</a:t>
            </a:r>
            <a:r>
              <a:rPr lang="en-US" altLang="zh-CN" i="1" baseline="-25000" dirty="0">
                <a:latin typeface="Times New Roman" panose="02020603050405020304" pitchFamily="18" charset="0"/>
              </a:rPr>
              <a:t>n</a:t>
            </a:r>
            <a:r>
              <a:rPr lang="en-US" altLang="zh-CN" dirty="0">
                <a:latin typeface="Times New Roman" panose="02020603050405020304" pitchFamily="18" charset="0"/>
              </a:rPr>
              <a:t> </a:t>
            </a:r>
            <a:r>
              <a:rPr lang="zh-CN" altLang="zh-CN" dirty="0">
                <a:latin typeface="Times New Roman" panose="02020603050405020304" pitchFamily="18" charset="0"/>
              </a:rPr>
              <a:t>均有 </a:t>
            </a:r>
            <a:r>
              <a:rPr lang="en-US" altLang="zh-CN" i="1" dirty="0">
                <a:latin typeface="Times New Roman" panose="02020603050405020304" pitchFamily="18" charset="0"/>
              </a:rPr>
              <a:t>y</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 </a:t>
            </a:r>
            <a:r>
              <a:rPr lang="zh-CN" altLang="en-US" dirty="0">
                <a:latin typeface="Times New Roman" panose="02020603050405020304" pitchFamily="18" charset="0"/>
              </a:rPr>
              <a:t>→</a:t>
            </a:r>
            <a:r>
              <a:rPr lang="en-US" altLang="zh-CN" i="1" dirty="0">
                <a:latin typeface="Times New Roman" panose="02020603050405020304" pitchFamily="18" charset="0"/>
              </a:rPr>
              <a:t>y </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en-US" altLang="zh-CN" dirty="0">
                <a:latin typeface="Times New Roman" panose="02020603050405020304" pitchFamily="18" charset="0"/>
              </a:rPr>
              <a:t>),</a:t>
            </a:r>
            <a:r>
              <a:rPr lang="zh-CN" altLang="en-US" dirty="0">
                <a:latin typeface="Times New Roman" panose="02020603050405020304" pitchFamily="18" charset="0"/>
              </a:rPr>
              <a:t> 则称该</a:t>
            </a:r>
            <a:r>
              <a:rPr lang="zh-CN" altLang="en-US" b="1" dirty="0">
                <a:latin typeface="Times New Roman" panose="02020603050405020304" pitchFamily="18" charset="0"/>
              </a:rPr>
              <a:t>数值方法收敛</a:t>
            </a:r>
            <a:r>
              <a:rPr lang="zh-CN" altLang="en-US" dirty="0">
                <a:latin typeface="Times New Roman" panose="02020603050405020304" pitchFamily="18" charset="0"/>
              </a:rPr>
              <a:t>, 或称数值解收敛于准确解. 若存在</a:t>
            </a:r>
            <a:r>
              <a:rPr lang="en-US" altLang="zh-CN" i="1" dirty="0">
                <a:latin typeface="Times New Roman" panose="02020603050405020304" pitchFamily="18" charset="0"/>
              </a:rPr>
              <a:t>c</a:t>
            </a:r>
            <a:r>
              <a:rPr lang="en-US" altLang="zh-CN" dirty="0">
                <a:latin typeface="Times New Roman" panose="02020603050405020304" pitchFamily="18" charset="0"/>
              </a:rPr>
              <a:t>&gt;0, </a:t>
            </a:r>
            <a:r>
              <a:rPr lang="zh-CN" altLang="en-US" dirty="0">
                <a:latin typeface="Times New Roman" panose="02020603050405020304" pitchFamily="18" charset="0"/>
              </a:rPr>
              <a:t>使得</a:t>
            </a:r>
            <a:endParaRPr lang="zh-CN" altLang="en-US" dirty="0">
              <a:latin typeface="Times New Roman" panose="02020603050405020304" pitchFamily="18" charset="0"/>
              <a:ea typeface="Times New Roman" panose="02020603050405020304" pitchFamily="18" charset="0"/>
            </a:endParaRPr>
          </a:p>
        </p:txBody>
      </p:sp>
      <p:sp>
        <p:nvSpPr>
          <p:cNvPr id="8" name="矩形 7"/>
          <p:cNvSpPr/>
          <p:nvPr/>
        </p:nvSpPr>
        <p:spPr>
          <a:xfrm>
            <a:off x="2840038" y="4872038"/>
            <a:ext cx="3073400" cy="584200"/>
          </a:xfrm>
          <a:prstGeom prst="rect">
            <a:avLst/>
          </a:prstGeom>
          <a:noFill/>
          <a:ln w="9525">
            <a:noFill/>
          </a:ln>
        </p:spPr>
        <p:txBody>
          <a:bodyPr wrap="none">
            <a:spAutoFit/>
          </a:bodyPr>
          <a:p>
            <a:pPr eaLnBrk="0" hangingPunct="0"/>
            <a:r>
              <a:rPr lang="en-US" altLang="zh-CN" i="1" dirty="0">
                <a:latin typeface="Times New Roman" panose="02020603050405020304" pitchFamily="18" charset="0"/>
              </a:rPr>
              <a:t>|y</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 </a:t>
            </a:r>
            <a:r>
              <a:rPr lang="en-US" altLang="zh-CN" dirty="0">
                <a:latin typeface="Times New Roman" panose="02020603050405020304" pitchFamily="18" charset="0"/>
              </a:rPr>
              <a:t>- </a:t>
            </a:r>
            <a:r>
              <a:rPr lang="en-US" altLang="zh-CN" i="1" dirty="0">
                <a:latin typeface="Times New Roman" panose="02020603050405020304" pitchFamily="18" charset="0"/>
              </a:rPr>
              <a:t>y </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en-US" altLang="zh-CN" dirty="0">
                <a:latin typeface="Times New Roman" panose="02020603050405020304" pitchFamily="18" charset="0"/>
              </a:rPr>
              <a:t>)|≤ </a:t>
            </a:r>
            <a:r>
              <a:rPr lang="en-US" altLang="zh-CN" i="1" dirty="0">
                <a:latin typeface="Times New Roman" panose="02020603050405020304" pitchFamily="18" charset="0"/>
              </a:rPr>
              <a:t>c h</a:t>
            </a:r>
            <a:r>
              <a:rPr lang="en-US" altLang="zh-CN" i="1" baseline="30000" dirty="0">
                <a:latin typeface="Times New Roman" panose="02020603050405020304" pitchFamily="18" charset="0"/>
              </a:rPr>
              <a:t>P</a:t>
            </a:r>
            <a:r>
              <a:rPr lang="en-US" altLang="zh-CN" dirty="0">
                <a:latin typeface="Times New Roman" panose="02020603050405020304" pitchFamily="18" charset="0"/>
              </a:rPr>
              <a:t>,</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9" name="矩形 8"/>
          <p:cNvSpPr/>
          <p:nvPr/>
        </p:nvSpPr>
        <p:spPr>
          <a:xfrm>
            <a:off x="482600" y="5637213"/>
            <a:ext cx="5418138" cy="584200"/>
          </a:xfrm>
          <a:prstGeom prst="rect">
            <a:avLst/>
          </a:prstGeom>
          <a:noFill/>
          <a:ln w="9525">
            <a:noFill/>
          </a:ln>
        </p:spPr>
        <p:txBody>
          <a:bodyPr wrap="none">
            <a:spAutoFit/>
          </a:bodyPr>
          <a:p>
            <a:pPr eaLnBrk="0" hangingPunct="0"/>
            <a:r>
              <a:rPr lang="zh-CN" altLang="en-US" dirty="0">
                <a:latin typeface="Times New Roman" panose="02020603050405020304" pitchFamily="18" charset="0"/>
              </a:rPr>
              <a:t>则称该数值方法是</a:t>
            </a:r>
            <a:r>
              <a:rPr lang="en-US" altLang="zh-CN" i="1" dirty="0">
                <a:latin typeface="Times New Roman" panose="02020603050405020304" pitchFamily="18" charset="0"/>
              </a:rPr>
              <a:t>P</a:t>
            </a:r>
            <a:r>
              <a:rPr lang="zh-CN" altLang="en-US" dirty="0">
                <a:latin typeface="Times New Roman" panose="02020603050405020304" pitchFamily="18" charset="0"/>
              </a:rPr>
              <a:t>阶收敛的</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99340"/>
                                        </p:tgtEl>
                                        <p:attrNameLst>
                                          <p:attrName>style.visibility</p:attrName>
                                        </p:attrNameLst>
                                      </p:cBhvr>
                                      <p:to>
                                        <p:strVal val="visible"/>
                                      </p:to>
                                    </p:set>
                                    <p:animEffect transition="in" filter="blinds(vertical)">
                                      <p:cBhvr>
                                        <p:cTn id="7" dur="500"/>
                                        <p:tgtEl>
                                          <p:spTgt spid="993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9108"/>
                                        </p:tgtEl>
                                        <p:attrNameLst>
                                          <p:attrName>style.visibility</p:attrName>
                                        </p:attrNameLst>
                                      </p:cBhvr>
                                      <p:to>
                                        <p:strVal val="visible"/>
                                      </p:to>
                                    </p:set>
                                    <p:animEffect transition="in" filter="wipe(up)">
                                      <p:cBhvr>
                                        <p:cTn id="12" dur="500"/>
                                        <p:tgtEl>
                                          <p:spTgt spid="891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40" grpId="0"/>
      <p:bldP spid="18" grpId="0"/>
      <p:bldP spid="8" grpId="0"/>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0"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41991" name="Rectangle 11"/>
          <p:cNvSpPr>
            <a:spLocks noGrp="1"/>
          </p:cNvSpPr>
          <p:nvPr>
            <p:ph type="title"/>
          </p:nvPr>
        </p:nvSpPr>
        <p:spPr>
          <a:xfrm>
            <a:off x="473075" y="163513"/>
            <a:ext cx="7772400" cy="668337"/>
          </a:xfrm>
          <a:ln/>
        </p:spPr>
        <p:txBody>
          <a:bodyPr vert="horz" wrap="square" lIns="91440" tIns="45720" rIns="91440" bIns="45720" anchor="ctr" anchorCtr="0"/>
          <a:p>
            <a:pPr algn="l"/>
            <a:r>
              <a:rPr lang="en-US" altLang="zh-CN" sz="2400" u="none" dirty="0">
                <a:solidFill>
                  <a:srgbClr val="0033CC"/>
                </a:solidFill>
                <a:latin typeface="Times New Roman" panose="02020603050405020304" pitchFamily="18" charset="0"/>
              </a:rPr>
              <a:t>3.1</a:t>
            </a:r>
            <a:r>
              <a:rPr lang="zh-CN" altLang="zh-CN" sz="2400" u="none" dirty="0">
                <a:solidFill>
                  <a:srgbClr val="0033CC"/>
                </a:solidFill>
                <a:latin typeface="Times New Roman" panose="02020603050405020304" pitchFamily="18" charset="0"/>
              </a:rPr>
              <a:t> 收敛性</a:t>
            </a:r>
            <a:endParaRPr lang="zh-CN" altLang="zh-CN" sz="2400" u="none" dirty="0">
              <a:latin typeface="Times New Roman" panose="02020603050405020304" pitchFamily="18" charset="0"/>
              <a:ea typeface="Times New Roman" panose="02020603050405020304" pitchFamily="18" charset="0"/>
            </a:endParaRPr>
          </a:p>
        </p:txBody>
      </p:sp>
      <p:sp>
        <p:nvSpPr>
          <p:cNvPr id="41992" name="Rectangle 13"/>
          <p:cNvSpPr/>
          <p:nvPr/>
        </p:nvSpPr>
        <p:spPr>
          <a:xfrm>
            <a:off x="341313" y="800100"/>
            <a:ext cx="8612187" cy="1076325"/>
          </a:xfrm>
          <a:prstGeom prst="rect">
            <a:avLst/>
          </a:prstGeom>
          <a:noFill/>
          <a:ln w="9525">
            <a:noFill/>
          </a:ln>
        </p:spPr>
        <p:txBody>
          <a:bodyPr>
            <a:spAutoFit/>
          </a:bodyPr>
          <a:p>
            <a:r>
              <a:rPr lang="zh-CN" altLang="zh-CN" b="1" dirty="0">
                <a:latin typeface="Times New Roman" panose="02020603050405020304" pitchFamily="18" charset="0"/>
              </a:rPr>
              <a:t>定理</a:t>
            </a:r>
            <a:r>
              <a:rPr lang="en-US" altLang="zh-CN" b="1" dirty="0">
                <a:latin typeface="Times New Roman" panose="02020603050405020304" pitchFamily="18" charset="0"/>
              </a:rPr>
              <a:t>9.</a:t>
            </a:r>
            <a:r>
              <a:rPr lang="en-US" altLang="zh-CN" b="1" dirty="0">
                <a:latin typeface="Times New Roman" panose="02020603050405020304" pitchFamily="18" charset="0"/>
              </a:rPr>
              <a:t>3</a:t>
            </a:r>
            <a:r>
              <a:rPr lang="zh-CN" altLang="en-US" b="1" dirty="0">
                <a:latin typeface="Times New Roman" panose="02020603050405020304" pitchFamily="18" charset="0"/>
              </a:rPr>
              <a:t>.1</a:t>
            </a:r>
            <a:r>
              <a:rPr lang="zh-CN" altLang="en-US" dirty="0">
                <a:solidFill>
                  <a:srgbClr val="0033CC"/>
                </a:solidFill>
                <a:latin typeface="Comic Sans MS" panose="030F0702030302020204" pitchFamily="66" charset="0"/>
              </a:rPr>
              <a:t> </a:t>
            </a:r>
            <a:r>
              <a:rPr lang="zh-CN" altLang="en-US" dirty="0">
                <a:latin typeface="Comic Sans MS" panose="030F0702030302020204" pitchFamily="66" charset="0"/>
              </a:rPr>
              <a:t>对于一个</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zh-CN" altLang="en-US" dirty="0">
                <a:latin typeface="Times New Roman" panose="02020603050405020304" pitchFamily="18" charset="0"/>
              </a:rPr>
              <a:t>(</a:t>
            </a:r>
            <a:r>
              <a:rPr lang="en-US" altLang="zh-CN" i="1" dirty="0">
                <a:latin typeface="Times New Roman" panose="02020603050405020304" pitchFamily="18" charset="0"/>
              </a:rPr>
              <a:t>P </a:t>
            </a:r>
            <a:r>
              <a:rPr lang="zh-CN" altLang="en-US" sz="2000" dirty="0">
                <a:latin typeface="Times New Roman" panose="02020603050405020304" pitchFamily="18" charset="0"/>
              </a:rPr>
              <a:t>≥</a:t>
            </a:r>
            <a:r>
              <a:rPr lang="zh-CN" altLang="en-US" dirty="0">
                <a:latin typeface="Times New Roman" panose="02020603050405020304" pitchFamily="18" charset="0"/>
              </a:rPr>
              <a:t>1)</a:t>
            </a:r>
            <a:r>
              <a:rPr lang="zh-CN" altLang="en-US" dirty="0">
                <a:latin typeface="宋体" panose="02010600030101010101" pitchFamily="2" charset="-122"/>
              </a:rPr>
              <a:t>阶的显式单步法</a:t>
            </a:r>
            <a:r>
              <a:rPr lang="en-US" altLang="zh-CN" dirty="0">
                <a:latin typeface="Times New Roman" panose="02020603050405020304" pitchFamily="18" charset="0"/>
              </a:rPr>
              <a:t>(9.3.1)</a:t>
            </a:r>
            <a:r>
              <a:rPr lang="zh-CN" altLang="en-US" dirty="0">
                <a:latin typeface="Times New Roman" panose="02020603050405020304" pitchFamily="18" charset="0"/>
              </a:rPr>
              <a:t>,  若增量函数</a:t>
            </a:r>
            <a:r>
              <a:rPr lang="en-US" altLang="zh-CN" i="1" dirty="0">
                <a:latin typeface="Times New Roman" panose="02020603050405020304" pitchFamily="18" charset="0"/>
              </a:rPr>
              <a:t>φ</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dirty="0">
                <a:latin typeface="Times New Roman" panose="02020603050405020304" pitchFamily="18" charset="0"/>
              </a:rPr>
              <a:t>,</a:t>
            </a:r>
            <a:r>
              <a:rPr lang="en-US" altLang="zh-CN" i="1" dirty="0">
                <a:latin typeface="Times New Roman" panose="02020603050405020304" pitchFamily="18" charset="0"/>
              </a:rPr>
              <a:t> y</a:t>
            </a:r>
            <a:r>
              <a:rPr lang="en-US" altLang="zh-CN" dirty="0">
                <a:latin typeface="Times New Roman" panose="02020603050405020304" pitchFamily="18" charset="0"/>
              </a:rPr>
              <a:t>,</a:t>
            </a:r>
            <a:r>
              <a:rPr lang="en-US" altLang="zh-CN" i="1" dirty="0">
                <a:latin typeface="Times New Roman" panose="02020603050405020304" pitchFamily="18" charset="0"/>
              </a:rPr>
              <a:t> h</a:t>
            </a:r>
            <a:r>
              <a:rPr lang="en-US" altLang="zh-CN" dirty="0">
                <a:latin typeface="Times New Roman" panose="02020603050405020304" pitchFamily="18" charset="0"/>
              </a:rPr>
              <a:t>)</a:t>
            </a:r>
            <a:r>
              <a:rPr lang="zh-CN" altLang="zh-CN" dirty="0">
                <a:latin typeface="Times New Roman" panose="02020603050405020304" pitchFamily="18" charset="0"/>
              </a:rPr>
              <a:t>在区域</a:t>
            </a:r>
            <a:endParaRPr lang="zh-CN" altLang="en-US" sz="800" dirty="0">
              <a:latin typeface="宋体" panose="02010600030101010101" pitchFamily="2" charset="-122"/>
            </a:endParaRPr>
          </a:p>
        </p:txBody>
      </p:sp>
      <p:graphicFrame>
        <p:nvGraphicFramePr>
          <p:cNvPr id="41986" name="Object 4"/>
          <p:cNvGraphicFramePr/>
          <p:nvPr/>
        </p:nvGraphicFramePr>
        <p:xfrm>
          <a:off x="1244600" y="1938338"/>
          <a:ext cx="6399213" cy="566737"/>
        </p:xfrm>
        <a:graphic>
          <a:graphicData uri="http://schemas.openxmlformats.org/presentationml/2006/ole">
            <mc:AlternateContent xmlns:mc="http://schemas.openxmlformats.org/markup-compatibility/2006">
              <mc:Choice xmlns:v="urn:schemas-microsoft-com:vml" Requires="v">
                <p:oleObj spid="_x0000_s3204" name="" r:id="rId1" imgW="2641600" imgH="228600" progId="Equation.DSMT4">
                  <p:embed/>
                </p:oleObj>
              </mc:Choice>
              <mc:Fallback>
                <p:oleObj name="" r:id="rId1" imgW="2641600" imgH="228600" progId="Equation.DSMT4">
                  <p:embed/>
                  <p:pic>
                    <p:nvPicPr>
                      <p:cNvPr id="0" name="图片 3203"/>
                      <p:cNvPicPr/>
                      <p:nvPr/>
                    </p:nvPicPr>
                    <p:blipFill>
                      <a:blip r:embed="rId2"/>
                      <a:stretch>
                        <a:fillRect/>
                      </a:stretch>
                    </p:blipFill>
                    <p:spPr>
                      <a:xfrm>
                        <a:off x="1244600" y="1938338"/>
                        <a:ext cx="6399213" cy="566737"/>
                      </a:xfrm>
                      <a:prstGeom prst="rect">
                        <a:avLst/>
                      </a:prstGeom>
                      <a:noFill/>
                      <a:ln w="38100">
                        <a:noFill/>
                        <a:miter/>
                      </a:ln>
                    </p:spPr>
                  </p:pic>
                </p:oleObj>
              </mc:Fallback>
            </mc:AlternateContent>
          </a:graphicData>
        </a:graphic>
      </p:graphicFrame>
      <p:graphicFrame>
        <p:nvGraphicFramePr>
          <p:cNvPr id="41987" name="Object 6"/>
          <p:cNvGraphicFramePr/>
          <p:nvPr/>
        </p:nvGraphicFramePr>
        <p:xfrm>
          <a:off x="1344613" y="4167188"/>
          <a:ext cx="5192712" cy="1052512"/>
        </p:xfrm>
        <a:graphic>
          <a:graphicData uri="http://schemas.openxmlformats.org/presentationml/2006/ole">
            <mc:AlternateContent xmlns:mc="http://schemas.openxmlformats.org/markup-compatibility/2006">
              <mc:Choice xmlns:v="urn:schemas-microsoft-com:vml" Requires="v">
                <p:oleObj spid="_x0000_s3203" name="" r:id="rId3" imgW="2120900" imgH="419100" progId="Equation.DSMT4">
                  <p:embed/>
                </p:oleObj>
              </mc:Choice>
              <mc:Fallback>
                <p:oleObj name="" r:id="rId3" imgW="2120900" imgH="419100" progId="Equation.DSMT4">
                  <p:embed/>
                  <p:pic>
                    <p:nvPicPr>
                      <p:cNvPr id="0" name="图片 3202"/>
                      <p:cNvPicPr/>
                      <p:nvPr/>
                    </p:nvPicPr>
                    <p:blipFill>
                      <a:blip r:embed="rId4"/>
                      <a:stretch>
                        <a:fillRect/>
                      </a:stretch>
                    </p:blipFill>
                    <p:spPr>
                      <a:xfrm>
                        <a:off x="1344613" y="4167188"/>
                        <a:ext cx="5192712" cy="1052512"/>
                      </a:xfrm>
                      <a:prstGeom prst="rect">
                        <a:avLst/>
                      </a:prstGeom>
                      <a:noFill/>
                      <a:ln w="38100">
                        <a:noFill/>
                        <a:miter/>
                      </a:ln>
                    </p:spPr>
                  </p:pic>
                </p:oleObj>
              </mc:Fallback>
            </mc:AlternateContent>
          </a:graphicData>
        </a:graphic>
      </p:graphicFrame>
      <p:sp>
        <p:nvSpPr>
          <p:cNvPr id="41993" name="Rectangle 19"/>
          <p:cNvSpPr/>
          <p:nvPr/>
        </p:nvSpPr>
        <p:spPr>
          <a:xfrm>
            <a:off x="317500" y="5189538"/>
            <a:ext cx="8348663" cy="1077912"/>
          </a:xfrm>
          <a:prstGeom prst="rect">
            <a:avLst/>
          </a:prstGeom>
          <a:noFill/>
          <a:ln w="9525">
            <a:noFill/>
          </a:ln>
        </p:spPr>
        <p:txBody>
          <a:bodyPr>
            <a:spAutoFit/>
          </a:bodyPr>
          <a:p>
            <a:r>
              <a:rPr lang="zh-CN" altLang="en-US" dirty="0">
                <a:latin typeface="宋体" panose="02010600030101010101" pitchFamily="2" charset="-122"/>
              </a:rPr>
              <a:t>从而当微分方程的</a:t>
            </a:r>
            <a:r>
              <a:rPr lang="zh-CN" altLang="en-US" b="1" dirty="0">
                <a:latin typeface="宋体" panose="02010600030101010101" pitchFamily="2" charset="-122"/>
              </a:rPr>
              <a:t>初值精确</a:t>
            </a:r>
            <a:r>
              <a:rPr lang="zh-CN" altLang="en-US" dirty="0">
                <a:latin typeface="宋体" panose="02010600030101010101" pitchFamily="2" charset="-122"/>
              </a:rPr>
              <a:t>时</a:t>
            </a:r>
            <a:r>
              <a:rPr lang="zh-CN" altLang="en-US" dirty="0">
                <a:latin typeface="Times New Roman" panose="02020603050405020304" pitchFamily="18" charset="0"/>
              </a:rPr>
              <a:t>, 该方法收敛, 其整体截断误差为</a:t>
            </a:r>
            <a:r>
              <a:rPr lang="en-US" altLang="zh-CN" i="1" dirty="0">
                <a:latin typeface="Times New Roman" panose="02020603050405020304" pitchFamily="18" charset="0"/>
              </a:rPr>
              <a:t>e</a:t>
            </a:r>
            <a:r>
              <a:rPr lang="en-US" altLang="zh-CN" i="1" baseline="-25000" dirty="0">
                <a:latin typeface="Times New Roman" panose="02020603050405020304" pitchFamily="18" charset="0"/>
              </a:rPr>
              <a:t>n</a:t>
            </a:r>
            <a:r>
              <a:rPr lang="en-US" altLang="zh-CN" dirty="0">
                <a:latin typeface="Times New Roman" panose="02020603050405020304" pitchFamily="18" charset="0"/>
              </a:rPr>
              <a:t> =  </a:t>
            </a:r>
            <a:r>
              <a:rPr lang="en-US" altLang="zh-CN" i="1" dirty="0">
                <a:latin typeface="Times New Roman" panose="02020603050405020304" pitchFamily="18" charset="0"/>
              </a:rPr>
              <a:t>y</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en-US" altLang="zh-CN" dirty="0">
                <a:latin typeface="Times New Roman" panose="02020603050405020304" pitchFamily="18" charset="0"/>
              </a:rPr>
              <a:t>) - </a:t>
            </a:r>
            <a:r>
              <a:rPr lang="en-US" altLang="zh-CN" i="1" dirty="0">
                <a:latin typeface="Times New Roman" panose="02020603050405020304" pitchFamily="18" charset="0"/>
              </a:rPr>
              <a:t>y</a:t>
            </a:r>
            <a:r>
              <a:rPr lang="en-US" altLang="zh-CN" i="1" baseline="-25000" dirty="0">
                <a:latin typeface="Times New Roman" panose="02020603050405020304" pitchFamily="18" charset="0"/>
              </a:rPr>
              <a:t>n</a:t>
            </a:r>
            <a:r>
              <a:rPr lang="en-US" altLang="zh-CN" dirty="0">
                <a:latin typeface="Times New Roman" panose="02020603050405020304" pitchFamily="18" charset="0"/>
              </a:rPr>
              <a:t>= O(</a:t>
            </a:r>
            <a:r>
              <a:rPr lang="en-US" altLang="zh-CN" i="1" dirty="0">
                <a:latin typeface="Times New Roman" panose="02020603050405020304" pitchFamily="18" charset="0"/>
              </a:rPr>
              <a:t>h</a:t>
            </a:r>
            <a:r>
              <a:rPr lang="en-US" altLang="zh-CN" i="1" baseline="30000" dirty="0">
                <a:latin typeface="Times New Roman" panose="02020603050405020304" pitchFamily="18" charset="0"/>
              </a:rPr>
              <a:t>P</a:t>
            </a:r>
            <a:r>
              <a:rPr lang="en-US" altLang="zh-CN" dirty="0">
                <a:latin typeface="Times New Roman" panose="02020603050405020304" pitchFamily="18" charset="0"/>
              </a:rPr>
              <a:t>)</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41994" name="矩形 16"/>
          <p:cNvSpPr/>
          <p:nvPr/>
        </p:nvSpPr>
        <p:spPr>
          <a:xfrm>
            <a:off x="355600" y="2484438"/>
            <a:ext cx="8337550" cy="1076325"/>
          </a:xfrm>
          <a:prstGeom prst="rect">
            <a:avLst/>
          </a:prstGeom>
          <a:noFill/>
          <a:ln w="9525">
            <a:noFill/>
          </a:ln>
        </p:spPr>
        <p:txBody>
          <a:bodyPr>
            <a:spAutoFit/>
          </a:bodyPr>
          <a:p>
            <a:r>
              <a:rPr lang="zh-CN" altLang="zh-CN" dirty="0">
                <a:latin typeface="Times New Roman" panose="02020603050405020304" pitchFamily="18" charset="0"/>
              </a:rPr>
              <a:t>上关于</a:t>
            </a:r>
            <a:r>
              <a:rPr lang="zh-CN" altLang="en-US" dirty="0">
                <a:latin typeface="Times New Roman" panose="02020603050405020304" pitchFamily="18" charset="0"/>
              </a:rPr>
              <a:t> </a:t>
            </a:r>
            <a:r>
              <a:rPr lang="en-US" altLang="zh-CN" i="1" dirty="0">
                <a:latin typeface="Times New Roman" panose="02020603050405020304" pitchFamily="18" charset="0"/>
              </a:rPr>
              <a:t>y </a:t>
            </a:r>
            <a:r>
              <a:rPr lang="zh-CN" altLang="zh-CN" dirty="0">
                <a:latin typeface="Times New Roman" panose="02020603050405020304" pitchFamily="18" charset="0"/>
              </a:rPr>
              <a:t>满足</a:t>
            </a:r>
            <a:r>
              <a:rPr lang="en-US" altLang="zh-CN" dirty="0">
                <a:latin typeface="Times New Roman" panose="02020603050405020304" pitchFamily="18" charset="0"/>
              </a:rPr>
              <a:t>Lipschitz</a:t>
            </a:r>
            <a:r>
              <a:rPr lang="zh-CN" altLang="en-US" dirty="0">
                <a:latin typeface="宋体" panose="02010600030101010101" pitchFamily="2" charset="-122"/>
              </a:rPr>
              <a:t>条件,即存在常数</a:t>
            </a:r>
            <a:r>
              <a:rPr lang="zh-CN" altLang="en-US" dirty="0">
                <a:latin typeface="Times New Roman" panose="02020603050405020304" pitchFamily="18" charset="0"/>
              </a:rPr>
              <a:t> </a:t>
            </a:r>
            <a:r>
              <a:rPr lang="en-US" altLang="zh-CN" i="1" dirty="0">
                <a:latin typeface="Times New Roman" panose="02020603050405020304" pitchFamily="18" charset="0"/>
              </a:rPr>
              <a:t>L </a:t>
            </a:r>
            <a:r>
              <a:rPr lang="en-US" altLang="zh-CN" dirty="0">
                <a:latin typeface="Times New Roman" panose="02020603050405020304" pitchFamily="18" charset="0"/>
              </a:rPr>
              <a:t>&gt; 0, </a:t>
            </a:r>
            <a:r>
              <a:rPr lang="zh-CN" altLang="zh-CN" dirty="0">
                <a:latin typeface="Times New Roman" panose="02020603050405020304" pitchFamily="18" charset="0"/>
              </a:rPr>
              <a:t>使</a:t>
            </a:r>
            <a:endParaRPr lang="zh-CN" altLang="en-US" sz="1500" dirty="0">
              <a:latin typeface="宋体" panose="02010600030101010101" pitchFamily="2" charset="-122"/>
            </a:endParaRPr>
          </a:p>
        </p:txBody>
      </p:sp>
      <p:graphicFrame>
        <p:nvGraphicFramePr>
          <p:cNvPr id="41988" name="Object 5"/>
          <p:cNvGraphicFramePr/>
          <p:nvPr/>
        </p:nvGraphicFramePr>
        <p:xfrm>
          <a:off x="1565275" y="3078163"/>
          <a:ext cx="5127625" cy="511175"/>
        </p:xfrm>
        <a:graphic>
          <a:graphicData uri="http://schemas.openxmlformats.org/presentationml/2006/ole">
            <mc:AlternateContent xmlns:mc="http://schemas.openxmlformats.org/markup-compatibility/2006">
              <mc:Choice xmlns:v="urn:schemas-microsoft-com:vml" Requires="v">
                <p:oleObj spid="_x0000_s3205" name="" r:id="rId5" imgW="2068195" imgH="203200" progId="Equation.DSMT4">
                  <p:embed/>
                </p:oleObj>
              </mc:Choice>
              <mc:Fallback>
                <p:oleObj name="" r:id="rId5" imgW="2068195" imgH="203200" progId="Equation.DSMT4">
                  <p:embed/>
                  <p:pic>
                    <p:nvPicPr>
                      <p:cNvPr id="0" name="图片 3204"/>
                      <p:cNvPicPr/>
                      <p:nvPr/>
                    </p:nvPicPr>
                    <p:blipFill>
                      <a:blip r:embed="rId6"/>
                      <a:stretch>
                        <a:fillRect/>
                      </a:stretch>
                    </p:blipFill>
                    <p:spPr>
                      <a:xfrm>
                        <a:off x="1565275" y="3078163"/>
                        <a:ext cx="5127625" cy="511175"/>
                      </a:xfrm>
                      <a:prstGeom prst="rect">
                        <a:avLst/>
                      </a:prstGeom>
                      <a:noFill/>
                      <a:ln w="38100">
                        <a:noFill/>
                        <a:miter/>
                      </a:ln>
                    </p:spPr>
                  </p:pic>
                </p:oleObj>
              </mc:Fallback>
            </mc:AlternateContent>
          </a:graphicData>
        </a:graphic>
      </p:graphicFrame>
      <p:sp>
        <p:nvSpPr>
          <p:cNvPr id="41995" name="矩形 17"/>
          <p:cNvSpPr/>
          <p:nvPr/>
        </p:nvSpPr>
        <p:spPr>
          <a:xfrm>
            <a:off x="401638" y="3627438"/>
            <a:ext cx="4492625" cy="585787"/>
          </a:xfrm>
          <a:prstGeom prst="rect">
            <a:avLst/>
          </a:prstGeom>
          <a:noFill/>
          <a:ln w="9525">
            <a:noFill/>
          </a:ln>
        </p:spPr>
        <p:txBody>
          <a:bodyPr wrap="none">
            <a:spAutoFit/>
          </a:bodyPr>
          <a:p>
            <a:r>
              <a:rPr lang="zh-CN" altLang="en-US" dirty="0">
                <a:latin typeface="宋体" panose="02010600030101010101" pitchFamily="2" charset="-122"/>
              </a:rPr>
              <a:t>成立</a:t>
            </a:r>
            <a:r>
              <a:rPr lang="zh-CN" altLang="en-US" dirty="0">
                <a:latin typeface="Times New Roman" panose="02020603050405020304" pitchFamily="18" charset="0"/>
              </a:rPr>
              <a:t>, 则其整体截断误差</a:t>
            </a:r>
            <a:endParaRPr lang="zh-CN" altLang="en-US" sz="800" dirty="0">
              <a:latin typeface="宋体" panose="02010600030101010101" pitchFamily="2" charset="-122"/>
            </a:endParaRPr>
          </a:p>
        </p:txBody>
      </p:sp>
      <p:sp>
        <p:nvSpPr>
          <p:cNvPr id="78860" name="AutoShape 22"/>
          <p:cNvSpPr/>
          <p:nvPr/>
        </p:nvSpPr>
        <p:spPr>
          <a:xfrm>
            <a:off x="1030288" y="1636713"/>
            <a:ext cx="7713662" cy="3806825"/>
          </a:xfrm>
          <a:prstGeom prst="cloudCallout">
            <a:avLst>
              <a:gd name="adj1" fmla="val -49060"/>
              <a:gd name="adj2" fmla="val -61000"/>
            </a:avLst>
          </a:prstGeom>
          <a:solidFill>
            <a:srgbClr val="FFFFFF"/>
          </a:solidFill>
          <a:ln w="15875" cap="flat" cmpd="sng">
            <a:solidFill>
              <a:schemeClr val="accent2"/>
            </a:solidFill>
            <a:prstDash val="solid"/>
            <a:headEnd type="none" w="med" len="med"/>
            <a:tailEnd type="none" w="med" len="med"/>
          </a:ln>
        </p:spPr>
        <p:txBody>
          <a:bodyPr wrap="none" anchor="ctr" anchorCtr="0"/>
          <a:p>
            <a:r>
              <a:rPr lang="zh-CN" altLang="en-US" b="1" dirty="0">
                <a:latin typeface="Times New Roman" panose="02020603050405020304" pitchFamily="18" charset="0"/>
              </a:rPr>
              <a:t>此定理表明, 只要增量函数</a:t>
            </a:r>
            <a:r>
              <a:rPr lang="en-US" altLang="zh-CN" b="1" i="1" dirty="0">
                <a:latin typeface="Times New Roman" panose="02020603050405020304" pitchFamily="18" charset="0"/>
              </a:rPr>
              <a:t>φ</a:t>
            </a:r>
            <a:r>
              <a:rPr lang="zh-CN" altLang="en-US" b="1" dirty="0">
                <a:latin typeface="Times New Roman" panose="02020603050405020304" pitchFamily="18" charset="0"/>
              </a:rPr>
              <a:t>满足</a:t>
            </a:r>
            <a:r>
              <a:rPr lang="zh-CN" altLang="zh-CN" b="1" dirty="0">
                <a:latin typeface="Times New Roman" panose="02020603050405020304" pitchFamily="18" charset="0"/>
              </a:rPr>
              <a:t> </a:t>
            </a:r>
            <a:endParaRPr lang="en-US" altLang="zh-CN" b="1" dirty="0">
              <a:latin typeface="Times New Roman" panose="02020603050405020304" pitchFamily="18" charset="0"/>
            </a:endParaRPr>
          </a:p>
          <a:p>
            <a:r>
              <a:rPr lang="en-US" altLang="zh-CN" b="1" dirty="0">
                <a:latin typeface="Times New Roman" panose="02020603050405020304" pitchFamily="18" charset="0"/>
              </a:rPr>
              <a:t>Lipschitz</a:t>
            </a:r>
            <a:r>
              <a:rPr lang="zh-CN" altLang="zh-CN" b="1" dirty="0">
                <a:latin typeface="Times New Roman" panose="02020603050405020304" pitchFamily="18" charset="0"/>
              </a:rPr>
              <a:t>条件</a:t>
            </a:r>
            <a:r>
              <a:rPr lang="zh-CN" altLang="en-US" b="1" dirty="0">
                <a:latin typeface="Times New Roman" panose="02020603050405020304" pitchFamily="18" charset="0"/>
              </a:rPr>
              <a:t>, 且初值精确, 则当</a:t>
            </a:r>
            <a:endParaRPr lang="en-US" altLang="zh-CN" b="1" dirty="0">
              <a:latin typeface="Times New Roman" panose="02020603050405020304" pitchFamily="18" charset="0"/>
            </a:endParaRPr>
          </a:p>
          <a:p>
            <a:r>
              <a:rPr lang="zh-CN" altLang="en-US" b="1" dirty="0">
                <a:latin typeface="Times New Roman" panose="02020603050405020304" pitchFamily="18" charset="0"/>
              </a:rPr>
              <a:t>局部截断误差为 </a:t>
            </a:r>
            <a:r>
              <a:rPr lang="en-US" altLang="zh-CN" b="1" i="1" dirty="0">
                <a:latin typeface="Times New Roman" panose="02020603050405020304" pitchFamily="18" charset="0"/>
              </a:rPr>
              <a:t>O</a:t>
            </a:r>
            <a:r>
              <a:rPr lang="en-US" altLang="zh-CN" b="1" dirty="0">
                <a:latin typeface="Times New Roman" panose="02020603050405020304" pitchFamily="18" charset="0"/>
              </a:rPr>
              <a:t>( </a:t>
            </a:r>
            <a:r>
              <a:rPr lang="en-US" altLang="zh-CN" b="1" i="1" dirty="0">
                <a:latin typeface="Times New Roman" panose="02020603050405020304" pitchFamily="18" charset="0"/>
              </a:rPr>
              <a:t>h</a:t>
            </a:r>
            <a:r>
              <a:rPr lang="en-US" altLang="zh-CN" b="1" i="1" baseline="30000" dirty="0">
                <a:latin typeface="Times New Roman" panose="02020603050405020304" pitchFamily="18" charset="0"/>
              </a:rPr>
              <a:t>P</a:t>
            </a:r>
            <a:r>
              <a:rPr lang="en-US" altLang="zh-CN" b="1" baseline="30000" dirty="0">
                <a:latin typeface="Times New Roman" panose="02020603050405020304" pitchFamily="18" charset="0"/>
              </a:rPr>
              <a:t>+1 </a:t>
            </a:r>
            <a:r>
              <a:rPr lang="en-US" altLang="zh-CN" b="1" dirty="0">
                <a:latin typeface="Times New Roman" panose="02020603050405020304" pitchFamily="18" charset="0"/>
              </a:rPr>
              <a:t>)</a:t>
            </a:r>
            <a:r>
              <a:rPr lang="zh-CN" altLang="en-US" b="1" dirty="0">
                <a:latin typeface="Times New Roman" panose="02020603050405020304" pitchFamily="18" charset="0"/>
              </a:rPr>
              <a:t>时, 整体</a:t>
            </a:r>
            <a:endParaRPr lang="en-US" altLang="zh-CN" b="1" dirty="0">
              <a:latin typeface="Times New Roman" panose="02020603050405020304" pitchFamily="18" charset="0"/>
            </a:endParaRPr>
          </a:p>
          <a:p>
            <a:r>
              <a:rPr lang="zh-CN" altLang="en-US" b="1" dirty="0">
                <a:latin typeface="Times New Roman" panose="02020603050405020304" pitchFamily="18" charset="0"/>
              </a:rPr>
              <a:t>截断误为</a:t>
            </a:r>
            <a:r>
              <a:rPr lang="en-US" altLang="zh-CN" b="1" i="1" dirty="0">
                <a:latin typeface="Times New Roman" panose="02020603050405020304" pitchFamily="18" charset="0"/>
              </a:rPr>
              <a:t>O</a:t>
            </a:r>
            <a:r>
              <a:rPr lang="en-US" altLang="zh-CN" b="1" dirty="0">
                <a:latin typeface="Times New Roman" panose="02020603050405020304" pitchFamily="18" charset="0"/>
              </a:rPr>
              <a:t>( </a:t>
            </a:r>
            <a:r>
              <a:rPr lang="en-US" altLang="zh-CN" b="1" i="1" dirty="0">
                <a:latin typeface="Times New Roman" panose="02020603050405020304" pitchFamily="18" charset="0"/>
              </a:rPr>
              <a:t>h</a:t>
            </a:r>
            <a:r>
              <a:rPr lang="en-US" altLang="zh-CN" b="1" i="1" baseline="30000" dirty="0">
                <a:latin typeface="Times New Roman" panose="02020603050405020304" pitchFamily="18" charset="0"/>
              </a:rPr>
              <a:t>P</a:t>
            </a:r>
            <a:r>
              <a:rPr lang="en-US" altLang="zh-CN" b="1" baseline="30000" dirty="0">
                <a:latin typeface="Times New Roman" panose="02020603050405020304" pitchFamily="18" charset="0"/>
              </a:rPr>
              <a:t> </a:t>
            </a:r>
            <a:r>
              <a:rPr lang="en-US" altLang="zh-CN" b="1" dirty="0">
                <a:latin typeface="Times New Roman" panose="02020603050405020304" pitchFamily="18" charset="0"/>
              </a:rPr>
              <a:t>), </a:t>
            </a:r>
            <a:r>
              <a:rPr lang="zh-CN" altLang="zh-CN" b="1" dirty="0">
                <a:latin typeface="Times New Roman" panose="02020603050405020304" pitchFamily="18" charset="0"/>
              </a:rPr>
              <a:t>从而当 </a:t>
            </a:r>
            <a:r>
              <a:rPr lang="en-US" altLang="zh-CN" b="1" i="1" dirty="0">
                <a:latin typeface="Times New Roman" panose="02020603050405020304" pitchFamily="18" charset="0"/>
              </a:rPr>
              <a:t>P</a:t>
            </a:r>
            <a:r>
              <a:rPr lang="zh-CN" altLang="en-US" b="1" dirty="0">
                <a:latin typeface="宋体" panose="02010600030101010101" pitchFamily="2" charset="-122"/>
              </a:rPr>
              <a:t>≥1时</a:t>
            </a:r>
            <a:r>
              <a:rPr lang="zh-CN" altLang="en-US" b="1" dirty="0">
                <a:latin typeface="Times New Roman" panose="02020603050405020304" pitchFamily="18" charset="0"/>
              </a:rPr>
              <a:t>, </a:t>
            </a:r>
            <a:endParaRPr lang="en-US" altLang="zh-CN" b="1" dirty="0">
              <a:latin typeface="Times New Roman" panose="02020603050405020304" pitchFamily="18" charset="0"/>
            </a:endParaRPr>
          </a:p>
          <a:p>
            <a:r>
              <a:rPr lang="zh-CN" altLang="en-US" b="1" dirty="0">
                <a:latin typeface="Times New Roman" panose="02020603050405020304" pitchFamily="18" charset="0"/>
              </a:rPr>
              <a:t>必有</a:t>
            </a:r>
            <a:r>
              <a:rPr lang="en-US" altLang="zh-CN" b="1" i="1" dirty="0">
                <a:latin typeface="Times New Roman" panose="02020603050405020304" pitchFamily="18" charset="0"/>
              </a:rPr>
              <a:t>y</a:t>
            </a:r>
            <a:r>
              <a:rPr lang="en-US" altLang="zh-CN" b="1" i="1" baseline="-25000" dirty="0">
                <a:latin typeface="Times New Roman" panose="02020603050405020304" pitchFamily="18" charset="0"/>
              </a:rPr>
              <a:t>n</a:t>
            </a:r>
            <a:r>
              <a:rPr lang="en-US" altLang="zh-CN" b="1" baseline="-25000" dirty="0">
                <a:latin typeface="Times New Roman" panose="02020603050405020304" pitchFamily="18" charset="0"/>
              </a:rPr>
              <a:t> </a:t>
            </a:r>
            <a:r>
              <a:rPr lang="zh-CN" altLang="en-US" b="1" dirty="0">
                <a:latin typeface="宋体" panose="02010600030101010101" pitchFamily="2" charset="-122"/>
              </a:rPr>
              <a:t>→</a:t>
            </a:r>
            <a:r>
              <a:rPr lang="en-US" altLang="zh-CN" b="1" i="1" dirty="0">
                <a:latin typeface="Times New Roman" panose="02020603050405020304" pitchFamily="18" charset="0"/>
              </a:rPr>
              <a:t>y </a:t>
            </a:r>
            <a:r>
              <a:rPr lang="en-US" altLang="zh-CN" b="1" dirty="0">
                <a:latin typeface="Times New Roman" panose="02020603050405020304" pitchFamily="18" charset="0"/>
              </a:rPr>
              <a:t>(</a:t>
            </a:r>
            <a:r>
              <a:rPr lang="en-US" altLang="zh-CN" b="1" i="1" dirty="0">
                <a:latin typeface="Times New Roman" panose="02020603050405020304" pitchFamily="18" charset="0"/>
              </a:rPr>
              <a:t>x</a:t>
            </a:r>
            <a:r>
              <a:rPr lang="en-US" altLang="zh-CN" b="1" i="1" baseline="-25000" dirty="0">
                <a:latin typeface="Times New Roman" panose="02020603050405020304" pitchFamily="18" charset="0"/>
              </a:rPr>
              <a:t>n</a:t>
            </a:r>
            <a:r>
              <a:rPr lang="en-US" altLang="zh-CN" b="1" dirty="0">
                <a:latin typeface="Times New Roman" panose="02020603050405020304" pitchFamily="18" charset="0"/>
              </a:rPr>
              <a:t>),</a:t>
            </a:r>
            <a:r>
              <a:rPr lang="zh-CN" altLang="en-US" b="1" dirty="0">
                <a:latin typeface="Times New Roman" panose="02020603050405020304" pitchFamily="18" charset="0"/>
              </a:rPr>
              <a:t>即方法</a:t>
            </a:r>
            <a:r>
              <a:rPr lang="en-US" altLang="zh-CN" b="1" dirty="0">
                <a:latin typeface="Times New Roman" panose="02020603050405020304" pitchFamily="18" charset="0"/>
              </a:rPr>
              <a:t>(</a:t>
            </a:r>
            <a:r>
              <a:rPr lang="en-US" altLang="zh-CN" b="1" i="1" dirty="0">
                <a:latin typeface="Times New Roman" panose="02020603050405020304" pitchFamily="18" charset="0"/>
              </a:rPr>
              <a:t>P</a:t>
            </a:r>
            <a:r>
              <a:rPr lang="zh-CN" altLang="en-US" b="1" dirty="0">
                <a:latin typeface="Times New Roman" panose="02020603050405020304" pitchFamily="18" charset="0"/>
              </a:rPr>
              <a:t>阶</a:t>
            </a:r>
            <a:r>
              <a:rPr lang="en-US" altLang="zh-CN" b="1" dirty="0">
                <a:latin typeface="Times New Roman" panose="02020603050405020304" pitchFamily="18" charset="0"/>
              </a:rPr>
              <a:t>)</a:t>
            </a:r>
            <a:r>
              <a:rPr lang="zh-CN" altLang="en-US" b="1" dirty="0">
                <a:latin typeface="Times New Roman" panose="02020603050405020304" pitchFamily="18" charset="0"/>
              </a:rPr>
              <a:t>收敛。</a:t>
            </a:r>
            <a:endParaRPr lang="zh-CN" altLang="en-US" sz="16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8860"/>
                                        </p:tgtEl>
                                        <p:attrNameLst>
                                          <p:attrName>style.visibility</p:attrName>
                                        </p:attrNameLst>
                                      </p:cBhvr>
                                      <p:to>
                                        <p:strVal val="visible"/>
                                      </p:to>
                                    </p:set>
                                    <p:animEffect transition="in" filter="checkerboard(across)">
                                      <p:cBhvr>
                                        <p:cTn id="7" dur="500"/>
                                        <p:tgtEl>
                                          <p:spTgt spid="78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1" name="标题 1"/>
          <p:cNvSpPr>
            <a:spLocks noGrp="1"/>
          </p:cNvSpPr>
          <p:nvPr>
            <p:ph type="title"/>
          </p:nvPr>
        </p:nvSpPr>
        <p:spPr>
          <a:xfrm>
            <a:off x="344488" y="228600"/>
            <a:ext cx="8467725" cy="1143000"/>
          </a:xfrm>
          <a:ln/>
        </p:spPr>
        <p:txBody>
          <a:bodyPr vert="horz" wrap="square" lIns="91440" tIns="45720" rIns="91440" bIns="45720" anchor="ctr" anchorCtr="0"/>
          <a:p>
            <a:pPr algn="l"/>
            <a:r>
              <a:rPr lang="zh-CN" altLang="en-US" u="none" dirty="0">
                <a:solidFill>
                  <a:schemeClr val="tx1"/>
                </a:solidFill>
              </a:rPr>
              <a:t>于是可以得到下面结论</a:t>
            </a:r>
            <a:r>
              <a:rPr lang="en-US" altLang="zh-CN" u="none" dirty="0">
                <a:solidFill>
                  <a:schemeClr val="tx1"/>
                </a:solidFill>
              </a:rPr>
              <a:t>:</a:t>
            </a:r>
            <a:r>
              <a:rPr lang="zh-CN" altLang="en-US" u="none" dirty="0">
                <a:solidFill>
                  <a:schemeClr val="tx1"/>
                </a:solidFill>
              </a:rPr>
              <a:t>对于</a:t>
            </a:r>
            <a:r>
              <a:rPr lang="zh-CN" altLang="en-US" u="none" dirty="0">
                <a:solidFill>
                  <a:schemeClr val="tx1"/>
                </a:solidFill>
                <a:latin typeface="Times New Roman" panose="02020603050405020304" pitchFamily="18" charset="0"/>
              </a:rPr>
              <a:t>显式单步法</a:t>
            </a:r>
            <a:r>
              <a:rPr lang="en-US" altLang="zh-CN" u="none" dirty="0">
                <a:solidFill>
                  <a:schemeClr val="tx1"/>
                </a:solidFill>
                <a:latin typeface="Times New Roman" panose="02020603050405020304" pitchFamily="18" charset="0"/>
              </a:rPr>
              <a:t>(9.3.1)</a:t>
            </a:r>
            <a:endParaRPr lang="zh-CN" altLang="en-US" u="none" dirty="0">
              <a:solidFill>
                <a:schemeClr val="tx1"/>
              </a:solidFill>
              <a:latin typeface="Times New Roman" panose="02020603050405020304" pitchFamily="18" charset="0"/>
              <a:ea typeface="Times New Roman" panose="02020603050405020304" pitchFamily="18" charset="0"/>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013"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28005" name="矩形 4"/>
          <p:cNvSpPr/>
          <p:nvPr/>
        </p:nvSpPr>
        <p:spPr>
          <a:xfrm>
            <a:off x="357188" y="2203450"/>
            <a:ext cx="8216900" cy="3291840"/>
          </a:xfrm>
          <a:prstGeom prst="rect">
            <a:avLst/>
          </a:prstGeom>
          <a:noFill/>
          <a:ln w="9525">
            <a:noFill/>
          </a:ln>
        </p:spPr>
        <p:txBody>
          <a:bodyPr>
            <a:spAutoFit/>
          </a:bodyPr>
          <a:p>
            <a:pPr eaLnBrk="0" hangingPunct="0">
              <a:lnSpc>
                <a:spcPct val="150000"/>
              </a:lnSpc>
            </a:pPr>
            <a:r>
              <a:rPr lang="zh-CN" altLang="en-US" b="1" dirty="0">
                <a:latin typeface="Times New Roman" panose="02020603050405020304" pitchFamily="18" charset="0"/>
              </a:rPr>
              <a:t>定理</a:t>
            </a:r>
            <a:r>
              <a:rPr lang="en-US" altLang="zh-CN" b="1" dirty="0">
                <a:latin typeface="Times New Roman" panose="02020603050405020304" pitchFamily="18" charset="0"/>
              </a:rPr>
              <a:t>9.</a:t>
            </a:r>
            <a:r>
              <a:rPr lang="en-US" altLang="zh-CN" b="1" dirty="0">
                <a:latin typeface="Times New Roman" panose="02020603050405020304" pitchFamily="18" charset="0"/>
              </a:rPr>
              <a:t>3.2 </a:t>
            </a:r>
            <a:r>
              <a:rPr lang="en-US" altLang="zh-CN" dirty="0">
                <a:latin typeface="Times New Roman" panose="02020603050405020304" pitchFamily="18" charset="0"/>
              </a:rPr>
              <a:t>(</a:t>
            </a:r>
            <a:r>
              <a:rPr lang="zh-CN" altLang="en-US" dirty="0">
                <a:latin typeface="Times New Roman" panose="02020603050405020304" pitchFamily="18" charset="0"/>
              </a:rPr>
              <a:t>收敛定理</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eaLnBrk="0" hangingPunct="0">
              <a:lnSpc>
                <a:spcPct val="125000"/>
              </a:lnSpc>
            </a:pPr>
            <a:r>
              <a:rPr lang="zh-CN" altLang="en-US" dirty="0">
                <a:latin typeface="Times New Roman" panose="02020603050405020304" pitchFamily="18" charset="0"/>
              </a:rPr>
              <a:t>如果显式单步法 </a:t>
            </a:r>
            <a:r>
              <a:rPr lang="en-US" altLang="zh-CN" dirty="0">
                <a:latin typeface="Times New Roman" panose="02020603050405020304" pitchFamily="18" charset="0"/>
              </a:rPr>
              <a:t>(9.3.1) </a:t>
            </a:r>
            <a:r>
              <a:rPr lang="zh-CN" altLang="en-US" dirty="0">
                <a:latin typeface="Times New Roman" panose="02020603050405020304" pitchFamily="18" charset="0"/>
              </a:rPr>
              <a:t>的增量函数</a:t>
            </a:r>
            <a:r>
              <a:rPr lang="en-US" altLang="zh-CN" i="1" dirty="0">
                <a:latin typeface="Times New Roman" panose="02020603050405020304" pitchFamily="18" charset="0"/>
              </a:rPr>
              <a:t>φ</a:t>
            </a:r>
            <a:r>
              <a:rPr lang="zh-CN" altLang="en-US" dirty="0">
                <a:latin typeface="Times New Roman" panose="02020603050405020304" pitchFamily="18" charset="0"/>
              </a:rPr>
              <a:t>在区域</a:t>
            </a:r>
            <a:r>
              <a:rPr lang="en-US" altLang="zh-CN" dirty="0">
                <a:latin typeface="Times New Roman" panose="02020603050405020304" pitchFamily="18" charset="0"/>
              </a:rPr>
              <a:t>Ω</a:t>
            </a:r>
            <a:r>
              <a:rPr lang="zh-CN" altLang="en-US" dirty="0">
                <a:latin typeface="Times New Roman" panose="02020603050405020304" pitchFamily="18" charset="0"/>
              </a:rPr>
              <a:t>上关于</a:t>
            </a:r>
            <a:r>
              <a:rPr lang="en-US" altLang="zh-CN" i="1" dirty="0">
                <a:latin typeface="Times New Roman" panose="02020603050405020304" pitchFamily="18" charset="0"/>
              </a:rPr>
              <a:t>y</a:t>
            </a:r>
            <a:r>
              <a:rPr lang="zh-CN" altLang="en-US" dirty="0">
                <a:latin typeface="Times New Roman" panose="02020603050405020304" pitchFamily="18" charset="0"/>
              </a:rPr>
              <a:t>满足</a:t>
            </a:r>
            <a:r>
              <a:rPr lang="en-US" altLang="zh-CN" dirty="0">
                <a:latin typeface="Times New Roman" panose="02020603050405020304" pitchFamily="18" charset="0"/>
              </a:rPr>
              <a:t>Lipschitz</a:t>
            </a:r>
            <a:r>
              <a:rPr lang="zh-CN" altLang="en-US" dirty="0">
                <a:latin typeface="Times New Roman" panose="02020603050405020304" pitchFamily="18" charset="0"/>
              </a:rPr>
              <a:t>条件</a:t>
            </a:r>
            <a:r>
              <a:rPr lang="en-US" altLang="zh-CN" dirty="0">
                <a:latin typeface="Times New Roman" panose="02020603050405020304" pitchFamily="18" charset="0"/>
              </a:rPr>
              <a:t>, </a:t>
            </a:r>
            <a:r>
              <a:rPr lang="zh-CN" altLang="en-US" dirty="0">
                <a:latin typeface="Times New Roman" panose="02020603050405020304" pitchFamily="18" charset="0"/>
              </a:rPr>
              <a:t>且其局部截断误差</a:t>
            </a:r>
            <a:r>
              <a:rPr lang="pt-BR" altLang="zh-CN" i="1" dirty="0">
                <a:latin typeface="Times New Roman" panose="02020603050405020304" pitchFamily="18" charset="0"/>
              </a:rPr>
              <a:t>ε</a:t>
            </a:r>
            <a:r>
              <a:rPr lang="pt-BR" altLang="zh-CN" i="1" baseline="-25000" dirty="0">
                <a:latin typeface="Times New Roman" panose="02020603050405020304" pitchFamily="18" charset="0"/>
              </a:rPr>
              <a:t>n</a:t>
            </a:r>
            <a:r>
              <a:rPr lang="pt-BR" altLang="zh-CN" i="1" dirty="0">
                <a:latin typeface="Times New Roman" panose="02020603050405020304" pitchFamily="18" charset="0"/>
              </a:rPr>
              <a:t> = </a:t>
            </a:r>
            <a:r>
              <a:rPr lang="pt-BR" altLang="zh-CN" dirty="0">
                <a:latin typeface="Times New Roman" panose="02020603050405020304" pitchFamily="18" charset="0"/>
              </a:rPr>
              <a:t>O(</a:t>
            </a:r>
            <a:r>
              <a:rPr lang="pt-BR" altLang="zh-CN" i="1" dirty="0">
                <a:latin typeface="Times New Roman" panose="02020603050405020304" pitchFamily="18" charset="0"/>
              </a:rPr>
              <a:t>h</a:t>
            </a:r>
            <a:r>
              <a:rPr lang="pt-BR" altLang="zh-CN" i="1" baseline="30000" dirty="0">
                <a:latin typeface="Times New Roman" panose="02020603050405020304" pitchFamily="18" charset="0"/>
              </a:rPr>
              <a:t>P</a:t>
            </a:r>
            <a:r>
              <a:rPr lang="pt-BR" altLang="zh-CN" baseline="30000" dirty="0">
                <a:latin typeface="Times New Roman" panose="02020603050405020304" pitchFamily="18" charset="0"/>
              </a:rPr>
              <a:t>+1</a:t>
            </a:r>
            <a:r>
              <a:rPr lang="pt-BR" altLang="zh-CN" dirty="0">
                <a:latin typeface="Times New Roman" panose="02020603050405020304" pitchFamily="18" charset="0"/>
              </a:rPr>
              <a:t>)</a:t>
            </a:r>
            <a:r>
              <a:rPr lang="pt-BR" altLang="zh-CN" i="1" dirty="0">
                <a:latin typeface="Times New Roman" panose="02020603050405020304" pitchFamily="18" charset="0"/>
              </a:rPr>
              <a:t>, n = </a:t>
            </a:r>
            <a:r>
              <a:rPr lang="pt-BR" altLang="zh-CN" dirty="0">
                <a:latin typeface="Times New Roman" panose="02020603050405020304" pitchFamily="18" charset="0"/>
              </a:rPr>
              <a:t>1, 2, · · · , </a:t>
            </a:r>
            <a:r>
              <a:rPr lang="pt-BR" altLang="zh-CN" i="1" dirty="0">
                <a:latin typeface="Times New Roman" panose="02020603050405020304" pitchFamily="18" charset="0"/>
              </a:rPr>
              <a:t>N</a:t>
            </a:r>
            <a:r>
              <a:rPr lang="pt-BR" altLang="zh-CN" dirty="0">
                <a:latin typeface="Times New Roman" panose="02020603050405020304" pitchFamily="18" charset="0"/>
              </a:rPr>
              <a:t> ,  </a:t>
            </a:r>
            <a:r>
              <a:rPr lang="zh-CN" altLang="en-US" dirty="0">
                <a:latin typeface="Times New Roman" panose="02020603050405020304" pitchFamily="18" charset="0"/>
              </a:rPr>
              <a:t>则该数值方法是</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zh-CN" altLang="en-US" dirty="0">
                <a:latin typeface="Times New Roman" panose="02020603050405020304" pitchFamily="18" charset="0"/>
              </a:rPr>
              <a:t>阶</a:t>
            </a:r>
            <a:r>
              <a:rPr lang="en-US" altLang="zh-CN" dirty="0">
                <a:latin typeface="Times New Roman" panose="02020603050405020304" pitchFamily="18" charset="0"/>
              </a:rPr>
              <a:t>)</a:t>
            </a:r>
            <a:r>
              <a:rPr lang="zh-CN" altLang="en-US" dirty="0">
                <a:latin typeface="Times New Roman" panose="02020603050405020304" pitchFamily="18" charset="0"/>
              </a:rPr>
              <a:t>收敛的。</a:t>
            </a:r>
            <a:endParaRPr lang="zh-CN" altLang="en-US" dirty="0">
              <a:latin typeface="Times New Roman" panose="02020603050405020304" pitchFamily="18" charset="0"/>
            </a:endParaRPr>
          </a:p>
        </p:txBody>
      </p:sp>
      <p:graphicFrame>
        <p:nvGraphicFramePr>
          <p:cNvPr id="89108" name="Object 20"/>
          <p:cNvGraphicFramePr/>
          <p:nvPr/>
        </p:nvGraphicFramePr>
        <p:xfrm>
          <a:off x="2379663" y="1401763"/>
          <a:ext cx="3732212" cy="603250"/>
        </p:xfrm>
        <a:graphic>
          <a:graphicData uri="http://schemas.openxmlformats.org/presentationml/2006/ole">
            <mc:AlternateContent xmlns:mc="http://schemas.openxmlformats.org/markup-compatibility/2006">
              <mc:Choice xmlns:v="urn:schemas-microsoft-com:vml" Requires="v">
                <p:oleObj spid="_x0000_s3206" name="" r:id="rId1" imgW="1497965" imgH="241300" progId="Equation.3">
                  <p:embed/>
                </p:oleObj>
              </mc:Choice>
              <mc:Fallback>
                <p:oleObj name="" r:id="rId1" imgW="1497965" imgH="241300" progId="Equation.3">
                  <p:embed/>
                  <p:pic>
                    <p:nvPicPr>
                      <p:cNvPr id="0" name="图片 3205"/>
                      <p:cNvPicPr/>
                      <p:nvPr/>
                    </p:nvPicPr>
                    <p:blipFill>
                      <a:blip r:embed="rId2"/>
                      <a:stretch>
                        <a:fillRect/>
                      </a:stretch>
                    </p:blipFill>
                    <p:spPr>
                      <a:xfrm>
                        <a:off x="2379663" y="1401763"/>
                        <a:ext cx="3732212" cy="603250"/>
                      </a:xfrm>
                      <a:prstGeom prst="rect">
                        <a:avLst/>
                      </a:prstGeom>
                      <a:gradFill rotWithShape="1">
                        <a:gsLst>
                          <a:gs pos="0">
                            <a:srgbClr val="FFFFFF"/>
                          </a:gs>
                          <a:gs pos="50000">
                            <a:srgbClr val="00CC99"/>
                          </a:gs>
                          <a:gs pos="100000">
                            <a:srgbClr val="FFFFFF"/>
                          </a:gs>
                        </a:gsLst>
                        <a:lin ang="5400000" scaled="1"/>
                        <a:tileRect/>
                      </a:gra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9108"/>
                                        </p:tgtEl>
                                        <p:attrNameLst>
                                          <p:attrName>style.visibility</p:attrName>
                                        </p:attrNameLst>
                                      </p:cBhvr>
                                      <p:to>
                                        <p:strVal val="visible"/>
                                      </p:to>
                                    </p:set>
                                    <p:animEffect transition="in" filter="wipe(up)">
                                      <p:cBhvr>
                                        <p:cTn id="7" dur="500"/>
                                        <p:tgtEl>
                                          <p:spTgt spid="8910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8005"/>
                                        </p:tgtEl>
                                        <p:attrNameLst>
                                          <p:attrName>style.visibility</p:attrName>
                                        </p:attrNameLst>
                                      </p:cBhvr>
                                      <p:to>
                                        <p:strVal val="visible"/>
                                      </p:to>
                                    </p:set>
                                    <p:animEffect transition="in" filter="dissolve">
                                      <p:cBhvr>
                                        <p:cTn id="12" dur="500"/>
                                        <p:tgtEl>
                                          <p:spTgt spid="128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038"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7" name="Rectangle 12"/>
          <p:cNvSpPr>
            <a:spLocks noChangeArrowheads="1"/>
          </p:cNvSpPr>
          <p:nvPr/>
        </p:nvSpPr>
        <p:spPr bwMode="auto">
          <a:xfrm>
            <a:off x="287338" y="446088"/>
            <a:ext cx="8876665" cy="1568450"/>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例</a:t>
            </a:r>
            <a:r>
              <a:rPr kumimoji="0" lang="en-US" altLang="zh-CN"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9.</a:t>
            </a:r>
            <a:r>
              <a:rPr kumimoji="0" lang="en-US" altLang="zh-CN"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设 </a:t>
            </a:r>
            <a:r>
              <a:rPr kumimoji="0" lang="en-US" altLang="zh-CN" sz="3200" b="0"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f </a:t>
            </a: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3200" b="0"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3200" b="0"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y</a:t>
            </a: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在区域</a:t>
            </a:r>
            <a:r>
              <a:rPr kumimoji="1" lang="en-US" altLang="zh-CN" sz="3200" b="0"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D </a:t>
            </a:r>
            <a:r>
              <a:rPr kumimoji="1"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en-US" altLang="zh-CN" sz="3200" b="0"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1"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3200" b="0"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y</a:t>
            </a:r>
            <a:r>
              <a:rPr kumimoji="1"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en-US" altLang="zh-CN" sz="3200" b="0"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 ≤ x ≤ b, </a:t>
            </a:r>
            <a:r>
              <a:rPr kumimoji="1" lang="en-US" altLang="zh-CN" sz="3200" b="0"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y</a:t>
            </a:r>
            <a:r>
              <a:rPr kumimoji="1" lang="en-US" altLang="zh-CN" sz="32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3200" b="0"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R</a:t>
            </a:r>
            <a:r>
              <a:rPr kumimoji="1"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en-US" altLang="zh-CN" sz="3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a:t>
            </a:r>
            <a:endParaRPr kumimoji="1" lang="en-US" altLang="zh-CN" sz="3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上关于</a:t>
            </a:r>
            <a:r>
              <a:rPr kumimoji="0" lang="en-US" altLang="zh-CN" sz="3200" b="0"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y</a:t>
            </a:r>
            <a:r>
              <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满足</a:t>
            </a:r>
            <a:r>
              <a:rPr kumimoji="0" lang="en-US" altLang="zh-CN" sz="32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Lipschitz</a:t>
            </a:r>
            <a:r>
              <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条件</a:t>
            </a: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证明改进的 </a:t>
            </a: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Euler</a:t>
            </a:r>
            <a:r>
              <a:rPr kumimoji="0" lang="zh-CN"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方法</a:t>
            </a:r>
            <a:endPar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是</a:t>
            </a:r>
            <a:r>
              <a:rPr kumimoji="0" lang="zh-CN"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收敛</a:t>
            </a:r>
            <a:r>
              <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a:t>
            </a:r>
            <a:endParaRPr kumimoji="0"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77834" name="Rectangle 14"/>
          <p:cNvSpPr/>
          <p:nvPr/>
        </p:nvSpPr>
        <p:spPr>
          <a:xfrm>
            <a:off x="385763" y="3979863"/>
            <a:ext cx="3057525" cy="584200"/>
          </a:xfrm>
          <a:prstGeom prst="rect">
            <a:avLst/>
          </a:prstGeom>
          <a:noFill/>
          <a:ln w="9525">
            <a:noFill/>
          </a:ln>
        </p:spPr>
        <p:txBody>
          <a:bodyPr wrap="none">
            <a:spAutoFit/>
          </a:bodyPr>
          <a:p>
            <a:r>
              <a:rPr lang="zh-CN" altLang="en-US" dirty="0">
                <a:latin typeface="Times New Roman" panose="02020603050405020304" pitchFamily="18" charset="0"/>
              </a:rPr>
              <a:t>则它</a:t>
            </a:r>
            <a:r>
              <a:rPr lang="zh-CN" altLang="zh-CN" dirty="0">
                <a:latin typeface="Times New Roman" panose="02020603050405020304" pitchFamily="18" charset="0"/>
              </a:rPr>
              <a:t>的增量函数</a:t>
            </a:r>
            <a:endParaRPr lang="zh-CN" altLang="en-US" sz="4400" dirty="0">
              <a:solidFill>
                <a:srgbClr val="FF0000"/>
              </a:solidFill>
              <a:latin typeface="Times New Roman" panose="02020603050405020304" pitchFamily="18" charset="0"/>
            </a:endParaRPr>
          </a:p>
        </p:txBody>
      </p:sp>
      <p:graphicFrame>
        <p:nvGraphicFramePr>
          <p:cNvPr id="77826" name="Object 6"/>
          <p:cNvGraphicFramePr/>
          <p:nvPr/>
        </p:nvGraphicFramePr>
        <p:xfrm>
          <a:off x="1033463" y="4413250"/>
          <a:ext cx="7158037" cy="977900"/>
        </p:xfrm>
        <a:graphic>
          <a:graphicData uri="http://schemas.openxmlformats.org/presentationml/2006/ole">
            <mc:AlternateContent xmlns:mc="http://schemas.openxmlformats.org/markup-compatibility/2006">
              <mc:Choice xmlns:v="urn:schemas-microsoft-com:vml" Requires="v">
                <p:oleObj spid="_x0000_s3211" name="" r:id="rId1" imgW="2868930" imgH="393700" progId="Equation.DSMT4">
                  <p:embed/>
                </p:oleObj>
              </mc:Choice>
              <mc:Fallback>
                <p:oleObj name="" r:id="rId1" imgW="2868930" imgH="393700" progId="Equation.DSMT4">
                  <p:embed/>
                  <p:pic>
                    <p:nvPicPr>
                      <p:cNvPr id="0" name="图片 3210"/>
                      <p:cNvPicPr/>
                      <p:nvPr/>
                    </p:nvPicPr>
                    <p:blipFill>
                      <a:blip r:embed="rId2"/>
                      <a:stretch>
                        <a:fillRect/>
                      </a:stretch>
                    </p:blipFill>
                    <p:spPr>
                      <a:xfrm>
                        <a:off x="1033463" y="4413250"/>
                        <a:ext cx="7158037" cy="977900"/>
                      </a:xfrm>
                      <a:prstGeom prst="rect">
                        <a:avLst/>
                      </a:prstGeom>
                      <a:noFill/>
                      <a:ln w="38100">
                        <a:noFill/>
                        <a:miter/>
                      </a:ln>
                    </p:spPr>
                  </p:pic>
                </p:oleObj>
              </mc:Fallback>
            </mc:AlternateContent>
          </a:graphicData>
        </a:graphic>
      </p:graphicFrame>
      <p:grpSp>
        <p:nvGrpSpPr>
          <p:cNvPr id="2" name="组合 11"/>
          <p:cNvGrpSpPr/>
          <p:nvPr/>
        </p:nvGrpSpPr>
        <p:grpSpPr>
          <a:xfrm>
            <a:off x="419100" y="5381625"/>
            <a:ext cx="8228013" cy="584200"/>
            <a:chOff x="446088" y="5302802"/>
            <a:chExt cx="8228012" cy="584200"/>
          </a:xfrm>
        </p:grpSpPr>
        <p:sp>
          <p:nvSpPr>
            <p:cNvPr id="44043" name="Rectangle 16"/>
            <p:cNvSpPr/>
            <p:nvPr/>
          </p:nvSpPr>
          <p:spPr>
            <a:xfrm>
              <a:off x="446088" y="5302802"/>
              <a:ext cx="8228012" cy="584200"/>
            </a:xfrm>
            <a:prstGeom prst="rect">
              <a:avLst/>
            </a:prstGeom>
            <a:noFill/>
            <a:ln w="9525">
              <a:noFill/>
            </a:ln>
          </p:spPr>
          <p:txBody>
            <a:bodyPr wrap="none">
              <a:spAutoFit/>
            </a:bodyPr>
            <a:p>
              <a:r>
                <a:rPr lang="zh-CN" altLang="en-US" dirty="0">
                  <a:latin typeface="Times New Roman" panose="02020603050405020304" pitchFamily="18" charset="0"/>
                </a:rPr>
                <a:t>因为                                                  常数 </a:t>
              </a:r>
              <a:r>
                <a:rPr lang="en-US" altLang="zh-CN" i="1" dirty="0">
                  <a:latin typeface="Times New Roman" panose="02020603050405020304" pitchFamily="18" charset="0"/>
                </a:rPr>
                <a:t>L </a:t>
              </a:r>
              <a:r>
                <a:rPr lang="en-US" altLang="zh-CN" dirty="0">
                  <a:latin typeface="Times New Roman" panose="02020603050405020304" pitchFamily="18" charset="0"/>
                </a:rPr>
                <a:t>&gt; 0,</a:t>
              </a:r>
              <a:endParaRPr lang="en-US" altLang="zh-CN" dirty="0">
                <a:solidFill>
                  <a:srgbClr val="FF0000"/>
                </a:solidFill>
                <a:latin typeface="Times New Roman" panose="02020603050405020304" pitchFamily="18" charset="0"/>
              </a:endParaRPr>
            </a:p>
          </p:txBody>
        </p:sp>
        <p:graphicFrame>
          <p:nvGraphicFramePr>
            <p:cNvPr id="44036" name="Object 7"/>
            <p:cNvGraphicFramePr/>
            <p:nvPr/>
          </p:nvGraphicFramePr>
          <p:xfrm>
            <a:off x="1441450" y="5345113"/>
            <a:ext cx="4818062" cy="512762"/>
          </p:xfrm>
          <a:graphic>
            <a:graphicData uri="http://schemas.openxmlformats.org/presentationml/2006/ole">
              <mc:AlternateContent xmlns:mc="http://schemas.openxmlformats.org/markup-compatibility/2006">
                <mc:Choice xmlns:v="urn:schemas-microsoft-com:vml" Requires="v">
                  <p:oleObj spid="_x0000_s3209" name="" r:id="rId3" imgW="1890395" imgH="203200" progId="Equation.DSMT4">
                    <p:embed/>
                  </p:oleObj>
                </mc:Choice>
                <mc:Fallback>
                  <p:oleObj name="" r:id="rId3" imgW="1890395" imgH="203200" progId="Equation.DSMT4">
                    <p:embed/>
                    <p:pic>
                      <p:nvPicPr>
                        <p:cNvPr id="0" name="图片 3208"/>
                        <p:cNvPicPr/>
                        <p:nvPr/>
                      </p:nvPicPr>
                      <p:blipFill>
                        <a:blip r:embed="rId4"/>
                        <a:stretch>
                          <a:fillRect/>
                        </a:stretch>
                      </p:blipFill>
                      <p:spPr>
                        <a:xfrm>
                          <a:off x="1441450" y="5345113"/>
                          <a:ext cx="4818062" cy="512762"/>
                        </a:xfrm>
                        <a:prstGeom prst="rect">
                          <a:avLst/>
                        </a:prstGeom>
                        <a:noFill/>
                        <a:ln w="38100">
                          <a:noFill/>
                          <a:miter/>
                        </a:ln>
                      </p:spPr>
                    </p:pic>
                  </p:oleObj>
                </mc:Fallback>
              </mc:AlternateContent>
            </a:graphicData>
          </a:graphic>
        </p:graphicFrame>
      </p:grpSp>
      <p:graphicFrame>
        <p:nvGraphicFramePr>
          <p:cNvPr id="140301" name="Object 13"/>
          <p:cNvGraphicFramePr/>
          <p:nvPr/>
        </p:nvGraphicFramePr>
        <p:xfrm>
          <a:off x="1158875" y="2362200"/>
          <a:ext cx="6164263" cy="1649413"/>
        </p:xfrm>
        <a:graphic>
          <a:graphicData uri="http://schemas.openxmlformats.org/presentationml/2006/ole">
            <mc:AlternateContent xmlns:mc="http://schemas.openxmlformats.org/markup-compatibility/2006">
              <mc:Choice xmlns:v="urn:schemas-microsoft-com:vml" Requires="v">
                <p:oleObj spid="_x0000_s3212" name="" r:id="rId5" imgW="2475230" imgH="660400" progId="Equation.3">
                  <p:embed/>
                </p:oleObj>
              </mc:Choice>
              <mc:Fallback>
                <p:oleObj name="" r:id="rId5" imgW="2475230" imgH="660400" progId="Equation.3">
                  <p:embed/>
                  <p:pic>
                    <p:nvPicPr>
                      <p:cNvPr id="0" name="图片 3211"/>
                      <p:cNvPicPr/>
                      <p:nvPr/>
                    </p:nvPicPr>
                    <p:blipFill>
                      <a:blip r:embed="rId6"/>
                      <a:stretch>
                        <a:fillRect/>
                      </a:stretch>
                    </p:blipFill>
                    <p:spPr>
                      <a:xfrm>
                        <a:off x="1158875" y="2362200"/>
                        <a:ext cx="6164263" cy="1649413"/>
                      </a:xfrm>
                      <a:prstGeom prst="rect">
                        <a:avLst/>
                      </a:prstGeom>
                      <a:noFill/>
                      <a:ln w="38100">
                        <a:noFill/>
                        <a:miter/>
                      </a:ln>
                    </p:spPr>
                  </p:pic>
                </p:oleObj>
              </mc:Fallback>
            </mc:AlternateContent>
          </a:graphicData>
        </a:graphic>
      </p:graphicFrame>
      <p:sp>
        <p:nvSpPr>
          <p:cNvPr id="15" name="矩形 14"/>
          <p:cNvSpPr/>
          <p:nvPr/>
        </p:nvSpPr>
        <p:spPr>
          <a:xfrm>
            <a:off x="238125" y="1957388"/>
            <a:ext cx="4700588" cy="584200"/>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证明:</a:t>
            </a:r>
            <a:r>
              <a:rPr lang="zh-CN" altLang="en-US" dirty="0">
                <a:latin typeface="Times New Roman" panose="02020603050405020304" pitchFamily="18" charset="0"/>
              </a:rPr>
              <a:t>改进的 </a:t>
            </a:r>
            <a:r>
              <a:rPr lang="en-US" altLang="zh-CN" dirty="0">
                <a:latin typeface="Times New Roman" panose="02020603050405020304" pitchFamily="18" charset="0"/>
              </a:rPr>
              <a:t>Euler </a:t>
            </a:r>
            <a:r>
              <a:rPr lang="zh-CN" altLang="zh-CN" dirty="0">
                <a:latin typeface="Times New Roman" panose="02020603050405020304" pitchFamily="18" charset="0"/>
              </a:rPr>
              <a:t>方法</a:t>
            </a:r>
            <a:r>
              <a:rPr lang="zh-CN" altLang="en-US" dirty="0">
                <a:latin typeface="Times New Roman" panose="02020603050405020304" pitchFamily="18" charset="0"/>
              </a:rPr>
              <a:t>为</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0301"/>
                                        </p:tgtEl>
                                        <p:attrNameLst>
                                          <p:attrName>style.visibility</p:attrName>
                                        </p:attrNameLst>
                                      </p:cBhvr>
                                      <p:to>
                                        <p:strVal val="visible"/>
                                      </p:to>
                                    </p:set>
                                    <p:animEffect transition="in" filter="wipe(up)">
                                      <p:cBhvr>
                                        <p:cTn id="12" dur="500"/>
                                        <p:tgtEl>
                                          <p:spTgt spid="1403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7834"/>
                                        </p:tgtEl>
                                        <p:attrNameLst>
                                          <p:attrName>style.visibility</p:attrName>
                                        </p:attrNameLst>
                                      </p:cBhvr>
                                      <p:to>
                                        <p:strVal val="visible"/>
                                      </p:to>
                                    </p:set>
                                    <p:animEffect transition="in" filter="wipe(left)">
                                      <p:cBhvr>
                                        <p:cTn id="17" dur="500"/>
                                        <p:tgtEl>
                                          <p:spTgt spid="7783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7826"/>
                                        </p:tgtEl>
                                        <p:attrNameLst>
                                          <p:attrName>style.visibility</p:attrName>
                                        </p:attrNameLst>
                                      </p:cBhvr>
                                      <p:to>
                                        <p:strVal val="visible"/>
                                      </p:to>
                                    </p:set>
                                    <p:animEffect transition="in" filter="dissolve">
                                      <p:cBhvr>
                                        <p:cTn id="22" dur="500"/>
                                        <p:tgtEl>
                                          <p:spTgt spid="778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4" grpId="0"/>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064"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45065" name="Rectangle 18"/>
          <p:cNvSpPr/>
          <p:nvPr/>
        </p:nvSpPr>
        <p:spPr>
          <a:xfrm>
            <a:off x="588963" y="514350"/>
            <a:ext cx="1006475" cy="584200"/>
          </a:xfrm>
          <a:prstGeom prst="rect">
            <a:avLst/>
          </a:prstGeom>
          <a:noFill/>
          <a:ln w="9525">
            <a:noFill/>
          </a:ln>
        </p:spPr>
        <p:txBody>
          <a:bodyPr wrap="none">
            <a:spAutoFit/>
          </a:bodyPr>
          <a:p>
            <a:r>
              <a:rPr lang="zh-CN" altLang="en-US" dirty="0">
                <a:latin typeface="Times New Roman" panose="02020603050405020304" pitchFamily="18" charset="0"/>
              </a:rPr>
              <a:t>则由</a:t>
            </a:r>
            <a:endParaRPr lang="zh-CN" altLang="en-US" sz="4400" dirty="0">
              <a:solidFill>
                <a:srgbClr val="FF0000"/>
              </a:solidFill>
              <a:latin typeface="Times New Roman" panose="02020603050405020304" pitchFamily="18" charset="0"/>
            </a:endParaRPr>
          </a:p>
        </p:txBody>
      </p:sp>
      <p:graphicFrame>
        <p:nvGraphicFramePr>
          <p:cNvPr id="45058" name="Object 6"/>
          <p:cNvGraphicFramePr/>
          <p:nvPr/>
        </p:nvGraphicFramePr>
        <p:xfrm>
          <a:off x="1603375" y="323850"/>
          <a:ext cx="7158038" cy="977900"/>
        </p:xfrm>
        <a:graphic>
          <a:graphicData uri="http://schemas.openxmlformats.org/presentationml/2006/ole">
            <mc:AlternateContent xmlns:mc="http://schemas.openxmlformats.org/markup-compatibility/2006">
              <mc:Choice xmlns:v="urn:schemas-microsoft-com:vml" Requires="v">
                <p:oleObj spid="_x0000_s3207" name="" r:id="rId1" imgW="2868930" imgH="393700" progId="Equation.DSMT4">
                  <p:embed/>
                </p:oleObj>
              </mc:Choice>
              <mc:Fallback>
                <p:oleObj name="" r:id="rId1" imgW="2868930" imgH="393700" progId="Equation.DSMT4">
                  <p:embed/>
                  <p:pic>
                    <p:nvPicPr>
                      <p:cNvPr id="0" name="图片 3206"/>
                      <p:cNvPicPr/>
                      <p:nvPr/>
                    </p:nvPicPr>
                    <p:blipFill>
                      <a:blip r:embed="rId2"/>
                      <a:stretch>
                        <a:fillRect/>
                      </a:stretch>
                    </p:blipFill>
                    <p:spPr>
                      <a:xfrm>
                        <a:off x="1603375" y="323850"/>
                        <a:ext cx="7158038" cy="977900"/>
                      </a:xfrm>
                      <a:prstGeom prst="rect">
                        <a:avLst/>
                      </a:prstGeom>
                      <a:noFill/>
                      <a:ln w="38100">
                        <a:noFill/>
                        <a:miter/>
                      </a:ln>
                    </p:spPr>
                  </p:pic>
                </p:oleObj>
              </mc:Fallback>
            </mc:AlternateContent>
          </a:graphicData>
        </a:graphic>
      </p:graphicFrame>
      <p:graphicFrame>
        <p:nvGraphicFramePr>
          <p:cNvPr id="3" name="Object 4"/>
          <p:cNvGraphicFramePr/>
          <p:nvPr/>
        </p:nvGraphicFramePr>
        <p:xfrm>
          <a:off x="820738" y="1617663"/>
          <a:ext cx="7191375" cy="1585912"/>
        </p:xfrm>
        <a:graphic>
          <a:graphicData uri="http://schemas.openxmlformats.org/presentationml/2006/ole">
            <mc:AlternateContent xmlns:mc="http://schemas.openxmlformats.org/markup-compatibility/2006">
              <mc:Choice xmlns:v="urn:schemas-microsoft-com:vml" Requires="v">
                <p:oleObj spid="_x0000_s3208" name="" r:id="rId3" imgW="2995930" imgH="660400" progId="Equation.3">
                  <p:embed/>
                </p:oleObj>
              </mc:Choice>
              <mc:Fallback>
                <p:oleObj name="" r:id="rId3" imgW="2995930" imgH="660400" progId="Equation.3">
                  <p:embed/>
                  <p:pic>
                    <p:nvPicPr>
                      <p:cNvPr id="0" name="图片 3207"/>
                      <p:cNvPicPr/>
                      <p:nvPr/>
                    </p:nvPicPr>
                    <p:blipFill>
                      <a:blip r:embed="rId4"/>
                      <a:stretch>
                        <a:fillRect/>
                      </a:stretch>
                    </p:blipFill>
                    <p:spPr>
                      <a:xfrm>
                        <a:off x="820738" y="1617663"/>
                        <a:ext cx="7191375" cy="1585912"/>
                      </a:xfrm>
                      <a:prstGeom prst="rect">
                        <a:avLst/>
                      </a:prstGeom>
                      <a:noFill/>
                      <a:ln w="38100">
                        <a:noFill/>
                        <a:miter/>
                      </a:ln>
                    </p:spPr>
                  </p:pic>
                </p:oleObj>
              </mc:Fallback>
            </mc:AlternateContent>
          </a:graphicData>
        </a:graphic>
      </p:graphicFrame>
      <p:sp>
        <p:nvSpPr>
          <p:cNvPr id="10" name="矩形 9"/>
          <p:cNvSpPr/>
          <p:nvPr/>
        </p:nvSpPr>
        <p:spPr>
          <a:xfrm>
            <a:off x="617538" y="1268413"/>
            <a:ext cx="593725" cy="584200"/>
          </a:xfrm>
          <a:prstGeom prst="rect">
            <a:avLst/>
          </a:prstGeom>
          <a:noFill/>
          <a:ln w="9525">
            <a:noFill/>
          </a:ln>
        </p:spPr>
        <p:txBody>
          <a:bodyPr wrap="none">
            <a:spAutoFit/>
          </a:bodyPr>
          <a:p>
            <a:pPr eaLnBrk="0" hangingPunct="0"/>
            <a:r>
              <a:rPr lang="zh-CN" altLang="en-US" dirty="0">
                <a:latin typeface="Times New Roman" panose="02020603050405020304" pitchFamily="18" charset="0"/>
              </a:rPr>
              <a:t>有</a:t>
            </a:r>
            <a:endParaRPr lang="zh-CN" altLang="en-US" dirty="0">
              <a:latin typeface="Times New Roman" panose="02020603050405020304" pitchFamily="18" charset="0"/>
            </a:endParaRPr>
          </a:p>
        </p:txBody>
      </p:sp>
      <p:graphicFrame>
        <p:nvGraphicFramePr>
          <p:cNvPr id="4" name="Object 7"/>
          <p:cNvGraphicFramePr/>
          <p:nvPr/>
        </p:nvGraphicFramePr>
        <p:xfrm>
          <a:off x="698500" y="3238500"/>
          <a:ext cx="6489700" cy="946150"/>
        </p:xfrm>
        <a:graphic>
          <a:graphicData uri="http://schemas.openxmlformats.org/presentationml/2006/ole">
            <mc:AlternateContent xmlns:mc="http://schemas.openxmlformats.org/markup-compatibility/2006">
              <mc:Choice xmlns:v="urn:schemas-microsoft-com:vml" Requires="v">
                <p:oleObj spid="_x0000_s3210" name="" r:id="rId5" imgW="2703830" imgH="393700" progId="Equation.3">
                  <p:embed/>
                </p:oleObj>
              </mc:Choice>
              <mc:Fallback>
                <p:oleObj name="" r:id="rId5" imgW="2703830" imgH="393700" progId="Equation.3">
                  <p:embed/>
                  <p:pic>
                    <p:nvPicPr>
                      <p:cNvPr id="0" name="图片 3209"/>
                      <p:cNvPicPr/>
                      <p:nvPr/>
                    </p:nvPicPr>
                    <p:blipFill>
                      <a:blip r:embed="rId6"/>
                      <a:stretch>
                        <a:fillRect/>
                      </a:stretch>
                    </p:blipFill>
                    <p:spPr>
                      <a:xfrm>
                        <a:off x="698500" y="3238500"/>
                        <a:ext cx="6489700" cy="946150"/>
                      </a:xfrm>
                      <a:prstGeom prst="rect">
                        <a:avLst/>
                      </a:prstGeom>
                      <a:noFill/>
                      <a:ln w="38100">
                        <a:noFill/>
                        <a:miter/>
                      </a:ln>
                    </p:spPr>
                  </p:pic>
                </p:oleObj>
              </mc:Fallback>
            </mc:AlternateContent>
          </a:graphicData>
        </a:graphic>
      </p:graphicFrame>
      <p:graphicFrame>
        <p:nvGraphicFramePr>
          <p:cNvPr id="5" name="Object 7"/>
          <p:cNvGraphicFramePr/>
          <p:nvPr/>
        </p:nvGraphicFramePr>
        <p:xfrm>
          <a:off x="741363" y="5130800"/>
          <a:ext cx="2803525" cy="1036638"/>
        </p:xfrm>
        <a:graphic>
          <a:graphicData uri="http://schemas.openxmlformats.org/presentationml/2006/ole">
            <mc:AlternateContent xmlns:mc="http://schemas.openxmlformats.org/markup-compatibility/2006">
              <mc:Choice xmlns:v="urn:schemas-microsoft-com:vml" Requires="v">
                <p:oleObj spid="_x0000_s3214" name="" r:id="rId7" imgW="1167765" imgH="431800" progId="Equation.3">
                  <p:embed/>
                </p:oleObj>
              </mc:Choice>
              <mc:Fallback>
                <p:oleObj name="" r:id="rId7" imgW="1167765" imgH="431800" progId="Equation.3">
                  <p:embed/>
                  <p:pic>
                    <p:nvPicPr>
                      <p:cNvPr id="0" name="图片 3213"/>
                      <p:cNvPicPr/>
                      <p:nvPr/>
                    </p:nvPicPr>
                    <p:blipFill>
                      <a:blip r:embed="rId8"/>
                      <a:stretch>
                        <a:fillRect/>
                      </a:stretch>
                    </p:blipFill>
                    <p:spPr>
                      <a:xfrm>
                        <a:off x="741363" y="5130800"/>
                        <a:ext cx="2803525" cy="1036638"/>
                      </a:xfrm>
                      <a:prstGeom prst="rect">
                        <a:avLst/>
                      </a:prstGeom>
                      <a:noFill/>
                      <a:ln w="38100">
                        <a:noFill/>
                        <a:miter/>
                      </a:ln>
                    </p:spPr>
                  </p:pic>
                </p:oleObj>
              </mc:Fallback>
            </mc:AlternateContent>
          </a:graphicData>
        </a:graphic>
      </p:graphicFrame>
      <p:graphicFrame>
        <p:nvGraphicFramePr>
          <p:cNvPr id="6" name="Object 8"/>
          <p:cNvGraphicFramePr/>
          <p:nvPr/>
        </p:nvGraphicFramePr>
        <p:xfrm>
          <a:off x="730250" y="4114800"/>
          <a:ext cx="5151438" cy="946150"/>
        </p:xfrm>
        <a:graphic>
          <a:graphicData uri="http://schemas.openxmlformats.org/presentationml/2006/ole">
            <mc:AlternateContent xmlns:mc="http://schemas.openxmlformats.org/markup-compatibility/2006">
              <mc:Choice xmlns:v="urn:schemas-microsoft-com:vml" Requires="v">
                <p:oleObj spid="_x0000_s3215" name="" r:id="rId9" imgW="2145665" imgH="393700" progId="Equation.3">
                  <p:embed/>
                </p:oleObj>
              </mc:Choice>
              <mc:Fallback>
                <p:oleObj name="" r:id="rId9" imgW="2145665" imgH="393700" progId="Equation.3">
                  <p:embed/>
                  <p:pic>
                    <p:nvPicPr>
                      <p:cNvPr id="0" name="图片 3214"/>
                      <p:cNvPicPr/>
                      <p:nvPr/>
                    </p:nvPicPr>
                    <p:blipFill>
                      <a:blip r:embed="rId10"/>
                      <a:stretch>
                        <a:fillRect/>
                      </a:stretch>
                    </p:blipFill>
                    <p:spPr>
                      <a:xfrm>
                        <a:off x="730250" y="4114800"/>
                        <a:ext cx="5151438" cy="9461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0-#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0-#ppt_w/2"/>
                                          </p:val>
                                        </p:tav>
                                        <p:tav tm="100000">
                                          <p:val>
                                            <p:strVal val="#ppt_x"/>
                                          </p:val>
                                        </p:tav>
                                      </p:tavLst>
                                    </p:anim>
                                    <p:anim calcmode="lin" valueType="num">
                                      <p:cBhvr additive="base">
                                        <p:cTn id="25"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ppt_x</p:attrName>
                                        </p:attrNameLst>
                                      </p:cBhvr>
                                      <p:tavLst>
                                        <p:tav tm="0">
                                          <p:val>
                                            <p:strVal val="0-#ppt_w/2"/>
                                          </p:val>
                                        </p:tav>
                                        <p:tav tm="100000">
                                          <p:val>
                                            <p:strVal val="#ppt_x"/>
                                          </p:val>
                                        </p:tav>
                                      </p:tavLst>
                                    </p:anim>
                                    <p:anim calcmode="lin" valueType="num">
                                      <p:cBhvr additive="base">
                                        <p:cTn id="31"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085"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46086" name="Rectangle 20"/>
          <p:cNvSpPr/>
          <p:nvPr/>
        </p:nvSpPr>
        <p:spPr>
          <a:xfrm>
            <a:off x="615950" y="481013"/>
            <a:ext cx="5016500" cy="584200"/>
          </a:xfrm>
          <a:prstGeom prst="rect">
            <a:avLst/>
          </a:prstGeom>
          <a:noFill/>
          <a:ln w="9525">
            <a:noFill/>
          </a:ln>
        </p:spPr>
        <p:txBody>
          <a:bodyPr>
            <a:spAutoFit/>
          </a:bodyPr>
          <a:p>
            <a:r>
              <a:rPr lang="zh-CN" altLang="en-US" dirty="0">
                <a:latin typeface="Times New Roman" panose="02020603050405020304" pitchFamily="18" charset="0"/>
              </a:rPr>
              <a:t>设 0 &lt; </a:t>
            </a:r>
            <a:r>
              <a:rPr lang="en-US" altLang="zh-CN" i="1" dirty="0">
                <a:latin typeface="Times New Roman" panose="02020603050405020304" pitchFamily="18" charset="0"/>
              </a:rPr>
              <a:t>h</a:t>
            </a:r>
            <a:r>
              <a:rPr lang="zh-CN" altLang="en-US" dirty="0">
                <a:latin typeface="Times New Roman" panose="02020603050405020304" pitchFamily="18" charset="0"/>
              </a:rPr>
              <a:t>≤</a:t>
            </a:r>
            <a:r>
              <a:rPr lang="en-US" altLang="zh-CN" dirty="0">
                <a:latin typeface="Times New Roman" panose="02020603050405020304" pitchFamily="18" charset="0"/>
              </a:rPr>
              <a:t> </a:t>
            </a:r>
            <a:r>
              <a:rPr lang="en-US" altLang="zh-CN" i="1" dirty="0">
                <a:latin typeface="Times New Roman" panose="02020603050405020304" pitchFamily="18" charset="0"/>
              </a:rPr>
              <a:t>h</a:t>
            </a:r>
            <a:r>
              <a:rPr lang="en-US" altLang="zh-CN" baseline="-25000" dirty="0">
                <a:latin typeface="Times New Roman" panose="02020603050405020304" pitchFamily="18" charset="0"/>
              </a:rPr>
              <a:t>0</a:t>
            </a:r>
            <a:r>
              <a:rPr lang="en-US" altLang="zh-CN" dirty="0">
                <a:latin typeface="Times New Roman" panose="02020603050405020304" pitchFamily="18" charset="0"/>
              </a:rPr>
              <a:t> (</a:t>
            </a:r>
            <a:r>
              <a:rPr lang="en-US" altLang="zh-CN" i="1" dirty="0">
                <a:latin typeface="Times New Roman" panose="02020603050405020304" pitchFamily="18" charset="0"/>
              </a:rPr>
              <a:t>h</a:t>
            </a:r>
            <a:r>
              <a:rPr lang="zh-CN" altLang="en-US" baseline="-25000" dirty="0">
                <a:latin typeface="Times New Roman" panose="02020603050405020304" pitchFamily="18" charset="0"/>
              </a:rPr>
              <a:t>0</a:t>
            </a:r>
            <a:r>
              <a:rPr lang="zh-CN" altLang="zh-CN" dirty="0">
                <a:latin typeface="Times New Roman" panose="02020603050405020304" pitchFamily="18" charset="0"/>
              </a:rPr>
              <a:t>为定数)</a:t>
            </a:r>
            <a:r>
              <a:rPr lang="zh-CN" altLang="en-US" dirty="0">
                <a:latin typeface="Times New Roman" panose="02020603050405020304" pitchFamily="18" charset="0"/>
              </a:rPr>
              <a:t>, 故</a:t>
            </a:r>
            <a:endParaRPr lang="zh-CN" altLang="en-US" dirty="0">
              <a:latin typeface="Times New Roman" panose="02020603050405020304" pitchFamily="18" charset="0"/>
            </a:endParaRPr>
          </a:p>
        </p:txBody>
      </p:sp>
      <p:grpSp>
        <p:nvGrpSpPr>
          <p:cNvPr id="2" name="Group 29"/>
          <p:cNvGrpSpPr/>
          <p:nvPr/>
        </p:nvGrpSpPr>
        <p:grpSpPr>
          <a:xfrm>
            <a:off x="331788" y="2074863"/>
            <a:ext cx="8467725" cy="2008188"/>
            <a:chOff x="106" y="3343"/>
            <a:chExt cx="5334" cy="1265"/>
          </a:xfrm>
        </p:grpSpPr>
        <p:sp>
          <p:nvSpPr>
            <p:cNvPr id="46089" name="Rectangle 22"/>
            <p:cNvSpPr/>
            <p:nvPr/>
          </p:nvSpPr>
          <p:spPr>
            <a:xfrm>
              <a:off x="106" y="3465"/>
              <a:ext cx="5334" cy="1143"/>
            </a:xfrm>
            <a:prstGeom prst="rect">
              <a:avLst/>
            </a:prstGeom>
            <a:noFill/>
            <a:ln w="9525">
              <a:noFill/>
            </a:ln>
          </p:spPr>
          <p:txBody>
            <a:bodyPr wrap="none">
              <a:spAutoFit/>
            </a:bodyPr>
            <a:p>
              <a:r>
                <a:rPr lang="zh-CN" altLang="en-US" dirty="0">
                  <a:latin typeface="Times New Roman" panose="02020603050405020304" pitchFamily="18" charset="0"/>
                </a:rPr>
                <a:t>其中                          为增量函数 </a:t>
              </a:r>
              <a:r>
                <a:rPr lang="en-US" altLang="zh-CN" i="1" dirty="0">
                  <a:latin typeface="Times New Roman" panose="02020603050405020304" pitchFamily="18" charset="0"/>
                </a:rPr>
                <a:t>φ </a:t>
              </a:r>
              <a:r>
                <a:rPr lang="zh-CN" altLang="en-US" dirty="0">
                  <a:latin typeface="Times New Roman" panose="02020603050405020304" pitchFamily="18" charset="0"/>
                </a:rPr>
                <a:t>关于 </a:t>
              </a:r>
              <a:r>
                <a:rPr lang="en-US" altLang="en-US" i="1" dirty="0">
                  <a:latin typeface="Times New Roman" panose="02020603050405020304" pitchFamily="18" charset="0"/>
                </a:rPr>
                <a:t>y </a:t>
              </a:r>
              <a:r>
                <a:rPr lang="zh-CN" altLang="en-US" dirty="0">
                  <a:latin typeface="Times New Roman" panose="02020603050405020304" pitchFamily="18" charset="0"/>
                </a:rPr>
                <a:t>的</a:t>
              </a:r>
              <a:endParaRPr lang="en-US" altLang="zh-CN" dirty="0">
                <a:latin typeface="Times New Roman" panose="02020603050405020304" pitchFamily="18" charset="0"/>
              </a:endParaRPr>
            </a:p>
            <a:p>
              <a:pPr>
                <a:lnSpc>
                  <a:spcPct val="150000"/>
                </a:lnSpc>
              </a:pPr>
              <a:r>
                <a:rPr lang="en-US" altLang="en-US" dirty="0">
                  <a:latin typeface="Times New Roman" panose="02020603050405020304" pitchFamily="18" charset="0"/>
                </a:rPr>
                <a:t>Lipschitz </a:t>
              </a:r>
              <a:r>
                <a:rPr lang="zh-CN" altLang="en-US" dirty="0">
                  <a:latin typeface="Times New Roman" panose="02020603050405020304" pitchFamily="18" charset="0"/>
                </a:rPr>
                <a:t>常数, 按定理</a:t>
              </a:r>
              <a:r>
                <a:rPr lang="en-US" altLang="zh-CN" dirty="0">
                  <a:latin typeface="Times New Roman" panose="02020603050405020304" pitchFamily="18" charset="0"/>
                </a:rPr>
                <a:t>9.</a:t>
              </a:r>
              <a:r>
                <a:rPr lang="en-US" altLang="zh-CN" dirty="0">
                  <a:latin typeface="Times New Roman" panose="02020603050405020304" pitchFamily="18" charset="0"/>
                </a:rPr>
                <a:t>3.2 </a:t>
              </a:r>
              <a:r>
                <a:rPr lang="zh-CN" altLang="en-US" dirty="0">
                  <a:latin typeface="Times New Roman" panose="02020603050405020304" pitchFamily="18" charset="0"/>
                </a:rPr>
                <a:t>可知改进的 </a:t>
              </a:r>
              <a:r>
                <a:rPr lang="en-US" altLang="zh-CN" dirty="0">
                  <a:latin typeface="Times New Roman" panose="02020603050405020304" pitchFamily="18" charset="0"/>
                </a:rPr>
                <a:t>Euler </a:t>
              </a:r>
              <a:r>
                <a:rPr lang="zh-CN" altLang="zh-CN" dirty="0">
                  <a:latin typeface="Times New Roman" panose="02020603050405020304" pitchFamily="18" charset="0"/>
                </a:rPr>
                <a:t>方</a:t>
              </a:r>
              <a:endParaRPr lang="en-US" altLang="zh-CN" dirty="0">
                <a:latin typeface="Times New Roman" panose="02020603050405020304" pitchFamily="18" charset="0"/>
              </a:endParaRPr>
            </a:p>
            <a:p>
              <a:r>
                <a:rPr lang="zh-CN" altLang="zh-CN" dirty="0">
                  <a:latin typeface="Times New Roman" panose="02020603050405020304" pitchFamily="18" charset="0"/>
                </a:rPr>
                <a:t>法是收敛的</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46083" name="Object 2"/>
            <p:cNvGraphicFramePr/>
            <p:nvPr/>
          </p:nvGraphicFramePr>
          <p:xfrm>
            <a:off x="691" y="3343"/>
            <a:ext cx="1532" cy="622"/>
          </p:xfrm>
          <a:graphic>
            <a:graphicData uri="http://schemas.openxmlformats.org/presentationml/2006/ole">
              <mc:AlternateContent xmlns:mc="http://schemas.openxmlformats.org/markup-compatibility/2006">
                <mc:Choice xmlns:v="urn:schemas-microsoft-com:vml" Requires="v">
                  <p:oleObj spid="_x0000_s3216" name="" r:id="rId1" imgW="964565" imgH="393700" progId="Equation.DSMT4">
                    <p:embed/>
                  </p:oleObj>
                </mc:Choice>
                <mc:Fallback>
                  <p:oleObj name="" r:id="rId1" imgW="964565" imgH="393700" progId="Equation.DSMT4">
                    <p:embed/>
                    <p:pic>
                      <p:nvPicPr>
                        <p:cNvPr id="0" name="图片 3215"/>
                        <p:cNvPicPr/>
                        <p:nvPr/>
                      </p:nvPicPr>
                      <p:blipFill>
                        <a:blip r:embed="rId2"/>
                        <a:stretch>
                          <a:fillRect/>
                        </a:stretch>
                      </p:blipFill>
                      <p:spPr>
                        <a:xfrm>
                          <a:off x="691" y="3343"/>
                          <a:ext cx="1532" cy="622"/>
                        </a:xfrm>
                        <a:prstGeom prst="rect">
                          <a:avLst/>
                        </a:prstGeom>
                        <a:noFill/>
                        <a:ln w="38100">
                          <a:noFill/>
                          <a:miter/>
                        </a:ln>
                      </p:spPr>
                    </p:pic>
                  </p:oleObj>
                </mc:Fallback>
              </mc:AlternateContent>
            </a:graphicData>
          </a:graphic>
        </p:graphicFrame>
      </p:grpSp>
      <p:sp>
        <p:nvSpPr>
          <p:cNvPr id="100377" name="AutoShape 25"/>
          <p:cNvSpPr/>
          <p:nvPr/>
        </p:nvSpPr>
        <p:spPr>
          <a:xfrm>
            <a:off x="1177925" y="4087813"/>
            <a:ext cx="6350000" cy="2395537"/>
          </a:xfrm>
          <a:prstGeom prst="cloudCallout">
            <a:avLst>
              <a:gd name="adj1" fmla="val -21972"/>
              <a:gd name="adj2" fmla="val -82991"/>
            </a:avLst>
          </a:prstGeom>
          <a:solidFill>
            <a:srgbClr val="FFFFFF"/>
          </a:solidFill>
          <a:ln w="9525" cap="flat" cmpd="sng">
            <a:solidFill>
              <a:schemeClr val="tx1"/>
            </a:solidFill>
            <a:prstDash val="solid"/>
            <a:headEnd type="none" w="med" len="med"/>
            <a:tailEnd type="none" w="med" len="med"/>
          </a:ln>
        </p:spPr>
        <p:txBody>
          <a:bodyPr wrap="none" anchor="ctr" anchorCtr="0"/>
          <a:p>
            <a:r>
              <a:rPr lang="zh-CN" altLang="en-US" dirty="0">
                <a:solidFill>
                  <a:schemeClr val="accent2"/>
                </a:solidFill>
                <a:latin typeface="Times New Roman" panose="02020603050405020304" pitchFamily="18" charset="0"/>
              </a:rPr>
              <a:t>类似地, 可以验证其他 </a:t>
            </a:r>
            <a:endParaRPr lang="en-US" altLang="zh-CN" dirty="0">
              <a:solidFill>
                <a:schemeClr val="accent2"/>
              </a:solidFill>
              <a:latin typeface="Times New Roman" panose="02020603050405020304" pitchFamily="18" charset="0"/>
            </a:endParaRPr>
          </a:p>
          <a:p>
            <a:r>
              <a:rPr lang="en-US" altLang="zh-CN" dirty="0">
                <a:solidFill>
                  <a:schemeClr val="accent2"/>
                </a:solidFill>
                <a:latin typeface="Times New Roman" panose="02020603050405020304" pitchFamily="18" charset="0"/>
              </a:rPr>
              <a:t>Runge-Kutta</a:t>
            </a:r>
            <a:r>
              <a:rPr lang="zh-CN" altLang="en-US" dirty="0">
                <a:solidFill>
                  <a:schemeClr val="accent2"/>
                </a:solidFill>
                <a:latin typeface="Times New Roman" panose="02020603050405020304" pitchFamily="18" charset="0"/>
              </a:rPr>
              <a:t>方法的收敛性</a:t>
            </a:r>
            <a:r>
              <a:rPr lang="zh-CN" altLang="en-US" dirty="0">
                <a:latin typeface="Times New Roman" panose="02020603050405020304" pitchFamily="18" charset="0"/>
              </a:rPr>
              <a:t>.                </a:t>
            </a:r>
            <a:endParaRPr lang="zh-CN" altLang="en-US" sz="3600" dirty="0">
              <a:latin typeface="Times New Roman" panose="02020603050405020304" pitchFamily="18" charset="0"/>
            </a:endParaRPr>
          </a:p>
        </p:txBody>
      </p:sp>
      <p:graphicFrame>
        <p:nvGraphicFramePr>
          <p:cNvPr id="4" name="Object 4"/>
          <p:cNvGraphicFramePr/>
          <p:nvPr/>
        </p:nvGraphicFramePr>
        <p:xfrm>
          <a:off x="503238" y="1068388"/>
          <a:ext cx="7616825" cy="1038225"/>
        </p:xfrm>
        <a:graphic>
          <a:graphicData uri="http://schemas.openxmlformats.org/presentationml/2006/ole">
            <mc:AlternateContent xmlns:mc="http://schemas.openxmlformats.org/markup-compatibility/2006">
              <mc:Choice xmlns:v="urn:schemas-microsoft-com:vml" Requires="v">
                <p:oleObj spid="_x0000_s3217" name="" r:id="rId3" imgW="3173730" imgH="431800" progId="Equation.3">
                  <p:embed/>
                </p:oleObj>
              </mc:Choice>
              <mc:Fallback>
                <p:oleObj name="" r:id="rId3" imgW="3173730" imgH="431800" progId="Equation.3">
                  <p:embed/>
                  <p:pic>
                    <p:nvPicPr>
                      <p:cNvPr id="0" name="图片 3216"/>
                      <p:cNvPicPr/>
                      <p:nvPr/>
                    </p:nvPicPr>
                    <p:blipFill>
                      <a:blip r:embed="rId4"/>
                      <a:stretch>
                        <a:fillRect/>
                      </a:stretch>
                    </p:blipFill>
                    <p:spPr>
                      <a:xfrm>
                        <a:off x="503238" y="1068388"/>
                        <a:ext cx="7616825" cy="10382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00377"/>
                                        </p:tgtEl>
                                        <p:attrNameLst>
                                          <p:attrName>style.visibility</p:attrName>
                                        </p:attrNameLst>
                                      </p:cBhvr>
                                      <p:to>
                                        <p:strVal val="visible"/>
                                      </p:to>
                                    </p:set>
                                    <p:animEffect transition="in" filter="blinds(horizontal)">
                                      <p:cBhvr>
                                        <p:cTn id="18" dur="500"/>
                                        <p:tgtEl>
                                          <p:spTgt spid="100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7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7" name="标题 1"/>
          <p:cNvSpPr>
            <a:spLocks noGrp="1"/>
          </p:cNvSpPr>
          <p:nvPr>
            <p:ph type="title"/>
          </p:nvPr>
        </p:nvSpPr>
        <p:spPr>
          <a:ln/>
        </p:spPr>
        <p:txBody>
          <a:bodyPr vert="horz" wrap="square" lIns="91440" tIns="45720" rIns="91440" bIns="45720" anchor="ctr" anchorCtr="0"/>
          <a:p>
            <a:pPr algn="l"/>
            <a:endParaRPr lang="zh-CN" altLang="en-US" u="none" dirty="0">
              <a:solidFill>
                <a:schemeClr val="tx1"/>
              </a:solidFill>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109"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03430" name="矩形 5"/>
          <p:cNvSpPr/>
          <p:nvPr/>
        </p:nvSpPr>
        <p:spPr>
          <a:xfrm>
            <a:off x="515938" y="261938"/>
            <a:ext cx="8272462" cy="2061210"/>
          </a:xfrm>
          <a:prstGeom prst="rect">
            <a:avLst/>
          </a:prstGeom>
          <a:noFill/>
          <a:ln w="9525">
            <a:noFill/>
          </a:ln>
        </p:spPr>
        <p:txBody>
          <a:bodyPr>
            <a:spAutoFit/>
          </a:bodyPr>
          <a:p>
            <a:pPr eaLnBrk="0" hangingPunct="0"/>
            <a:r>
              <a:rPr lang="zh-CN" altLang="en-US" b="1" dirty="0">
                <a:latin typeface="Times New Roman" panose="02020603050405020304" pitchFamily="18" charset="0"/>
              </a:rPr>
              <a:t>例</a:t>
            </a:r>
            <a:r>
              <a:rPr lang="en-US" altLang="zh-CN" b="1" dirty="0">
                <a:latin typeface="Times New Roman" panose="02020603050405020304" pitchFamily="18" charset="0"/>
              </a:rPr>
              <a:t>9.</a:t>
            </a:r>
            <a:r>
              <a:rPr lang="en-US" altLang="zh-CN" b="1" dirty="0">
                <a:latin typeface="Times New Roman" panose="02020603050405020304" pitchFamily="18" charset="0"/>
              </a:rPr>
              <a:t>3.2</a:t>
            </a:r>
            <a:r>
              <a:rPr lang="en-US" altLang="zh-CN" dirty="0">
                <a:latin typeface="Times New Roman" panose="02020603050405020304" pitchFamily="18" charset="0"/>
              </a:rPr>
              <a:t> </a:t>
            </a:r>
            <a:r>
              <a:rPr lang="zh-CN" altLang="en-US" dirty="0">
                <a:latin typeface="Times New Roman" panose="02020603050405020304" pitchFamily="18" charset="0"/>
              </a:rPr>
              <a:t>若常微分方程组初值问题</a:t>
            </a:r>
            <a:r>
              <a:rPr lang="en-US" altLang="zh-CN" dirty="0">
                <a:latin typeface="Times New Roman" panose="02020603050405020304" pitchFamily="18" charset="0"/>
              </a:rPr>
              <a:t>(9.4.2)</a:t>
            </a:r>
            <a:r>
              <a:rPr lang="zh-CN" altLang="en-US" dirty="0">
                <a:latin typeface="Times New Roman" panose="02020603050405020304" pitchFamily="18" charset="0"/>
              </a:rPr>
              <a:t>中的函数</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dirty="0">
                <a:latin typeface="Times New Roman" panose="02020603050405020304" pitchFamily="18" charset="0"/>
              </a:rPr>
              <a:t>, </a:t>
            </a:r>
            <a:r>
              <a:rPr lang="en-US" altLang="zh-CN" i="1" dirty="0">
                <a:latin typeface="Times New Roman" panose="02020603050405020304" pitchFamily="18" charset="0"/>
              </a:rPr>
              <a:t>Y</a:t>
            </a:r>
            <a:r>
              <a:rPr lang="en-US" altLang="zh-CN" dirty="0">
                <a:latin typeface="Times New Roman" panose="02020603050405020304" pitchFamily="18" charset="0"/>
              </a:rPr>
              <a:t>) </a:t>
            </a:r>
            <a:r>
              <a:rPr lang="zh-CN" altLang="en-US" dirty="0">
                <a:latin typeface="Times New Roman" panose="02020603050405020304" pitchFamily="18" charset="0"/>
              </a:rPr>
              <a:t>在区域</a:t>
            </a:r>
            <a:r>
              <a:rPr lang="en-US" altLang="zh-CN" i="1" dirty="0">
                <a:latin typeface="Times New Roman" panose="02020603050405020304" pitchFamily="18" charset="0"/>
              </a:rPr>
              <a:t>D </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dirty="0">
                <a:latin typeface="Times New Roman" panose="02020603050405020304" pitchFamily="18" charset="0"/>
              </a:rPr>
              <a:t>, </a:t>
            </a:r>
            <a:r>
              <a:rPr lang="en-US" altLang="zh-CN" i="1" dirty="0">
                <a:latin typeface="Times New Roman" panose="02020603050405020304" pitchFamily="18" charset="0"/>
              </a:rPr>
              <a:t>Y</a:t>
            </a:r>
            <a:r>
              <a:rPr lang="en-US" altLang="zh-CN" dirty="0">
                <a:latin typeface="Times New Roman" panose="02020603050405020304" pitchFamily="18" charset="0"/>
              </a:rPr>
              <a:t>)|</a:t>
            </a:r>
            <a:r>
              <a:rPr lang="en-US" altLang="zh-CN" i="1" dirty="0">
                <a:latin typeface="Times New Roman" panose="02020603050405020304" pitchFamily="18" charset="0"/>
              </a:rPr>
              <a:t>a ≤ x ≤ b, Y</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R</a:t>
            </a:r>
            <a:r>
              <a:rPr lang="en-US" altLang="zh-CN" i="1" baseline="30000" dirty="0">
                <a:latin typeface="Times New Roman" panose="02020603050405020304" pitchFamily="18" charset="0"/>
                <a:sym typeface="Symbol" panose="05050102010706020507" pitchFamily="18" charset="2"/>
              </a:rPr>
              <a:t>m</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eaLnBrk="0" hangingPunct="0"/>
            <a:r>
              <a:rPr lang="zh-CN" altLang="en-US" dirty="0">
                <a:latin typeface="Times New Roman" panose="02020603050405020304" pitchFamily="18" charset="0"/>
              </a:rPr>
              <a:t>上关于</a:t>
            </a:r>
            <a:r>
              <a:rPr lang="en-US" altLang="zh-CN" i="1" dirty="0">
                <a:latin typeface="Times New Roman" panose="02020603050405020304" pitchFamily="18" charset="0"/>
              </a:rPr>
              <a:t>Y</a:t>
            </a:r>
            <a:r>
              <a:rPr lang="zh-CN" altLang="en-US" dirty="0">
                <a:latin typeface="Times New Roman" panose="02020603050405020304" pitchFamily="18" charset="0"/>
              </a:rPr>
              <a:t>满足</a:t>
            </a:r>
            <a:r>
              <a:rPr lang="en-US" altLang="zh-CN" dirty="0">
                <a:latin typeface="Times New Roman" panose="02020603050405020304" pitchFamily="18" charset="0"/>
              </a:rPr>
              <a:t>Lipschitz</a:t>
            </a:r>
            <a:r>
              <a:rPr lang="zh-CN" altLang="en-US" dirty="0">
                <a:latin typeface="Times New Roman" panose="02020603050405020304" pitchFamily="18" charset="0"/>
              </a:rPr>
              <a:t>条件</a:t>
            </a:r>
            <a:r>
              <a:rPr lang="en-US" altLang="zh-CN" dirty="0">
                <a:latin typeface="Times New Roman" panose="02020603050405020304" pitchFamily="18" charset="0"/>
              </a:rPr>
              <a:t>, </a:t>
            </a:r>
            <a:r>
              <a:rPr lang="zh-CN" altLang="en-US" dirty="0">
                <a:latin typeface="Times New Roman" panose="02020603050405020304" pitchFamily="18" charset="0"/>
              </a:rPr>
              <a:t>则标准四阶 </a:t>
            </a:r>
            <a:r>
              <a:rPr lang="en-US" altLang="zh-CN" dirty="0">
                <a:latin typeface="Times New Roman" panose="02020603050405020304" pitchFamily="18" charset="0"/>
              </a:rPr>
              <a:t>Runge-Kutta</a:t>
            </a:r>
            <a:r>
              <a:rPr lang="zh-CN" altLang="en-US" dirty="0">
                <a:latin typeface="Times New Roman" panose="02020603050405020304" pitchFamily="18" charset="0"/>
              </a:rPr>
              <a:t>方法是收敛的</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
        <p:nvSpPr>
          <p:cNvPr id="7" name="矩形 4"/>
          <p:cNvSpPr/>
          <p:nvPr/>
        </p:nvSpPr>
        <p:spPr>
          <a:xfrm>
            <a:off x="444500" y="2776538"/>
            <a:ext cx="8223250" cy="1076325"/>
          </a:xfrm>
          <a:prstGeom prst="rect">
            <a:avLst/>
          </a:prstGeom>
          <a:noFill/>
          <a:ln w="9525">
            <a:noFill/>
          </a:ln>
        </p:spPr>
        <p:txBody>
          <a:bodyPr>
            <a:spAutoFit/>
          </a:bodyPr>
          <a:p>
            <a:pPr eaLnBrk="0" hangingPunct="0"/>
            <a:r>
              <a:rPr lang="zh-CN" altLang="en-US" b="1" dirty="0">
                <a:latin typeface="Times New Roman" panose="02020603050405020304" pitchFamily="18" charset="0"/>
              </a:rPr>
              <a:t>证明：</a:t>
            </a:r>
            <a:r>
              <a:rPr lang="zh-CN" altLang="en-US" dirty="0">
                <a:latin typeface="Times New Roman" panose="02020603050405020304" pitchFamily="18" charset="0"/>
              </a:rPr>
              <a:t>依定理</a:t>
            </a:r>
            <a:r>
              <a:rPr lang="en-US" altLang="zh-CN" dirty="0">
                <a:latin typeface="Times New Roman" panose="02020603050405020304" pitchFamily="18" charset="0"/>
              </a:rPr>
              <a:t>9.</a:t>
            </a:r>
            <a:r>
              <a:rPr lang="en-US" altLang="zh-CN" dirty="0">
                <a:latin typeface="Times New Roman" panose="02020603050405020304" pitchFamily="18" charset="0"/>
              </a:rPr>
              <a:t>3.2, </a:t>
            </a:r>
            <a:r>
              <a:rPr lang="zh-CN" altLang="en-US" dirty="0">
                <a:latin typeface="Times New Roman" panose="02020603050405020304" pitchFamily="18" charset="0"/>
              </a:rPr>
              <a:t>只需证明标准</a:t>
            </a:r>
            <a:r>
              <a:rPr lang="en-US" altLang="zh-CN" dirty="0">
                <a:latin typeface="Times New Roman" panose="02020603050405020304" pitchFamily="18" charset="0"/>
              </a:rPr>
              <a:t>Runge-Kutta</a:t>
            </a:r>
            <a:r>
              <a:rPr lang="zh-CN" altLang="en-US" dirty="0">
                <a:latin typeface="Times New Roman" panose="02020603050405020304" pitchFamily="18" charset="0"/>
              </a:rPr>
              <a:t>方法的增量函数</a:t>
            </a:r>
            <a:r>
              <a:rPr lang="en-US" altLang="zh-CN" i="1" dirty="0">
                <a:latin typeface="Times New Roman" panose="02020603050405020304" pitchFamily="18" charset="0"/>
              </a:rPr>
              <a:t>φ</a:t>
            </a:r>
            <a:r>
              <a:rPr lang="zh-CN" altLang="en-US" dirty="0">
                <a:latin typeface="Times New Roman" panose="02020603050405020304" pitchFamily="18" charset="0"/>
              </a:rPr>
              <a:t>满足</a:t>
            </a:r>
            <a:r>
              <a:rPr lang="en-US" altLang="zh-CN" dirty="0">
                <a:latin typeface="Times New Roman" panose="02020603050405020304" pitchFamily="18" charset="0"/>
              </a:rPr>
              <a:t>Lipschitz</a:t>
            </a:r>
            <a:r>
              <a:rPr lang="zh-CN" altLang="en-US" dirty="0">
                <a:latin typeface="Times New Roman" panose="02020603050405020304" pitchFamily="18" charset="0"/>
              </a:rPr>
              <a:t>条件。由</a:t>
            </a:r>
            <a:endParaRPr lang="en-US" altLang="zh-CN" dirty="0">
              <a:latin typeface="Times New Roman" panose="02020603050405020304" pitchFamily="18" charset="0"/>
            </a:endParaRPr>
          </a:p>
        </p:txBody>
      </p:sp>
      <p:graphicFrame>
        <p:nvGraphicFramePr>
          <p:cNvPr id="158727" name="Object 7"/>
          <p:cNvGraphicFramePr/>
          <p:nvPr/>
        </p:nvGraphicFramePr>
        <p:xfrm>
          <a:off x="660400" y="3659188"/>
          <a:ext cx="7524750" cy="2925762"/>
        </p:xfrm>
        <a:graphic>
          <a:graphicData uri="http://schemas.openxmlformats.org/presentationml/2006/ole">
            <mc:AlternateContent xmlns:mc="http://schemas.openxmlformats.org/markup-compatibility/2006">
              <mc:Choice xmlns:v="urn:schemas-microsoft-com:vml" Requires="v">
                <p:oleObj spid="_x0000_s3213" name="" r:id="rId1" imgW="3136900" imgH="1219200" progId="Equation.3">
                  <p:embed/>
                </p:oleObj>
              </mc:Choice>
              <mc:Fallback>
                <p:oleObj name="" r:id="rId1" imgW="3136900" imgH="1219200" progId="Equation.3">
                  <p:embed/>
                  <p:pic>
                    <p:nvPicPr>
                      <p:cNvPr id="0" name="图片 3212"/>
                      <p:cNvPicPr/>
                      <p:nvPr/>
                    </p:nvPicPr>
                    <p:blipFill>
                      <a:blip r:embed="rId2"/>
                      <a:stretch>
                        <a:fillRect/>
                      </a:stretch>
                    </p:blipFill>
                    <p:spPr>
                      <a:xfrm>
                        <a:off x="660400" y="3659188"/>
                        <a:ext cx="7524750" cy="29257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3430"/>
                                        </p:tgtEl>
                                        <p:attrNameLst>
                                          <p:attrName>style.visibility</p:attrName>
                                        </p:attrNameLst>
                                      </p:cBhvr>
                                      <p:to>
                                        <p:strVal val="visible"/>
                                      </p:to>
                                    </p:set>
                                    <p:animEffect transition="in" filter="blinds(horizontal)">
                                      <p:cBhvr>
                                        <p:cTn id="7" dur="500"/>
                                        <p:tgtEl>
                                          <p:spTgt spid="1034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58727"/>
                                        </p:tgtEl>
                                        <p:attrNameLst>
                                          <p:attrName>style.visibility</p:attrName>
                                        </p:attrNameLst>
                                      </p:cBhvr>
                                      <p:to>
                                        <p:strVal val="visible"/>
                                      </p:to>
                                    </p:set>
                                    <p:anim calcmode="lin" valueType="num">
                                      <p:cBhvr additive="base">
                                        <p:cTn id="17" dur="500" fill="hold"/>
                                        <p:tgtEl>
                                          <p:spTgt spid="158727"/>
                                        </p:tgtEl>
                                        <p:attrNameLst>
                                          <p:attrName>ppt_x</p:attrName>
                                        </p:attrNameLst>
                                      </p:cBhvr>
                                      <p:tavLst>
                                        <p:tav tm="0">
                                          <p:val>
                                            <p:strVal val="0-#ppt_w/2"/>
                                          </p:val>
                                        </p:tav>
                                        <p:tav tm="100000">
                                          <p:val>
                                            <p:strVal val="#ppt_x"/>
                                          </p:val>
                                        </p:tav>
                                      </p:tavLst>
                                    </p:anim>
                                    <p:anim calcmode="lin" valueType="num">
                                      <p:cBhvr additive="base">
                                        <p:cTn id="18" dur="500" fill="hold"/>
                                        <p:tgtEl>
                                          <p:spTgt spid="1587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0" grpId="0"/>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2" name="标题 1"/>
          <p:cNvSpPr>
            <a:spLocks noGrp="1"/>
          </p:cNvSpPr>
          <p:nvPr>
            <p:ph type="title"/>
          </p:nvPr>
        </p:nvSpPr>
        <p:spPr>
          <a:xfrm>
            <a:off x="533400" y="158750"/>
            <a:ext cx="7772400" cy="715963"/>
          </a:xfrm>
          <a:ln/>
        </p:spPr>
        <p:txBody>
          <a:bodyPr vert="horz" wrap="square" lIns="91440" tIns="45720" rIns="91440" bIns="45720" anchor="ctr" anchorCtr="0"/>
          <a:p>
            <a:pPr algn="l"/>
            <a:r>
              <a:rPr lang="zh-CN" altLang="en-US" dirty="0">
                <a:latin typeface="Times New Roman" panose="02020603050405020304" pitchFamily="18" charset="0"/>
              </a:rPr>
              <a:t>例</a:t>
            </a:r>
            <a:r>
              <a:rPr lang="en-US" altLang="zh-CN" dirty="0">
                <a:latin typeface="Times New Roman" panose="02020603050405020304" pitchFamily="18" charset="0"/>
              </a:rPr>
              <a:t>9.</a:t>
            </a:r>
            <a:r>
              <a:rPr lang="en-US" altLang="zh-CN" dirty="0">
                <a:latin typeface="Times New Roman" panose="02020603050405020304" pitchFamily="18" charset="0"/>
              </a:rPr>
              <a:t>3.2 </a:t>
            </a:r>
            <a:r>
              <a:rPr lang="zh-CN" altLang="en-US" dirty="0">
                <a:latin typeface="Times New Roman" panose="02020603050405020304" pitchFamily="18" charset="0"/>
              </a:rPr>
              <a:t>的证明</a:t>
            </a:r>
            <a:endParaRPr lang="zh-CN" altLang="en-US" dirty="0">
              <a:latin typeface="Times New Roman" panose="02020603050405020304" pitchFamily="18" charset="0"/>
              <a:ea typeface="Times New Roman" panose="02020603050405020304" pitchFamily="18" charset="0"/>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4"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aphicFrame>
        <p:nvGraphicFramePr>
          <p:cNvPr id="158727" name="Object 7"/>
          <p:cNvGraphicFramePr/>
          <p:nvPr/>
        </p:nvGraphicFramePr>
        <p:xfrm>
          <a:off x="684213" y="873125"/>
          <a:ext cx="7524750" cy="2925763"/>
        </p:xfrm>
        <a:graphic>
          <a:graphicData uri="http://schemas.openxmlformats.org/presentationml/2006/ole">
            <mc:AlternateContent xmlns:mc="http://schemas.openxmlformats.org/markup-compatibility/2006">
              <mc:Choice xmlns:v="urn:schemas-microsoft-com:vml" Requires="v">
                <p:oleObj spid="_x0000_s3218" name="" r:id="rId1" imgW="3136900" imgH="1219200" progId="Equation.3">
                  <p:embed/>
                </p:oleObj>
              </mc:Choice>
              <mc:Fallback>
                <p:oleObj name="" r:id="rId1" imgW="3136900" imgH="1219200" progId="Equation.3">
                  <p:embed/>
                  <p:pic>
                    <p:nvPicPr>
                      <p:cNvPr id="0" name="图片 3217"/>
                      <p:cNvPicPr/>
                      <p:nvPr/>
                    </p:nvPicPr>
                    <p:blipFill>
                      <a:blip r:embed="rId2"/>
                      <a:stretch>
                        <a:fillRect/>
                      </a:stretch>
                    </p:blipFill>
                    <p:spPr>
                      <a:xfrm>
                        <a:off x="684213" y="873125"/>
                        <a:ext cx="7524750" cy="2925763"/>
                      </a:xfrm>
                      <a:prstGeom prst="rect">
                        <a:avLst/>
                      </a:prstGeom>
                      <a:noFill/>
                      <a:ln w="38100">
                        <a:noFill/>
                        <a:miter/>
                      </a:ln>
                    </p:spPr>
                  </p:pic>
                </p:oleObj>
              </mc:Fallback>
            </mc:AlternateContent>
          </a:graphicData>
        </a:graphic>
      </p:graphicFrame>
      <p:sp>
        <p:nvSpPr>
          <p:cNvPr id="79880" name="矩形 6"/>
          <p:cNvSpPr/>
          <p:nvPr/>
        </p:nvSpPr>
        <p:spPr>
          <a:xfrm>
            <a:off x="630238" y="3697288"/>
            <a:ext cx="6472237" cy="585787"/>
          </a:xfrm>
          <a:prstGeom prst="rect">
            <a:avLst/>
          </a:prstGeom>
          <a:noFill/>
          <a:ln w="9525">
            <a:noFill/>
          </a:ln>
        </p:spPr>
        <p:txBody>
          <a:bodyPr>
            <a:spAutoFit/>
          </a:bodyPr>
          <a:p>
            <a:pPr eaLnBrk="0" hangingPunct="0"/>
            <a:r>
              <a:rPr lang="zh-CN" altLang="en-US" dirty="0">
                <a:latin typeface="Times New Roman" panose="02020603050405020304" pitchFamily="18" charset="0"/>
              </a:rPr>
              <a:t>标准</a:t>
            </a:r>
            <a:r>
              <a:rPr lang="en-US" altLang="zh-CN" dirty="0">
                <a:latin typeface="Times New Roman" panose="02020603050405020304" pitchFamily="18" charset="0"/>
              </a:rPr>
              <a:t>Runge-Kutta</a:t>
            </a:r>
            <a:r>
              <a:rPr lang="zh-CN" altLang="en-US" dirty="0">
                <a:latin typeface="Times New Roman" panose="02020603050405020304" pitchFamily="18" charset="0"/>
              </a:rPr>
              <a:t>方法的增量函数</a:t>
            </a:r>
            <a:endParaRPr lang="zh-CN" altLang="en-US" dirty="0">
              <a:latin typeface="Times New Roman" panose="02020603050405020304" pitchFamily="18" charset="0"/>
            </a:endParaRPr>
          </a:p>
        </p:txBody>
      </p:sp>
      <p:graphicFrame>
        <p:nvGraphicFramePr>
          <p:cNvPr id="89108" name="Object 20"/>
          <p:cNvGraphicFramePr/>
          <p:nvPr/>
        </p:nvGraphicFramePr>
        <p:xfrm>
          <a:off x="563563" y="4387850"/>
          <a:ext cx="8226425" cy="1524000"/>
        </p:xfrm>
        <a:graphic>
          <a:graphicData uri="http://schemas.openxmlformats.org/presentationml/2006/ole">
            <mc:AlternateContent xmlns:mc="http://schemas.openxmlformats.org/markup-compatibility/2006">
              <mc:Choice xmlns:v="urn:schemas-microsoft-com:vml" Requires="v">
                <p:oleObj spid="_x0000_s3219" name="" r:id="rId3" imgW="3302000" imgH="609600" progId="Equation.3">
                  <p:embed/>
                </p:oleObj>
              </mc:Choice>
              <mc:Fallback>
                <p:oleObj name="" r:id="rId3" imgW="3302000" imgH="609600" progId="Equation.3">
                  <p:embed/>
                  <p:pic>
                    <p:nvPicPr>
                      <p:cNvPr id="0" name="图片 3218"/>
                      <p:cNvPicPr/>
                      <p:nvPr/>
                    </p:nvPicPr>
                    <p:blipFill>
                      <a:blip r:embed="rId4"/>
                      <a:stretch>
                        <a:fillRect/>
                      </a:stretch>
                    </p:blipFill>
                    <p:spPr>
                      <a:xfrm>
                        <a:off x="563563" y="4387850"/>
                        <a:ext cx="8226425" cy="15240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8727"/>
                                        </p:tgtEl>
                                        <p:attrNameLst>
                                          <p:attrName>style.visibility</p:attrName>
                                        </p:attrNameLst>
                                      </p:cBhvr>
                                      <p:to>
                                        <p:strVal val="visible"/>
                                      </p:to>
                                    </p:set>
                                    <p:anim calcmode="lin" valueType="num">
                                      <p:cBhvr additive="base">
                                        <p:cTn id="7" dur="500" fill="hold"/>
                                        <p:tgtEl>
                                          <p:spTgt spid="158727"/>
                                        </p:tgtEl>
                                        <p:attrNameLst>
                                          <p:attrName>ppt_x</p:attrName>
                                        </p:attrNameLst>
                                      </p:cBhvr>
                                      <p:tavLst>
                                        <p:tav tm="0">
                                          <p:val>
                                            <p:strVal val="0-#ppt_w/2"/>
                                          </p:val>
                                        </p:tav>
                                        <p:tav tm="100000">
                                          <p:val>
                                            <p:strVal val="#ppt_x"/>
                                          </p:val>
                                        </p:tav>
                                      </p:tavLst>
                                    </p:anim>
                                    <p:anim calcmode="lin" valueType="num">
                                      <p:cBhvr additive="base">
                                        <p:cTn id="8" dur="500" fill="hold"/>
                                        <p:tgtEl>
                                          <p:spTgt spid="1587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9880"/>
                                        </p:tgtEl>
                                        <p:attrNameLst>
                                          <p:attrName>style.visibility</p:attrName>
                                        </p:attrNameLst>
                                      </p:cBhvr>
                                      <p:to>
                                        <p:strVal val="visible"/>
                                      </p:to>
                                    </p:set>
                                    <p:animEffect transition="in" filter="wipe(left)">
                                      <p:cBhvr>
                                        <p:cTn id="13" dur="500"/>
                                        <p:tgtEl>
                                          <p:spTgt spid="7988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89108"/>
                                        </p:tgtEl>
                                        <p:attrNameLst>
                                          <p:attrName>style.visibility</p:attrName>
                                        </p:attrNameLst>
                                      </p:cBhvr>
                                      <p:to>
                                        <p:strVal val="visible"/>
                                      </p:to>
                                    </p:set>
                                    <p:animEffect transition="in" filter="wipe(up)">
                                      <p:cBhvr>
                                        <p:cTn id="18" dur="500"/>
                                        <p:tgtEl>
                                          <p:spTgt spid="89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7" name="标题 1"/>
          <p:cNvSpPr>
            <a:spLocks noGrp="1"/>
          </p:cNvSpPr>
          <p:nvPr>
            <p:ph type="title"/>
          </p:nvPr>
        </p:nvSpPr>
        <p:spPr>
          <a:xfrm>
            <a:off x="533400" y="158750"/>
            <a:ext cx="7772400" cy="715963"/>
          </a:xfrm>
          <a:ln/>
        </p:spPr>
        <p:txBody>
          <a:bodyPr vert="horz" wrap="square" lIns="91440" tIns="45720" rIns="91440" bIns="45720" anchor="ctr" anchorCtr="0"/>
          <a:p>
            <a:pPr algn="l"/>
            <a:r>
              <a:rPr lang="zh-CN" altLang="en-US" sz="2400" dirty="0">
                <a:latin typeface="Times New Roman" panose="02020603050405020304" pitchFamily="18" charset="0"/>
              </a:rPr>
              <a:t>例</a:t>
            </a:r>
            <a:r>
              <a:rPr lang="en-US" altLang="zh-CN" sz="2400" dirty="0">
                <a:latin typeface="Times New Roman" panose="02020603050405020304" pitchFamily="18" charset="0"/>
              </a:rPr>
              <a:t>9.</a:t>
            </a:r>
            <a:r>
              <a:rPr lang="en-US" altLang="zh-CN" sz="2400" dirty="0">
                <a:latin typeface="Times New Roman" panose="02020603050405020304" pitchFamily="18" charset="0"/>
              </a:rPr>
              <a:t>3.2</a:t>
            </a:r>
            <a:r>
              <a:rPr lang="zh-CN" altLang="en-US" sz="2400" dirty="0">
                <a:latin typeface="Times New Roman" panose="02020603050405020304" pitchFamily="18" charset="0"/>
              </a:rPr>
              <a:t>的证明</a:t>
            </a:r>
            <a:endParaRPr lang="zh-CN" altLang="en-US" sz="2400" dirty="0">
              <a:latin typeface="Times New Roman" panose="02020603050405020304" pitchFamily="18" charset="0"/>
              <a:ea typeface="Times New Roman" panose="02020603050405020304" pitchFamily="18" charset="0"/>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159"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aphicFrame>
        <p:nvGraphicFramePr>
          <p:cNvPr id="158727" name="Object 7"/>
          <p:cNvGraphicFramePr/>
          <p:nvPr/>
        </p:nvGraphicFramePr>
        <p:xfrm>
          <a:off x="946150" y="2489200"/>
          <a:ext cx="7159625" cy="1951038"/>
        </p:xfrm>
        <a:graphic>
          <a:graphicData uri="http://schemas.openxmlformats.org/presentationml/2006/ole">
            <mc:AlternateContent xmlns:mc="http://schemas.openxmlformats.org/markup-compatibility/2006">
              <mc:Choice xmlns:v="urn:schemas-microsoft-com:vml" Requires="v">
                <p:oleObj spid="_x0000_s3185" name="" r:id="rId1" imgW="2983230" imgH="812165" progId="Equation.3">
                  <p:embed/>
                </p:oleObj>
              </mc:Choice>
              <mc:Fallback>
                <p:oleObj name="" r:id="rId1" imgW="2983230" imgH="812165" progId="Equation.3">
                  <p:embed/>
                  <p:pic>
                    <p:nvPicPr>
                      <p:cNvPr id="0" name="图片 3184"/>
                      <p:cNvPicPr/>
                      <p:nvPr/>
                    </p:nvPicPr>
                    <p:blipFill>
                      <a:blip r:embed="rId2"/>
                      <a:stretch>
                        <a:fillRect/>
                      </a:stretch>
                    </p:blipFill>
                    <p:spPr>
                      <a:xfrm>
                        <a:off x="946150" y="2489200"/>
                        <a:ext cx="7159625" cy="1951038"/>
                      </a:xfrm>
                      <a:prstGeom prst="rect">
                        <a:avLst/>
                      </a:prstGeom>
                      <a:noFill/>
                      <a:ln w="38100">
                        <a:noFill/>
                        <a:miter/>
                      </a:ln>
                    </p:spPr>
                  </p:pic>
                </p:oleObj>
              </mc:Fallback>
            </mc:AlternateContent>
          </a:graphicData>
        </a:graphic>
      </p:graphicFrame>
      <p:sp>
        <p:nvSpPr>
          <p:cNvPr id="7" name="矩形 6"/>
          <p:cNvSpPr/>
          <p:nvPr/>
        </p:nvSpPr>
        <p:spPr>
          <a:xfrm>
            <a:off x="384175" y="4533900"/>
            <a:ext cx="8323263" cy="1076325"/>
          </a:xfrm>
          <a:prstGeom prst="rect">
            <a:avLst/>
          </a:prstGeom>
          <a:noFill/>
          <a:ln w="9525">
            <a:noFill/>
          </a:ln>
        </p:spPr>
        <p:txBody>
          <a:bodyPr>
            <a:spAutoFit/>
          </a:bodyPr>
          <a:p>
            <a:pPr eaLnBrk="0" hangingPunct="0"/>
            <a:r>
              <a:rPr lang="zh-CN" altLang="en-US" dirty="0">
                <a:latin typeface="Times New Roman" panose="02020603050405020304" pitchFamily="18" charset="0"/>
              </a:rPr>
              <a:t>由于</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dirty="0">
                <a:latin typeface="Times New Roman" panose="02020603050405020304" pitchFamily="18" charset="0"/>
              </a:rPr>
              <a:t>, </a:t>
            </a:r>
            <a:r>
              <a:rPr lang="en-US" altLang="zh-CN" i="1" dirty="0">
                <a:latin typeface="Times New Roman" panose="02020603050405020304" pitchFamily="18" charset="0"/>
              </a:rPr>
              <a:t>Y</a:t>
            </a:r>
            <a:r>
              <a:rPr lang="en-US" altLang="zh-CN" dirty="0">
                <a:latin typeface="Times New Roman" panose="02020603050405020304" pitchFamily="18" charset="0"/>
              </a:rPr>
              <a:t>) </a:t>
            </a:r>
            <a:r>
              <a:rPr lang="zh-CN" altLang="en-US" dirty="0">
                <a:latin typeface="Times New Roman" panose="02020603050405020304" pitchFamily="18" charset="0"/>
              </a:rPr>
              <a:t>在区域</a:t>
            </a:r>
            <a:r>
              <a:rPr lang="en-US" altLang="zh-CN" i="1" dirty="0">
                <a:latin typeface="Times New Roman" panose="02020603050405020304" pitchFamily="18" charset="0"/>
              </a:rPr>
              <a:t>D</a:t>
            </a:r>
            <a:r>
              <a:rPr lang="zh-CN" altLang="en-US" dirty="0">
                <a:latin typeface="Times New Roman" panose="02020603050405020304" pitchFamily="18" charset="0"/>
              </a:rPr>
              <a:t>上关于</a:t>
            </a:r>
            <a:r>
              <a:rPr lang="en-US" altLang="zh-CN" i="1" dirty="0">
                <a:latin typeface="Times New Roman" panose="02020603050405020304" pitchFamily="18" charset="0"/>
              </a:rPr>
              <a:t>Y</a:t>
            </a:r>
            <a:r>
              <a:rPr lang="zh-CN" altLang="en-US" dirty="0">
                <a:latin typeface="Times New Roman" panose="02020603050405020304" pitchFamily="18" charset="0"/>
              </a:rPr>
              <a:t>满足</a:t>
            </a:r>
            <a:r>
              <a:rPr lang="en-US" altLang="zh-CN" dirty="0">
                <a:latin typeface="Times New Roman" panose="02020603050405020304" pitchFamily="18" charset="0"/>
              </a:rPr>
              <a:t>Lipschitz</a:t>
            </a:r>
            <a:r>
              <a:rPr lang="zh-CN" altLang="en-US" dirty="0">
                <a:latin typeface="Times New Roman" panose="02020603050405020304" pitchFamily="18" charset="0"/>
              </a:rPr>
              <a:t>条件，则</a:t>
            </a:r>
            <a:endParaRPr lang="zh-CN" altLang="en-US" dirty="0">
              <a:latin typeface="Times New Roman" panose="02020603050405020304" pitchFamily="18" charset="0"/>
            </a:endParaRPr>
          </a:p>
        </p:txBody>
      </p:sp>
      <p:graphicFrame>
        <p:nvGraphicFramePr>
          <p:cNvPr id="49155" name="Object 20"/>
          <p:cNvGraphicFramePr/>
          <p:nvPr/>
        </p:nvGraphicFramePr>
        <p:xfrm>
          <a:off x="341313" y="703263"/>
          <a:ext cx="8226425" cy="1524000"/>
        </p:xfrm>
        <a:graphic>
          <a:graphicData uri="http://schemas.openxmlformats.org/presentationml/2006/ole">
            <mc:AlternateContent xmlns:mc="http://schemas.openxmlformats.org/markup-compatibility/2006">
              <mc:Choice xmlns:v="urn:schemas-microsoft-com:vml" Requires="v">
                <p:oleObj spid="_x0000_s3183" name="" r:id="rId3" imgW="3302000" imgH="609600" progId="Equation.3">
                  <p:embed/>
                </p:oleObj>
              </mc:Choice>
              <mc:Fallback>
                <p:oleObj name="" r:id="rId3" imgW="3302000" imgH="609600" progId="Equation.3">
                  <p:embed/>
                  <p:pic>
                    <p:nvPicPr>
                      <p:cNvPr id="0" name="图片 3182"/>
                      <p:cNvPicPr/>
                      <p:nvPr/>
                    </p:nvPicPr>
                    <p:blipFill>
                      <a:blip r:embed="rId4"/>
                      <a:stretch>
                        <a:fillRect/>
                      </a:stretch>
                    </p:blipFill>
                    <p:spPr>
                      <a:xfrm>
                        <a:off x="341313" y="703263"/>
                        <a:ext cx="8226425" cy="1524000"/>
                      </a:xfrm>
                      <a:prstGeom prst="rect">
                        <a:avLst/>
                      </a:prstGeom>
                      <a:noFill/>
                      <a:ln w="38100">
                        <a:noFill/>
                        <a:miter/>
                      </a:ln>
                    </p:spPr>
                  </p:pic>
                </p:oleObj>
              </mc:Fallback>
            </mc:AlternateContent>
          </a:graphicData>
        </a:graphic>
      </p:graphicFrame>
      <p:sp>
        <p:nvSpPr>
          <p:cNvPr id="49161" name="矩形 8"/>
          <p:cNvSpPr/>
          <p:nvPr/>
        </p:nvSpPr>
        <p:spPr>
          <a:xfrm>
            <a:off x="385763" y="2143125"/>
            <a:ext cx="1004887" cy="584200"/>
          </a:xfrm>
          <a:prstGeom prst="rect">
            <a:avLst/>
          </a:prstGeom>
          <a:noFill/>
          <a:ln w="9525">
            <a:noFill/>
          </a:ln>
        </p:spPr>
        <p:txBody>
          <a:bodyPr wrap="none">
            <a:spAutoFit/>
          </a:bodyPr>
          <a:p>
            <a:pPr eaLnBrk="0" hangingPunct="0"/>
            <a:r>
              <a:rPr lang="zh-CN" altLang="en-US" dirty="0">
                <a:latin typeface="Times New Roman" panose="02020603050405020304" pitchFamily="18" charset="0"/>
              </a:rPr>
              <a:t>其中</a:t>
            </a:r>
            <a:endParaRPr lang="zh-CN" altLang="en-US" dirty="0">
              <a:latin typeface="Times New Roman" panose="02020603050405020304" pitchFamily="18" charset="0"/>
            </a:endParaRPr>
          </a:p>
        </p:txBody>
      </p:sp>
      <p:graphicFrame>
        <p:nvGraphicFramePr>
          <p:cNvPr id="2" name="Object 4"/>
          <p:cNvGraphicFramePr/>
          <p:nvPr/>
        </p:nvGraphicFramePr>
        <p:xfrm>
          <a:off x="350838" y="5627688"/>
          <a:ext cx="8410575" cy="609600"/>
        </p:xfrm>
        <a:graphic>
          <a:graphicData uri="http://schemas.openxmlformats.org/presentationml/2006/ole">
            <mc:AlternateContent xmlns:mc="http://schemas.openxmlformats.org/markup-compatibility/2006">
              <mc:Choice xmlns:v="urn:schemas-microsoft-com:vml" Requires="v">
                <p:oleObj spid="_x0000_s3187" name="" r:id="rId5" imgW="3502025" imgH="254000" progId="Equation.3">
                  <p:embed/>
                </p:oleObj>
              </mc:Choice>
              <mc:Fallback>
                <p:oleObj name="" r:id="rId5" imgW="3502025" imgH="254000" progId="Equation.3">
                  <p:embed/>
                  <p:pic>
                    <p:nvPicPr>
                      <p:cNvPr id="0" name="图片 3186"/>
                      <p:cNvPicPr/>
                      <p:nvPr/>
                    </p:nvPicPr>
                    <p:blipFill>
                      <a:blip r:embed="rId6"/>
                      <a:stretch>
                        <a:fillRect/>
                      </a:stretch>
                    </p:blipFill>
                    <p:spPr>
                      <a:xfrm>
                        <a:off x="350838" y="5627688"/>
                        <a:ext cx="8410575" cy="6096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8727"/>
                                        </p:tgtEl>
                                        <p:attrNameLst>
                                          <p:attrName>style.visibility</p:attrName>
                                        </p:attrNameLst>
                                      </p:cBhvr>
                                      <p:to>
                                        <p:strVal val="visible"/>
                                      </p:to>
                                    </p:set>
                                    <p:anim calcmode="lin" valueType="num">
                                      <p:cBhvr additive="base">
                                        <p:cTn id="7" dur="500" fill="hold"/>
                                        <p:tgtEl>
                                          <p:spTgt spid="158727"/>
                                        </p:tgtEl>
                                        <p:attrNameLst>
                                          <p:attrName>ppt_x</p:attrName>
                                        </p:attrNameLst>
                                      </p:cBhvr>
                                      <p:tavLst>
                                        <p:tav tm="0">
                                          <p:val>
                                            <p:strVal val="0-#ppt_w/2"/>
                                          </p:val>
                                        </p:tav>
                                        <p:tav tm="100000">
                                          <p:val>
                                            <p:strVal val="#ppt_x"/>
                                          </p:val>
                                        </p:tav>
                                      </p:tavLst>
                                    </p:anim>
                                    <p:anim calcmode="lin" valueType="num">
                                      <p:cBhvr additive="base">
                                        <p:cTn id="8" dur="500" fill="hold"/>
                                        <p:tgtEl>
                                          <p:spTgt spid="1587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heckerboard(across)">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80" name="标题 1"/>
          <p:cNvSpPr>
            <a:spLocks noGrp="1"/>
          </p:cNvSpPr>
          <p:nvPr>
            <p:ph type="title"/>
          </p:nvPr>
        </p:nvSpPr>
        <p:spPr>
          <a:xfrm>
            <a:off x="533400" y="158750"/>
            <a:ext cx="7772400" cy="715963"/>
          </a:xfrm>
          <a:ln/>
        </p:spPr>
        <p:txBody>
          <a:bodyPr vert="horz" wrap="square" lIns="91440" tIns="45720" rIns="91440" bIns="45720" anchor="ctr" anchorCtr="0"/>
          <a:p>
            <a:pPr algn="l"/>
            <a:r>
              <a:rPr lang="zh-CN" altLang="en-US" sz="2400" dirty="0">
                <a:latin typeface="Times New Roman" panose="02020603050405020304" pitchFamily="18" charset="0"/>
              </a:rPr>
              <a:t>例</a:t>
            </a:r>
            <a:r>
              <a:rPr lang="en-US" altLang="zh-CN" sz="2400" dirty="0">
                <a:latin typeface="Times New Roman" panose="02020603050405020304" pitchFamily="18" charset="0"/>
              </a:rPr>
              <a:t>9.</a:t>
            </a:r>
            <a:r>
              <a:rPr lang="en-US" altLang="zh-CN" sz="2400" dirty="0">
                <a:latin typeface="Times New Roman" panose="02020603050405020304" pitchFamily="18" charset="0"/>
              </a:rPr>
              <a:t>3.2</a:t>
            </a:r>
            <a:r>
              <a:rPr lang="zh-CN" altLang="en-US" sz="2400" dirty="0">
                <a:latin typeface="Times New Roman" panose="02020603050405020304" pitchFamily="18" charset="0"/>
              </a:rPr>
              <a:t>的证明</a:t>
            </a:r>
            <a:endParaRPr lang="zh-CN" altLang="en-US" sz="2400" dirty="0">
              <a:latin typeface="Times New Roman" panose="02020603050405020304" pitchFamily="18" charset="0"/>
              <a:ea typeface="Times New Roman" panose="02020603050405020304" pitchFamily="18" charset="0"/>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182"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aphicFrame>
        <p:nvGraphicFramePr>
          <p:cNvPr id="2" name="Object 4"/>
          <p:cNvGraphicFramePr/>
          <p:nvPr/>
        </p:nvGraphicFramePr>
        <p:xfrm>
          <a:off x="363538" y="830263"/>
          <a:ext cx="8408987" cy="609600"/>
        </p:xfrm>
        <a:graphic>
          <a:graphicData uri="http://schemas.openxmlformats.org/presentationml/2006/ole">
            <mc:AlternateContent xmlns:mc="http://schemas.openxmlformats.org/markup-compatibility/2006">
              <mc:Choice xmlns:v="urn:schemas-microsoft-com:vml" Requires="v">
                <p:oleObj spid="_x0000_s3186" name="" r:id="rId1" imgW="3502025" imgH="254000" progId="Equation.3">
                  <p:embed/>
                </p:oleObj>
              </mc:Choice>
              <mc:Fallback>
                <p:oleObj name="" r:id="rId1" imgW="3502025" imgH="254000" progId="Equation.3">
                  <p:embed/>
                  <p:pic>
                    <p:nvPicPr>
                      <p:cNvPr id="0" name="图片 3185"/>
                      <p:cNvPicPr/>
                      <p:nvPr/>
                    </p:nvPicPr>
                    <p:blipFill>
                      <a:blip r:embed="rId2"/>
                      <a:stretch>
                        <a:fillRect/>
                      </a:stretch>
                    </p:blipFill>
                    <p:spPr>
                      <a:xfrm>
                        <a:off x="363538" y="830263"/>
                        <a:ext cx="8408987" cy="609600"/>
                      </a:xfrm>
                      <a:prstGeom prst="rect">
                        <a:avLst/>
                      </a:prstGeom>
                      <a:noFill/>
                      <a:ln w="38100">
                        <a:noFill/>
                        <a:miter/>
                      </a:ln>
                    </p:spPr>
                  </p:pic>
                </p:oleObj>
              </mc:Fallback>
            </mc:AlternateContent>
          </a:graphicData>
        </a:graphic>
      </p:graphicFrame>
      <p:graphicFrame>
        <p:nvGraphicFramePr>
          <p:cNvPr id="4" name="Object 5"/>
          <p:cNvGraphicFramePr/>
          <p:nvPr/>
        </p:nvGraphicFramePr>
        <p:xfrm>
          <a:off x="406400" y="1657350"/>
          <a:ext cx="8197850" cy="4360863"/>
        </p:xfrm>
        <a:graphic>
          <a:graphicData uri="http://schemas.openxmlformats.org/presentationml/2006/ole">
            <mc:AlternateContent xmlns:mc="http://schemas.openxmlformats.org/markup-compatibility/2006">
              <mc:Choice xmlns:v="urn:schemas-microsoft-com:vml" Requires="v">
                <p:oleObj spid="_x0000_s3188" name="" r:id="rId3" imgW="3416300" imgH="1816100" progId="Equation.3">
                  <p:embed/>
                </p:oleObj>
              </mc:Choice>
              <mc:Fallback>
                <p:oleObj name="" r:id="rId3" imgW="3416300" imgH="1816100" progId="Equation.3">
                  <p:embed/>
                  <p:pic>
                    <p:nvPicPr>
                      <p:cNvPr id="0" name="图片 3187"/>
                      <p:cNvPicPr/>
                      <p:nvPr/>
                    </p:nvPicPr>
                    <p:blipFill>
                      <a:blip r:embed="rId4"/>
                      <a:stretch>
                        <a:fillRect/>
                      </a:stretch>
                    </p:blipFill>
                    <p:spPr>
                      <a:xfrm>
                        <a:off x="406400" y="1657350"/>
                        <a:ext cx="8197850" cy="43608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6" name="标题 1"/>
          <p:cNvSpPr>
            <a:spLocks noGrp="1"/>
          </p:cNvSpPr>
          <p:nvPr>
            <p:ph type="title"/>
          </p:nvPr>
        </p:nvSpPr>
        <p:spPr>
          <a:xfrm>
            <a:off x="533400" y="158750"/>
            <a:ext cx="7772400" cy="715963"/>
          </a:xfrm>
          <a:ln/>
        </p:spPr>
        <p:txBody>
          <a:bodyPr vert="horz" wrap="square" lIns="91440" tIns="45720" rIns="91440" bIns="45720" anchor="ctr" anchorCtr="0"/>
          <a:p>
            <a:pPr algn="l"/>
            <a:r>
              <a:rPr lang="zh-CN" altLang="en-US" sz="2400" dirty="0">
                <a:latin typeface="Times New Roman" panose="02020603050405020304" pitchFamily="18" charset="0"/>
              </a:rPr>
              <a:t>例</a:t>
            </a:r>
            <a:r>
              <a:rPr lang="en-US" altLang="zh-CN" sz="2400" dirty="0">
                <a:latin typeface="Times New Roman" panose="02020603050405020304" pitchFamily="18" charset="0"/>
              </a:rPr>
              <a:t>9.</a:t>
            </a:r>
            <a:r>
              <a:rPr lang="en-US" altLang="zh-CN" sz="2400" dirty="0">
                <a:latin typeface="Times New Roman" panose="02020603050405020304" pitchFamily="18" charset="0"/>
              </a:rPr>
              <a:t>3.2</a:t>
            </a:r>
            <a:r>
              <a:rPr lang="zh-CN" altLang="en-US" sz="2400" dirty="0">
                <a:latin typeface="Times New Roman" panose="02020603050405020304" pitchFamily="18" charset="0"/>
              </a:rPr>
              <a:t>的证明</a:t>
            </a:r>
            <a:endParaRPr lang="zh-CN" altLang="en-US" sz="2400" dirty="0">
              <a:latin typeface="Times New Roman" panose="02020603050405020304" pitchFamily="18" charset="0"/>
              <a:ea typeface="Times New Roman" panose="02020603050405020304" pitchFamily="18" charset="0"/>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08"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aphicFrame>
        <p:nvGraphicFramePr>
          <p:cNvPr id="158727" name="Object 7"/>
          <p:cNvGraphicFramePr/>
          <p:nvPr/>
        </p:nvGraphicFramePr>
        <p:xfrm>
          <a:off x="227013" y="3235325"/>
          <a:ext cx="8866187" cy="2317750"/>
        </p:xfrm>
        <a:graphic>
          <a:graphicData uri="http://schemas.openxmlformats.org/presentationml/2006/ole">
            <mc:AlternateContent xmlns:mc="http://schemas.openxmlformats.org/markup-compatibility/2006">
              <mc:Choice xmlns:v="urn:schemas-microsoft-com:vml" Requires="v">
                <p:oleObj spid="_x0000_s3184" name="" r:id="rId1" imgW="3695700" imgH="965200" progId="Equation.3">
                  <p:embed/>
                </p:oleObj>
              </mc:Choice>
              <mc:Fallback>
                <p:oleObj name="" r:id="rId1" imgW="3695700" imgH="965200" progId="Equation.3">
                  <p:embed/>
                  <p:pic>
                    <p:nvPicPr>
                      <p:cNvPr id="0" name="图片 3183"/>
                      <p:cNvPicPr/>
                      <p:nvPr/>
                    </p:nvPicPr>
                    <p:blipFill>
                      <a:blip r:embed="rId2"/>
                      <a:stretch>
                        <a:fillRect/>
                      </a:stretch>
                    </p:blipFill>
                    <p:spPr>
                      <a:xfrm>
                        <a:off x="227013" y="3235325"/>
                        <a:ext cx="8866187" cy="2317750"/>
                      </a:xfrm>
                      <a:prstGeom prst="rect">
                        <a:avLst/>
                      </a:prstGeom>
                      <a:noFill/>
                      <a:ln w="38100">
                        <a:noFill/>
                        <a:miter/>
                      </a:ln>
                    </p:spPr>
                  </p:pic>
                </p:oleObj>
              </mc:Fallback>
            </mc:AlternateContent>
          </a:graphicData>
        </a:graphic>
      </p:graphicFrame>
      <p:sp>
        <p:nvSpPr>
          <p:cNvPr id="7" name="矩形 6"/>
          <p:cNvSpPr/>
          <p:nvPr/>
        </p:nvSpPr>
        <p:spPr>
          <a:xfrm>
            <a:off x="304800" y="5408613"/>
            <a:ext cx="8321675" cy="1076325"/>
          </a:xfrm>
          <a:prstGeom prst="rect">
            <a:avLst/>
          </a:prstGeom>
          <a:noFill/>
          <a:ln w="9525">
            <a:noFill/>
          </a:ln>
        </p:spPr>
        <p:txBody>
          <a:bodyPr>
            <a:spAutoFit/>
          </a:bodyPr>
          <a:p>
            <a:pPr eaLnBrk="0" hangingPunct="0"/>
            <a:r>
              <a:rPr lang="zh-CN" altLang="en-US" dirty="0">
                <a:latin typeface="Times New Roman" panose="02020603050405020304" pitchFamily="18" charset="0"/>
              </a:rPr>
              <a:t>所以</a:t>
            </a:r>
            <a:r>
              <a:rPr lang="en-US" altLang="zh-CN" i="1" dirty="0">
                <a:latin typeface="Times New Roman" panose="02020603050405020304" pitchFamily="18" charset="0"/>
              </a:rPr>
              <a:t>φ</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dirty="0">
                <a:latin typeface="Times New Roman" panose="02020603050405020304" pitchFamily="18" charset="0"/>
              </a:rPr>
              <a:t>, </a:t>
            </a:r>
            <a:r>
              <a:rPr lang="en-US" altLang="zh-CN" i="1" dirty="0">
                <a:latin typeface="Times New Roman" panose="02020603050405020304" pitchFamily="18" charset="0"/>
              </a:rPr>
              <a:t>Y</a:t>
            </a:r>
            <a:r>
              <a:rPr lang="en-US" altLang="zh-CN" dirty="0">
                <a:latin typeface="Times New Roman" panose="02020603050405020304" pitchFamily="18" charset="0"/>
              </a:rPr>
              <a:t>, </a:t>
            </a:r>
            <a:r>
              <a:rPr lang="en-US" altLang="zh-CN" i="1" dirty="0">
                <a:latin typeface="Times New Roman" panose="02020603050405020304" pitchFamily="18" charset="0"/>
              </a:rPr>
              <a:t>h</a:t>
            </a:r>
            <a:r>
              <a:rPr lang="en-US" altLang="zh-CN" dirty="0">
                <a:latin typeface="Times New Roman" panose="02020603050405020304" pitchFamily="18" charset="0"/>
              </a:rPr>
              <a:t>)</a:t>
            </a:r>
            <a:r>
              <a:rPr lang="zh-CN" altLang="en-US" dirty="0">
                <a:latin typeface="Times New Roman" panose="02020603050405020304" pitchFamily="18" charset="0"/>
              </a:rPr>
              <a:t>在区域</a:t>
            </a:r>
            <a:r>
              <a:rPr lang="en-US" altLang="zh-CN" i="1" dirty="0">
                <a:latin typeface="Times New Roman" panose="02020603050405020304" pitchFamily="18" charset="0"/>
              </a:rPr>
              <a:t>D</a:t>
            </a:r>
            <a:r>
              <a:rPr lang="zh-CN" altLang="en-US" dirty="0">
                <a:latin typeface="Times New Roman" panose="02020603050405020304" pitchFamily="18" charset="0"/>
              </a:rPr>
              <a:t>上关于</a:t>
            </a:r>
            <a:r>
              <a:rPr lang="en-US" altLang="zh-CN" i="1" dirty="0">
                <a:latin typeface="Times New Roman" panose="02020603050405020304" pitchFamily="18" charset="0"/>
              </a:rPr>
              <a:t>y</a:t>
            </a:r>
            <a:r>
              <a:rPr lang="zh-CN" altLang="en-US" dirty="0">
                <a:latin typeface="Times New Roman" panose="02020603050405020304" pitchFamily="18" charset="0"/>
              </a:rPr>
              <a:t>满足</a:t>
            </a:r>
            <a:r>
              <a:rPr lang="en-US" altLang="zh-CN" dirty="0">
                <a:latin typeface="Times New Roman" panose="02020603050405020304" pitchFamily="18" charset="0"/>
              </a:rPr>
              <a:t>Lipschitz</a:t>
            </a:r>
            <a:r>
              <a:rPr lang="zh-CN" altLang="en-US" dirty="0">
                <a:latin typeface="Times New Roman" panose="02020603050405020304" pitchFamily="18" charset="0"/>
              </a:rPr>
              <a:t>条件。</a:t>
            </a:r>
            <a:endParaRPr lang="zh-CN" altLang="en-US" dirty="0">
              <a:latin typeface="Times New Roman" panose="02020603050405020304" pitchFamily="18" charset="0"/>
            </a:endParaRPr>
          </a:p>
        </p:txBody>
      </p:sp>
      <p:sp>
        <p:nvSpPr>
          <p:cNvPr id="51210" name="矩形 8"/>
          <p:cNvSpPr/>
          <p:nvPr/>
        </p:nvSpPr>
        <p:spPr>
          <a:xfrm>
            <a:off x="490538" y="2513013"/>
            <a:ext cx="2647950" cy="585787"/>
          </a:xfrm>
          <a:prstGeom prst="rect">
            <a:avLst/>
          </a:prstGeom>
          <a:noFill/>
          <a:ln w="9525">
            <a:noFill/>
          </a:ln>
        </p:spPr>
        <p:txBody>
          <a:bodyPr wrap="none">
            <a:spAutoFit/>
          </a:bodyPr>
          <a:p>
            <a:pPr eaLnBrk="0" hangingPunct="0"/>
            <a:r>
              <a:rPr lang="zh-CN" altLang="en-US" dirty="0">
                <a:latin typeface="Times New Roman" panose="02020603050405020304" pitchFamily="18" charset="0"/>
              </a:rPr>
              <a:t>类似地，可得</a:t>
            </a:r>
            <a:endParaRPr lang="zh-CN" altLang="en-US" dirty="0">
              <a:latin typeface="Times New Roman" panose="02020603050405020304" pitchFamily="18" charset="0"/>
            </a:endParaRPr>
          </a:p>
        </p:txBody>
      </p:sp>
      <p:graphicFrame>
        <p:nvGraphicFramePr>
          <p:cNvPr id="51203" name="Object 4"/>
          <p:cNvGraphicFramePr/>
          <p:nvPr/>
        </p:nvGraphicFramePr>
        <p:xfrm>
          <a:off x="363538" y="830263"/>
          <a:ext cx="8408987" cy="609600"/>
        </p:xfrm>
        <a:graphic>
          <a:graphicData uri="http://schemas.openxmlformats.org/presentationml/2006/ole">
            <mc:AlternateContent xmlns:mc="http://schemas.openxmlformats.org/markup-compatibility/2006">
              <mc:Choice xmlns:v="urn:schemas-microsoft-com:vml" Requires="v">
                <p:oleObj spid="_x0000_s3193" name="" r:id="rId3" imgW="3502025" imgH="254000" progId="Equation.3">
                  <p:embed/>
                </p:oleObj>
              </mc:Choice>
              <mc:Fallback>
                <p:oleObj name="" r:id="rId3" imgW="3502025" imgH="254000" progId="Equation.3">
                  <p:embed/>
                  <p:pic>
                    <p:nvPicPr>
                      <p:cNvPr id="0" name="图片 3192"/>
                      <p:cNvPicPr/>
                      <p:nvPr/>
                    </p:nvPicPr>
                    <p:blipFill>
                      <a:blip r:embed="rId4"/>
                      <a:stretch>
                        <a:fillRect/>
                      </a:stretch>
                    </p:blipFill>
                    <p:spPr>
                      <a:xfrm>
                        <a:off x="363538" y="830263"/>
                        <a:ext cx="8408987" cy="609600"/>
                      </a:xfrm>
                      <a:prstGeom prst="rect">
                        <a:avLst/>
                      </a:prstGeom>
                      <a:noFill/>
                      <a:ln w="38100">
                        <a:noFill/>
                        <a:miter/>
                      </a:ln>
                    </p:spPr>
                  </p:pic>
                </p:oleObj>
              </mc:Fallback>
            </mc:AlternateContent>
          </a:graphicData>
        </a:graphic>
      </p:graphicFrame>
      <p:graphicFrame>
        <p:nvGraphicFramePr>
          <p:cNvPr id="51204" name="Object 5"/>
          <p:cNvGraphicFramePr/>
          <p:nvPr/>
        </p:nvGraphicFramePr>
        <p:xfrm>
          <a:off x="1069975" y="1435100"/>
          <a:ext cx="6735763" cy="1038225"/>
        </p:xfrm>
        <a:graphic>
          <a:graphicData uri="http://schemas.openxmlformats.org/presentationml/2006/ole">
            <mc:AlternateContent xmlns:mc="http://schemas.openxmlformats.org/markup-compatibility/2006">
              <mc:Choice xmlns:v="urn:schemas-microsoft-com:vml" Requires="v">
                <p:oleObj spid="_x0000_s3190" name="" r:id="rId5" imgW="2805430" imgH="431800" progId="Equation.3">
                  <p:embed/>
                </p:oleObj>
              </mc:Choice>
              <mc:Fallback>
                <p:oleObj name="" r:id="rId5" imgW="2805430" imgH="431800" progId="Equation.3">
                  <p:embed/>
                  <p:pic>
                    <p:nvPicPr>
                      <p:cNvPr id="0" name="图片 3189"/>
                      <p:cNvPicPr/>
                      <p:nvPr/>
                    </p:nvPicPr>
                    <p:blipFill>
                      <a:blip r:embed="rId6"/>
                      <a:stretch>
                        <a:fillRect/>
                      </a:stretch>
                    </p:blipFill>
                    <p:spPr>
                      <a:xfrm>
                        <a:off x="1069975" y="1435100"/>
                        <a:ext cx="6735763" cy="1038225"/>
                      </a:xfrm>
                      <a:prstGeom prst="rect">
                        <a:avLst/>
                      </a:prstGeom>
                      <a:noFill/>
                      <a:ln w="38100">
                        <a:noFill/>
                        <a:miter/>
                      </a:ln>
                    </p:spPr>
                  </p:pic>
                </p:oleObj>
              </mc:Fallback>
            </mc:AlternateContent>
          </a:graphicData>
        </a:graphic>
      </p:graphicFrame>
      <p:graphicFrame>
        <p:nvGraphicFramePr>
          <p:cNvPr id="89108" name="Object 20"/>
          <p:cNvGraphicFramePr/>
          <p:nvPr/>
        </p:nvGraphicFramePr>
        <p:xfrm>
          <a:off x="355600" y="2338388"/>
          <a:ext cx="5094288" cy="993775"/>
        </p:xfrm>
        <a:graphic>
          <a:graphicData uri="http://schemas.openxmlformats.org/presentationml/2006/ole">
            <mc:AlternateContent xmlns:mc="http://schemas.openxmlformats.org/markup-compatibility/2006">
              <mc:Choice xmlns:v="urn:schemas-microsoft-com:vml" Requires="v">
                <p:oleObj spid="_x0000_s3189" name="" r:id="rId7" imgW="2044065" imgH="393700" progId="Equation.3">
                  <p:embed/>
                </p:oleObj>
              </mc:Choice>
              <mc:Fallback>
                <p:oleObj name="" r:id="rId7" imgW="2044065" imgH="393700" progId="Equation.3">
                  <p:embed/>
                  <p:pic>
                    <p:nvPicPr>
                      <p:cNvPr id="0" name="图片 3188"/>
                      <p:cNvPicPr/>
                      <p:nvPr/>
                    </p:nvPicPr>
                    <p:blipFill>
                      <a:blip r:embed="rId8"/>
                      <a:stretch>
                        <a:fillRect/>
                      </a:stretch>
                    </p:blipFill>
                    <p:spPr>
                      <a:xfrm>
                        <a:off x="355600" y="2338388"/>
                        <a:ext cx="5094288" cy="993775"/>
                      </a:xfrm>
                      <a:prstGeom prst="rect">
                        <a:avLst/>
                      </a:prstGeom>
                      <a:gradFill rotWithShape="1">
                        <a:gsLst>
                          <a:gs pos="0">
                            <a:srgbClr val="FFFFFF"/>
                          </a:gs>
                          <a:gs pos="50000">
                            <a:srgbClr val="00CC99"/>
                          </a:gs>
                          <a:gs pos="100000">
                            <a:srgbClr val="FFFFFF"/>
                          </a:gs>
                        </a:gsLst>
                        <a:lin ang="5400000" scaled="1"/>
                        <a:tileRect/>
                      </a:gra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8727"/>
                                        </p:tgtEl>
                                        <p:attrNameLst>
                                          <p:attrName>style.visibility</p:attrName>
                                        </p:attrNameLst>
                                      </p:cBhvr>
                                      <p:to>
                                        <p:strVal val="visible"/>
                                      </p:to>
                                    </p:set>
                                    <p:anim calcmode="lin" valueType="num">
                                      <p:cBhvr additive="base">
                                        <p:cTn id="7" dur="500" fill="hold"/>
                                        <p:tgtEl>
                                          <p:spTgt spid="158727"/>
                                        </p:tgtEl>
                                        <p:attrNameLst>
                                          <p:attrName>ppt_x</p:attrName>
                                        </p:attrNameLst>
                                      </p:cBhvr>
                                      <p:tavLst>
                                        <p:tav tm="0">
                                          <p:val>
                                            <p:strVal val="0-#ppt_w/2"/>
                                          </p:val>
                                        </p:tav>
                                        <p:tav tm="100000">
                                          <p:val>
                                            <p:strVal val="#ppt_x"/>
                                          </p:val>
                                        </p:tav>
                                      </p:tavLst>
                                    </p:anim>
                                    <p:anim calcmode="lin" valueType="num">
                                      <p:cBhvr additive="base">
                                        <p:cTn id="8" dur="500" fill="hold"/>
                                        <p:tgtEl>
                                          <p:spTgt spid="1587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89108"/>
                                        </p:tgtEl>
                                        <p:attrNameLst>
                                          <p:attrName>style.visibility</p:attrName>
                                        </p:attrNameLst>
                                      </p:cBhvr>
                                      <p:to>
                                        <p:strVal val="visible"/>
                                      </p:to>
                                    </p:set>
                                    <p:animEffect transition="in" filter="wipe(up)">
                                      <p:cBhvr>
                                        <p:cTn id="18" dur="500"/>
                                        <p:tgtEl>
                                          <p:spTgt spid="89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451"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104452" name="Rectangle 1036"/>
          <p:cNvSpPr/>
          <p:nvPr/>
        </p:nvSpPr>
        <p:spPr>
          <a:xfrm>
            <a:off x="320675" y="666750"/>
            <a:ext cx="8535988" cy="4430713"/>
          </a:xfrm>
          <a:prstGeom prst="rect">
            <a:avLst/>
          </a:prstGeom>
          <a:noFill/>
          <a:ln w="9525">
            <a:noFill/>
          </a:ln>
        </p:spPr>
        <p:txBody>
          <a:bodyPr>
            <a:spAutoFit/>
          </a:bodyPr>
          <a:p>
            <a:pPr>
              <a:lnSpc>
                <a:spcPct val="150000"/>
              </a:lnSpc>
              <a:buClr>
                <a:schemeClr val="accent2"/>
              </a:buClr>
            </a:pPr>
            <a:r>
              <a:rPr lang="en-US" altLang="zh-CN" dirty="0">
                <a:latin typeface="Times New Roman" panose="02020603050405020304" pitchFamily="18" charset="0"/>
              </a:rPr>
              <a:t>	</a:t>
            </a:r>
            <a:r>
              <a:rPr lang="zh-CN" altLang="zh-CN" dirty="0">
                <a:latin typeface="Times New Roman" panose="02020603050405020304" pitchFamily="18" charset="0"/>
              </a:rPr>
              <a:t>前面介绍的单步法均满足</a:t>
            </a:r>
            <a:r>
              <a:rPr lang="zh-CN" altLang="zh-CN" i="1" dirty="0">
                <a:latin typeface="Times New Roman" panose="02020603050405020304" pitchFamily="18" charset="0"/>
              </a:rPr>
              <a:t> </a:t>
            </a:r>
            <a:r>
              <a:rPr lang="en-US" altLang="zh-CN" i="1" dirty="0">
                <a:latin typeface="Times New Roman" panose="02020603050405020304" pitchFamily="18" charset="0"/>
              </a:rPr>
              <a:t>P</a:t>
            </a:r>
            <a:r>
              <a:rPr lang="zh-CN" altLang="en-US" sz="2000" dirty="0">
                <a:latin typeface="宋体" panose="02010600030101010101" pitchFamily="2" charset="-122"/>
              </a:rPr>
              <a:t>≥</a:t>
            </a:r>
            <a:r>
              <a:rPr lang="zh-CN" altLang="en-US" dirty="0">
                <a:latin typeface="Times New Roman" panose="02020603050405020304" pitchFamily="18" charset="0"/>
              </a:rPr>
              <a:t>1 ( </a:t>
            </a:r>
            <a:r>
              <a:rPr lang="zh-CN" altLang="en-US" dirty="0">
                <a:latin typeface="宋体" panose="02010600030101010101" pitchFamily="2" charset="-122"/>
              </a:rPr>
              <a:t>即至少是一阶方法</a:t>
            </a:r>
            <a:r>
              <a:rPr lang="zh-CN" altLang="en-US" dirty="0">
                <a:latin typeface="Times New Roman" panose="02020603050405020304" pitchFamily="18" charset="0"/>
              </a:rPr>
              <a:t> ) 且均有</a:t>
            </a:r>
            <a:r>
              <a:rPr lang="en-US" altLang="zh-CN" i="1" dirty="0">
                <a:latin typeface="Times New Roman" panose="02020603050405020304" pitchFamily="18" charset="0"/>
              </a:rPr>
              <a:t>e</a:t>
            </a:r>
            <a:r>
              <a:rPr lang="en-US" altLang="zh-CN" baseline="-25000" dirty="0">
                <a:latin typeface="Times New Roman" panose="02020603050405020304" pitchFamily="18" charset="0"/>
              </a:rPr>
              <a:t>0 </a:t>
            </a:r>
            <a:r>
              <a:rPr lang="en-US" altLang="zh-CN" dirty="0">
                <a:latin typeface="Times New Roman" panose="02020603050405020304" pitchFamily="18" charset="0"/>
              </a:rPr>
              <a:t>= 0, </a:t>
            </a:r>
            <a:r>
              <a:rPr lang="zh-CN" altLang="zh-CN" dirty="0">
                <a:latin typeface="Times New Roman" panose="02020603050405020304" pitchFamily="18" charset="0"/>
              </a:rPr>
              <a:t>又因为初值问题有唯一解的前提条件是右端函数</a:t>
            </a:r>
            <a:r>
              <a:rPr lang="zh-CN" altLang="en-US" dirty="0">
                <a:latin typeface="Times New Roman" panose="02020603050405020304" pitchFamily="18" charset="0"/>
              </a:rPr>
              <a:t> </a:t>
            </a:r>
            <a:r>
              <a:rPr lang="en-US" altLang="zh-CN" i="1" dirty="0">
                <a:latin typeface="Times New Roman" panose="02020603050405020304" pitchFamily="18" charset="0"/>
              </a:rPr>
              <a:t>f</a:t>
            </a:r>
            <a:r>
              <a:rPr lang="en-US" altLang="zh-CN" dirty="0">
                <a:latin typeface="Times New Roman" panose="02020603050405020304" pitchFamily="18" charset="0"/>
              </a:rPr>
              <a:t> </a:t>
            </a:r>
            <a:r>
              <a:rPr lang="zh-CN" altLang="zh-CN" dirty="0">
                <a:latin typeface="Times New Roman" panose="02020603050405020304" pitchFamily="18" charset="0"/>
              </a:rPr>
              <a:t>关于</a:t>
            </a:r>
            <a:r>
              <a:rPr lang="zh-CN" altLang="en-US" dirty="0">
                <a:latin typeface="Times New Roman" panose="02020603050405020304" pitchFamily="18" charset="0"/>
              </a:rPr>
              <a:t> </a:t>
            </a:r>
            <a:r>
              <a:rPr lang="en-US" altLang="zh-CN" i="1" dirty="0">
                <a:latin typeface="Times New Roman" panose="02020603050405020304" pitchFamily="18" charset="0"/>
              </a:rPr>
              <a:t>y</a:t>
            </a:r>
            <a:r>
              <a:rPr lang="en-US" altLang="zh-CN" dirty="0">
                <a:latin typeface="Times New Roman" panose="02020603050405020304" pitchFamily="18" charset="0"/>
              </a:rPr>
              <a:t> </a:t>
            </a:r>
            <a:r>
              <a:rPr lang="zh-CN" altLang="zh-CN" dirty="0">
                <a:latin typeface="Times New Roman" panose="02020603050405020304" pitchFamily="18" charset="0"/>
              </a:rPr>
              <a:t>满足</a:t>
            </a:r>
            <a:r>
              <a:rPr lang="zh-CN" altLang="en-US" dirty="0">
                <a:latin typeface="Times New Roman" panose="02020603050405020304" pitchFamily="18" charset="0"/>
              </a:rPr>
              <a:t> </a:t>
            </a:r>
            <a:r>
              <a:rPr lang="en-US" altLang="zh-CN" dirty="0">
                <a:latin typeface="Times New Roman" panose="02020603050405020304" pitchFamily="18" charset="0"/>
              </a:rPr>
              <a:t>Lipschitz </a:t>
            </a:r>
            <a:r>
              <a:rPr lang="zh-CN" altLang="zh-CN" dirty="0">
                <a:latin typeface="Times New Roman" panose="02020603050405020304" pitchFamily="18" charset="0"/>
              </a:rPr>
              <a:t>条件</a:t>
            </a:r>
            <a:r>
              <a:rPr lang="zh-CN" altLang="en-US" dirty="0">
                <a:latin typeface="Times New Roman" panose="02020603050405020304" pitchFamily="18" charset="0"/>
              </a:rPr>
              <a:t>, </a:t>
            </a:r>
            <a:r>
              <a:rPr lang="zh-CN" altLang="en-US" b="1" dirty="0">
                <a:solidFill>
                  <a:srgbClr val="FF0000"/>
                </a:solidFill>
                <a:latin typeface="Times New Roman" panose="02020603050405020304" pitchFamily="18" charset="0"/>
              </a:rPr>
              <a:t>因此验证方法的收敛性时, 只要在上述前提下, 验证增量函数</a:t>
            </a:r>
            <a:r>
              <a:rPr lang="en-US" altLang="zh-CN" b="1" i="1" dirty="0">
                <a:solidFill>
                  <a:srgbClr val="FF0000"/>
                </a:solidFill>
                <a:latin typeface="Times New Roman" panose="02020603050405020304" pitchFamily="18" charset="0"/>
              </a:rPr>
              <a:t>φ</a:t>
            </a:r>
            <a:r>
              <a:rPr lang="en-US" altLang="zh-CN" b="1" dirty="0">
                <a:solidFill>
                  <a:srgbClr val="FF0000"/>
                </a:solidFill>
                <a:latin typeface="Times New Roman" panose="02020603050405020304" pitchFamily="18" charset="0"/>
              </a:rPr>
              <a:t>(</a:t>
            </a:r>
            <a:r>
              <a:rPr lang="en-US" altLang="zh-CN" b="1" i="1" dirty="0">
                <a:solidFill>
                  <a:srgbClr val="FF0000"/>
                </a:solidFill>
                <a:latin typeface="Times New Roman" panose="02020603050405020304" pitchFamily="18" charset="0"/>
              </a:rPr>
              <a:t>x</a:t>
            </a:r>
            <a:r>
              <a:rPr lang="en-US" altLang="zh-CN" b="1" dirty="0">
                <a:solidFill>
                  <a:srgbClr val="FF0000"/>
                </a:solidFill>
                <a:latin typeface="Times New Roman" panose="02020603050405020304" pitchFamily="18" charset="0"/>
              </a:rPr>
              <a:t>,</a:t>
            </a:r>
            <a:r>
              <a:rPr lang="en-US" altLang="zh-CN" b="1" i="1" dirty="0">
                <a:solidFill>
                  <a:srgbClr val="FF0000"/>
                </a:solidFill>
                <a:latin typeface="Times New Roman" panose="02020603050405020304" pitchFamily="18" charset="0"/>
              </a:rPr>
              <a:t>y</a:t>
            </a:r>
            <a:r>
              <a:rPr lang="en-US" altLang="zh-CN" b="1" dirty="0">
                <a:solidFill>
                  <a:srgbClr val="FF0000"/>
                </a:solidFill>
                <a:latin typeface="Times New Roman" panose="02020603050405020304" pitchFamily="18" charset="0"/>
              </a:rPr>
              <a:t>,</a:t>
            </a:r>
            <a:r>
              <a:rPr lang="en-US" altLang="zh-CN" b="1" i="1" dirty="0">
                <a:solidFill>
                  <a:srgbClr val="FF0000"/>
                </a:solidFill>
                <a:latin typeface="Times New Roman" panose="02020603050405020304" pitchFamily="18" charset="0"/>
              </a:rPr>
              <a:t>h</a:t>
            </a:r>
            <a:r>
              <a:rPr lang="en-US" altLang="zh-CN" b="1" dirty="0">
                <a:solidFill>
                  <a:srgbClr val="FF0000"/>
                </a:solidFill>
                <a:latin typeface="Times New Roman" panose="02020603050405020304" pitchFamily="18" charset="0"/>
              </a:rPr>
              <a:t>)</a:t>
            </a:r>
            <a:r>
              <a:rPr lang="zh-CN" altLang="en-US" b="1" dirty="0">
                <a:solidFill>
                  <a:srgbClr val="FF0000"/>
                </a:solidFill>
                <a:latin typeface="Times New Roman" panose="02020603050405020304" pitchFamily="18" charset="0"/>
              </a:rPr>
              <a:t>关于 </a:t>
            </a:r>
            <a:r>
              <a:rPr lang="en-US" altLang="zh-CN" b="1" i="1" dirty="0">
                <a:solidFill>
                  <a:srgbClr val="FF0000"/>
                </a:solidFill>
                <a:latin typeface="Times New Roman" panose="02020603050405020304" pitchFamily="18" charset="0"/>
              </a:rPr>
              <a:t>y</a:t>
            </a:r>
            <a:r>
              <a:rPr lang="en-US" altLang="zh-CN" b="1" dirty="0">
                <a:solidFill>
                  <a:srgbClr val="FF0000"/>
                </a:solidFill>
                <a:latin typeface="Times New Roman" panose="02020603050405020304" pitchFamily="18" charset="0"/>
              </a:rPr>
              <a:t> </a:t>
            </a:r>
            <a:r>
              <a:rPr lang="zh-CN" altLang="zh-CN" b="1" dirty="0">
                <a:solidFill>
                  <a:srgbClr val="FF0000"/>
                </a:solidFill>
                <a:latin typeface="Times New Roman" panose="02020603050405020304" pitchFamily="18" charset="0"/>
              </a:rPr>
              <a:t>满足</a:t>
            </a:r>
            <a:r>
              <a:rPr lang="zh-CN" altLang="en-US" b="1" dirty="0">
                <a:solidFill>
                  <a:srgbClr val="FF0000"/>
                </a:solidFill>
                <a:latin typeface="Times New Roman" panose="02020603050405020304" pitchFamily="18" charset="0"/>
              </a:rPr>
              <a:t> </a:t>
            </a:r>
            <a:r>
              <a:rPr lang="en-US" altLang="zh-CN" b="1" dirty="0">
                <a:solidFill>
                  <a:srgbClr val="FF0000"/>
                </a:solidFill>
                <a:latin typeface="Times New Roman" panose="02020603050405020304" pitchFamily="18" charset="0"/>
              </a:rPr>
              <a:t>Lipschitz </a:t>
            </a:r>
            <a:r>
              <a:rPr lang="zh-CN" altLang="zh-CN" b="1" dirty="0">
                <a:solidFill>
                  <a:srgbClr val="FF0000"/>
                </a:solidFill>
                <a:latin typeface="Times New Roman" panose="02020603050405020304" pitchFamily="18" charset="0"/>
              </a:rPr>
              <a:t>条件即可</a:t>
            </a:r>
            <a:r>
              <a:rPr lang="zh-CN" altLang="en-US" b="1" dirty="0">
                <a:solidFill>
                  <a:srgbClr val="FF0000"/>
                </a:solidFill>
                <a:latin typeface="Times New Roman" panose="02020603050405020304" pitchFamily="18" charset="0"/>
              </a:rPr>
              <a:t>。</a:t>
            </a:r>
            <a:endParaRPr lang="zh-CN" altLang="en-US" dirty="0">
              <a:solidFill>
                <a:srgbClr val="FF0000"/>
              </a:solidFill>
              <a:latin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8" name="标题 1"/>
          <p:cNvSpPr>
            <a:spLocks noGrp="1"/>
          </p:cNvSpPr>
          <p:nvPr>
            <p:ph type="title"/>
          </p:nvPr>
        </p:nvSpPr>
        <p:spPr>
          <a:ln/>
        </p:spPr>
        <p:txBody>
          <a:bodyPr vert="horz" wrap="square" lIns="91440" tIns="45720" rIns="91440" bIns="45720" anchor="ctr" anchorCtr="0"/>
          <a:p>
            <a:pPr algn="l"/>
            <a:r>
              <a:rPr lang="en-US" altLang="zh-CN" sz="3600" b="1" u="none" dirty="0">
                <a:latin typeface="Times New Roman" panose="02020603050405020304" pitchFamily="18" charset="0"/>
              </a:rPr>
              <a:t>3.2 </a:t>
            </a:r>
            <a:r>
              <a:rPr lang="zh-CN" altLang="en-US" sz="3600" b="1" u="none" dirty="0">
                <a:latin typeface="Times New Roman" panose="02020603050405020304" pitchFamily="18" charset="0"/>
              </a:rPr>
              <a:t>数值方法的稳定性</a:t>
            </a:r>
            <a:endParaRPr lang="zh-CN" altLang="en-US" sz="3600" b="1" u="none" dirty="0">
              <a:latin typeface="Times New Roman" panose="02020603050405020304" pitchFamily="18" charset="0"/>
              <a:ea typeface="Times New Roman" panose="02020603050405020304" pitchFamily="18" charset="0"/>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230"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87047" name="矩形 4"/>
          <p:cNvSpPr/>
          <p:nvPr/>
        </p:nvSpPr>
        <p:spPr>
          <a:xfrm>
            <a:off x="582613" y="1109663"/>
            <a:ext cx="7713662" cy="3046412"/>
          </a:xfrm>
          <a:prstGeom prst="rect">
            <a:avLst/>
          </a:prstGeom>
          <a:noFill/>
          <a:ln w="9525">
            <a:noFill/>
          </a:ln>
        </p:spPr>
        <p:txBody>
          <a:bodyPr>
            <a:spAutoFit/>
          </a:bodyPr>
          <a:p>
            <a:pPr eaLnBrk="0" hangingPunct="0"/>
            <a:r>
              <a:rPr lang="en-US" altLang="zh-CN" dirty="0">
                <a:latin typeface="Times New Roman" panose="02020603050405020304" pitchFamily="18" charset="0"/>
              </a:rPr>
              <a:t>	</a:t>
            </a:r>
            <a:r>
              <a:rPr lang="zh-CN" altLang="en-US" dirty="0">
                <a:latin typeface="Times New Roman" panose="02020603050405020304" pitchFamily="18" charset="0"/>
              </a:rPr>
              <a:t>在求数值解的过程中</a:t>
            </a:r>
            <a:r>
              <a:rPr lang="en-US" altLang="zh-CN" dirty="0">
                <a:latin typeface="Times New Roman" panose="02020603050405020304" pitchFamily="18" charset="0"/>
              </a:rPr>
              <a:t>,</a:t>
            </a:r>
            <a:r>
              <a:rPr lang="zh-CN" altLang="en-US" dirty="0">
                <a:latin typeface="Times New Roman" panose="02020603050405020304" pitchFamily="18" charset="0"/>
              </a:rPr>
              <a:t>每一步的计算都可能有舍入误差（包括初值）</a:t>
            </a:r>
            <a:r>
              <a:rPr lang="en-US" altLang="zh-CN" dirty="0">
                <a:latin typeface="Times New Roman" panose="02020603050405020304" pitchFamily="18" charset="0"/>
              </a:rPr>
              <a:t>, </a:t>
            </a:r>
            <a:r>
              <a:rPr lang="zh-CN" altLang="en-US" dirty="0">
                <a:latin typeface="Times New Roman" panose="02020603050405020304" pitchFamily="18" charset="0"/>
              </a:rPr>
              <a:t>这些误差都将影响到下一步的计算结果</a:t>
            </a:r>
            <a:r>
              <a:rPr lang="en-US" altLang="zh-CN" dirty="0">
                <a:latin typeface="Times New Roman" panose="02020603050405020304" pitchFamily="18" charset="0"/>
              </a:rPr>
              <a:t>.  </a:t>
            </a:r>
            <a:r>
              <a:rPr lang="zh-CN" altLang="en-US" dirty="0">
                <a:latin typeface="Times New Roman" panose="02020603050405020304" pitchFamily="18" charset="0"/>
              </a:rPr>
              <a:t>因此</a:t>
            </a:r>
            <a:r>
              <a:rPr lang="en-US" altLang="zh-CN" dirty="0">
                <a:latin typeface="Times New Roman" panose="02020603050405020304" pitchFamily="18" charset="0"/>
              </a:rPr>
              <a:t>,</a:t>
            </a:r>
            <a:r>
              <a:rPr lang="zh-CN" altLang="en-US" dirty="0">
                <a:latin typeface="Times New Roman" panose="02020603050405020304" pitchFamily="18" charset="0"/>
              </a:rPr>
              <a:t>有效地控制误差的传播</a:t>
            </a:r>
            <a:r>
              <a:rPr lang="en-US" altLang="zh-CN" dirty="0">
                <a:latin typeface="Times New Roman" panose="02020603050405020304" pitchFamily="18" charset="0"/>
              </a:rPr>
              <a:t>,  </a:t>
            </a:r>
            <a:r>
              <a:rPr lang="zh-CN" altLang="en-US" dirty="0">
                <a:latin typeface="Times New Roman" panose="02020603050405020304" pitchFamily="18" charset="0"/>
              </a:rPr>
              <a:t>保证数值解的有效性成为数值解中的重要问题。稳定性问题就是研究这种误差传播能否得到控制。</a:t>
            </a:r>
            <a:r>
              <a:rPr lang="en-US" altLang="zh-CN" i="1" dirty="0">
                <a:latin typeface="Times New Roman" panose="02020603050405020304" pitchFamily="18" charset="0"/>
              </a:rPr>
              <a:t> </a:t>
            </a:r>
            <a:endParaRPr lang="zh-CN" altLang="en-US" dirty="0">
              <a:latin typeface="Times New Roman" panose="02020603050405020304" pitchFamily="18" charset="0"/>
            </a:endParaRPr>
          </a:p>
        </p:txBody>
      </p:sp>
      <p:grpSp>
        <p:nvGrpSpPr>
          <p:cNvPr id="2" name="组合 8"/>
          <p:cNvGrpSpPr/>
          <p:nvPr/>
        </p:nvGrpSpPr>
        <p:grpSpPr>
          <a:xfrm>
            <a:off x="622300" y="4035425"/>
            <a:ext cx="7448550" cy="1260475"/>
            <a:chOff x="622854" y="4459718"/>
            <a:chExt cx="7447722" cy="1260730"/>
          </a:xfrm>
        </p:grpSpPr>
        <p:sp>
          <p:nvSpPr>
            <p:cNvPr id="52234" name="矩形 5"/>
            <p:cNvSpPr/>
            <p:nvPr/>
          </p:nvSpPr>
          <p:spPr>
            <a:xfrm>
              <a:off x="622854" y="4459718"/>
              <a:ext cx="7447722" cy="1260730"/>
            </a:xfrm>
            <a:prstGeom prst="rect">
              <a:avLst/>
            </a:prstGeom>
            <a:noFill/>
            <a:ln w="9525">
              <a:noFill/>
            </a:ln>
          </p:spPr>
          <p:txBody>
            <a:bodyPr>
              <a:spAutoFit/>
            </a:bodyPr>
            <a:p>
              <a:pPr eaLnBrk="0" hangingPunct="0">
                <a:lnSpc>
                  <a:spcPct val="125000"/>
                </a:lnSpc>
              </a:pPr>
              <a:r>
                <a:rPr lang="en-US" altLang="zh-CN" dirty="0">
                  <a:latin typeface="Times New Roman" panose="02020603050405020304" pitchFamily="18" charset="0"/>
                </a:rPr>
                <a:t>	</a:t>
              </a:r>
              <a:r>
                <a:rPr lang="zh-CN" altLang="en-US" dirty="0">
                  <a:latin typeface="Times New Roman" panose="02020603050405020304" pitchFamily="18" charset="0"/>
                </a:rPr>
                <a:t>用    和</a:t>
              </a:r>
              <a:r>
                <a:rPr lang="en-US" altLang="zh-CN" i="1" dirty="0">
                  <a:latin typeface="Times New Roman" panose="02020603050405020304" pitchFamily="18" charset="0"/>
                </a:rPr>
                <a:t>y</a:t>
              </a:r>
              <a:r>
                <a:rPr lang="en-US" altLang="zh-CN" i="1" baseline="-25000" dirty="0">
                  <a:latin typeface="Times New Roman" panose="02020603050405020304" pitchFamily="18" charset="0"/>
                </a:rPr>
                <a:t>n</a:t>
              </a:r>
              <a:r>
                <a:rPr lang="zh-CN" altLang="en-US" dirty="0">
                  <a:latin typeface="Times New Roman" panose="02020603050405020304" pitchFamily="18" charset="0"/>
                </a:rPr>
                <a:t>分别表示真解 </a:t>
              </a:r>
              <a:r>
                <a:rPr lang="en-US" altLang="zh-CN" i="1" dirty="0">
                  <a:latin typeface="Times New Roman" panose="02020603050405020304" pitchFamily="18" charset="0"/>
                </a:rPr>
                <a:t>y</a:t>
              </a:r>
              <a:r>
                <a:rPr lang="en-US" altLang="zh-CN" dirty="0">
                  <a:latin typeface="Times New Roman" panose="02020603050405020304" pitchFamily="18" charset="0"/>
                </a:rPr>
                <a:t>(</a:t>
              </a:r>
              <a:r>
                <a:rPr lang="en-US" altLang="zh-CN" i="1" dirty="0">
                  <a:latin typeface="Times New Roman" panose="02020603050405020304" pitchFamily="18" charset="0"/>
                </a:rPr>
                <a:t>x</a:t>
              </a:r>
              <a:r>
                <a:rPr lang="en-US" altLang="zh-CN" dirty="0">
                  <a:latin typeface="Times New Roman" panose="02020603050405020304" pitchFamily="18" charset="0"/>
                </a:rPr>
                <a:t>) </a:t>
              </a:r>
              <a:r>
                <a:rPr lang="zh-CN" altLang="en-US" dirty="0">
                  <a:latin typeface="Times New Roman" panose="02020603050405020304" pitchFamily="18" charset="0"/>
                </a:rPr>
                <a:t>在节点</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zh-CN" altLang="en-US" dirty="0">
                  <a:latin typeface="Times New Roman" panose="02020603050405020304" pitchFamily="18" charset="0"/>
                </a:rPr>
                <a:t>处的实际计算值和理论数值解</a:t>
              </a:r>
              <a:r>
                <a:rPr lang="en-US" altLang="zh-CN" dirty="0">
                  <a:latin typeface="Times New Roman" panose="02020603050405020304" pitchFamily="18" charset="0"/>
                </a:rPr>
                <a:t>,  </a:t>
              </a:r>
              <a:r>
                <a:rPr lang="zh-CN" altLang="en-US" dirty="0">
                  <a:latin typeface="Times New Roman" panose="02020603050405020304" pitchFamily="18" charset="0"/>
                </a:rPr>
                <a:t>称</a:t>
              </a:r>
              <a:endParaRPr lang="zh-CN" altLang="en-US" dirty="0">
                <a:latin typeface="Times New Roman" panose="02020603050405020304" pitchFamily="18" charset="0"/>
              </a:endParaRPr>
            </a:p>
          </p:txBody>
        </p:sp>
        <p:graphicFrame>
          <p:nvGraphicFramePr>
            <p:cNvPr id="52227" name="Object 20"/>
            <p:cNvGraphicFramePr/>
            <p:nvPr/>
          </p:nvGraphicFramePr>
          <p:xfrm>
            <a:off x="1950818" y="4494420"/>
            <a:ext cx="444500" cy="577850"/>
          </p:xfrm>
          <a:graphic>
            <a:graphicData uri="http://schemas.openxmlformats.org/presentationml/2006/ole">
              <mc:AlternateContent xmlns:mc="http://schemas.openxmlformats.org/markup-compatibility/2006">
                <mc:Choice xmlns:v="urn:schemas-microsoft-com:vml" Requires="v">
                  <p:oleObj spid="_x0000_s3192" name="" r:id="rId1" imgW="177800" imgH="227965" progId="Equation.3">
                    <p:embed/>
                  </p:oleObj>
                </mc:Choice>
                <mc:Fallback>
                  <p:oleObj name="" r:id="rId1" imgW="177800" imgH="227965" progId="Equation.3">
                    <p:embed/>
                    <p:pic>
                      <p:nvPicPr>
                        <p:cNvPr id="0" name="图片 3191"/>
                        <p:cNvPicPr/>
                        <p:nvPr/>
                      </p:nvPicPr>
                      <p:blipFill>
                        <a:blip r:embed="rId2"/>
                        <a:stretch>
                          <a:fillRect/>
                        </a:stretch>
                      </p:blipFill>
                      <p:spPr>
                        <a:xfrm>
                          <a:off x="1950818" y="4494420"/>
                          <a:ext cx="444500" cy="577850"/>
                        </a:xfrm>
                        <a:prstGeom prst="rect">
                          <a:avLst/>
                        </a:prstGeom>
                        <a:noFill/>
                        <a:ln w="38100">
                          <a:noFill/>
                          <a:miter/>
                        </a:ln>
                      </p:spPr>
                    </p:pic>
                  </p:oleObj>
                </mc:Fallback>
              </mc:AlternateContent>
            </a:graphicData>
          </a:graphic>
        </p:graphicFrame>
      </p:grpSp>
      <p:graphicFrame>
        <p:nvGraphicFramePr>
          <p:cNvPr id="7" name="Object 3"/>
          <p:cNvGraphicFramePr/>
          <p:nvPr/>
        </p:nvGraphicFramePr>
        <p:xfrm>
          <a:off x="3384550" y="5226050"/>
          <a:ext cx="1905000" cy="577850"/>
        </p:xfrm>
        <a:graphic>
          <a:graphicData uri="http://schemas.openxmlformats.org/presentationml/2006/ole">
            <mc:AlternateContent xmlns:mc="http://schemas.openxmlformats.org/markup-compatibility/2006">
              <mc:Choice xmlns:v="urn:schemas-microsoft-com:vml" Requires="v">
                <p:oleObj spid="_x0000_s3191" name="" r:id="rId3" imgW="761365" imgH="228600" progId="Equation.3">
                  <p:embed/>
                </p:oleObj>
              </mc:Choice>
              <mc:Fallback>
                <p:oleObj name="" r:id="rId3" imgW="761365" imgH="228600" progId="Equation.3">
                  <p:embed/>
                  <p:pic>
                    <p:nvPicPr>
                      <p:cNvPr id="0" name="图片 3190"/>
                      <p:cNvPicPr/>
                      <p:nvPr/>
                    </p:nvPicPr>
                    <p:blipFill>
                      <a:blip r:embed="rId4"/>
                      <a:stretch>
                        <a:fillRect/>
                      </a:stretch>
                    </p:blipFill>
                    <p:spPr>
                      <a:xfrm>
                        <a:off x="3384550" y="5226050"/>
                        <a:ext cx="1905000" cy="577850"/>
                      </a:xfrm>
                      <a:prstGeom prst="rect">
                        <a:avLst/>
                      </a:prstGeom>
                      <a:noFill/>
                      <a:ln w="38100">
                        <a:noFill/>
                        <a:miter/>
                      </a:ln>
                    </p:spPr>
                  </p:pic>
                </p:oleObj>
              </mc:Fallback>
            </mc:AlternateContent>
          </a:graphicData>
        </a:graphic>
      </p:graphicFrame>
      <p:sp>
        <p:nvSpPr>
          <p:cNvPr id="87049" name="矩形 9"/>
          <p:cNvSpPr/>
          <p:nvPr/>
        </p:nvSpPr>
        <p:spPr>
          <a:xfrm>
            <a:off x="596900" y="5834063"/>
            <a:ext cx="7724775" cy="584200"/>
          </a:xfrm>
          <a:prstGeom prst="rect">
            <a:avLst/>
          </a:prstGeom>
          <a:noFill/>
          <a:ln w="9525">
            <a:noFill/>
          </a:ln>
        </p:spPr>
        <p:txBody>
          <a:bodyPr>
            <a:spAutoFit/>
          </a:bodyPr>
          <a:p>
            <a:pPr eaLnBrk="0" hangingPunct="0"/>
            <a:r>
              <a:rPr lang="zh-CN" altLang="en-US" dirty="0">
                <a:latin typeface="Times New Roman" panose="02020603050405020304" pitchFamily="18" charset="0"/>
              </a:rPr>
              <a:t>为节点</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zh-CN" altLang="en-US" dirty="0">
                <a:latin typeface="Times New Roman" panose="02020603050405020304" pitchFamily="18" charset="0"/>
              </a:rPr>
              <a:t>处的数值解的扰动。</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7047"/>
                                        </p:tgtEl>
                                        <p:attrNameLst>
                                          <p:attrName>style.visibility</p:attrName>
                                        </p:attrNameLst>
                                      </p:cBhvr>
                                      <p:to>
                                        <p:strVal val="visible"/>
                                      </p:to>
                                    </p:set>
                                    <p:animEffect transition="in" filter="wipe(up)">
                                      <p:cBhvr>
                                        <p:cTn id="7" dur="500"/>
                                        <p:tgtEl>
                                          <p:spTgt spid="8704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7049"/>
                                        </p:tgtEl>
                                        <p:attrNameLst>
                                          <p:attrName>style.visibility</p:attrName>
                                        </p:attrNameLst>
                                      </p:cBhvr>
                                      <p:to>
                                        <p:strVal val="visible"/>
                                      </p:to>
                                    </p:set>
                                    <p:animEffect transition="in" filter="wipe(left)">
                                      <p:cBhvr>
                                        <p:cTn id="22" dur="500"/>
                                        <p:tgtEl>
                                          <p:spTgt spid="87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7" grpId="0"/>
      <p:bldP spid="8704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2" name="标题 1"/>
          <p:cNvSpPr>
            <a:spLocks noGrp="1"/>
          </p:cNvSpPr>
          <p:nvPr>
            <p:ph type="title"/>
          </p:nvPr>
        </p:nvSpPr>
        <p:spPr>
          <a:ln/>
        </p:spPr>
        <p:txBody>
          <a:bodyPr vert="horz" wrap="square" lIns="91440" tIns="45720" rIns="91440" bIns="45720" anchor="ctr" anchorCtr="0"/>
          <a:p>
            <a:pPr algn="l"/>
            <a:r>
              <a:rPr lang="en-US" altLang="zh-CN" sz="2400" dirty="0">
                <a:latin typeface="Times New Roman" panose="02020603050405020304" pitchFamily="18" charset="0"/>
              </a:rPr>
              <a:t>3.2 </a:t>
            </a:r>
            <a:r>
              <a:rPr lang="zh-CN" altLang="en-US" sz="2400" dirty="0">
                <a:latin typeface="Times New Roman" panose="02020603050405020304" pitchFamily="18" charset="0"/>
              </a:rPr>
              <a:t>数值方法的稳定性</a:t>
            </a:r>
            <a:endParaRPr lang="zh-CN" altLang="en-US" sz="2400" dirty="0">
              <a:latin typeface="Times New Roman" panose="02020603050405020304" pitchFamily="18" charset="0"/>
              <a:ea typeface="Times New Roman" panose="02020603050405020304" pitchFamily="18" charset="0"/>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254"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pSp>
        <p:nvGrpSpPr>
          <p:cNvPr id="53255" name="组合 11"/>
          <p:cNvGrpSpPr/>
          <p:nvPr/>
        </p:nvGrpSpPr>
        <p:grpSpPr>
          <a:xfrm>
            <a:off x="596900" y="930275"/>
            <a:ext cx="7724775" cy="1570038"/>
            <a:chOff x="596348" y="1208754"/>
            <a:chExt cx="7726017" cy="1569660"/>
          </a:xfrm>
        </p:grpSpPr>
        <p:sp>
          <p:nvSpPr>
            <p:cNvPr id="53258" name="矩形 9"/>
            <p:cNvSpPr/>
            <p:nvPr/>
          </p:nvSpPr>
          <p:spPr>
            <a:xfrm>
              <a:off x="596348" y="1208754"/>
              <a:ext cx="7726017" cy="1569660"/>
            </a:xfrm>
            <a:prstGeom prst="rect">
              <a:avLst/>
            </a:prstGeom>
            <a:noFill/>
            <a:ln w="9525">
              <a:noFill/>
            </a:ln>
          </p:spPr>
          <p:txBody>
            <a:bodyPr>
              <a:spAutoFit/>
            </a:bodyPr>
            <a:p>
              <a:pPr eaLnBrk="0" hangingPunct="0"/>
              <a:r>
                <a:rPr lang="en-US" altLang="zh-CN" dirty="0">
                  <a:latin typeface="Times New Roman" panose="02020603050405020304" pitchFamily="18" charset="0"/>
                </a:rPr>
                <a:t>	</a:t>
              </a:r>
              <a:r>
                <a:rPr lang="zh-CN" altLang="en-US" dirty="0">
                  <a:latin typeface="Times New Roman" panose="02020603050405020304" pitchFamily="18" charset="0"/>
                </a:rPr>
                <a:t>如果在某节点</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zh-CN" altLang="en-US" dirty="0">
                  <a:latin typeface="Times New Roman" panose="02020603050405020304" pitchFamily="18" charset="0"/>
                </a:rPr>
                <a:t>处           </a:t>
              </a:r>
              <a:r>
                <a:rPr lang="en-US" altLang="zh-CN" dirty="0">
                  <a:latin typeface="Times New Roman" panose="02020603050405020304" pitchFamily="18" charset="0"/>
                </a:rPr>
                <a:t>,  </a:t>
              </a:r>
              <a:r>
                <a:rPr lang="zh-CN" altLang="en-US" dirty="0">
                  <a:latin typeface="Times New Roman" panose="02020603050405020304" pitchFamily="18" charset="0"/>
                </a:rPr>
                <a:t>即使以后每步计算都是精确的</a:t>
              </a:r>
              <a:r>
                <a:rPr lang="en-US" altLang="zh-CN" dirty="0">
                  <a:latin typeface="Times New Roman" panose="02020603050405020304" pitchFamily="18" charset="0"/>
                </a:rPr>
                <a:t>,</a:t>
              </a:r>
              <a:r>
                <a:rPr lang="zh-CN" altLang="en-US" dirty="0">
                  <a:latin typeface="Times New Roman" panose="02020603050405020304" pitchFamily="18" charset="0"/>
                </a:rPr>
                <a:t>但由</a:t>
              </a:r>
              <a:r>
                <a:rPr lang="en-US" altLang="zh-CN" i="1" dirty="0">
                  <a:latin typeface="Times New Roman" panose="02020603050405020304" pitchFamily="18" charset="0"/>
                </a:rPr>
                <a:t>δ</a:t>
              </a:r>
              <a:r>
                <a:rPr lang="en-US" altLang="zh-CN" i="1" baseline="-25000" dirty="0">
                  <a:latin typeface="Times New Roman" panose="02020603050405020304" pitchFamily="18" charset="0"/>
                </a:rPr>
                <a:t>n</a:t>
              </a:r>
              <a:r>
                <a:rPr lang="zh-CN" altLang="en-US" dirty="0">
                  <a:latin typeface="Times New Roman" panose="02020603050405020304" pitchFamily="18" charset="0"/>
                </a:rPr>
                <a:t>引起的以后各节点处的数值解也产生变化。</a:t>
              </a:r>
              <a:endParaRPr lang="zh-CN" altLang="en-US" dirty="0">
                <a:latin typeface="Times New Roman" panose="02020603050405020304" pitchFamily="18" charset="0"/>
              </a:endParaRPr>
            </a:p>
          </p:txBody>
        </p:sp>
        <p:graphicFrame>
          <p:nvGraphicFramePr>
            <p:cNvPr id="53251" name="Object 3"/>
            <p:cNvGraphicFramePr/>
            <p:nvPr/>
          </p:nvGraphicFramePr>
          <p:xfrm>
            <a:off x="4768681" y="1303088"/>
            <a:ext cx="1047750" cy="577850"/>
          </p:xfrm>
          <a:graphic>
            <a:graphicData uri="http://schemas.openxmlformats.org/presentationml/2006/ole">
              <mc:AlternateContent xmlns:mc="http://schemas.openxmlformats.org/markup-compatibility/2006">
                <mc:Choice xmlns:v="urn:schemas-microsoft-com:vml" Requires="v">
                  <p:oleObj spid="_x0000_s3194" name="" r:id="rId1" imgW="419100" imgH="228600" progId="Equation.3">
                    <p:embed/>
                  </p:oleObj>
                </mc:Choice>
                <mc:Fallback>
                  <p:oleObj name="" r:id="rId1" imgW="419100" imgH="228600" progId="Equation.3">
                    <p:embed/>
                    <p:pic>
                      <p:nvPicPr>
                        <p:cNvPr id="0" name="图片 3193"/>
                        <p:cNvPicPr/>
                        <p:nvPr/>
                      </p:nvPicPr>
                      <p:blipFill>
                        <a:blip r:embed="rId2"/>
                        <a:stretch>
                          <a:fillRect/>
                        </a:stretch>
                      </p:blipFill>
                      <p:spPr>
                        <a:xfrm>
                          <a:off x="4768681" y="1303088"/>
                          <a:ext cx="1047750" cy="577850"/>
                        </a:xfrm>
                        <a:prstGeom prst="rect">
                          <a:avLst/>
                        </a:prstGeom>
                        <a:noFill/>
                        <a:ln w="38100">
                          <a:noFill/>
                          <a:miter/>
                        </a:ln>
                      </p:spPr>
                    </p:pic>
                  </p:oleObj>
                </mc:Fallback>
              </mc:AlternateContent>
            </a:graphicData>
          </a:graphic>
        </p:graphicFrame>
      </p:grpSp>
      <p:sp>
        <p:nvSpPr>
          <p:cNvPr id="88073" name="矩形 12"/>
          <p:cNvSpPr/>
          <p:nvPr/>
        </p:nvSpPr>
        <p:spPr>
          <a:xfrm>
            <a:off x="503238" y="2444750"/>
            <a:ext cx="8004175" cy="583565"/>
          </a:xfrm>
          <a:prstGeom prst="rect">
            <a:avLst/>
          </a:prstGeom>
          <a:noFill/>
          <a:ln w="9525">
            <a:noFill/>
          </a:ln>
        </p:spPr>
        <p:txBody>
          <a:bodyPr>
            <a:spAutoFit/>
          </a:bodyPr>
          <a:p>
            <a:pPr eaLnBrk="0" hangingPunct="0"/>
            <a:r>
              <a:rPr lang="zh-CN" altLang="en-US" b="1" dirty="0">
                <a:latin typeface="Times New Roman" panose="02020603050405020304" pitchFamily="18" charset="0"/>
              </a:rPr>
              <a:t>定义</a:t>
            </a:r>
            <a:r>
              <a:rPr lang="en-US" altLang="zh-CN" b="1" dirty="0">
                <a:latin typeface="Times New Roman" panose="02020603050405020304" pitchFamily="18" charset="0"/>
              </a:rPr>
              <a:t>9.</a:t>
            </a:r>
            <a:r>
              <a:rPr lang="en-US" altLang="zh-CN" b="1" dirty="0">
                <a:latin typeface="Times New Roman" panose="02020603050405020304" pitchFamily="18" charset="0"/>
              </a:rPr>
              <a:t>3.2 </a:t>
            </a:r>
            <a:r>
              <a:rPr lang="zh-CN" altLang="en-US" dirty="0">
                <a:latin typeface="Times New Roman" panose="02020603050405020304" pitchFamily="18" charset="0"/>
              </a:rPr>
              <a:t>按某种数值方法求初值问题</a:t>
            </a:r>
            <a:endParaRPr lang="zh-CN" altLang="en-US" dirty="0">
              <a:latin typeface="Times New Roman" panose="02020603050405020304" pitchFamily="18" charset="0"/>
            </a:endParaRPr>
          </a:p>
        </p:txBody>
      </p:sp>
      <p:sp>
        <p:nvSpPr>
          <p:cNvPr id="12" name="矩形 11"/>
          <p:cNvSpPr/>
          <p:nvPr/>
        </p:nvSpPr>
        <p:spPr>
          <a:xfrm>
            <a:off x="490538" y="4156075"/>
            <a:ext cx="7964487" cy="2062163"/>
          </a:xfrm>
          <a:prstGeom prst="rect">
            <a:avLst/>
          </a:prstGeom>
          <a:noFill/>
          <a:ln w="9525">
            <a:noFill/>
          </a:ln>
        </p:spPr>
        <p:txBody>
          <a:bodyPr>
            <a:spAutoFit/>
          </a:bodyPr>
          <a:p>
            <a:pPr eaLnBrk="0" hangingPunct="0"/>
            <a:r>
              <a:rPr lang="zh-CN" altLang="en-US" dirty="0">
                <a:latin typeface="Times New Roman" panose="02020603050405020304" pitchFamily="18" charset="0"/>
              </a:rPr>
              <a:t>的数值解时</a:t>
            </a:r>
            <a:r>
              <a:rPr lang="en-US" altLang="zh-CN" dirty="0">
                <a:latin typeface="Times New Roman" panose="02020603050405020304" pitchFamily="18" charset="0"/>
              </a:rPr>
              <a:t>,  </a:t>
            </a:r>
            <a:r>
              <a:rPr lang="zh-CN" altLang="en-US" dirty="0">
                <a:latin typeface="Times New Roman" panose="02020603050405020304" pitchFamily="18" charset="0"/>
              </a:rPr>
              <a:t>如果由任一节点</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zh-CN" altLang="en-US" dirty="0">
                <a:latin typeface="Times New Roman" panose="02020603050405020304" pitchFamily="18" charset="0"/>
              </a:rPr>
              <a:t>处数值扰动</a:t>
            </a:r>
            <a:r>
              <a:rPr lang="en-US" altLang="zh-CN" i="1" dirty="0">
                <a:latin typeface="Times New Roman" panose="02020603050405020304" pitchFamily="18" charset="0"/>
              </a:rPr>
              <a:t>δ</a:t>
            </a:r>
            <a:r>
              <a:rPr lang="en-US" altLang="zh-CN" i="1" baseline="-25000" dirty="0">
                <a:latin typeface="Times New Roman" panose="02020603050405020304" pitchFamily="18" charset="0"/>
              </a:rPr>
              <a:t>n</a:t>
            </a:r>
            <a:r>
              <a:rPr lang="zh-CN" altLang="en-US" dirty="0">
                <a:latin typeface="Times New Roman" panose="02020603050405020304" pitchFamily="18" charset="0"/>
              </a:rPr>
              <a:t>引起下一个节点</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+1</a:t>
            </a:r>
            <a:r>
              <a:rPr lang="zh-CN" altLang="en-US" dirty="0">
                <a:latin typeface="Times New Roman" panose="02020603050405020304" pitchFamily="18" charset="0"/>
              </a:rPr>
              <a:t>处数值解的扰动</a:t>
            </a:r>
            <a:r>
              <a:rPr lang="en-US" altLang="zh-CN" i="1" dirty="0">
                <a:latin typeface="Times New Roman" panose="02020603050405020304" pitchFamily="18" charset="0"/>
              </a:rPr>
              <a:t>δ</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+1</a:t>
            </a:r>
            <a:r>
              <a:rPr lang="zh-CN" altLang="en-US" dirty="0">
                <a:latin typeface="Times New Roman" panose="02020603050405020304" pitchFamily="18" charset="0"/>
              </a:rPr>
              <a:t>都满足 </a:t>
            </a:r>
            <a:r>
              <a:rPr lang="el-GR" altLang="zh-CN" b="1" dirty="0">
                <a:solidFill>
                  <a:srgbClr val="FF0000"/>
                </a:solidFill>
                <a:latin typeface="Times New Roman" panose="02020603050405020304" pitchFamily="18" charset="0"/>
              </a:rPr>
              <a:t>|</a:t>
            </a:r>
            <a:r>
              <a:rPr lang="el-GR" altLang="zh-CN" b="1" i="1" dirty="0">
                <a:solidFill>
                  <a:srgbClr val="FF0000"/>
                </a:solidFill>
                <a:latin typeface="Times New Roman" panose="02020603050405020304" pitchFamily="18" charset="0"/>
              </a:rPr>
              <a:t>δ</a:t>
            </a:r>
            <a:r>
              <a:rPr lang="en-US" altLang="zh-CN" b="1" i="1" baseline="-25000" dirty="0">
                <a:solidFill>
                  <a:srgbClr val="FF0000"/>
                </a:solidFill>
                <a:latin typeface="Times New Roman" panose="02020603050405020304" pitchFamily="18" charset="0"/>
              </a:rPr>
              <a:t>n</a:t>
            </a:r>
            <a:r>
              <a:rPr lang="en-US" altLang="zh-CN" b="1" baseline="-25000" dirty="0">
                <a:solidFill>
                  <a:srgbClr val="FF0000"/>
                </a:solidFill>
                <a:latin typeface="Times New Roman" panose="02020603050405020304" pitchFamily="18" charset="0"/>
              </a:rPr>
              <a:t>+1</a:t>
            </a:r>
            <a:r>
              <a:rPr lang="en-US" altLang="zh-CN" b="1" i="1" dirty="0">
                <a:solidFill>
                  <a:srgbClr val="FF0000"/>
                </a:solidFill>
                <a:latin typeface="Times New Roman" panose="02020603050405020304" pitchFamily="18" charset="0"/>
              </a:rPr>
              <a:t>| ≤ |</a:t>
            </a:r>
            <a:r>
              <a:rPr lang="el-GR" altLang="zh-CN" b="1" i="1" dirty="0">
                <a:solidFill>
                  <a:srgbClr val="FF0000"/>
                </a:solidFill>
                <a:latin typeface="Times New Roman" panose="02020603050405020304" pitchFamily="18" charset="0"/>
              </a:rPr>
              <a:t>δ</a:t>
            </a:r>
            <a:r>
              <a:rPr lang="en-US" altLang="zh-CN" b="1" i="1" baseline="-25000" dirty="0">
                <a:solidFill>
                  <a:srgbClr val="FF0000"/>
                </a:solidFill>
                <a:latin typeface="Times New Roman" panose="02020603050405020304" pitchFamily="18" charset="0"/>
              </a:rPr>
              <a:t>n</a:t>
            </a:r>
            <a:r>
              <a:rPr lang="en-US" altLang="zh-CN" b="1" i="1" dirty="0">
                <a:solidFill>
                  <a:srgbClr val="FF0000"/>
                </a:solidFill>
                <a:latin typeface="Times New Roman" panose="02020603050405020304" pitchFamily="18" charset="0"/>
              </a:rPr>
              <a:t>|</a:t>
            </a:r>
            <a:r>
              <a:rPr lang="zh-CN" altLang="en-US" dirty="0">
                <a:latin typeface="Times New Roman" panose="02020603050405020304" pitchFamily="18" charset="0"/>
              </a:rPr>
              <a:t>，则称该数值方法是</a:t>
            </a:r>
            <a:r>
              <a:rPr lang="zh-CN" altLang="en-US" b="1" dirty="0">
                <a:latin typeface="Times New Roman" panose="02020603050405020304" pitchFamily="18" charset="0"/>
              </a:rPr>
              <a:t>绝对稳定</a:t>
            </a:r>
            <a:r>
              <a:rPr lang="zh-CN" altLang="en-US" dirty="0">
                <a:latin typeface="Times New Roman" panose="02020603050405020304" pitchFamily="18" charset="0"/>
              </a:rPr>
              <a:t>的。</a:t>
            </a:r>
            <a:endParaRPr lang="zh-CN" altLang="en-US" dirty="0">
              <a:latin typeface="Times New Roman" panose="02020603050405020304" pitchFamily="18" charset="0"/>
            </a:endParaRPr>
          </a:p>
        </p:txBody>
      </p:sp>
      <p:graphicFrame>
        <p:nvGraphicFramePr>
          <p:cNvPr id="56331" name="Object 11"/>
          <p:cNvGraphicFramePr/>
          <p:nvPr/>
        </p:nvGraphicFramePr>
        <p:xfrm>
          <a:off x="1540828" y="3129121"/>
          <a:ext cx="6008370" cy="944245"/>
        </p:xfrm>
        <a:graphic>
          <a:graphicData uri="http://schemas.openxmlformats.org/presentationml/2006/ole">
            <mc:AlternateContent xmlns:mc="http://schemas.openxmlformats.org/markup-compatibility/2006">
              <mc:Choice xmlns:v="urn:schemas-microsoft-com:vml" Requires="v">
                <p:oleObj spid="_x0000_s3196" name="" r:id="rId3" imgW="2501900" imgH="393700" progId="Equation.3">
                  <p:embed/>
                </p:oleObj>
              </mc:Choice>
              <mc:Fallback>
                <p:oleObj name="" r:id="rId3" imgW="2501900" imgH="393700" progId="Equation.3">
                  <p:embed/>
                  <p:pic>
                    <p:nvPicPr>
                      <p:cNvPr id="0" name="图片 3195"/>
                      <p:cNvPicPr/>
                      <p:nvPr/>
                    </p:nvPicPr>
                    <p:blipFill>
                      <a:blip r:embed="rId4"/>
                      <a:stretch>
                        <a:fillRect/>
                      </a:stretch>
                    </p:blipFill>
                    <p:spPr>
                      <a:xfrm>
                        <a:off x="1540828" y="3129121"/>
                        <a:ext cx="6008370" cy="944245"/>
                      </a:xfrm>
                      <a:prstGeom prst="rect">
                        <a:avLst/>
                      </a:prstGeom>
                      <a:gradFill rotWithShape="0">
                        <a:gsLst>
                          <a:gs pos="0">
                            <a:schemeClr val="accent1"/>
                          </a:gs>
                          <a:gs pos="50000">
                            <a:srgbClr val="FFFFFF"/>
                          </a:gs>
                          <a:gs pos="100000">
                            <a:schemeClr val="accent1"/>
                          </a:gs>
                        </a:gsLst>
                        <a:lin ang="5400000" scaled="1"/>
                        <a:tileRect/>
                      </a:gra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8073"/>
                                        </p:tgtEl>
                                        <p:attrNameLst>
                                          <p:attrName>style.visibility</p:attrName>
                                        </p:attrNameLst>
                                      </p:cBhvr>
                                      <p:to>
                                        <p:strVal val="visible"/>
                                      </p:to>
                                    </p:set>
                                    <p:animEffect transition="in" filter="checkerboard(across)">
                                      <p:cBhvr>
                                        <p:cTn id="7" dur="500"/>
                                        <p:tgtEl>
                                          <p:spTgt spid="8807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6331"/>
                                        </p:tgtEl>
                                        <p:attrNameLst>
                                          <p:attrName>style.visibility</p:attrName>
                                        </p:attrNameLst>
                                      </p:cBhvr>
                                      <p:to>
                                        <p:strVal val="visible"/>
                                      </p:to>
                                    </p:set>
                                    <p:animEffect transition="in" filter="dissolve">
                                      <p:cBhvr>
                                        <p:cTn id="12" dur="500"/>
                                        <p:tgtEl>
                                          <p:spTgt spid="5633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heckerboard(across)">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3" grpId="0"/>
      <p:bldP spid="1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6" name="标题 1"/>
          <p:cNvSpPr>
            <a:spLocks noGrp="1"/>
          </p:cNvSpPr>
          <p:nvPr>
            <p:ph type="title"/>
          </p:nvPr>
        </p:nvSpPr>
        <p:spPr>
          <a:ln/>
        </p:spPr>
        <p:txBody>
          <a:bodyPr vert="horz" wrap="square" lIns="91440" tIns="45720" rIns="91440" bIns="45720" anchor="ctr" anchorCtr="0"/>
          <a:p>
            <a:pPr algn="l"/>
            <a:r>
              <a:rPr lang="en-US" altLang="zh-CN" sz="2400" dirty="0">
                <a:latin typeface="Times New Roman" panose="02020603050405020304" pitchFamily="18" charset="0"/>
              </a:rPr>
              <a:t>3.2 </a:t>
            </a:r>
            <a:r>
              <a:rPr lang="zh-CN" altLang="en-US" sz="2400" dirty="0">
                <a:latin typeface="Times New Roman" panose="02020603050405020304" pitchFamily="18" charset="0"/>
              </a:rPr>
              <a:t>数值方法的稳定性</a:t>
            </a:r>
            <a:endParaRPr lang="zh-CN" altLang="en-US" sz="2400" dirty="0">
              <a:latin typeface="Times New Roman" panose="02020603050405020304" pitchFamily="18" charset="0"/>
              <a:ea typeface="Times New Roman" panose="02020603050405020304" pitchFamily="18" charset="0"/>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278"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pSp>
        <p:nvGrpSpPr>
          <p:cNvPr id="4" name="组合 11"/>
          <p:cNvGrpSpPr/>
          <p:nvPr/>
        </p:nvGrpSpPr>
        <p:grpSpPr>
          <a:xfrm>
            <a:off x="423863" y="1009650"/>
            <a:ext cx="7724775" cy="2122329"/>
            <a:chOff x="596348" y="1208754"/>
            <a:chExt cx="7726017" cy="2121877"/>
          </a:xfrm>
        </p:grpSpPr>
        <p:sp>
          <p:nvSpPr>
            <p:cNvPr id="54283" name="矩形 9"/>
            <p:cNvSpPr/>
            <p:nvPr/>
          </p:nvSpPr>
          <p:spPr>
            <a:xfrm>
              <a:off x="596348" y="1208754"/>
              <a:ext cx="7726017" cy="2060771"/>
            </a:xfrm>
            <a:prstGeom prst="rect">
              <a:avLst/>
            </a:prstGeom>
            <a:noFill/>
            <a:ln w="9525">
              <a:noFill/>
            </a:ln>
          </p:spPr>
          <p:txBody>
            <a:bodyPr>
              <a:spAutoFit/>
            </a:bodyPr>
            <a:p>
              <a:pPr eaLnBrk="0" hangingPunct="0"/>
              <a:r>
                <a:rPr lang="en-US" altLang="zh-CN" dirty="0">
                  <a:latin typeface="Times New Roman" panose="02020603050405020304" pitchFamily="18" charset="0"/>
                </a:rPr>
                <a:t>	</a:t>
              </a:r>
              <a:r>
                <a:rPr lang="zh-CN" altLang="en-US" dirty="0">
                  <a:latin typeface="Times New Roman" panose="02020603050405020304" pitchFamily="18" charset="0"/>
                </a:rPr>
                <a:t>对初值问题</a:t>
              </a:r>
              <a:r>
                <a:rPr lang="en-US" altLang="zh-CN" dirty="0">
                  <a:latin typeface="Times New Roman" panose="02020603050405020304" pitchFamily="18" charset="0"/>
                </a:rPr>
                <a:t>(9.3.2)</a:t>
              </a:r>
              <a:r>
                <a:rPr lang="zh-CN" altLang="en-US" dirty="0">
                  <a:latin typeface="Times New Roman" panose="02020603050405020304" pitchFamily="18" charset="0"/>
                </a:rPr>
                <a:t>，由于数值稳定性问题比较复杂，通常仅就如下检验方程（也称模型或试验方程）进行讨论</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eaLnBrk="0" hangingPunct="0"/>
              <a:endParaRPr lang="en-US" altLang="zh-CN" dirty="0">
                <a:latin typeface="Times New Roman" panose="02020603050405020304" pitchFamily="18" charset="0"/>
              </a:endParaRPr>
            </a:p>
          </p:txBody>
        </p:sp>
        <p:graphicFrame>
          <p:nvGraphicFramePr>
            <p:cNvPr id="54275" name="Object 3"/>
            <p:cNvGraphicFramePr/>
            <p:nvPr/>
          </p:nvGraphicFramePr>
          <p:xfrm>
            <a:off x="3866965" y="2818295"/>
            <a:ext cx="4072910" cy="512336"/>
          </p:xfrm>
          <a:graphic>
            <a:graphicData uri="http://schemas.openxmlformats.org/presentationml/2006/ole">
              <mc:AlternateContent xmlns:mc="http://schemas.openxmlformats.org/markup-compatibility/2006">
                <mc:Choice xmlns:v="urn:schemas-microsoft-com:vml" Requires="v">
                  <p:oleObj spid="_x0000_s3195" name="" r:id="rId1" imgW="1625600" imgH="203200" progId="Equation.3">
                    <p:embed/>
                  </p:oleObj>
                </mc:Choice>
                <mc:Fallback>
                  <p:oleObj name="" r:id="rId1" imgW="1625600" imgH="203200" progId="Equation.3">
                    <p:embed/>
                    <p:pic>
                      <p:nvPicPr>
                        <p:cNvPr id="0" name="图片 3194"/>
                        <p:cNvPicPr/>
                        <p:nvPr/>
                      </p:nvPicPr>
                      <p:blipFill>
                        <a:blip r:embed="rId2"/>
                        <a:stretch>
                          <a:fillRect/>
                        </a:stretch>
                      </p:blipFill>
                      <p:spPr>
                        <a:xfrm>
                          <a:off x="3866965" y="2818295"/>
                          <a:ext cx="4072910" cy="512336"/>
                        </a:xfrm>
                        <a:prstGeom prst="rect">
                          <a:avLst/>
                        </a:prstGeom>
                        <a:noFill/>
                        <a:ln w="38100">
                          <a:noFill/>
                          <a:miter/>
                        </a:ln>
                      </p:spPr>
                    </p:pic>
                  </p:oleObj>
                </mc:Fallback>
              </mc:AlternateContent>
            </a:graphicData>
          </a:graphic>
        </p:graphicFrame>
      </p:grpSp>
      <p:sp>
        <p:nvSpPr>
          <p:cNvPr id="12" name="矩形 11"/>
          <p:cNvSpPr/>
          <p:nvPr/>
        </p:nvSpPr>
        <p:spPr>
          <a:xfrm>
            <a:off x="490538" y="3082925"/>
            <a:ext cx="7964487" cy="1077913"/>
          </a:xfrm>
          <a:prstGeom prst="rect">
            <a:avLst/>
          </a:prstGeom>
          <a:noFill/>
          <a:ln w="9525">
            <a:noFill/>
          </a:ln>
        </p:spPr>
        <p:txBody>
          <a:bodyPr>
            <a:spAutoFit/>
          </a:bodyPr>
          <a:p>
            <a:pPr eaLnBrk="0" hangingPunct="0"/>
            <a:r>
              <a:rPr lang="zh-CN" altLang="en-US" dirty="0">
                <a:latin typeface="Times New Roman" panose="02020603050405020304" pitchFamily="18" charset="0"/>
              </a:rPr>
              <a:t>其中</a:t>
            </a:r>
            <a:r>
              <a:rPr lang="zh-CN" altLang="en-US" i="1"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&lt; 0 (</a:t>
            </a:r>
            <a:r>
              <a:rPr lang="zh-CN" altLang="en-US" dirty="0">
                <a:latin typeface="Times New Roman" panose="02020603050405020304" pitchFamily="18" charset="0"/>
                <a:sym typeface="Symbol" panose="05050102010706020507" pitchFamily="18" charset="2"/>
              </a:rPr>
              <a:t>或 </a:t>
            </a:r>
            <a:r>
              <a:rPr lang="zh-CN" altLang="en-US" i="1"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sym typeface="Symbol" panose="05050102010706020507" pitchFamily="18" charset="2"/>
              </a:rPr>
              <a:t>的实部小于</a:t>
            </a:r>
            <a:r>
              <a:rPr lang="en-US" altLang="zh-CN" dirty="0">
                <a:latin typeface="Times New Roman" panose="02020603050405020304" pitchFamily="18" charset="0"/>
                <a:sym typeface="Symbol" panose="05050102010706020507" pitchFamily="18" charset="2"/>
              </a:rPr>
              <a:t>0)</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eaLnBrk="0" hangingPunct="0"/>
            <a:r>
              <a:rPr lang="zh-CN" altLang="en-US" i="1"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&lt; 0</a:t>
            </a:r>
            <a:r>
              <a:rPr lang="zh-CN" altLang="en-US" dirty="0">
                <a:latin typeface="Times New Roman" panose="02020603050405020304" pitchFamily="18" charset="0"/>
              </a:rPr>
              <a:t>这是初值问题本身稳定性的要求。</a:t>
            </a:r>
            <a:endParaRPr lang="en-US" altLang="zh-CN" dirty="0">
              <a:latin typeface="Times New Roman" panose="02020603050405020304" pitchFamily="18" charset="0"/>
            </a:endParaRPr>
          </a:p>
        </p:txBody>
      </p:sp>
      <p:sp>
        <p:nvSpPr>
          <p:cNvPr id="9" name="矩形 8"/>
          <p:cNvSpPr/>
          <p:nvPr/>
        </p:nvSpPr>
        <p:spPr>
          <a:xfrm>
            <a:off x="463550" y="4130675"/>
            <a:ext cx="7699375" cy="583565"/>
          </a:xfrm>
          <a:prstGeom prst="rect">
            <a:avLst/>
          </a:prstGeom>
          <a:noFill/>
          <a:ln w="9525">
            <a:noFill/>
          </a:ln>
        </p:spPr>
        <p:txBody>
          <a:bodyPr>
            <a:spAutoFit/>
          </a:bodyPr>
          <a:p>
            <a:pPr eaLnBrk="0" hangingPunct="0"/>
            <a:r>
              <a:rPr lang="en-US" altLang="zh-CN" dirty="0">
                <a:latin typeface="Times New Roman" panose="02020603050405020304" pitchFamily="18" charset="0"/>
              </a:rPr>
              <a:t>	</a:t>
            </a:r>
            <a:r>
              <a:rPr lang="zh-CN" altLang="en-US" dirty="0">
                <a:latin typeface="Times New Roman" panose="02020603050405020304" pitchFamily="18" charset="0"/>
              </a:rPr>
              <a:t>下面研究用显式单步法 </a:t>
            </a:r>
            <a:r>
              <a:rPr lang="en-US" altLang="zh-CN" dirty="0">
                <a:latin typeface="Times New Roman" panose="02020603050405020304" pitchFamily="18" charset="0"/>
              </a:rPr>
              <a:t>(9.3.1)</a:t>
            </a:r>
            <a:endParaRPr lang="en-US" altLang="zh-CN" dirty="0">
              <a:latin typeface="Times New Roman" panose="02020603050405020304" pitchFamily="18" charset="0"/>
            </a:endParaRPr>
          </a:p>
        </p:txBody>
      </p:sp>
      <p:graphicFrame>
        <p:nvGraphicFramePr>
          <p:cNvPr id="2" name="Object 20"/>
          <p:cNvGraphicFramePr/>
          <p:nvPr/>
        </p:nvGraphicFramePr>
        <p:xfrm>
          <a:off x="1712595" y="4754563"/>
          <a:ext cx="6207760" cy="603250"/>
        </p:xfrm>
        <a:graphic>
          <a:graphicData uri="http://schemas.openxmlformats.org/presentationml/2006/ole">
            <mc:AlternateContent xmlns:mc="http://schemas.openxmlformats.org/markup-compatibility/2006">
              <mc:Choice xmlns:v="urn:schemas-microsoft-com:vml" Requires="v">
                <p:oleObj spid="_x0000_s3197" name="" r:id="rId3" imgW="2489200" imgH="241300" progId="Equation.3">
                  <p:embed/>
                </p:oleObj>
              </mc:Choice>
              <mc:Fallback>
                <p:oleObj name="" r:id="rId3" imgW="2489200" imgH="241300" progId="Equation.3">
                  <p:embed/>
                  <p:pic>
                    <p:nvPicPr>
                      <p:cNvPr id="0" name="图片 3196"/>
                      <p:cNvPicPr/>
                      <p:nvPr/>
                    </p:nvPicPr>
                    <p:blipFill>
                      <a:blip r:embed="rId4"/>
                      <a:stretch>
                        <a:fillRect/>
                      </a:stretch>
                    </p:blipFill>
                    <p:spPr>
                      <a:xfrm>
                        <a:off x="1712595" y="4754563"/>
                        <a:ext cx="6207760" cy="603250"/>
                      </a:xfrm>
                      <a:prstGeom prst="rect">
                        <a:avLst/>
                      </a:prstGeom>
                      <a:noFill/>
                      <a:ln w="38100">
                        <a:noFill/>
                        <a:miter/>
                      </a:ln>
                    </p:spPr>
                  </p:pic>
                </p:oleObj>
              </mc:Fallback>
            </mc:AlternateContent>
          </a:graphicData>
        </a:graphic>
      </p:graphicFrame>
      <p:sp>
        <p:nvSpPr>
          <p:cNvPr id="11" name="矩形 10"/>
          <p:cNvSpPr/>
          <p:nvPr/>
        </p:nvSpPr>
        <p:spPr>
          <a:xfrm>
            <a:off x="463550" y="5367338"/>
            <a:ext cx="7845425" cy="583565"/>
          </a:xfrm>
          <a:prstGeom prst="rect">
            <a:avLst/>
          </a:prstGeom>
          <a:noFill/>
          <a:ln w="9525">
            <a:noFill/>
          </a:ln>
        </p:spPr>
        <p:txBody>
          <a:bodyPr>
            <a:spAutoFit/>
          </a:bodyPr>
          <a:p>
            <a:pPr eaLnBrk="0" hangingPunct="0"/>
            <a:r>
              <a:rPr lang="zh-CN" altLang="en-US" dirty="0">
                <a:latin typeface="Times New Roman" panose="02020603050405020304" pitchFamily="18" charset="0"/>
              </a:rPr>
              <a:t>求解</a:t>
            </a:r>
            <a:r>
              <a:rPr lang="en-US" altLang="zh-CN" dirty="0">
                <a:latin typeface="Times New Roman" panose="02020603050405020304" pitchFamily="18" charset="0"/>
              </a:rPr>
              <a:t>(9.3.3)</a:t>
            </a:r>
            <a:r>
              <a:rPr lang="zh-CN" altLang="en-US" dirty="0">
                <a:latin typeface="Times New Roman" panose="02020603050405020304" pitchFamily="18" charset="0"/>
              </a:rPr>
              <a:t>数值解的绝对稳定性。</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xEl>
                                              <p:charRg st="0" end="22"/>
                                            </p:txEl>
                                          </p:spTgt>
                                        </p:tgtEl>
                                        <p:attrNameLst>
                                          <p:attrName>style.visibility</p:attrName>
                                        </p:attrNameLst>
                                      </p:cBhvr>
                                      <p:to>
                                        <p:strVal val="visible"/>
                                      </p:to>
                                    </p:set>
                                    <p:animEffect transition="in" filter="checkerboard(across)">
                                      <p:cBhvr>
                                        <p:cTn id="12" dur="500"/>
                                        <p:tgtEl>
                                          <p:spTgt spid="12">
                                            <p:txEl>
                                              <p:charRg st="0" end="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
                                            <p:txEl>
                                              <p:charRg st="22" end="43"/>
                                            </p:txEl>
                                          </p:spTgt>
                                        </p:tgtEl>
                                        <p:attrNameLst>
                                          <p:attrName>style.visibility</p:attrName>
                                        </p:attrNameLst>
                                      </p:cBhvr>
                                      <p:to>
                                        <p:strVal val="visible"/>
                                      </p:to>
                                    </p:set>
                                    <p:animEffect transition="in" filter="checkerboard(across)">
                                      <p:cBhvr>
                                        <p:cTn id="17" dur="500"/>
                                        <p:tgtEl>
                                          <p:spTgt spid="12">
                                            <p:txEl>
                                              <p:charRg st="22" end="4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strips(downRigh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9" grpId="0"/>
      <p:bldP spid="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303" name="标题 1"/>
          <p:cNvSpPr>
            <a:spLocks noGrp="1"/>
          </p:cNvSpPr>
          <p:nvPr>
            <p:ph type="title"/>
          </p:nvPr>
        </p:nvSpPr>
        <p:spPr>
          <a:xfrm>
            <a:off x="533400" y="331788"/>
            <a:ext cx="7772400" cy="927100"/>
          </a:xfrm>
          <a:ln/>
        </p:spPr>
        <p:txBody>
          <a:bodyPr vert="horz" wrap="square" lIns="91440" tIns="45720" rIns="91440" bIns="45720" anchor="ctr" anchorCtr="0"/>
          <a:p>
            <a:pPr algn="l"/>
            <a:r>
              <a:rPr lang="zh-CN" altLang="en-US" b="1" u="none" dirty="0">
                <a:solidFill>
                  <a:schemeClr val="tx1"/>
                </a:solidFill>
              </a:rPr>
              <a:t>单步法数值绝对稳定性分析的一般步骤</a:t>
            </a:r>
            <a:endParaRPr lang="zh-CN" altLang="en-US" b="1" dirty="0">
              <a:solidFill>
                <a:schemeClr val="tx1"/>
              </a:solidFill>
            </a:endParaRPr>
          </a:p>
        </p:txBody>
      </p:sp>
      <p:sp>
        <p:nvSpPr>
          <p:cNvPr id="4"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305"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90122" name="矩形 5"/>
          <p:cNvSpPr/>
          <p:nvPr/>
        </p:nvSpPr>
        <p:spPr>
          <a:xfrm>
            <a:off x="496888" y="3503613"/>
            <a:ext cx="8143875" cy="1077912"/>
          </a:xfrm>
          <a:prstGeom prst="rect">
            <a:avLst/>
          </a:prstGeom>
          <a:noFill/>
          <a:ln w="9525">
            <a:noFill/>
          </a:ln>
        </p:spPr>
        <p:txBody>
          <a:bodyPr>
            <a:spAutoFit/>
          </a:bodyPr>
          <a:p>
            <a:pPr eaLnBrk="0" hangingPunct="0"/>
            <a:r>
              <a:rPr lang="en-US" altLang="zh-CN" i="1" dirty="0">
                <a:latin typeface="Times New Roman" panose="02020603050405020304" pitchFamily="18" charset="0"/>
              </a:rPr>
              <a:t>s</a:t>
            </a:r>
            <a:r>
              <a:rPr lang="en-US" altLang="zh-CN" dirty="0">
                <a:latin typeface="Times New Roman" panose="02020603050405020304" pitchFamily="18" charset="0"/>
              </a:rPr>
              <a:t>(</a:t>
            </a:r>
            <a:r>
              <a:rPr lang="en-US" altLang="zh-CN" i="1" dirty="0">
                <a:latin typeface="Times New Roman" panose="02020603050405020304" pitchFamily="18" charset="0"/>
              </a:rPr>
              <a:t>u</a:t>
            </a:r>
            <a:r>
              <a:rPr lang="en-US" altLang="zh-CN" dirty="0">
                <a:latin typeface="Times New Roman" panose="02020603050405020304" pitchFamily="18" charset="0"/>
              </a:rPr>
              <a:t>)</a:t>
            </a:r>
            <a:r>
              <a:rPr lang="zh-CN" altLang="en-US" dirty="0">
                <a:latin typeface="Times New Roman" panose="02020603050405020304" pitchFamily="18" charset="0"/>
              </a:rPr>
              <a:t>是</a:t>
            </a:r>
            <a:r>
              <a:rPr lang="en-US" altLang="zh-CN" i="1" dirty="0">
                <a:latin typeface="Times New Roman" panose="02020603050405020304" pitchFamily="18" charset="0"/>
              </a:rPr>
              <a:t>u</a:t>
            </a:r>
            <a:r>
              <a:rPr lang="zh-CN" altLang="en-US" dirty="0">
                <a:latin typeface="Times New Roman" panose="02020603050405020304" pitchFamily="18" charset="0"/>
              </a:rPr>
              <a:t>的函数。由于在节点</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zh-CN" altLang="en-US" dirty="0">
                <a:latin typeface="Times New Roman" panose="02020603050405020304" pitchFamily="18" charset="0"/>
              </a:rPr>
              <a:t>处数值解</a:t>
            </a:r>
            <a:r>
              <a:rPr lang="en-US" altLang="zh-CN" i="1" dirty="0">
                <a:latin typeface="Times New Roman" panose="02020603050405020304" pitchFamily="18" charset="0"/>
              </a:rPr>
              <a:t>y</a:t>
            </a:r>
            <a:r>
              <a:rPr lang="en-US" altLang="zh-CN" i="1" baseline="-25000" dirty="0">
                <a:latin typeface="Times New Roman" panose="02020603050405020304" pitchFamily="18" charset="0"/>
              </a:rPr>
              <a:t>n</a:t>
            </a:r>
            <a:r>
              <a:rPr lang="zh-CN" altLang="en-US" dirty="0">
                <a:latin typeface="Times New Roman" panose="02020603050405020304" pitchFamily="18" charset="0"/>
              </a:rPr>
              <a:t>有扰动，则实际计算的解为</a:t>
            </a:r>
            <a:endParaRPr lang="zh-CN" altLang="en-US" dirty="0">
              <a:latin typeface="Times New Roman" panose="02020603050405020304" pitchFamily="18" charset="0"/>
            </a:endParaRPr>
          </a:p>
        </p:txBody>
      </p:sp>
      <p:graphicFrame>
        <p:nvGraphicFramePr>
          <p:cNvPr id="89108" name="Object 20"/>
          <p:cNvGraphicFramePr/>
          <p:nvPr/>
        </p:nvGraphicFramePr>
        <p:xfrm>
          <a:off x="1580833" y="1614488"/>
          <a:ext cx="6207760" cy="603250"/>
        </p:xfrm>
        <a:graphic>
          <a:graphicData uri="http://schemas.openxmlformats.org/presentationml/2006/ole">
            <mc:AlternateContent xmlns:mc="http://schemas.openxmlformats.org/markup-compatibility/2006">
              <mc:Choice xmlns:v="urn:schemas-microsoft-com:vml" Requires="v">
                <p:oleObj spid="_x0000_s3224" name="" r:id="rId1" imgW="2489200" imgH="241300" progId="Equation.3">
                  <p:embed/>
                </p:oleObj>
              </mc:Choice>
              <mc:Fallback>
                <p:oleObj name="" r:id="rId1" imgW="2489200" imgH="241300" progId="Equation.3">
                  <p:embed/>
                  <p:pic>
                    <p:nvPicPr>
                      <p:cNvPr id="0" name="图片 3223"/>
                      <p:cNvPicPr/>
                      <p:nvPr/>
                    </p:nvPicPr>
                    <p:blipFill>
                      <a:blip r:embed="rId2"/>
                      <a:stretch>
                        <a:fillRect/>
                      </a:stretch>
                    </p:blipFill>
                    <p:spPr>
                      <a:xfrm>
                        <a:off x="1580833" y="1614488"/>
                        <a:ext cx="6207760" cy="603250"/>
                      </a:xfrm>
                      <a:prstGeom prst="rect">
                        <a:avLst/>
                      </a:prstGeom>
                      <a:noFill/>
                      <a:ln w="38100">
                        <a:noFill/>
                        <a:miter/>
                      </a:ln>
                    </p:spPr>
                  </p:pic>
                </p:oleObj>
              </mc:Fallback>
            </mc:AlternateContent>
          </a:graphicData>
        </a:graphic>
      </p:graphicFrame>
      <p:sp>
        <p:nvSpPr>
          <p:cNvPr id="8" name="矩形 7"/>
          <p:cNvSpPr/>
          <p:nvPr/>
        </p:nvSpPr>
        <p:spPr>
          <a:xfrm>
            <a:off x="569913" y="1109663"/>
            <a:ext cx="7699375" cy="583565"/>
          </a:xfrm>
          <a:prstGeom prst="rect">
            <a:avLst/>
          </a:prstGeom>
          <a:noFill/>
          <a:ln w="9525">
            <a:noFill/>
          </a:ln>
        </p:spPr>
        <p:txBody>
          <a:bodyPr>
            <a:spAutoFit/>
          </a:bodyPr>
          <a:p>
            <a:pPr eaLnBrk="0" hangingPunct="0"/>
            <a:r>
              <a:rPr lang="en-US" altLang="zh-CN" dirty="0">
                <a:latin typeface="Times New Roman" panose="02020603050405020304" pitchFamily="18" charset="0"/>
              </a:rPr>
              <a:t>	</a:t>
            </a:r>
            <a:r>
              <a:rPr lang="zh-CN" altLang="en-US" dirty="0">
                <a:latin typeface="Times New Roman" panose="02020603050405020304" pitchFamily="18" charset="0"/>
              </a:rPr>
              <a:t>用显式单步法 </a:t>
            </a:r>
            <a:r>
              <a:rPr lang="en-US" altLang="zh-CN" dirty="0">
                <a:latin typeface="Times New Roman" panose="02020603050405020304" pitchFamily="18" charset="0"/>
              </a:rPr>
              <a:t>(9.3.1)</a:t>
            </a:r>
            <a:endParaRPr lang="en-US" altLang="zh-CN" dirty="0">
              <a:latin typeface="Times New Roman" panose="02020603050405020304" pitchFamily="18" charset="0"/>
            </a:endParaRPr>
          </a:p>
        </p:txBody>
      </p:sp>
      <p:sp>
        <p:nvSpPr>
          <p:cNvPr id="9" name="矩形 8"/>
          <p:cNvSpPr/>
          <p:nvPr/>
        </p:nvSpPr>
        <p:spPr>
          <a:xfrm>
            <a:off x="463550" y="2187575"/>
            <a:ext cx="7845425" cy="583565"/>
          </a:xfrm>
          <a:prstGeom prst="rect">
            <a:avLst/>
          </a:prstGeom>
          <a:noFill/>
          <a:ln w="9525">
            <a:noFill/>
          </a:ln>
        </p:spPr>
        <p:txBody>
          <a:bodyPr>
            <a:spAutoFit/>
          </a:bodyPr>
          <a:p>
            <a:pPr eaLnBrk="0" hangingPunct="0"/>
            <a:r>
              <a:rPr lang="zh-CN" altLang="en-US" dirty="0">
                <a:latin typeface="Times New Roman" panose="02020603050405020304" pitchFamily="18" charset="0"/>
              </a:rPr>
              <a:t>求解</a:t>
            </a:r>
            <a:r>
              <a:rPr lang="en-US" altLang="zh-CN" dirty="0">
                <a:latin typeface="Times New Roman" panose="02020603050405020304" pitchFamily="18" charset="0"/>
              </a:rPr>
              <a:t>(9.3.3)</a:t>
            </a:r>
            <a:r>
              <a:rPr lang="zh-CN" altLang="en-US" dirty="0">
                <a:latin typeface="Times New Roman" panose="02020603050405020304" pitchFamily="18" charset="0"/>
              </a:rPr>
              <a:t>，即</a:t>
            </a:r>
            <a:endParaRPr lang="zh-CN" altLang="en-US" dirty="0">
              <a:latin typeface="Times New Roman" panose="02020603050405020304" pitchFamily="18" charset="0"/>
            </a:endParaRPr>
          </a:p>
        </p:txBody>
      </p:sp>
      <p:graphicFrame>
        <p:nvGraphicFramePr>
          <p:cNvPr id="10" name="Object 3"/>
          <p:cNvGraphicFramePr/>
          <p:nvPr/>
        </p:nvGraphicFramePr>
        <p:xfrm>
          <a:off x="3348038" y="2235200"/>
          <a:ext cx="2667000" cy="512763"/>
        </p:xfrm>
        <a:graphic>
          <a:graphicData uri="http://schemas.openxmlformats.org/presentationml/2006/ole">
            <mc:AlternateContent xmlns:mc="http://schemas.openxmlformats.org/markup-compatibility/2006">
              <mc:Choice xmlns:v="urn:schemas-microsoft-com:vml" Requires="v">
                <p:oleObj spid="_x0000_s3223" name="" r:id="rId3" imgW="1066165" imgH="203200" progId="Equation.3">
                  <p:embed/>
                </p:oleObj>
              </mc:Choice>
              <mc:Fallback>
                <p:oleObj name="" r:id="rId3" imgW="1066165" imgH="203200" progId="Equation.3">
                  <p:embed/>
                  <p:pic>
                    <p:nvPicPr>
                      <p:cNvPr id="0" name="图片 3222"/>
                      <p:cNvPicPr/>
                      <p:nvPr/>
                    </p:nvPicPr>
                    <p:blipFill>
                      <a:blip r:embed="rId4"/>
                      <a:stretch>
                        <a:fillRect/>
                      </a:stretch>
                    </p:blipFill>
                    <p:spPr>
                      <a:xfrm>
                        <a:off x="3348038" y="2235200"/>
                        <a:ext cx="2667000" cy="512763"/>
                      </a:xfrm>
                      <a:prstGeom prst="rect">
                        <a:avLst/>
                      </a:prstGeom>
                      <a:noFill/>
                      <a:ln w="38100">
                        <a:noFill/>
                        <a:miter/>
                      </a:ln>
                    </p:spPr>
                  </p:pic>
                </p:oleObj>
              </mc:Fallback>
            </mc:AlternateContent>
          </a:graphicData>
        </a:graphic>
      </p:graphicFrame>
      <p:sp>
        <p:nvSpPr>
          <p:cNvPr id="90125" name="矩形 10"/>
          <p:cNvSpPr/>
          <p:nvPr/>
        </p:nvSpPr>
        <p:spPr>
          <a:xfrm>
            <a:off x="473075" y="2859088"/>
            <a:ext cx="3878263" cy="584200"/>
          </a:xfrm>
          <a:prstGeom prst="rect">
            <a:avLst/>
          </a:prstGeom>
          <a:noFill/>
          <a:ln w="9525">
            <a:noFill/>
          </a:ln>
        </p:spPr>
        <p:txBody>
          <a:bodyPr wrap="none">
            <a:spAutoFit/>
          </a:bodyPr>
          <a:p>
            <a:pPr eaLnBrk="0" hangingPunct="0"/>
            <a:r>
              <a:rPr lang="zh-CN" altLang="en-US" dirty="0">
                <a:latin typeface="Times New Roman" panose="02020603050405020304" pitchFamily="18" charset="0"/>
              </a:rPr>
              <a:t>可得到如下计算格式</a:t>
            </a:r>
            <a:endParaRPr lang="zh-CN" altLang="en-US" dirty="0">
              <a:latin typeface="Times New Roman" panose="02020603050405020304" pitchFamily="18" charset="0"/>
            </a:endParaRPr>
          </a:p>
        </p:txBody>
      </p:sp>
      <p:graphicFrame>
        <p:nvGraphicFramePr>
          <p:cNvPr id="2" name="Object 8"/>
          <p:cNvGraphicFramePr/>
          <p:nvPr/>
        </p:nvGraphicFramePr>
        <p:xfrm>
          <a:off x="4460875" y="2879725"/>
          <a:ext cx="4083050" cy="571500"/>
        </p:xfrm>
        <a:graphic>
          <a:graphicData uri="http://schemas.openxmlformats.org/presentationml/2006/ole">
            <mc:AlternateContent xmlns:mc="http://schemas.openxmlformats.org/markup-compatibility/2006">
              <mc:Choice xmlns:v="urn:schemas-microsoft-com:vml" Requires="v">
                <p:oleObj spid="_x0000_s3221" name="" r:id="rId5" imgW="1638300" imgH="228600" progId="Equation.3">
                  <p:embed/>
                </p:oleObj>
              </mc:Choice>
              <mc:Fallback>
                <p:oleObj name="" r:id="rId5" imgW="1638300" imgH="228600" progId="Equation.3">
                  <p:embed/>
                  <p:pic>
                    <p:nvPicPr>
                      <p:cNvPr id="0" name="图片 3220"/>
                      <p:cNvPicPr/>
                      <p:nvPr/>
                    </p:nvPicPr>
                    <p:blipFill>
                      <a:blip r:embed="rId6"/>
                      <a:stretch>
                        <a:fillRect/>
                      </a:stretch>
                    </p:blipFill>
                    <p:spPr>
                      <a:xfrm>
                        <a:off x="4460875" y="2879725"/>
                        <a:ext cx="4083050" cy="571500"/>
                      </a:xfrm>
                      <a:prstGeom prst="rect">
                        <a:avLst/>
                      </a:prstGeom>
                      <a:noFill/>
                      <a:ln w="38100">
                        <a:noFill/>
                        <a:miter/>
                      </a:ln>
                    </p:spPr>
                  </p:pic>
                </p:oleObj>
              </mc:Fallback>
            </mc:AlternateContent>
          </a:graphicData>
        </a:graphic>
      </p:graphicFrame>
      <p:sp>
        <p:nvSpPr>
          <p:cNvPr id="90126" name="矩形 12"/>
          <p:cNvSpPr/>
          <p:nvPr/>
        </p:nvSpPr>
        <p:spPr>
          <a:xfrm>
            <a:off x="530225" y="5411788"/>
            <a:ext cx="7991475" cy="1077912"/>
          </a:xfrm>
          <a:prstGeom prst="rect">
            <a:avLst/>
          </a:prstGeom>
          <a:noFill/>
          <a:ln w="9525">
            <a:noFill/>
          </a:ln>
        </p:spPr>
        <p:txBody>
          <a:bodyPr>
            <a:spAutoFit/>
          </a:bodyPr>
          <a:p>
            <a:pPr eaLnBrk="0" hangingPunct="0"/>
            <a:r>
              <a:rPr lang="zh-CN" altLang="en-US" dirty="0">
                <a:latin typeface="Times New Roman" panose="02020603050405020304" pitchFamily="18" charset="0"/>
              </a:rPr>
              <a:t>所以，当</a:t>
            </a:r>
            <a:r>
              <a:rPr lang="el-GR" altLang="zh-CN" b="1" dirty="0">
                <a:latin typeface="Times New Roman" panose="02020603050405020304" pitchFamily="18" charset="0"/>
              </a:rPr>
              <a:t>|</a:t>
            </a:r>
            <a:r>
              <a:rPr lang="en-US" altLang="zh-CN" b="1" i="1" dirty="0">
                <a:latin typeface="Times New Roman" panose="02020603050405020304" pitchFamily="18" charset="0"/>
              </a:rPr>
              <a:t>s</a:t>
            </a:r>
            <a:r>
              <a:rPr lang="en-US" altLang="zh-CN" b="1" dirty="0">
                <a:latin typeface="Times New Roman" panose="02020603050405020304" pitchFamily="18" charset="0"/>
              </a:rPr>
              <a:t>(</a:t>
            </a:r>
            <a:r>
              <a:rPr lang="en-US" altLang="zh-CN" b="1" i="1" dirty="0">
                <a:latin typeface="Times New Roman" panose="02020603050405020304" pitchFamily="18" charset="0"/>
              </a:rPr>
              <a:t>u</a:t>
            </a:r>
            <a:r>
              <a:rPr lang="en-US" altLang="zh-CN" b="1" dirty="0">
                <a:latin typeface="Times New Roman" panose="02020603050405020304" pitchFamily="18" charset="0"/>
              </a:rPr>
              <a:t>)</a:t>
            </a:r>
            <a:r>
              <a:rPr lang="en-US" altLang="zh-CN" b="1" i="1" dirty="0">
                <a:latin typeface="Times New Roman" panose="02020603050405020304" pitchFamily="18" charset="0"/>
              </a:rPr>
              <a:t>|&lt;</a:t>
            </a:r>
            <a:r>
              <a:rPr lang="en-US" altLang="zh-CN" b="1" dirty="0">
                <a:latin typeface="Times New Roman" panose="02020603050405020304" pitchFamily="18" charset="0"/>
              </a:rPr>
              <a:t>1</a:t>
            </a:r>
            <a:r>
              <a:rPr lang="en-US" altLang="zh-CN" b="1" i="1" dirty="0">
                <a:solidFill>
                  <a:srgbClr val="FF0000"/>
                </a:solidFill>
                <a:latin typeface="Times New Roman" panose="02020603050405020304" pitchFamily="18" charset="0"/>
              </a:rPr>
              <a:t> </a:t>
            </a:r>
            <a:r>
              <a:rPr lang="zh-CN" altLang="en-US" dirty="0">
                <a:latin typeface="Times New Roman" panose="02020603050405020304" pitchFamily="18" charset="0"/>
              </a:rPr>
              <a:t>时，扰动满足 </a:t>
            </a:r>
            <a:r>
              <a:rPr lang="el-GR" altLang="zh-CN" b="1" dirty="0">
                <a:solidFill>
                  <a:srgbClr val="FF0000"/>
                </a:solidFill>
                <a:latin typeface="Times New Roman" panose="02020603050405020304" pitchFamily="18" charset="0"/>
              </a:rPr>
              <a:t>|</a:t>
            </a:r>
            <a:r>
              <a:rPr lang="el-GR" altLang="zh-CN" b="1" i="1" dirty="0">
                <a:solidFill>
                  <a:srgbClr val="FF0000"/>
                </a:solidFill>
                <a:latin typeface="Times New Roman" panose="02020603050405020304" pitchFamily="18" charset="0"/>
              </a:rPr>
              <a:t>δ</a:t>
            </a:r>
            <a:r>
              <a:rPr lang="en-US" altLang="zh-CN" b="1" i="1" baseline="-25000" dirty="0">
                <a:solidFill>
                  <a:srgbClr val="FF0000"/>
                </a:solidFill>
                <a:latin typeface="Times New Roman" panose="02020603050405020304" pitchFamily="18" charset="0"/>
              </a:rPr>
              <a:t>n</a:t>
            </a:r>
            <a:r>
              <a:rPr lang="en-US" altLang="zh-CN" b="1" baseline="-25000" dirty="0">
                <a:solidFill>
                  <a:srgbClr val="FF0000"/>
                </a:solidFill>
                <a:latin typeface="Times New Roman" panose="02020603050405020304" pitchFamily="18" charset="0"/>
              </a:rPr>
              <a:t>+1</a:t>
            </a:r>
            <a:r>
              <a:rPr lang="en-US" altLang="zh-CN" b="1" i="1" dirty="0">
                <a:solidFill>
                  <a:srgbClr val="FF0000"/>
                </a:solidFill>
                <a:latin typeface="Times New Roman" panose="02020603050405020304" pitchFamily="18" charset="0"/>
              </a:rPr>
              <a:t>| ≤ |</a:t>
            </a:r>
            <a:r>
              <a:rPr lang="el-GR" altLang="zh-CN" b="1" i="1" dirty="0">
                <a:solidFill>
                  <a:srgbClr val="FF0000"/>
                </a:solidFill>
                <a:latin typeface="Times New Roman" panose="02020603050405020304" pitchFamily="18" charset="0"/>
              </a:rPr>
              <a:t>δ</a:t>
            </a:r>
            <a:r>
              <a:rPr lang="en-US" altLang="zh-CN" b="1" i="1" baseline="-25000" dirty="0">
                <a:solidFill>
                  <a:srgbClr val="FF0000"/>
                </a:solidFill>
                <a:latin typeface="Times New Roman" panose="02020603050405020304" pitchFamily="18" charset="0"/>
              </a:rPr>
              <a:t>n</a:t>
            </a:r>
            <a:r>
              <a:rPr lang="en-US" altLang="zh-CN" b="1" i="1" dirty="0">
                <a:solidFill>
                  <a:srgbClr val="FF0000"/>
                </a:solidFill>
                <a:latin typeface="Times New Roman" panose="02020603050405020304" pitchFamily="18" charset="0"/>
              </a:rPr>
              <a:t>|</a:t>
            </a:r>
            <a:r>
              <a:rPr lang="zh-CN" altLang="en-US" dirty="0">
                <a:latin typeface="Times New Roman" panose="02020603050405020304" pitchFamily="18" charset="0"/>
              </a:rPr>
              <a:t>，则该数值方法是绝对稳定性。</a:t>
            </a:r>
            <a:endParaRPr lang="zh-CN" altLang="en-US" dirty="0">
              <a:latin typeface="Times New Roman" panose="02020603050405020304" pitchFamily="18" charset="0"/>
            </a:endParaRPr>
          </a:p>
        </p:txBody>
      </p:sp>
      <p:graphicFrame>
        <p:nvGraphicFramePr>
          <p:cNvPr id="3" name="Object 9"/>
          <p:cNvGraphicFramePr/>
          <p:nvPr/>
        </p:nvGraphicFramePr>
        <p:xfrm>
          <a:off x="5111750" y="4010025"/>
          <a:ext cx="2182813" cy="571500"/>
        </p:xfrm>
        <a:graphic>
          <a:graphicData uri="http://schemas.openxmlformats.org/presentationml/2006/ole">
            <mc:AlternateContent xmlns:mc="http://schemas.openxmlformats.org/markup-compatibility/2006">
              <mc:Choice xmlns:v="urn:schemas-microsoft-com:vml" Requires="v">
                <p:oleObj spid="_x0000_s3222" name="" r:id="rId7" imgW="876300" imgH="228600" progId="Equation.3">
                  <p:embed/>
                </p:oleObj>
              </mc:Choice>
              <mc:Fallback>
                <p:oleObj name="" r:id="rId7" imgW="876300" imgH="228600" progId="Equation.3">
                  <p:embed/>
                  <p:pic>
                    <p:nvPicPr>
                      <p:cNvPr id="0" name="图片 3221"/>
                      <p:cNvPicPr/>
                      <p:nvPr/>
                    </p:nvPicPr>
                    <p:blipFill>
                      <a:blip r:embed="rId8"/>
                      <a:stretch>
                        <a:fillRect/>
                      </a:stretch>
                    </p:blipFill>
                    <p:spPr>
                      <a:xfrm>
                        <a:off x="5111750" y="4010025"/>
                        <a:ext cx="2182813" cy="571500"/>
                      </a:xfrm>
                      <a:prstGeom prst="rect">
                        <a:avLst/>
                      </a:prstGeom>
                      <a:noFill/>
                      <a:ln w="38100">
                        <a:noFill/>
                        <a:miter/>
                      </a:ln>
                    </p:spPr>
                  </p:pic>
                </p:oleObj>
              </mc:Fallback>
            </mc:AlternateContent>
          </a:graphicData>
        </a:graphic>
      </p:graphicFrame>
      <p:graphicFrame>
        <p:nvGraphicFramePr>
          <p:cNvPr id="5" name="Object 10"/>
          <p:cNvGraphicFramePr/>
          <p:nvPr/>
        </p:nvGraphicFramePr>
        <p:xfrm>
          <a:off x="4076700" y="4725988"/>
          <a:ext cx="2151063" cy="571500"/>
        </p:xfrm>
        <a:graphic>
          <a:graphicData uri="http://schemas.openxmlformats.org/presentationml/2006/ole">
            <mc:AlternateContent xmlns:mc="http://schemas.openxmlformats.org/markup-compatibility/2006">
              <mc:Choice xmlns:v="urn:schemas-microsoft-com:vml" Requires="v">
                <p:oleObj spid="_x0000_s3220" name="" r:id="rId9" imgW="862965" imgH="228600" progId="Equation.3">
                  <p:embed/>
                </p:oleObj>
              </mc:Choice>
              <mc:Fallback>
                <p:oleObj name="" r:id="rId9" imgW="862965" imgH="228600" progId="Equation.3">
                  <p:embed/>
                  <p:pic>
                    <p:nvPicPr>
                      <p:cNvPr id="0" name="图片 3219"/>
                      <p:cNvPicPr/>
                      <p:nvPr/>
                    </p:nvPicPr>
                    <p:blipFill>
                      <a:blip r:embed="rId10"/>
                      <a:stretch>
                        <a:fillRect/>
                      </a:stretch>
                    </p:blipFill>
                    <p:spPr>
                      <a:xfrm>
                        <a:off x="4076700" y="4725988"/>
                        <a:ext cx="2151063" cy="571500"/>
                      </a:xfrm>
                      <a:prstGeom prst="rect">
                        <a:avLst/>
                      </a:prstGeom>
                      <a:noFill/>
                      <a:ln w="38100">
                        <a:noFill/>
                        <a:miter/>
                      </a:ln>
                    </p:spPr>
                  </p:pic>
                </p:oleObj>
              </mc:Fallback>
            </mc:AlternateContent>
          </a:graphicData>
        </a:graphic>
      </p:graphicFrame>
      <p:sp>
        <p:nvSpPr>
          <p:cNvPr id="90127" name="矩形 15"/>
          <p:cNvSpPr/>
          <p:nvPr/>
        </p:nvSpPr>
        <p:spPr>
          <a:xfrm>
            <a:off x="479425" y="4725988"/>
            <a:ext cx="3467100" cy="584200"/>
          </a:xfrm>
          <a:prstGeom prst="rect">
            <a:avLst/>
          </a:prstGeom>
          <a:noFill/>
          <a:ln w="9525">
            <a:noFill/>
          </a:ln>
        </p:spPr>
        <p:txBody>
          <a:bodyPr wrap="none">
            <a:spAutoFit/>
          </a:bodyPr>
          <a:p>
            <a:pPr eaLnBrk="0" hangingPunct="0"/>
            <a:r>
              <a:rPr lang="zh-CN" altLang="en-US" dirty="0">
                <a:latin typeface="Times New Roman" panose="02020603050405020304" pitchFamily="18" charset="0"/>
              </a:rPr>
              <a:t>得到误差传播方程</a:t>
            </a:r>
            <a:endParaRPr lang="zh-CN" altLang="en-US" dirty="0">
              <a:latin typeface="Times New Roman" panose="02020603050405020304" pitchFamily="18" charset="0"/>
            </a:endParaRPr>
          </a:p>
        </p:txBody>
      </p:sp>
      <p:sp>
        <p:nvSpPr>
          <p:cNvPr id="16" name="矩形 15"/>
          <p:cNvSpPr/>
          <p:nvPr/>
        </p:nvSpPr>
        <p:spPr>
          <a:xfrm>
            <a:off x="6865938" y="4011613"/>
            <a:ext cx="1416050" cy="584200"/>
          </a:xfrm>
          <a:prstGeom prst="rect">
            <a:avLst/>
          </a:prstGeom>
          <a:noFill/>
          <a:ln w="9525">
            <a:noFill/>
          </a:ln>
        </p:spPr>
        <p:txBody>
          <a:bodyPr wrap="none">
            <a:spAutoFit/>
          </a:bodyPr>
          <a:p>
            <a:pPr eaLnBrk="0" hangingPunct="0"/>
            <a:r>
              <a:rPr lang="zh-CN" altLang="en-US" dirty="0">
                <a:latin typeface="Times New Roman" panose="02020603050405020304" pitchFamily="18" charset="0"/>
              </a:rPr>
              <a:t>    于是</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9108"/>
                                        </p:tgtEl>
                                        <p:attrNameLst>
                                          <p:attrName>style.visibility</p:attrName>
                                        </p:attrNameLst>
                                      </p:cBhvr>
                                      <p:to>
                                        <p:strVal val="visible"/>
                                      </p:to>
                                    </p:set>
                                    <p:animEffect transition="in" filter="wipe(up)">
                                      <p:cBhvr>
                                        <p:cTn id="12" dur="500"/>
                                        <p:tgtEl>
                                          <p:spTgt spid="8910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trips(downRigh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0125"/>
                                        </p:tgtEl>
                                        <p:attrNameLst>
                                          <p:attrName>style.visibility</p:attrName>
                                        </p:attrNameLst>
                                      </p:cBhvr>
                                      <p:to>
                                        <p:strVal val="visible"/>
                                      </p:to>
                                    </p:set>
                                    <p:animEffect transition="in" filter="wipe(left)">
                                      <p:cBhvr>
                                        <p:cTn id="27" dur="1000"/>
                                        <p:tgtEl>
                                          <p:spTgt spid="901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up)">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0122"/>
                                        </p:tgtEl>
                                        <p:attrNameLst>
                                          <p:attrName>style.visibility</p:attrName>
                                        </p:attrNameLst>
                                      </p:cBhvr>
                                      <p:to>
                                        <p:strVal val="visible"/>
                                      </p:to>
                                    </p:set>
                                    <p:animEffect transition="in" filter="wipe(left)">
                                      <p:cBhvr>
                                        <p:cTn id="37" dur="500"/>
                                        <p:tgtEl>
                                          <p:spTgt spid="901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up)">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checkerboard(across)">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90127"/>
                                        </p:tgtEl>
                                        <p:attrNameLst>
                                          <p:attrName>style.visibility</p:attrName>
                                        </p:attrNameLst>
                                      </p:cBhvr>
                                      <p:to>
                                        <p:strVal val="visible"/>
                                      </p:to>
                                    </p:set>
                                    <p:animEffect transition="in" filter="box(in)">
                                      <p:cBhvr>
                                        <p:cTn id="52" dur="500"/>
                                        <p:tgtEl>
                                          <p:spTgt spid="9012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up)">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iterate type="wd">
                                    <p:tmAbs val="300"/>
                                  </p:iterate>
                                  <p:childTnLst>
                                    <p:set>
                                      <p:cBhvr>
                                        <p:cTn id="61" dur="1" fill="hold">
                                          <p:stCondLst>
                                            <p:cond delay="0"/>
                                          </p:stCondLst>
                                        </p:cTn>
                                        <p:tgtEl>
                                          <p:spTgt spid="90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22" grpId="0"/>
      <p:bldP spid="8" grpId="0"/>
      <p:bldP spid="9" grpId="0"/>
      <p:bldP spid="90125" grpId="0"/>
      <p:bldP spid="90126" grpId="0"/>
      <p:bldP spid="90127" grpId="0"/>
      <p:bldP spid="1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6" name="标题 1"/>
          <p:cNvSpPr>
            <a:spLocks noGrp="1"/>
          </p:cNvSpPr>
          <p:nvPr>
            <p:ph type="title"/>
          </p:nvPr>
        </p:nvSpPr>
        <p:spPr>
          <a:ln/>
        </p:spPr>
        <p:txBody>
          <a:bodyPr vert="horz" wrap="square" lIns="91440" tIns="45720" rIns="91440" bIns="45720" anchor="ctr" anchorCtr="0"/>
          <a:p>
            <a:pPr algn="l"/>
            <a:r>
              <a:rPr lang="zh-CN" altLang="en-US" u="none" dirty="0">
                <a:solidFill>
                  <a:schemeClr val="tx1"/>
                </a:solidFill>
                <a:latin typeface="Times New Roman" panose="02020603050405020304" pitchFamily="18" charset="0"/>
              </a:rPr>
              <a:t>例</a:t>
            </a:r>
            <a:r>
              <a:rPr lang="en-US" altLang="zh-CN" u="none" dirty="0">
                <a:solidFill>
                  <a:schemeClr val="tx1"/>
                </a:solidFill>
                <a:latin typeface="Times New Roman" panose="02020603050405020304" pitchFamily="18" charset="0"/>
              </a:rPr>
              <a:t>3.3 </a:t>
            </a:r>
            <a:r>
              <a:rPr lang="zh-CN" altLang="en-US" u="none" dirty="0">
                <a:solidFill>
                  <a:schemeClr val="tx1"/>
                </a:solidFill>
                <a:latin typeface="Times New Roman" panose="02020603050405020304" pitchFamily="18" charset="0"/>
              </a:rPr>
              <a:t>讨论改进的</a:t>
            </a:r>
            <a:r>
              <a:rPr lang="en-US" altLang="zh-CN" u="none" dirty="0">
                <a:solidFill>
                  <a:schemeClr val="tx1"/>
                </a:solidFill>
                <a:latin typeface="Times New Roman" panose="02020603050405020304" pitchFamily="18" charset="0"/>
              </a:rPr>
              <a:t>Euler</a:t>
            </a:r>
            <a:r>
              <a:rPr lang="zh-CN" altLang="en-US" u="none" dirty="0">
                <a:solidFill>
                  <a:schemeClr val="tx1"/>
                </a:solidFill>
                <a:latin typeface="Times New Roman" panose="02020603050405020304" pitchFamily="18" charset="0"/>
              </a:rPr>
              <a:t>格式的绝对稳定性</a:t>
            </a:r>
            <a:r>
              <a:rPr lang="en-US" altLang="zh-CN" u="none" dirty="0">
                <a:solidFill>
                  <a:schemeClr val="tx1"/>
                </a:solidFill>
                <a:latin typeface="Times New Roman" panose="02020603050405020304" pitchFamily="18" charset="0"/>
              </a:rPr>
              <a:t>.</a:t>
            </a:r>
            <a:endParaRPr lang="zh-CN" altLang="en-US" u="none" dirty="0">
              <a:solidFill>
                <a:schemeClr val="tx1"/>
              </a:solidFill>
              <a:latin typeface="Times New Roman" panose="02020603050405020304" pitchFamily="18" charset="0"/>
              <a:ea typeface="Times New Roman" panose="02020603050405020304" pitchFamily="18" charset="0"/>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6328"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5" name="矩形 4"/>
          <p:cNvSpPr/>
          <p:nvPr/>
        </p:nvSpPr>
        <p:spPr>
          <a:xfrm>
            <a:off x="523875" y="1247775"/>
            <a:ext cx="7904163" cy="584200"/>
          </a:xfrm>
          <a:prstGeom prst="rect">
            <a:avLst/>
          </a:prstGeom>
          <a:noFill/>
          <a:ln w="9525">
            <a:noFill/>
          </a:ln>
        </p:spPr>
        <p:txBody>
          <a:bodyPr>
            <a:spAutoFit/>
          </a:bodyPr>
          <a:p>
            <a:pPr eaLnBrk="0" hangingPunct="0"/>
            <a:r>
              <a:rPr lang="zh-CN" altLang="en-US" b="1" dirty="0">
                <a:latin typeface="Times New Roman" panose="02020603050405020304" pitchFamily="18" charset="0"/>
              </a:rPr>
              <a:t>解：</a:t>
            </a:r>
            <a:r>
              <a:rPr lang="zh-CN" altLang="en-US" dirty="0">
                <a:latin typeface="Times New Roman" panose="02020603050405020304" pitchFamily="18" charset="0"/>
              </a:rPr>
              <a:t>计算检验方程</a:t>
            </a:r>
            <a:r>
              <a:rPr lang="en-US" altLang="zh-CN" i="1" dirty="0">
                <a:latin typeface="Times New Roman" panose="02020603050405020304" pitchFamily="18" charset="0"/>
              </a:rPr>
              <a:t>y′ </a:t>
            </a:r>
            <a:r>
              <a:rPr lang="en-US" altLang="zh-CN" dirty="0">
                <a:latin typeface="Times New Roman" panose="02020603050405020304" pitchFamily="18" charset="0"/>
              </a:rPr>
              <a:t>= λ</a:t>
            </a:r>
            <a:r>
              <a:rPr lang="en-US" altLang="zh-CN" i="1" dirty="0">
                <a:latin typeface="Times New Roman" panose="02020603050405020304" pitchFamily="18" charset="0"/>
              </a:rPr>
              <a:t>y</a:t>
            </a:r>
            <a:r>
              <a:rPr lang="zh-CN" altLang="en-US" dirty="0">
                <a:latin typeface="Times New Roman" panose="02020603050405020304" pitchFamily="18" charset="0"/>
              </a:rPr>
              <a:t>的改进</a:t>
            </a:r>
            <a:r>
              <a:rPr lang="en-US" altLang="zh-CN" dirty="0">
                <a:latin typeface="Times New Roman" panose="02020603050405020304" pitchFamily="18" charset="0"/>
              </a:rPr>
              <a:t>Euler</a:t>
            </a:r>
            <a:r>
              <a:rPr lang="zh-CN" altLang="en-US" dirty="0">
                <a:latin typeface="Times New Roman" panose="02020603050405020304" pitchFamily="18" charset="0"/>
              </a:rPr>
              <a:t>格式为</a:t>
            </a:r>
            <a:endParaRPr lang="zh-CN" altLang="en-US" dirty="0">
              <a:latin typeface="Times New Roman" panose="02020603050405020304" pitchFamily="18" charset="0"/>
            </a:endParaRPr>
          </a:p>
        </p:txBody>
      </p:sp>
      <p:graphicFrame>
        <p:nvGraphicFramePr>
          <p:cNvPr id="140301" name="Object 13"/>
          <p:cNvGraphicFramePr/>
          <p:nvPr/>
        </p:nvGraphicFramePr>
        <p:xfrm>
          <a:off x="1331913" y="1681163"/>
          <a:ext cx="3287712" cy="1585912"/>
        </p:xfrm>
        <a:graphic>
          <a:graphicData uri="http://schemas.openxmlformats.org/presentationml/2006/ole">
            <mc:AlternateContent xmlns:mc="http://schemas.openxmlformats.org/markup-compatibility/2006">
              <mc:Choice xmlns:v="urn:schemas-microsoft-com:vml" Requires="v">
                <p:oleObj spid="_x0000_s3227" name="" r:id="rId1" imgW="1320165" imgH="635000" progId="Equation.3">
                  <p:embed/>
                </p:oleObj>
              </mc:Choice>
              <mc:Fallback>
                <p:oleObj name="" r:id="rId1" imgW="1320165" imgH="635000" progId="Equation.3">
                  <p:embed/>
                  <p:pic>
                    <p:nvPicPr>
                      <p:cNvPr id="0" name="图片 3226"/>
                      <p:cNvPicPr/>
                      <p:nvPr/>
                    </p:nvPicPr>
                    <p:blipFill>
                      <a:blip r:embed="rId2"/>
                      <a:stretch>
                        <a:fillRect/>
                      </a:stretch>
                    </p:blipFill>
                    <p:spPr>
                      <a:xfrm>
                        <a:off x="1331913" y="1681163"/>
                        <a:ext cx="3287712" cy="1585912"/>
                      </a:xfrm>
                      <a:prstGeom prst="rect">
                        <a:avLst/>
                      </a:prstGeom>
                      <a:noFill/>
                      <a:ln w="38100">
                        <a:noFill/>
                        <a:miter/>
                      </a:ln>
                    </p:spPr>
                  </p:pic>
                </p:oleObj>
              </mc:Fallback>
            </mc:AlternateContent>
          </a:graphicData>
        </a:graphic>
      </p:graphicFrame>
      <p:graphicFrame>
        <p:nvGraphicFramePr>
          <p:cNvPr id="6" name="Object 3"/>
          <p:cNvGraphicFramePr/>
          <p:nvPr/>
        </p:nvGraphicFramePr>
        <p:xfrm>
          <a:off x="1311275" y="3267075"/>
          <a:ext cx="5689600" cy="1206500"/>
        </p:xfrm>
        <a:graphic>
          <a:graphicData uri="http://schemas.openxmlformats.org/presentationml/2006/ole">
            <mc:AlternateContent xmlns:mc="http://schemas.openxmlformats.org/markup-compatibility/2006">
              <mc:Choice xmlns:v="urn:schemas-microsoft-com:vml" Requires="v">
                <p:oleObj spid="_x0000_s3229" name="" r:id="rId3" imgW="2284730" imgH="482600" progId="Equation.3">
                  <p:embed/>
                </p:oleObj>
              </mc:Choice>
              <mc:Fallback>
                <p:oleObj name="" r:id="rId3" imgW="2284730" imgH="482600" progId="Equation.3">
                  <p:embed/>
                  <p:pic>
                    <p:nvPicPr>
                      <p:cNvPr id="0" name="图片 3228"/>
                      <p:cNvPicPr/>
                      <p:nvPr/>
                    </p:nvPicPr>
                    <p:blipFill>
                      <a:blip r:embed="rId4"/>
                      <a:stretch>
                        <a:fillRect/>
                      </a:stretch>
                    </p:blipFill>
                    <p:spPr>
                      <a:xfrm>
                        <a:off x="1311275" y="3267075"/>
                        <a:ext cx="5689600" cy="1206500"/>
                      </a:xfrm>
                      <a:prstGeom prst="rect">
                        <a:avLst/>
                      </a:prstGeom>
                      <a:noFill/>
                      <a:ln w="38100">
                        <a:noFill/>
                        <a:miter/>
                      </a:ln>
                    </p:spPr>
                  </p:pic>
                </p:oleObj>
              </mc:Fallback>
            </mc:AlternateContent>
          </a:graphicData>
        </a:graphic>
      </p:graphicFrame>
      <p:grpSp>
        <p:nvGrpSpPr>
          <p:cNvPr id="2" name="组合 10"/>
          <p:cNvGrpSpPr/>
          <p:nvPr/>
        </p:nvGrpSpPr>
        <p:grpSpPr>
          <a:xfrm>
            <a:off x="465138" y="4387850"/>
            <a:ext cx="6018212" cy="984250"/>
            <a:chOff x="464724" y="4573382"/>
            <a:chExt cx="6018621" cy="984250"/>
          </a:xfrm>
        </p:grpSpPr>
        <p:graphicFrame>
          <p:nvGraphicFramePr>
            <p:cNvPr id="56325" name="Object 4"/>
            <p:cNvGraphicFramePr/>
            <p:nvPr/>
          </p:nvGraphicFramePr>
          <p:xfrm>
            <a:off x="1804665" y="4573382"/>
            <a:ext cx="4678680" cy="984250"/>
          </p:xfrm>
          <a:graphic>
            <a:graphicData uri="http://schemas.openxmlformats.org/presentationml/2006/ole">
              <mc:AlternateContent xmlns:mc="http://schemas.openxmlformats.org/markup-compatibility/2006">
                <mc:Choice xmlns:v="urn:schemas-microsoft-com:vml" Requires="v">
                  <p:oleObj spid="_x0000_s3230" name="" r:id="rId5" imgW="1878965" imgH="393700" progId="Equation.3">
                    <p:embed/>
                  </p:oleObj>
                </mc:Choice>
                <mc:Fallback>
                  <p:oleObj name="" r:id="rId5" imgW="1878965" imgH="393700" progId="Equation.3">
                    <p:embed/>
                    <p:pic>
                      <p:nvPicPr>
                        <p:cNvPr id="0" name="图片 3229"/>
                        <p:cNvPicPr/>
                        <p:nvPr/>
                      </p:nvPicPr>
                      <p:blipFill>
                        <a:blip r:embed="rId6"/>
                        <a:stretch>
                          <a:fillRect/>
                        </a:stretch>
                      </p:blipFill>
                      <p:spPr>
                        <a:xfrm>
                          <a:off x="1804665" y="4573382"/>
                          <a:ext cx="4678680" cy="984250"/>
                        </a:xfrm>
                        <a:prstGeom prst="rect">
                          <a:avLst/>
                        </a:prstGeom>
                        <a:noFill/>
                        <a:ln w="38100">
                          <a:noFill/>
                          <a:miter/>
                        </a:ln>
                      </p:spPr>
                    </p:pic>
                  </p:oleObj>
                </mc:Fallback>
              </mc:AlternateContent>
            </a:graphicData>
          </a:graphic>
        </p:graphicFrame>
        <p:sp>
          <p:nvSpPr>
            <p:cNvPr id="56333" name="矩形 8"/>
            <p:cNvSpPr/>
            <p:nvPr/>
          </p:nvSpPr>
          <p:spPr>
            <a:xfrm>
              <a:off x="464724" y="4766628"/>
              <a:ext cx="1005403" cy="584775"/>
            </a:xfrm>
            <a:prstGeom prst="rect">
              <a:avLst/>
            </a:prstGeom>
            <a:noFill/>
            <a:ln w="9525">
              <a:noFill/>
            </a:ln>
          </p:spPr>
          <p:txBody>
            <a:bodyPr wrap="none">
              <a:spAutoFit/>
            </a:bodyPr>
            <a:p>
              <a:pPr eaLnBrk="0" hangingPunct="0"/>
              <a:r>
                <a:rPr lang="zh-CN" altLang="en-US" dirty="0">
                  <a:latin typeface="Times New Roman" panose="02020603050405020304" pitchFamily="18" charset="0"/>
                </a:rPr>
                <a:t>所以</a:t>
              </a:r>
              <a:endParaRPr lang="zh-CN" altLang="en-US" dirty="0">
                <a:latin typeface="Times New Roman" panose="02020603050405020304" pitchFamily="18" charset="0"/>
              </a:endParaRPr>
            </a:p>
          </p:txBody>
        </p:sp>
      </p:grpSp>
      <p:grpSp>
        <p:nvGrpSpPr>
          <p:cNvPr id="4" name="组合 12"/>
          <p:cNvGrpSpPr/>
          <p:nvPr/>
        </p:nvGrpSpPr>
        <p:grpSpPr>
          <a:xfrm>
            <a:off x="444500" y="5278438"/>
            <a:ext cx="7515225" cy="1077912"/>
            <a:chOff x="444847" y="5278373"/>
            <a:chExt cx="7514941" cy="1077913"/>
          </a:xfrm>
        </p:grpSpPr>
        <p:graphicFrame>
          <p:nvGraphicFramePr>
            <p:cNvPr id="56324" name="Object 5"/>
            <p:cNvGraphicFramePr/>
            <p:nvPr/>
          </p:nvGraphicFramePr>
          <p:xfrm>
            <a:off x="1449697" y="5278373"/>
            <a:ext cx="6510091" cy="1077913"/>
          </p:xfrm>
          <a:graphic>
            <a:graphicData uri="http://schemas.openxmlformats.org/presentationml/2006/ole">
              <mc:AlternateContent xmlns:mc="http://schemas.openxmlformats.org/markup-compatibility/2006">
                <mc:Choice xmlns:v="urn:schemas-microsoft-com:vml" Requires="v">
                  <p:oleObj spid="_x0000_s3226" name="" r:id="rId7" imgW="2614930" imgH="431800" progId="Equation.3">
                    <p:embed/>
                  </p:oleObj>
                </mc:Choice>
                <mc:Fallback>
                  <p:oleObj name="" r:id="rId7" imgW="2614930" imgH="431800" progId="Equation.3">
                    <p:embed/>
                    <p:pic>
                      <p:nvPicPr>
                        <p:cNvPr id="0" name="图片 3225"/>
                        <p:cNvPicPr/>
                        <p:nvPr/>
                      </p:nvPicPr>
                      <p:blipFill>
                        <a:blip r:embed="rId8"/>
                        <a:stretch>
                          <a:fillRect/>
                        </a:stretch>
                      </p:blipFill>
                      <p:spPr>
                        <a:xfrm>
                          <a:off x="1449697" y="5278373"/>
                          <a:ext cx="6510091" cy="1077913"/>
                        </a:xfrm>
                        <a:prstGeom prst="rect">
                          <a:avLst/>
                        </a:prstGeom>
                        <a:noFill/>
                        <a:ln w="38100">
                          <a:noFill/>
                          <a:miter/>
                        </a:ln>
                      </p:spPr>
                    </p:pic>
                  </p:oleObj>
                </mc:Fallback>
              </mc:AlternateContent>
            </a:graphicData>
          </a:graphic>
        </p:graphicFrame>
        <p:sp>
          <p:nvSpPr>
            <p:cNvPr id="56332" name="矩形 11"/>
            <p:cNvSpPr/>
            <p:nvPr/>
          </p:nvSpPr>
          <p:spPr>
            <a:xfrm>
              <a:off x="444847" y="5528630"/>
              <a:ext cx="595035" cy="584775"/>
            </a:xfrm>
            <a:prstGeom prst="rect">
              <a:avLst/>
            </a:prstGeom>
            <a:noFill/>
            <a:ln w="9525">
              <a:noFill/>
            </a:ln>
          </p:spPr>
          <p:txBody>
            <a:bodyPr wrap="none">
              <a:spAutoFit/>
            </a:bodyPr>
            <a:p>
              <a:pPr eaLnBrk="0" hangingPunct="0"/>
              <a:r>
                <a:rPr lang="zh-CN" altLang="en-US" dirty="0">
                  <a:latin typeface="Times New Roman" panose="02020603050405020304" pitchFamily="18" charset="0"/>
                </a:rPr>
                <a:t>得</a:t>
              </a:r>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0301"/>
                                        </p:tgtEl>
                                        <p:attrNameLst>
                                          <p:attrName>style.visibility</p:attrName>
                                        </p:attrNameLst>
                                      </p:cBhvr>
                                      <p:to>
                                        <p:strVal val="visible"/>
                                      </p:to>
                                    </p:set>
                                    <p:animEffect transition="in" filter="wipe(up)">
                                      <p:cBhvr>
                                        <p:cTn id="12" dur="500"/>
                                        <p:tgtEl>
                                          <p:spTgt spid="1403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checkerboard(across)">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checkerboard(across)">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52" name="标题 1"/>
          <p:cNvSpPr>
            <a:spLocks noGrp="1"/>
          </p:cNvSpPr>
          <p:nvPr>
            <p:ph type="title"/>
          </p:nvPr>
        </p:nvSpPr>
        <p:spPr>
          <a:ln/>
        </p:spPr>
        <p:txBody>
          <a:bodyPr vert="horz" wrap="square" lIns="91440" tIns="45720" rIns="91440" bIns="45720" anchor="ctr" anchorCtr="0"/>
          <a:p>
            <a:pPr algn="l"/>
            <a:r>
              <a:rPr lang="zh-CN" altLang="en-US" u="none" dirty="0">
                <a:solidFill>
                  <a:schemeClr val="tx1"/>
                </a:solidFill>
              </a:rPr>
              <a:t>于是，计算格式为</a:t>
            </a:r>
            <a:endParaRPr lang="zh-CN" altLang="en-US" u="none" dirty="0">
              <a:solidFill>
                <a:schemeClr val="tx1"/>
              </a:solidFill>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354"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aphicFrame>
        <p:nvGraphicFramePr>
          <p:cNvPr id="6" name="Object 13"/>
          <p:cNvGraphicFramePr/>
          <p:nvPr/>
        </p:nvGraphicFramePr>
        <p:xfrm>
          <a:off x="1068388" y="1028700"/>
          <a:ext cx="7270750" cy="1077913"/>
        </p:xfrm>
        <a:graphic>
          <a:graphicData uri="http://schemas.openxmlformats.org/presentationml/2006/ole">
            <mc:AlternateContent xmlns:mc="http://schemas.openxmlformats.org/markup-compatibility/2006">
              <mc:Choice xmlns:v="urn:schemas-microsoft-com:vml" Requires="v">
                <p:oleObj spid="_x0000_s3231" name="" r:id="rId1" imgW="2919730" imgH="431800" progId="Equation.3">
                  <p:embed/>
                </p:oleObj>
              </mc:Choice>
              <mc:Fallback>
                <p:oleObj name="" r:id="rId1" imgW="2919730" imgH="431800" progId="Equation.3">
                  <p:embed/>
                  <p:pic>
                    <p:nvPicPr>
                      <p:cNvPr id="0" name="图片 3230"/>
                      <p:cNvPicPr/>
                      <p:nvPr/>
                    </p:nvPicPr>
                    <p:blipFill>
                      <a:blip r:embed="rId2"/>
                      <a:stretch>
                        <a:fillRect/>
                      </a:stretch>
                    </p:blipFill>
                    <p:spPr>
                      <a:xfrm>
                        <a:off x="1068388" y="1028700"/>
                        <a:ext cx="7270750" cy="1077913"/>
                      </a:xfrm>
                      <a:prstGeom prst="rect">
                        <a:avLst/>
                      </a:prstGeom>
                      <a:noFill/>
                      <a:ln w="38100">
                        <a:noFill/>
                        <a:miter/>
                      </a:ln>
                    </p:spPr>
                  </p:pic>
                </p:oleObj>
              </mc:Fallback>
            </mc:AlternateContent>
          </a:graphicData>
        </a:graphic>
      </p:graphicFrame>
      <p:grpSp>
        <p:nvGrpSpPr>
          <p:cNvPr id="2" name="组合 17"/>
          <p:cNvGrpSpPr/>
          <p:nvPr/>
        </p:nvGrpSpPr>
        <p:grpSpPr>
          <a:xfrm>
            <a:off x="611188" y="1952625"/>
            <a:ext cx="6072187" cy="982663"/>
            <a:chOff x="544240" y="2124075"/>
            <a:chExt cx="6074646" cy="982663"/>
          </a:xfrm>
        </p:grpSpPr>
        <p:sp>
          <p:nvSpPr>
            <p:cNvPr id="57362" name="矩形 7"/>
            <p:cNvSpPr/>
            <p:nvPr/>
          </p:nvSpPr>
          <p:spPr>
            <a:xfrm>
              <a:off x="544240" y="2301797"/>
              <a:ext cx="595035" cy="584775"/>
            </a:xfrm>
            <a:prstGeom prst="rect">
              <a:avLst/>
            </a:prstGeom>
            <a:noFill/>
            <a:ln w="9525">
              <a:noFill/>
            </a:ln>
          </p:spPr>
          <p:txBody>
            <a:bodyPr wrap="none">
              <a:spAutoFit/>
            </a:bodyPr>
            <a:p>
              <a:pPr eaLnBrk="0" hangingPunct="0"/>
              <a:r>
                <a:rPr lang="zh-CN" altLang="en-US" dirty="0">
                  <a:latin typeface="Times New Roman" panose="02020603050405020304" pitchFamily="18" charset="0"/>
                </a:rPr>
                <a:t>则</a:t>
              </a:r>
              <a:endParaRPr lang="zh-CN" altLang="en-US" dirty="0">
                <a:latin typeface="Times New Roman" panose="02020603050405020304" pitchFamily="18" charset="0"/>
              </a:endParaRPr>
            </a:p>
          </p:txBody>
        </p:sp>
        <p:graphicFrame>
          <p:nvGraphicFramePr>
            <p:cNvPr id="57351" name="Object 3"/>
            <p:cNvGraphicFramePr/>
            <p:nvPr/>
          </p:nvGraphicFramePr>
          <p:xfrm>
            <a:off x="1182983" y="2124075"/>
            <a:ext cx="5435903" cy="982663"/>
          </p:xfrm>
          <a:graphic>
            <a:graphicData uri="http://schemas.openxmlformats.org/presentationml/2006/ole">
              <mc:AlternateContent xmlns:mc="http://schemas.openxmlformats.org/markup-compatibility/2006">
                <mc:Choice xmlns:v="urn:schemas-microsoft-com:vml" Requires="v">
                  <p:oleObj spid="_x0000_s3225" name="" r:id="rId3" imgW="2183765" imgH="393700" progId="Equation.3">
                    <p:embed/>
                  </p:oleObj>
                </mc:Choice>
                <mc:Fallback>
                  <p:oleObj name="" r:id="rId3" imgW="2183765" imgH="393700" progId="Equation.3">
                    <p:embed/>
                    <p:pic>
                      <p:nvPicPr>
                        <p:cNvPr id="0" name="图片 3224"/>
                        <p:cNvPicPr/>
                        <p:nvPr/>
                      </p:nvPicPr>
                      <p:blipFill>
                        <a:blip r:embed="rId4"/>
                        <a:stretch>
                          <a:fillRect/>
                        </a:stretch>
                      </p:blipFill>
                      <p:spPr>
                        <a:xfrm>
                          <a:off x="1182983" y="2124075"/>
                          <a:ext cx="5435903" cy="982663"/>
                        </a:xfrm>
                        <a:prstGeom prst="rect">
                          <a:avLst/>
                        </a:prstGeom>
                        <a:noFill/>
                        <a:ln w="38100">
                          <a:noFill/>
                          <a:miter/>
                        </a:ln>
                      </p:spPr>
                    </p:pic>
                  </p:oleObj>
                </mc:Fallback>
              </mc:AlternateContent>
            </a:graphicData>
          </a:graphic>
        </p:graphicFrame>
      </p:grpSp>
      <p:sp>
        <p:nvSpPr>
          <p:cNvPr id="10" name="矩形 9"/>
          <p:cNvSpPr/>
          <p:nvPr/>
        </p:nvSpPr>
        <p:spPr>
          <a:xfrm>
            <a:off x="563563" y="2813050"/>
            <a:ext cx="7758112" cy="1077913"/>
          </a:xfrm>
          <a:prstGeom prst="rect">
            <a:avLst/>
          </a:prstGeom>
          <a:noFill/>
          <a:ln w="9525">
            <a:noFill/>
          </a:ln>
        </p:spPr>
        <p:txBody>
          <a:bodyPr>
            <a:spAutoFit/>
          </a:bodyPr>
          <a:p>
            <a:pPr eaLnBrk="0" hangingPunct="0"/>
            <a:r>
              <a:rPr lang="zh-CN" altLang="en-US" dirty="0">
                <a:latin typeface="Times New Roman" panose="02020603050405020304" pitchFamily="18" charset="0"/>
              </a:rPr>
              <a:t>设在</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zh-CN" altLang="en-US" dirty="0">
                <a:latin typeface="Times New Roman" panose="02020603050405020304" pitchFamily="18" charset="0"/>
              </a:rPr>
              <a:t>处数值解</a:t>
            </a:r>
            <a:r>
              <a:rPr lang="en-US" altLang="zh-CN" i="1" dirty="0">
                <a:latin typeface="Times New Roman" panose="02020603050405020304" pitchFamily="18" charset="0"/>
              </a:rPr>
              <a:t>y</a:t>
            </a:r>
            <a:r>
              <a:rPr lang="en-US" altLang="zh-CN" i="1" baseline="-25000" dirty="0">
                <a:latin typeface="Times New Roman" panose="02020603050405020304" pitchFamily="18" charset="0"/>
              </a:rPr>
              <a:t>n</a:t>
            </a:r>
            <a:r>
              <a:rPr lang="zh-CN" altLang="en-US" dirty="0">
                <a:latin typeface="Times New Roman" panose="02020603050405020304" pitchFamily="18" charset="0"/>
              </a:rPr>
              <a:t>有扰动</a:t>
            </a:r>
            <a:r>
              <a:rPr lang="el-GR" altLang="zh-CN" b="1" i="1" dirty="0">
                <a:solidFill>
                  <a:srgbClr val="FF0000"/>
                </a:solidFill>
                <a:latin typeface="Times New Roman" panose="02020603050405020304" pitchFamily="18" charset="0"/>
              </a:rPr>
              <a:t>δ</a:t>
            </a:r>
            <a:r>
              <a:rPr lang="en-US" altLang="zh-CN" b="1" i="1" baseline="-25000" dirty="0">
                <a:solidFill>
                  <a:srgbClr val="FF0000"/>
                </a:solidFill>
                <a:latin typeface="Times New Roman" panose="02020603050405020304" pitchFamily="18" charset="0"/>
              </a:rPr>
              <a:t>n </a:t>
            </a:r>
            <a:r>
              <a:rPr lang="zh-CN" altLang="en-US" dirty="0">
                <a:latin typeface="Times New Roman" panose="02020603050405020304" pitchFamily="18" charset="0"/>
              </a:rPr>
              <a:t>，则实际计算的解为</a:t>
            </a:r>
            <a:endParaRPr lang="zh-CN" altLang="en-US" dirty="0">
              <a:latin typeface="Times New Roman" panose="02020603050405020304" pitchFamily="18" charset="0"/>
            </a:endParaRPr>
          </a:p>
        </p:txBody>
      </p:sp>
      <p:graphicFrame>
        <p:nvGraphicFramePr>
          <p:cNvPr id="9" name="Object 9"/>
          <p:cNvGraphicFramePr/>
          <p:nvPr/>
        </p:nvGraphicFramePr>
        <p:xfrm>
          <a:off x="1628775" y="3289300"/>
          <a:ext cx="2025650" cy="571500"/>
        </p:xfrm>
        <a:graphic>
          <a:graphicData uri="http://schemas.openxmlformats.org/presentationml/2006/ole">
            <mc:AlternateContent xmlns:mc="http://schemas.openxmlformats.org/markup-compatibility/2006">
              <mc:Choice xmlns:v="urn:schemas-microsoft-com:vml" Requires="v">
                <p:oleObj spid="_x0000_s3232" name="" r:id="rId5" imgW="812165" imgH="228600" progId="Equation.3">
                  <p:embed/>
                </p:oleObj>
              </mc:Choice>
              <mc:Fallback>
                <p:oleObj name="" r:id="rId5" imgW="812165" imgH="228600" progId="Equation.3">
                  <p:embed/>
                  <p:pic>
                    <p:nvPicPr>
                      <p:cNvPr id="0" name="图片 3231"/>
                      <p:cNvPicPr/>
                      <p:nvPr/>
                    </p:nvPicPr>
                    <p:blipFill>
                      <a:blip r:embed="rId6"/>
                      <a:stretch>
                        <a:fillRect/>
                      </a:stretch>
                    </p:blipFill>
                    <p:spPr>
                      <a:xfrm>
                        <a:off x="1628775" y="3289300"/>
                        <a:ext cx="2025650" cy="571500"/>
                      </a:xfrm>
                      <a:prstGeom prst="rect">
                        <a:avLst/>
                      </a:prstGeom>
                      <a:noFill/>
                      <a:ln w="38100">
                        <a:noFill/>
                        <a:miter/>
                      </a:ln>
                    </p:spPr>
                  </p:pic>
                </p:oleObj>
              </mc:Fallback>
            </mc:AlternateContent>
          </a:graphicData>
        </a:graphic>
      </p:graphicFrame>
      <p:grpSp>
        <p:nvGrpSpPr>
          <p:cNvPr id="4" name="组合 18"/>
          <p:cNvGrpSpPr/>
          <p:nvPr/>
        </p:nvGrpSpPr>
        <p:grpSpPr>
          <a:xfrm>
            <a:off x="488950" y="4470400"/>
            <a:ext cx="6721475" cy="1079500"/>
            <a:chOff x="603872" y="4142545"/>
            <a:chExt cx="6721616" cy="1079500"/>
          </a:xfrm>
        </p:grpSpPr>
        <p:sp>
          <p:nvSpPr>
            <p:cNvPr id="57361" name="矩形 6"/>
            <p:cNvSpPr/>
            <p:nvPr/>
          </p:nvSpPr>
          <p:spPr>
            <a:xfrm>
              <a:off x="603872" y="4362481"/>
              <a:ext cx="1005423" cy="584775"/>
            </a:xfrm>
            <a:prstGeom prst="rect">
              <a:avLst/>
            </a:prstGeom>
            <a:noFill/>
            <a:ln w="9525">
              <a:noFill/>
            </a:ln>
          </p:spPr>
          <p:txBody>
            <a:bodyPr wrap="none">
              <a:spAutoFit/>
            </a:bodyPr>
            <a:p>
              <a:pPr eaLnBrk="0" hangingPunct="0"/>
              <a:r>
                <a:rPr lang="zh-CN" altLang="en-US" dirty="0">
                  <a:latin typeface="Times New Roman" panose="02020603050405020304" pitchFamily="18" charset="0"/>
                </a:rPr>
                <a:t>于是</a:t>
              </a:r>
              <a:endParaRPr lang="zh-CN" altLang="en-US" dirty="0">
                <a:latin typeface="Times New Roman" panose="02020603050405020304" pitchFamily="18" charset="0"/>
              </a:endParaRPr>
            </a:p>
          </p:txBody>
        </p:sp>
        <p:graphicFrame>
          <p:nvGraphicFramePr>
            <p:cNvPr id="57350" name="Object 5"/>
            <p:cNvGraphicFramePr/>
            <p:nvPr/>
          </p:nvGraphicFramePr>
          <p:xfrm>
            <a:off x="1821634" y="4142545"/>
            <a:ext cx="5503854" cy="1079500"/>
          </p:xfrm>
          <a:graphic>
            <a:graphicData uri="http://schemas.openxmlformats.org/presentationml/2006/ole">
              <mc:AlternateContent xmlns:mc="http://schemas.openxmlformats.org/markup-compatibility/2006">
                <mc:Choice xmlns:v="urn:schemas-microsoft-com:vml" Requires="v">
                  <p:oleObj spid="_x0000_s3228" name="" r:id="rId7" imgW="2208530" imgH="431800" progId="Equation.3">
                    <p:embed/>
                  </p:oleObj>
                </mc:Choice>
                <mc:Fallback>
                  <p:oleObj name="" r:id="rId7" imgW="2208530" imgH="431800" progId="Equation.3">
                    <p:embed/>
                    <p:pic>
                      <p:nvPicPr>
                        <p:cNvPr id="0" name="图片 3227"/>
                        <p:cNvPicPr/>
                        <p:nvPr/>
                      </p:nvPicPr>
                      <p:blipFill>
                        <a:blip r:embed="rId8"/>
                        <a:stretch>
                          <a:fillRect/>
                        </a:stretch>
                      </p:blipFill>
                      <p:spPr>
                        <a:xfrm>
                          <a:off x="1821634" y="4142545"/>
                          <a:ext cx="5503854" cy="1079500"/>
                        </a:xfrm>
                        <a:prstGeom prst="rect">
                          <a:avLst/>
                        </a:prstGeom>
                        <a:noFill/>
                        <a:ln w="38100">
                          <a:noFill/>
                          <a:miter/>
                        </a:ln>
                      </p:spPr>
                    </p:pic>
                  </p:oleObj>
                </mc:Fallback>
              </mc:AlternateContent>
            </a:graphicData>
          </a:graphic>
        </p:graphicFrame>
      </p:grpSp>
      <p:sp>
        <p:nvSpPr>
          <p:cNvPr id="14" name="矩形 13"/>
          <p:cNvSpPr/>
          <p:nvPr/>
        </p:nvSpPr>
        <p:spPr>
          <a:xfrm>
            <a:off x="3703638" y="3276600"/>
            <a:ext cx="4840287" cy="584200"/>
          </a:xfrm>
          <a:prstGeom prst="rect">
            <a:avLst/>
          </a:prstGeom>
          <a:noFill/>
          <a:ln w="9525">
            <a:noFill/>
          </a:ln>
        </p:spPr>
        <p:txBody>
          <a:bodyPr>
            <a:spAutoFit/>
          </a:bodyPr>
          <a:p>
            <a:pPr eaLnBrk="0" hangingPunct="0"/>
            <a:r>
              <a:rPr lang="zh-CN" altLang="en-US" dirty="0">
                <a:latin typeface="Times New Roman" panose="02020603050405020304" pitchFamily="18" charset="0"/>
              </a:rPr>
              <a:t>由此引起</a:t>
            </a:r>
            <a:r>
              <a:rPr lang="en-US" altLang="zh-CN" i="1" dirty="0">
                <a:latin typeface="Times New Roman" panose="02020603050405020304" pitchFamily="18" charset="0"/>
              </a:rPr>
              <a:t>y</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+1</a:t>
            </a:r>
            <a:r>
              <a:rPr lang="zh-CN" altLang="en-US" dirty="0">
                <a:latin typeface="Times New Roman" panose="02020603050405020304" pitchFamily="18" charset="0"/>
              </a:rPr>
              <a:t>的扰动</a:t>
            </a:r>
            <a:r>
              <a:rPr lang="en-US" altLang="zh-CN" i="1" dirty="0">
                <a:latin typeface="Times New Roman" panose="02020603050405020304" pitchFamily="18" charset="0"/>
              </a:rPr>
              <a:t>δ</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+1 </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13" name="Object 6"/>
          <p:cNvGraphicFramePr/>
          <p:nvPr/>
        </p:nvGraphicFramePr>
        <p:xfrm>
          <a:off x="5784850" y="3973513"/>
          <a:ext cx="2659063" cy="571500"/>
        </p:xfrm>
        <a:graphic>
          <a:graphicData uri="http://schemas.openxmlformats.org/presentationml/2006/ole">
            <mc:AlternateContent xmlns:mc="http://schemas.openxmlformats.org/markup-compatibility/2006">
              <mc:Choice xmlns:v="urn:schemas-microsoft-com:vml" Requires="v">
                <p:oleObj spid="_x0000_s3235" name="" r:id="rId9" imgW="1066800" imgH="228600" progId="Equation.3">
                  <p:embed/>
                </p:oleObj>
              </mc:Choice>
              <mc:Fallback>
                <p:oleObj name="" r:id="rId9" imgW="1066800" imgH="228600" progId="Equation.3">
                  <p:embed/>
                  <p:pic>
                    <p:nvPicPr>
                      <p:cNvPr id="0" name="图片 3234"/>
                      <p:cNvPicPr/>
                      <p:nvPr/>
                    </p:nvPicPr>
                    <p:blipFill>
                      <a:blip r:embed="rId10"/>
                      <a:stretch>
                        <a:fillRect/>
                      </a:stretch>
                    </p:blipFill>
                    <p:spPr>
                      <a:xfrm>
                        <a:off x="5784850" y="3973513"/>
                        <a:ext cx="2659063" cy="571500"/>
                      </a:xfrm>
                      <a:prstGeom prst="rect">
                        <a:avLst/>
                      </a:prstGeom>
                      <a:noFill/>
                      <a:ln w="38100">
                        <a:noFill/>
                        <a:miter/>
                      </a:ln>
                    </p:spPr>
                  </p:pic>
                </p:oleObj>
              </mc:Fallback>
            </mc:AlternateContent>
          </a:graphicData>
        </a:graphic>
      </p:graphicFrame>
      <p:sp>
        <p:nvSpPr>
          <p:cNvPr id="16" name="矩形 15"/>
          <p:cNvSpPr/>
          <p:nvPr/>
        </p:nvSpPr>
        <p:spPr>
          <a:xfrm>
            <a:off x="503238" y="5599113"/>
            <a:ext cx="3197225" cy="584200"/>
          </a:xfrm>
          <a:prstGeom prst="rect">
            <a:avLst/>
          </a:prstGeom>
          <a:noFill/>
          <a:ln w="9525">
            <a:noFill/>
          </a:ln>
        </p:spPr>
        <p:txBody>
          <a:bodyPr>
            <a:spAutoFit/>
          </a:bodyPr>
          <a:p>
            <a:pPr eaLnBrk="0" hangingPunct="0"/>
            <a:r>
              <a:rPr lang="zh-CN" altLang="en-US" dirty="0">
                <a:latin typeface="Times New Roman" panose="02020603050405020304" pitchFamily="18" charset="0"/>
              </a:rPr>
              <a:t>则误差传播方程</a:t>
            </a:r>
            <a:endParaRPr lang="zh-CN" altLang="en-US" dirty="0">
              <a:latin typeface="Times New Roman" panose="02020603050405020304" pitchFamily="18" charset="0"/>
            </a:endParaRPr>
          </a:p>
        </p:txBody>
      </p:sp>
      <p:graphicFrame>
        <p:nvGraphicFramePr>
          <p:cNvPr id="15" name="Object 10"/>
          <p:cNvGraphicFramePr/>
          <p:nvPr/>
        </p:nvGraphicFramePr>
        <p:xfrm>
          <a:off x="3424238" y="5375275"/>
          <a:ext cx="5440362" cy="1079500"/>
        </p:xfrm>
        <a:graphic>
          <a:graphicData uri="http://schemas.openxmlformats.org/presentationml/2006/ole">
            <mc:AlternateContent xmlns:mc="http://schemas.openxmlformats.org/markup-compatibility/2006">
              <mc:Choice xmlns:v="urn:schemas-microsoft-com:vml" Requires="v">
                <p:oleObj spid="_x0000_s3238" name="" r:id="rId11" imgW="2183765" imgH="431800" progId="Equation.3">
                  <p:embed/>
                </p:oleObj>
              </mc:Choice>
              <mc:Fallback>
                <p:oleObj name="" r:id="rId11" imgW="2183765" imgH="431800" progId="Equation.3">
                  <p:embed/>
                  <p:pic>
                    <p:nvPicPr>
                      <p:cNvPr id="0" name="图片 3237"/>
                      <p:cNvPicPr/>
                      <p:nvPr/>
                    </p:nvPicPr>
                    <p:blipFill>
                      <a:blip r:embed="rId12"/>
                      <a:stretch>
                        <a:fillRect/>
                      </a:stretch>
                    </p:blipFill>
                    <p:spPr>
                      <a:xfrm>
                        <a:off x="3424238" y="5375275"/>
                        <a:ext cx="5440362" cy="1079500"/>
                      </a:xfrm>
                      <a:prstGeom prst="rect">
                        <a:avLst/>
                      </a:prstGeom>
                      <a:noFill/>
                      <a:ln w="38100">
                        <a:noFill/>
                        <a:miter/>
                      </a:ln>
                    </p:spPr>
                  </p:pic>
                </p:oleObj>
              </mc:Fallback>
            </mc:AlternateContent>
          </a:graphicData>
        </a:graphic>
      </p:graphicFrame>
      <p:sp>
        <p:nvSpPr>
          <p:cNvPr id="18" name="矩形 17"/>
          <p:cNvSpPr/>
          <p:nvPr/>
        </p:nvSpPr>
        <p:spPr>
          <a:xfrm>
            <a:off x="554038" y="3965575"/>
            <a:ext cx="5338762" cy="584200"/>
          </a:xfrm>
          <a:prstGeom prst="rect">
            <a:avLst/>
          </a:prstGeom>
          <a:noFill/>
          <a:ln w="9525">
            <a:noFill/>
          </a:ln>
        </p:spPr>
        <p:txBody>
          <a:bodyPr wrap="none">
            <a:spAutoFit/>
          </a:bodyPr>
          <a:p>
            <a:pPr eaLnBrk="0" hangingPunct="0"/>
            <a:r>
              <a:rPr lang="zh-CN" altLang="en-US" dirty="0">
                <a:latin typeface="Times New Roman" panose="02020603050405020304" pitchFamily="18" charset="0"/>
              </a:rPr>
              <a:t>则在</a:t>
            </a:r>
            <a:r>
              <a:rPr lang="en-US" altLang="zh-CN" i="1" dirty="0">
                <a:latin typeface="Times New Roman" panose="02020603050405020304" pitchFamily="18" charset="0"/>
              </a:rPr>
              <a:t>x</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rPr>
              <a:t>1</a:t>
            </a:r>
            <a:r>
              <a:rPr lang="zh-CN" altLang="en-US" dirty="0">
                <a:latin typeface="Times New Roman" panose="02020603050405020304" pitchFamily="18" charset="0"/>
              </a:rPr>
              <a:t>处实际计算的解变为</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heckerboard(across)">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dissolv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up)">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up)">
                                      <p:cBhvr>
                                        <p:cTn id="5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6" grpId="0"/>
      <p:bldP spid="1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4" name="标题 1"/>
          <p:cNvSpPr>
            <a:spLocks noGrp="1"/>
          </p:cNvSpPr>
          <p:nvPr>
            <p:ph type="title"/>
          </p:nvPr>
        </p:nvSpPr>
        <p:spPr>
          <a:ln/>
        </p:spPr>
        <p:txBody>
          <a:bodyPr vert="horz" wrap="square" lIns="91440" tIns="45720" rIns="91440" bIns="45720" anchor="ctr" anchorCtr="0"/>
          <a:p>
            <a:pPr algn="l"/>
            <a:r>
              <a:rPr lang="zh-CN" altLang="en-US" u="none" dirty="0">
                <a:solidFill>
                  <a:schemeClr val="tx1"/>
                </a:solidFill>
              </a:rPr>
              <a:t>所以，当</a:t>
            </a:r>
            <a:endParaRPr lang="zh-CN" altLang="en-US" u="none" dirty="0">
              <a:solidFill>
                <a:schemeClr val="tx1"/>
              </a:solidFill>
            </a:endParaRPr>
          </a:p>
        </p:txBody>
      </p:sp>
      <p:sp>
        <p:nvSpPr>
          <p:cNvPr id="3" name="页脚占位符 2"/>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376" name="灯片编号占位符 3"/>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graphicFrame>
        <p:nvGraphicFramePr>
          <p:cNvPr id="58370" name="Object 3"/>
          <p:cNvGraphicFramePr/>
          <p:nvPr/>
        </p:nvGraphicFramePr>
        <p:xfrm>
          <a:off x="2401888" y="573088"/>
          <a:ext cx="1485900" cy="506412"/>
        </p:xfrm>
        <a:graphic>
          <a:graphicData uri="http://schemas.openxmlformats.org/presentationml/2006/ole">
            <mc:AlternateContent xmlns:mc="http://schemas.openxmlformats.org/markup-compatibility/2006">
              <mc:Choice xmlns:v="urn:schemas-microsoft-com:vml" Requires="v">
                <p:oleObj spid="_x0000_s3236" name="" r:id="rId1" imgW="596265" imgH="203200" progId="Equation.3">
                  <p:embed/>
                </p:oleObj>
              </mc:Choice>
              <mc:Fallback>
                <p:oleObj name="" r:id="rId1" imgW="596265" imgH="203200" progId="Equation.3">
                  <p:embed/>
                  <p:pic>
                    <p:nvPicPr>
                      <p:cNvPr id="0" name="图片 3235"/>
                      <p:cNvPicPr/>
                      <p:nvPr/>
                    </p:nvPicPr>
                    <p:blipFill>
                      <a:blip r:embed="rId2"/>
                      <a:stretch>
                        <a:fillRect/>
                      </a:stretch>
                    </p:blipFill>
                    <p:spPr>
                      <a:xfrm>
                        <a:off x="2401888" y="573088"/>
                        <a:ext cx="1485900" cy="506412"/>
                      </a:xfrm>
                      <a:prstGeom prst="rect">
                        <a:avLst/>
                      </a:prstGeom>
                      <a:noFill/>
                      <a:ln w="38100">
                        <a:noFill/>
                        <a:miter/>
                      </a:ln>
                    </p:spPr>
                  </p:pic>
                </p:oleObj>
              </mc:Fallback>
            </mc:AlternateContent>
          </a:graphicData>
        </a:graphic>
      </p:graphicFrame>
      <p:sp>
        <p:nvSpPr>
          <p:cNvPr id="11" name="矩形 10"/>
          <p:cNvSpPr/>
          <p:nvPr/>
        </p:nvSpPr>
        <p:spPr>
          <a:xfrm>
            <a:off x="536575" y="2693988"/>
            <a:ext cx="7043738" cy="584200"/>
          </a:xfrm>
          <a:prstGeom prst="rect">
            <a:avLst/>
          </a:prstGeom>
          <a:noFill/>
          <a:ln w="9525">
            <a:noFill/>
          </a:ln>
        </p:spPr>
        <p:txBody>
          <a:bodyPr>
            <a:spAutoFit/>
          </a:bodyPr>
          <a:p>
            <a:pPr eaLnBrk="0" hangingPunct="0"/>
            <a:r>
              <a:rPr lang="zh-CN" altLang="en-US" dirty="0">
                <a:latin typeface="Times New Roman" panose="02020603050405020304" pitchFamily="18" charset="0"/>
              </a:rPr>
              <a:t>改进的</a:t>
            </a:r>
            <a:r>
              <a:rPr lang="en-US" altLang="zh-CN" dirty="0">
                <a:latin typeface="Times New Roman" panose="02020603050405020304" pitchFamily="18" charset="0"/>
              </a:rPr>
              <a:t>Euler</a:t>
            </a:r>
            <a:r>
              <a:rPr lang="zh-CN" altLang="en-US" dirty="0">
                <a:latin typeface="Times New Roman" panose="02020603050405020304" pitchFamily="18" charset="0"/>
              </a:rPr>
              <a:t>格式是绝对稳定的。</a:t>
            </a:r>
            <a:endParaRPr lang="zh-CN" altLang="en-US" dirty="0">
              <a:latin typeface="Times New Roman" panose="02020603050405020304" pitchFamily="18" charset="0"/>
            </a:endParaRPr>
          </a:p>
        </p:txBody>
      </p:sp>
      <p:grpSp>
        <p:nvGrpSpPr>
          <p:cNvPr id="2" name="组合 18"/>
          <p:cNvGrpSpPr/>
          <p:nvPr/>
        </p:nvGrpSpPr>
        <p:grpSpPr>
          <a:xfrm>
            <a:off x="563563" y="1828800"/>
            <a:ext cx="8116887" cy="984250"/>
            <a:chOff x="563217" y="1974507"/>
            <a:chExt cx="8116957" cy="984250"/>
          </a:xfrm>
        </p:grpSpPr>
        <p:sp>
          <p:nvSpPr>
            <p:cNvPr id="58383" name="矩形 9"/>
            <p:cNvSpPr/>
            <p:nvPr/>
          </p:nvSpPr>
          <p:spPr>
            <a:xfrm>
              <a:off x="563217" y="2148280"/>
              <a:ext cx="8116957" cy="584775"/>
            </a:xfrm>
            <a:prstGeom prst="rect">
              <a:avLst/>
            </a:prstGeom>
            <a:noFill/>
            <a:ln w="9525">
              <a:noFill/>
            </a:ln>
          </p:spPr>
          <p:txBody>
            <a:bodyPr>
              <a:spAutoFit/>
            </a:bodyPr>
            <a:p>
              <a:pPr eaLnBrk="0" hangingPunct="0"/>
              <a:r>
                <a:rPr lang="zh-CN" altLang="en-US" dirty="0">
                  <a:latin typeface="Times New Roman" panose="02020603050405020304" pitchFamily="18" charset="0"/>
                </a:rPr>
                <a:t>由此解得，当步长</a:t>
              </a:r>
              <a:r>
                <a:rPr lang="en-US" altLang="zh-CN" i="1" dirty="0">
                  <a:latin typeface="Times New Roman" panose="02020603050405020304" pitchFamily="18" charset="0"/>
                </a:rPr>
                <a:t>h</a:t>
              </a:r>
              <a:r>
                <a:rPr lang="zh-CN" altLang="en-US" dirty="0">
                  <a:latin typeface="Times New Roman" panose="02020603050405020304" pitchFamily="18" charset="0"/>
                </a:rPr>
                <a:t>满足                     时，</a:t>
              </a:r>
              <a:endParaRPr lang="zh-CN" altLang="en-US" i="1" dirty="0">
                <a:latin typeface="Times New Roman" panose="02020603050405020304" pitchFamily="18" charset="0"/>
              </a:endParaRPr>
            </a:p>
          </p:txBody>
        </p:sp>
        <p:graphicFrame>
          <p:nvGraphicFramePr>
            <p:cNvPr id="58373" name="Object 9"/>
            <p:cNvGraphicFramePr/>
            <p:nvPr/>
          </p:nvGraphicFramePr>
          <p:xfrm>
            <a:off x="5140018" y="1974507"/>
            <a:ext cx="1805004" cy="984250"/>
          </p:xfrm>
          <a:graphic>
            <a:graphicData uri="http://schemas.openxmlformats.org/presentationml/2006/ole">
              <mc:AlternateContent xmlns:mc="http://schemas.openxmlformats.org/markup-compatibility/2006">
                <mc:Choice xmlns:v="urn:schemas-microsoft-com:vml" Requires="v">
                  <p:oleObj spid="_x0000_s3233" name="" r:id="rId3" imgW="723900" imgH="393700" progId="Equation.3">
                    <p:embed/>
                  </p:oleObj>
                </mc:Choice>
                <mc:Fallback>
                  <p:oleObj name="" r:id="rId3" imgW="723900" imgH="393700" progId="Equation.3">
                    <p:embed/>
                    <p:pic>
                      <p:nvPicPr>
                        <p:cNvPr id="0" name="图片 3232"/>
                        <p:cNvPicPr/>
                        <p:nvPr/>
                      </p:nvPicPr>
                      <p:blipFill>
                        <a:blip r:embed="rId4"/>
                        <a:stretch>
                          <a:fillRect/>
                        </a:stretch>
                      </p:blipFill>
                      <p:spPr>
                        <a:xfrm>
                          <a:off x="5140018" y="1974507"/>
                          <a:ext cx="1805004" cy="984250"/>
                        </a:xfrm>
                        <a:prstGeom prst="rect">
                          <a:avLst/>
                        </a:prstGeom>
                        <a:noFill/>
                        <a:ln w="38100">
                          <a:noFill/>
                          <a:miter/>
                        </a:ln>
                      </p:spPr>
                    </p:pic>
                  </p:oleObj>
                </mc:Fallback>
              </mc:AlternateContent>
            </a:graphicData>
          </a:graphic>
        </p:graphicFrame>
      </p:grpSp>
      <p:grpSp>
        <p:nvGrpSpPr>
          <p:cNvPr id="4" name="组合 17"/>
          <p:cNvGrpSpPr/>
          <p:nvPr/>
        </p:nvGrpSpPr>
        <p:grpSpPr>
          <a:xfrm>
            <a:off x="557213" y="989013"/>
            <a:ext cx="8045450" cy="982662"/>
            <a:chOff x="597249" y="1094549"/>
            <a:chExt cx="8045792" cy="982663"/>
          </a:xfrm>
        </p:grpSpPr>
        <p:sp>
          <p:nvSpPr>
            <p:cNvPr id="58382" name="矩形 7"/>
            <p:cNvSpPr/>
            <p:nvPr/>
          </p:nvSpPr>
          <p:spPr>
            <a:xfrm>
              <a:off x="597249" y="1281380"/>
              <a:ext cx="8045792" cy="584775"/>
            </a:xfrm>
            <a:prstGeom prst="rect">
              <a:avLst/>
            </a:prstGeom>
            <a:noFill/>
            <a:ln w="9525">
              <a:noFill/>
            </a:ln>
          </p:spPr>
          <p:txBody>
            <a:bodyPr wrap="none">
              <a:spAutoFit/>
            </a:bodyPr>
            <a:p>
              <a:pPr eaLnBrk="0" hangingPunct="0"/>
              <a:r>
                <a:rPr lang="zh-CN" altLang="en-US" dirty="0">
                  <a:latin typeface="Times New Roman" panose="02020603050405020304" pitchFamily="18" charset="0"/>
                </a:rPr>
                <a:t>即                                       时，有</a:t>
              </a:r>
              <a:r>
                <a:rPr lang="el-GR" altLang="zh-CN" b="1" dirty="0">
                  <a:solidFill>
                    <a:srgbClr val="FF0000"/>
                  </a:solidFill>
                  <a:latin typeface="Times New Roman" panose="02020603050405020304" pitchFamily="18" charset="0"/>
                </a:rPr>
                <a:t>|</a:t>
              </a:r>
              <a:r>
                <a:rPr lang="el-GR" altLang="zh-CN" b="1" i="1" dirty="0">
                  <a:solidFill>
                    <a:srgbClr val="FF0000"/>
                  </a:solidFill>
                  <a:latin typeface="Times New Roman" panose="02020603050405020304" pitchFamily="18" charset="0"/>
                </a:rPr>
                <a:t>δ</a:t>
              </a:r>
              <a:r>
                <a:rPr lang="en-US" altLang="zh-CN" b="1" i="1" baseline="-25000" dirty="0">
                  <a:solidFill>
                    <a:srgbClr val="FF0000"/>
                  </a:solidFill>
                  <a:latin typeface="Times New Roman" panose="02020603050405020304" pitchFamily="18" charset="0"/>
                </a:rPr>
                <a:t>n</a:t>
              </a:r>
              <a:r>
                <a:rPr lang="en-US" altLang="zh-CN" b="1" baseline="-25000" dirty="0">
                  <a:solidFill>
                    <a:srgbClr val="FF0000"/>
                  </a:solidFill>
                  <a:latin typeface="Times New Roman" panose="02020603050405020304" pitchFamily="18" charset="0"/>
                </a:rPr>
                <a:t>+1</a:t>
              </a:r>
              <a:r>
                <a:rPr lang="en-US" altLang="zh-CN" b="1" i="1" dirty="0">
                  <a:solidFill>
                    <a:srgbClr val="FF0000"/>
                  </a:solidFill>
                  <a:latin typeface="Times New Roman" panose="02020603050405020304" pitchFamily="18" charset="0"/>
                </a:rPr>
                <a:t>| ≤ |</a:t>
              </a:r>
              <a:r>
                <a:rPr lang="el-GR" altLang="zh-CN" b="1" i="1" dirty="0">
                  <a:solidFill>
                    <a:srgbClr val="FF0000"/>
                  </a:solidFill>
                  <a:latin typeface="Times New Roman" panose="02020603050405020304" pitchFamily="18" charset="0"/>
                </a:rPr>
                <a:t>δ</a:t>
              </a:r>
              <a:r>
                <a:rPr lang="en-US" altLang="zh-CN" b="1" i="1" baseline="-25000" dirty="0">
                  <a:solidFill>
                    <a:srgbClr val="FF0000"/>
                  </a:solidFill>
                  <a:latin typeface="Times New Roman" panose="02020603050405020304" pitchFamily="18" charset="0"/>
                </a:rPr>
                <a:t>n</a:t>
              </a:r>
              <a:r>
                <a:rPr lang="en-US" altLang="zh-CN" b="1" i="1" dirty="0">
                  <a:solidFill>
                    <a:srgbClr val="FF0000"/>
                  </a:solidFill>
                  <a:latin typeface="Times New Roman" panose="02020603050405020304" pitchFamily="18" charset="0"/>
                </a:rPr>
                <a:t>|</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58372" name="Object 8"/>
            <p:cNvGraphicFramePr/>
            <p:nvPr/>
          </p:nvGraphicFramePr>
          <p:xfrm>
            <a:off x="1295267" y="1094549"/>
            <a:ext cx="3573463" cy="982663"/>
          </p:xfrm>
          <a:graphic>
            <a:graphicData uri="http://schemas.openxmlformats.org/presentationml/2006/ole">
              <mc:AlternateContent xmlns:mc="http://schemas.openxmlformats.org/markup-compatibility/2006">
                <mc:Choice xmlns:v="urn:schemas-microsoft-com:vml" Requires="v">
                  <p:oleObj spid="_x0000_s3234" name="" r:id="rId5" imgW="1434465" imgH="393700" progId="Equation.3">
                    <p:embed/>
                  </p:oleObj>
                </mc:Choice>
                <mc:Fallback>
                  <p:oleObj name="" r:id="rId5" imgW="1434465" imgH="393700" progId="Equation.3">
                    <p:embed/>
                    <p:pic>
                      <p:nvPicPr>
                        <p:cNvPr id="0" name="图片 3233"/>
                        <p:cNvPicPr/>
                        <p:nvPr/>
                      </p:nvPicPr>
                      <p:blipFill>
                        <a:blip r:embed="rId6"/>
                        <a:stretch>
                          <a:fillRect/>
                        </a:stretch>
                      </p:blipFill>
                      <p:spPr>
                        <a:xfrm>
                          <a:off x="1295267" y="1094549"/>
                          <a:ext cx="3573463" cy="982663"/>
                        </a:xfrm>
                        <a:prstGeom prst="rect">
                          <a:avLst/>
                        </a:prstGeom>
                        <a:noFill/>
                        <a:ln w="38100">
                          <a:noFill/>
                          <a:miter/>
                        </a:ln>
                      </p:spPr>
                    </p:pic>
                  </p:oleObj>
                </mc:Fallback>
              </mc:AlternateContent>
            </a:graphicData>
          </a:graphic>
        </p:graphicFrame>
      </p:grpSp>
      <p:grpSp>
        <p:nvGrpSpPr>
          <p:cNvPr id="5" name="组合 14"/>
          <p:cNvGrpSpPr/>
          <p:nvPr/>
        </p:nvGrpSpPr>
        <p:grpSpPr>
          <a:xfrm>
            <a:off x="304800" y="3275013"/>
            <a:ext cx="8626475" cy="3046412"/>
            <a:chOff x="304800" y="3274710"/>
            <a:chExt cx="8627165" cy="3046988"/>
          </a:xfrm>
        </p:grpSpPr>
        <p:sp>
          <p:nvSpPr>
            <p:cNvPr id="58381" name="矩形 12"/>
            <p:cNvSpPr/>
            <p:nvPr/>
          </p:nvSpPr>
          <p:spPr>
            <a:xfrm>
              <a:off x="304800" y="3274710"/>
              <a:ext cx="8627165" cy="3046988"/>
            </a:xfrm>
            <a:prstGeom prst="rect">
              <a:avLst/>
            </a:prstGeom>
            <a:noFill/>
            <a:ln w="9525">
              <a:noFill/>
            </a:ln>
          </p:spPr>
          <p:txBody>
            <a:bodyPr>
              <a:spAutoFit/>
            </a:bodyPr>
            <a:p>
              <a:pPr eaLnBrk="0" hangingPunct="0">
                <a:lnSpc>
                  <a:spcPct val="150000"/>
                </a:lnSpc>
              </a:pPr>
              <a:r>
                <a:rPr lang="zh-CN" altLang="en-US" b="1" dirty="0">
                  <a:solidFill>
                    <a:schemeClr val="accent2"/>
                  </a:solidFill>
                  <a:latin typeface="Times New Roman" panose="02020603050405020304" pitchFamily="18" charset="0"/>
                </a:rPr>
                <a:t>上面单步法的数值绝对稳定性分析，当 </a:t>
              </a:r>
              <a:r>
                <a:rPr lang="en-US" altLang="zh-CN" b="1" i="1" dirty="0">
                  <a:solidFill>
                    <a:schemeClr val="accent2"/>
                  </a:solidFill>
                  <a:latin typeface="Times New Roman" panose="02020603050405020304" pitchFamily="18" charset="0"/>
                </a:rPr>
                <a:t>f</a:t>
              </a:r>
              <a:r>
                <a:rPr lang="en-US" altLang="zh-CN" b="1" dirty="0">
                  <a:solidFill>
                    <a:schemeClr val="accent2"/>
                  </a:solidFill>
                  <a:latin typeface="Times New Roman" panose="02020603050405020304" pitchFamily="18" charset="0"/>
                </a:rPr>
                <a:t>(</a:t>
              </a:r>
              <a:r>
                <a:rPr lang="en-US" altLang="zh-CN" b="1" i="1" dirty="0">
                  <a:solidFill>
                    <a:schemeClr val="accent2"/>
                  </a:solidFill>
                  <a:latin typeface="Times New Roman" panose="02020603050405020304" pitchFamily="18" charset="0"/>
                </a:rPr>
                <a:t>x</a:t>
              </a:r>
              <a:r>
                <a:rPr lang="en-US" altLang="zh-CN" b="1" dirty="0">
                  <a:solidFill>
                    <a:schemeClr val="accent2"/>
                  </a:solidFill>
                  <a:latin typeface="Times New Roman" panose="02020603050405020304" pitchFamily="18" charset="0"/>
                </a:rPr>
                <a:t>,</a:t>
              </a:r>
              <a:r>
                <a:rPr lang="en-US" altLang="zh-CN" b="1" i="1" dirty="0">
                  <a:solidFill>
                    <a:schemeClr val="accent2"/>
                  </a:solidFill>
                  <a:latin typeface="Times New Roman" panose="02020603050405020304" pitchFamily="18" charset="0"/>
                </a:rPr>
                <a:t>y</a:t>
              </a:r>
              <a:r>
                <a:rPr lang="en-US" altLang="zh-CN" b="1" dirty="0">
                  <a:solidFill>
                    <a:schemeClr val="accent2"/>
                  </a:solidFill>
                  <a:latin typeface="Times New Roman" panose="02020603050405020304" pitchFamily="18" charset="0"/>
                </a:rPr>
                <a:t>) </a:t>
              </a:r>
              <a:r>
                <a:rPr lang="zh-CN" altLang="en-US" b="1" dirty="0">
                  <a:solidFill>
                    <a:schemeClr val="accent2"/>
                  </a:solidFill>
                  <a:latin typeface="Times New Roman" panose="02020603050405020304" pitchFamily="18" charset="0"/>
                </a:rPr>
                <a:t>关于第二变元是线性的情况下，一般是对的，</a:t>
              </a:r>
              <a:r>
                <a:rPr lang="en-US" altLang="zh-CN" b="1" dirty="0">
                  <a:solidFill>
                    <a:schemeClr val="accent2"/>
                  </a:solidFill>
                  <a:latin typeface="Times New Roman" panose="02020603050405020304" pitchFamily="18" charset="0"/>
                </a:rPr>
                <a:t> </a:t>
              </a:r>
              <a:r>
                <a:rPr lang="zh-CN" altLang="en-US" b="1" dirty="0">
                  <a:solidFill>
                    <a:schemeClr val="accent2"/>
                  </a:solidFill>
                  <a:latin typeface="Times New Roman" panose="02020603050405020304" pitchFamily="18" charset="0"/>
                </a:rPr>
                <a:t>此时                     。否则只是一种近似分析，其实一般情况下，稳定性分析是相当复杂的。</a:t>
              </a:r>
              <a:endParaRPr lang="zh-CN" altLang="en-US" dirty="0">
                <a:solidFill>
                  <a:schemeClr val="accent2"/>
                </a:solidFill>
                <a:latin typeface="Times New Roman" panose="02020603050405020304" pitchFamily="18" charset="0"/>
              </a:endParaRPr>
            </a:p>
          </p:txBody>
        </p:sp>
        <p:graphicFrame>
          <p:nvGraphicFramePr>
            <p:cNvPr id="58371" name="Object 13"/>
            <p:cNvGraphicFramePr/>
            <p:nvPr/>
          </p:nvGraphicFramePr>
          <p:xfrm>
            <a:off x="885700" y="4746078"/>
            <a:ext cx="2000250" cy="1057275"/>
          </p:xfrm>
          <a:graphic>
            <a:graphicData uri="http://schemas.openxmlformats.org/presentationml/2006/ole">
              <mc:AlternateContent xmlns:mc="http://schemas.openxmlformats.org/markup-compatibility/2006">
                <mc:Choice xmlns:v="urn:schemas-microsoft-com:vml" Requires="v">
                  <p:oleObj spid="_x0000_s3237" name="" r:id="rId7" imgW="799465" imgH="419100" progId="Equation.3">
                    <p:embed/>
                  </p:oleObj>
                </mc:Choice>
                <mc:Fallback>
                  <p:oleObj name="" r:id="rId7" imgW="799465" imgH="419100" progId="Equation.3">
                    <p:embed/>
                    <p:pic>
                      <p:nvPicPr>
                        <p:cNvPr id="0" name="图片 3236"/>
                        <p:cNvPicPr/>
                        <p:nvPr/>
                      </p:nvPicPr>
                      <p:blipFill>
                        <a:blip r:embed="rId8"/>
                        <a:stretch>
                          <a:fillRect/>
                        </a:stretch>
                      </p:blipFill>
                      <p:spPr>
                        <a:xfrm>
                          <a:off x="885700" y="4746078"/>
                          <a:ext cx="2000250" cy="1057275"/>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wd">
                                    <p:tmAbs val="200"/>
                                  </p:iterate>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dissolv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9397"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59398" name="Rectangle 2"/>
          <p:cNvSpPr>
            <a:spLocks noGrp="1"/>
          </p:cNvSpPr>
          <p:nvPr>
            <p:ph type="title"/>
          </p:nvPr>
        </p:nvSpPr>
        <p:spPr>
          <a:xfrm>
            <a:off x="482600" y="263525"/>
            <a:ext cx="7772400" cy="1143000"/>
          </a:xfrm>
          <a:ln/>
        </p:spPr>
        <p:txBody>
          <a:bodyPr vert="horz" wrap="square" lIns="91440" tIns="45720" rIns="91440" bIns="45720" anchor="ctr" anchorCtr="0"/>
          <a:p>
            <a:r>
              <a:rPr lang="en-US" altLang="zh-CN" sz="4000" b="1" u="none" dirty="0">
                <a:latin typeface="Times New Roman" panose="02020603050405020304" pitchFamily="18" charset="0"/>
              </a:rPr>
              <a:t>9.4</a:t>
            </a:r>
            <a:r>
              <a:rPr lang="zh-CN" altLang="en-US" sz="4000" b="1" u="none" dirty="0"/>
              <a:t>一阶常微分方程组与高阶方程初值问题的数值解法</a:t>
            </a:r>
            <a:r>
              <a:rPr lang="zh-CN" altLang="en-US" dirty="0"/>
              <a:t> </a:t>
            </a:r>
            <a:endParaRPr lang="zh-CN" altLang="en-US" dirty="0"/>
          </a:p>
        </p:txBody>
      </p:sp>
      <p:sp>
        <p:nvSpPr>
          <p:cNvPr id="153605" name="Rectangle 5"/>
          <p:cNvSpPr>
            <a:spLocks noGrp="1"/>
          </p:cNvSpPr>
          <p:nvPr>
            <p:ph idx="1"/>
          </p:nvPr>
        </p:nvSpPr>
        <p:spPr>
          <a:xfrm>
            <a:off x="358775" y="1584325"/>
            <a:ext cx="7772400" cy="565150"/>
          </a:xfrm>
          <a:ln/>
        </p:spPr>
        <p:txBody>
          <a:bodyPr vert="horz" wrap="square" lIns="91440" tIns="45720" rIns="91440" bIns="45720" anchor="t" anchorCtr="0"/>
          <a:p>
            <a:pPr marL="0" indent="0">
              <a:lnSpc>
                <a:spcPct val="90000"/>
              </a:lnSpc>
              <a:buNone/>
            </a:pPr>
            <a:r>
              <a:rPr lang="en-US" altLang="zh-CN" sz="3200" b="1" dirty="0">
                <a:solidFill>
                  <a:schemeClr val="accent2"/>
                </a:solidFill>
                <a:latin typeface="Times New Roman" panose="02020603050405020304" pitchFamily="18" charset="0"/>
              </a:rPr>
              <a:t>9.4</a:t>
            </a:r>
            <a:r>
              <a:rPr lang="zh-CN" altLang="en-US" sz="3200" b="1" dirty="0">
                <a:solidFill>
                  <a:schemeClr val="accent2"/>
                </a:solidFill>
                <a:latin typeface="Times New Roman" panose="02020603050405020304" pitchFamily="18" charset="0"/>
              </a:rPr>
              <a:t>.1 </a:t>
            </a:r>
            <a:r>
              <a:rPr lang="zh-CN" altLang="en-US" sz="3200" b="1" dirty="0">
                <a:solidFill>
                  <a:schemeClr val="accent2"/>
                </a:solidFill>
              </a:rPr>
              <a:t>一阶常微分方程组</a:t>
            </a:r>
            <a:r>
              <a:rPr lang="zh-CN" altLang="en-US" sz="3200" b="1" dirty="0">
                <a:solidFill>
                  <a:schemeClr val="accent2"/>
                </a:solidFill>
                <a:latin typeface="Times New Roman" panose="02020603050405020304" pitchFamily="18" charset="0"/>
              </a:rPr>
              <a:t>初值问题</a:t>
            </a:r>
            <a:r>
              <a:rPr lang="zh-CN" altLang="en-US" sz="3200" b="1" dirty="0"/>
              <a:t> </a:t>
            </a:r>
            <a:endParaRPr lang="zh-CN" altLang="en-US" sz="3200" b="1" dirty="0"/>
          </a:p>
        </p:txBody>
      </p:sp>
      <p:graphicFrame>
        <p:nvGraphicFramePr>
          <p:cNvPr id="220160" name="Object 1024"/>
          <p:cNvGraphicFramePr/>
          <p:nvPr/>
        </p:nvGraphicFramePr>
        <p:xfrm>
          <a:off x="1662113" y="2025650"/>
          <a:ext cx="4029075" cy="3616325"/>
        </p:xfrm>
        <a:graphic>
          <a:graphicData uri="http://schemas.openxmlformats.org/presentationml/2006/ole">
            <mc:AlternateContent xmlns:mc="http://schemas.openxmlformats.org/markup-compatibility/2006">
              <mc:Choice xmlns:v="urn:schemas-microsoft-com:vml" Requires="v">
                <p:oleObj spid="_x0000_s3242" name="" r:id="rId1" imgW="1612900" imgH="1447800" progId="Equation.3">
                  <p:embed/>
                </p:oleObj>
              </mc:Choice>
              <mc:Fallback>
                <p:oleObj name="" r:id="rId1" imgW="1612900" imgH="1447800" progId="Equation.3">
                  <p:embed/>
                  <p:pic>
                    <p:nvPicPr>
                      <p:cNvPr id="0" name="图片 3241"/>
                      <p:cNvPicPr/>
                      <p:nvPr/>
                    </p:nvPicPr>
                    <p:blipFill>
                      <a:blip r:embed="rId2"/>
                      <a:stretch>
                        <a:fillRect/>
                      </a:stretch>
                    </p:blipFill>
                    <p:spPr>
                      <a:xfrm>
                        <a:off x="1662113" y="2025650"/>
                        <a:ext cx="4029075" cy="3616325"/>
                      </a:xfrm>
                      <a:prstGeom prst="rect">
                        <a:avLst/>
                      </a:prstGeom>
                      <a:noFill/>
                      <a:ln w="38100">
                        <a:noFill/>
                        <a:miter/>
                      </a:ln>
                    </p:spPr>
                  </p:pic>
                </p:oleObj>
              </mc:Fallback>
            </mc:AlternateContent>
          </a:graphicData>
        </a:graphic>
      </p:graphicFrame>
      <p:graphicFrame>
        <p:nvGraphicFramePr>
          <p:cNvPr id="220161" name="Object 1025"/>
          <p:cNvGraphicFramePr/>
          <p:nvPr/>
        </p:nvGraphicFramePr>
        <p:xfrm>
          <a:off x="739775" y="5789613"/>
          <a:ext cx="7475538" cy="601662"/>
        </p:xfrm>
        <a:graphic>
          <a:graphicData uri="http://schemas.openxmlformats.org/presentationml/2006/ole">
            <mc:AlternateContent xmlns:mc="http://schemas.openxmlformats.org/markup-compatibility/2006">
              <mc:Choice xmlns:v="urn:schemas-microsoft-com:vml" Requires="v">
                <p:oleObj spid="_x0000_s3244" name="" r:id="rId3" imgW="2995930" imgH="241300" progId="Equation.DSMT4">
                  <p:embed/>
                </p:oleObj>
              </mc:Choice>
              <mc:Fallback>
                <p:oleObj name="" r:id="rId3" imgW="2995930" imgH="241300" progId="Equation.DSMT4">
                  <p:embed/>
                  <p:pic>
                    <p:nvPicPr>
                      <p:cNvPr id="0" name="图片 3243"/>
                      <p:cNvPicPr/>
                      <p:nvPr/>
                    </p:nvPicPr>
                    <p:blipFill>
                      <a:blip r:embed="rId4"/>
                      <a:stretch>
                        <a:fillRect/>
                      </a:stretch>
                    </p:blipFill>
                    <p:spPr>
                      <a:xfrm>
                        <a:off x="739775" y="5789613"/>
                        <a:ext cx="7475538" cy="6016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3605">
                                            <p:txEl>
                                              <p:charRg st="0" end="21"/>
                                            </p:txEl>
                                          </p:spTgt>
                                        </p:tgtEl>
                                        <p:attrNameLst>
                                          <p:attrName>style.visibility</p:attrName>
                                        </p:attrNameLst>
                                      </p:cBhvr>
                                      <p:to>
                                        <p:strVal val="visible"/>
                                      </p:to>
                                    </p:set>
                                    <p:animEffect transition="in" filter="box(in)">
                                      <p:cBhvr>
                                        <p:cTn id="7" dur="500"/>
                                        <p:tgtEl>
                                          <p:spTgt spid="153605">
                                            <p:txEl>
                                              <p:charRg st="0" end="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20160"/>
                                        </p:tgtEl>
                                        <p:attrNameLst>
                                          <p:attrName>style.visibility</p:attrName>
                                        </p:attrNameLst>
                                      </p:cBhvr>
                                      <p:to>
                                        <p:strVal val="visible"/>
                                      </p:to>
                                    </p:set>
                                    <p:animEffect transition="in" filter="wipe(up)">
                                      <p:cBhvr>
                                        <p:cTn id="12" dur="500"/>
                                        <p:tgtEl>
                                          <p:spTgt spid="22016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20161"/>
                                        </p:tgtEl>
                                        <p:attrNameLst>
                                          <p:attrName>style.visibility</p:attrName>
                                        </p:attrNameLst>
                                      </p:cBhvr>
                                      <p:to>
                                        <p:strVal val="visible"/>
                                      </p:to>
                                    </p:set>
                                    <p:animEffect transition="in" filter="dissolve">
                                      <p:cBhvr>
                                        <p:cTn id="17" dur="500"/>
                                        <p:tgtEl>
                                          <p:spTgt spid="220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5"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423"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60424" name="Rectangle 2"/>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写成向量形式：</a:t>
            </a:r>
            <a:r>
              <a:rPr lang="zh-CN" altLang="en-US" dirty="0"/>
              <a:t> </a:t>
            </a:r>
            <a:endParaRPr lang="zh-CN" altLang="en-US" dirty="0"/>
          </a:p>
        </p:txBody>
      </p:sp>
      <p:graphicFrame>
        <p:nvGraphicFramePr>
          <p:cNvPr id="221185" name="Object 1025"/>
          <p:cNvGraphicFramePr/>
          <p:nvPr/>
        </p:nvGraphicFramePr>
        <p:xfrm>
          <a:off x="5713413" y="2133600"/>
          <a:ext cx="3044825" cy="2311400"/>
        </p:xfrm>
        <a:graphic>
          <a:graphicData uri="http://schemas.openxmlformats.org/presentationml/2006/ole">
            <mc:AlternateContent xmlns:mc="http://schemas.openxmlformats.org/markup-compatibility/2006">
              <mc:Choice xmlns:v="urn:schemas-microsoft-com:vml" Requires="v">
                <p:oleObj spid="_x0000_s3240" name="" r:id="rId1" imgW="1269365" imgH="964565" progId="Equation.3">
                  <p:embed/>
                </p:oleObj>
              </mc:Choice>
              <mc:Fallback>
                <p:oleObj name="" r:id="rId1" imgW="1269365" imgH="964565" progId="Equation.3">
                  <p:embed/>
                  <p:pic>
                    <p:nvPicPr>
                      <p:cNvPr id="0" name="图片 3239"/>
                      <p:cNvPicPr/>
                      <p:nvPr/>
                    </p:nvPicPr>
                    <p:blipFill>
                      <a:blip r:embed="rId2"/>
                      <a:stretch>
                        <a:fillRect/>
                      </a:stretch>
                    </p:blipFill>
                    <p:spPr>
                      <a:xfrm>
                        <a:off x="5713413" y="2133600"/>
                        <a:ext cx="3044825" cy="2311400"/>
                      </a:xfrm>
                      <a:prstGeom prst="rect">
                        <a:avLst/>
                      </a:prstGeom>
                      <a:noFill/>
                      <a:ln w="38100">
                        <a:noFill/>
                        <a:miter/>
                      </a:ln>
                    </p:spPr>
                  </p:pic>
                </p:oleObj>
              </mc:Fallback>
            </mc:AlternateContent>
          </a:graphicData>
        </a:graphic>
      </p:graphicFrame>
      <p:graphicFrame>
        <p:nvGraphicFramePr>
          <p:cNvPr id="221186" name="Object 1026"/>
          <p:cNvGraphicFramePr/>
          <p:nvPr/>
        </p:nvGraphicFramePr>
        <p:xfrm>
          <a:off x="266700" y="4410075"/>
          <a:ext cx="2984500" cy="579438"/>
        </p:xfrm>
        <a:graphic>
          <a:graphicData uri="http://schemas.openxmlformats.org/presentationml/2006/ole">
            <mc:AlternateContent xmlns:mc="http://schemas.openxmlformats.org/markup-compatibility/2006">
              <mc:Choice xmlns:v="urn:schemas-microsoft-com:vml" Requires="v">
                <p:oleObj spid="_x0000_s3241" name="" r:id="rId3" imgW="1243965" imgH="241300" progId="Equation.3">
                  <p:embed/>
                </p:oleObj>
              </mc:Choice>
              <mc:Fallback>
                <p:oleObj name="" r:id="rId3" imgW="1243965" imgH="241300" progId="Equation.3">
                  <p:embed/>
                  <p:pic>
                    <p:nvPicPr>
                      <p:cNvPr id="0" name="图片 3240"/>
                      <p:cNvPicPr/>
                      <p:nvPr/>
                    </p:nvPicPr>
                    <p:blipFill>
                      <a:blip r:embed="rId4"/>
                      <a:stretch>
                        <a:fillRect/>
                      </a:stretch>
                    </p:blipFill>
                    <p:spPr>
                      <a:xfrm>
                        <a:off x="266700" y="4410075"/>
                        <a:ext cx="2984500" cy="579438"/>
                      </a:xfrm>
                      <a:prstGeom prst="rect">
                        <a:avLst/>
                      </a:prstGeom>
                      <a:noFill/>
                      <a:ln w="38100">
                        <a:noFill/>
                        <a:miter/>
                      </a:ln>
                    </p:spPr>
                  </p:pic>
                </p:oleObj>
              </mc:Fallback>
            </mc:AlternateContent>
          </a:graphicData>
        </a:graphic>
      </p:graphicFrame>
      <p:sp>
        <p:nvSpPr>
          <p:cNvPr id="155658" name="Text Box 10"/>
          <p:cNvSpPr txBox="1"/>
          <p:nvPr/>
        </p:nvSpPr>
        <p:spPr>
          <a:xfrm>
            <a:off x="84138" y="2862263"/>
            <a:ext cx="996950" cy="579437"/>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其中</a:t>
            </a:r>
            <a:endParaRPr lang="zh-CN" altLang="en-US" b="1" dirty="0">
              <a:latin typeface="Times New Roman" panose="02020603050405020304" pitchFamily="18" charset="0"/>
            </a:endParaRPr>
          </a:p>
        </p:txBody>
      </p:sp>
      <p:sp>
        <p:nvSpPr>
          <p:cNvPr id="155661" name="Text Box 13"/>
          <p:cNvSpPr txBox="1"/>
          <p:nvPr/>
        </p:nvSpPr>
        <p:spPr>
          <a:xfrm>
            <a:off x="268288" y="5064125"/>
            <a:ext cx="8493125" cy="1568450"/>
          </a:xfrm>
          <a:prstGeom prst="rect">
            <a:avLst/>
          </a:prstGeom>
          <a:noFill/>
          <a:ln w="9525">
            <a:noFill/>
          </a:ln>
        </p:spPr>
        <p:txBody>
          <a:bodyPr>
            <a:spAutoFit/>
          </a:bodyPr>
          <a:p>
            <a:pPr eaLnBrk="0" hangingPunct="0"/>
            <a:r>
              <a:rPr lang="zh-CN" altLang="en-US" b="1" dirty="0">
                <a:latin typeface="Times New Roman" panose="02020603050405020304" pitchFamily="18" charset="0"/>
              </a:rPr>
              <a:t>注意: 在形式上 (</a:t>
            </a:r>
            <a:r>
              <a:rPr lang="en-US" altLang="zh-CN" b="1" dirty="0">
                <a:latin typeface="Times New Roman" panose="02020603050405020304" pitchFamily="18" charset="0"/>
              </a:rPr>
              <a:t>9.</a:t>
            </a:r>
            <a:r>
              <a:rPr lang="en-US" altLang="zh-CN" b="1" dirty="0">
                <a:latin typeface="Times New Roman" panose="02020603050405020304" pitchFamily="18" charset="0"/>
              </a:rPr>
              <a:t>4</a:t>
            </a:r>
            <a:r>
              <a:rPr lang="zh-CN" altLang="en-US" b="1" dirty="0">
                <a:latin typeface="Times New Roman" panose="02020603050405020304" pitchFamily="18" charset="0"/>
              </a:rPr>
              <a:t>.2) 与 (</a:t>
            </a:r>
            <a:r>
              <a:rPr lang="en-US" altLang="zh-CN" b="1" dirty="0">
                <a:latin typeface="Times New Roman" panose="02020603050405020304" pitchFamily="18" charset="0"/>
              </a:rPr>
              <a:t>9.</a:t>
            </a:r>
            <a:r>
              <a:rPr lang="zh-CN" altLang="en-US" b="1" dirty="0">
                <a:latin typeface="Times New Roman" panose="02020603050405020304" pitchFamily="18" charset="0"/>
              </a:rPr>
              <a:t>0.1) 一样, 所以可以把求解常微分方程初值问题的各种数值方法推广到方程组上来. </a:t>
            </a:r>
            <a:endParaRPr lang="zh-CN" altLang="en-US" b="1" dirty="0">
              <a:latin typeface="Times New Roman" panose="02020603050405020304" pitchFamily="18" charset="0"/>
            </a:endParaRPr>
          </a:p>
        </p:txBody>
      </p:sp>
      <p:graphicFrame>
        <p:nvGraphicFramePr>
          <p:cNvPr id="56331" name="Object 11"/>
          <p:cNvGraphicFramePr/>
          <p:nvPr/>
        </p:nvGraphicFramePr>
        <p:xfrm>
          <a:off x="3489167" y="405606"/>
          <a:ext cx="3383280" cy="1520825"/>
        </p:xfrm>
        <a:graphic>
          <a:graphicData uri="http://schemas.openxmlformats.org/presentationml/2006/ole">
            <mc:AlternateContent xmlns:mc="http://schemas.openxmlformats.org/markup-compatibility/2006">
              <mc:Choice xmlns:v="urn:schemas-microsoft-com:vml" Requires="v">
                <p:oleObj spid="_x0000_s3243" name="" r:id="rId5" imgW="1409700" imgH="634365" progId="Equation.3">
                  <p:embed/>
                </p:oleObj>
              </mc:Choice>
              <mc:Fallback>
                <p:oleObj name="" r:id="rId5" imgW="1409700" imgH="634365" progId="Equation.3">
                  <p:embed/>
                  <p:pic>
                    <p:nvPicPr>
                      <p:cNvPr id="0" name="图片 3242"/>
                      <p:cNvPicPr/>
                      <p:nvPr/>
                    </p:nvPicPr>
                    <p:blipFill>
                      <a:blip r:embed="rId6"/>
                      <a:stretch>
                        <a:fillRect/>
                      </a:stretch>
                    </p:blipFill>
                    <p:spPr>
                      <a:xfrm>
                        <a:off x="3489167" y="405606"/>
                        <a:ext cx="3383280" cy="1520825"/>
                      </a:xfrm>
                      <a:prstGeom prst="rect">
                        <a:avLst/>
                      </a:prstGeom>
                      <a:gradFill rotWithShape="0">
                        <a:gsLst>
                          <a:gs pos="0">
                            <a:schemeClr val="accent1"/>
                          </a:gs>
                          <a:gs pos="50000">
                            <a:srgbClr val="FFFFFF"/>
                          </a:gs>
                          <a:gs pos="100000">
                            <a:schemeClr val="accent1"/>
                          </a:gs>
                        </a:gsLst>
                        <a:lin ang="5400000" scaled="1"/>
                        <a:tileRect/>
                      </a:gradFill>
                      <a:ln w="38100">
                        <a:noFill/>
                        <a:miter/>
                      </a:ln>
                    </p:spPr>
                  </p:pic>
                </p:oleObj>
              </mc:Fallback>
            </mc:AlternateContent>
          </a:graphicData>
        </a:graphic>
      </p:graphicFrame>
      <p:graphicFrame>
        <p:nvGraphicFramePr>
          <p:cNvPr id="56332" name="Object 12"/>
          <p:cNvGraphicFramePr/>
          <p:nvPr/>
        </p:nvGraphicFramePr>
        <p:xfrm>
          <a:off x="1062038" y="2038350"/>
          <a:ext cx="4667250" cy="2349500"/>
        </p:xfrm>
        <a:graphic>
          <a:graphicData uri="http://schemas.openxmlformats.org/presentationml/2006/ole">
            <mc:AlternateContent xmlns:mc="http://schemas.openxmlformats.org/markup-compatibility/2006">
              <mc:Choice xmlns:v="urn:schemas-microsoft-com:vml" Requires="v">
                <p:oleObj spid="_x0000_s3239" name="" r:id="rId7" imgW="1866900" imgH="939800" progId="Equation.3">
                  <p:embed/>
                </p:oleObj>
              </mc:Choice>
              <mc:Fallback>
                <p:oleObj name="" r:id="rId7" imgW="1866900" imgH="939800" progId="Equation.3">
                  <p:embed/>
                  <p:pic>
                    <p:nvPicPr>
                      <p:cNvPr id="0" name="图片 3238"/>
                      <p:cNvPicPr/>
                      <p:nvPr/>
                    </p:nvPicPr>
                    <p:blipFill>
                      <a:blip r:embed="rId8"/>
                      <a:stretch>
                        <a:fillRect/>
                      </a:stretch>
                    </p:blipFill>
                    <p:spPr>
                      <a:xfrm>
                        <a:off x="1062038" y="2038350"/>
                        <a:ext cx="4667250" cy="23495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6331"/>
                                        </p:tgtEl>
                                        <p:attrNameLst>
                                          <p:attrName>style.visibility</p:attrName>
                                        </p:attrNameLst>
                                      </p:cBhvr>
                                      <p:to>
                                        <p:strVal val="visible"/>
                                      </p:to>
                                    </p:set>
                                    <p:animEffect transition="in" filter="dissolve">
                                      <p:cBhvr>
                                        <p:cTn id="7" dur="500"/>
                                        <p:tgtEl>
                                          <p:spTgt spid="5633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55658"/>
                                        </p:tgtEl>
                                        <p:attrNameLst>
                                          <p:attrName>style.visibility</p:attrName>
                                        </p:attrNameLst>
                                      </p:cBhvr>
                                      <p:to>
                                        <p:strVal val="visible"/>
                                      </p:to>
                                    </p:set>
                                    <p:anim calcmode="lin" valueType="num">
                                      <p:cBhvr>
                                        <p:cTn id="12" dur="500" fill="hold"/>
                                        <p:tgtEl>
                                          <p:spTgt spid="155658"/>
                                        </p:tgtEl>
                                        <p:attrNameLst>
                                          <p:attrName>ppt_x</p:attrName>
                                        </p:attrNameLst>
                                      </p:cBhvr>
                                      <p:tavLst>
                                        <p:tav tm="0">
                                          <p:val>
                                            <p:strVal val="0-#ppt_w/2"/>
                                          </p:val>
                                        </p:tav>
                                        <p:tav tm="100000">
                                          <p:val>
                                            <p:strVal val="#ppt_x"/>
                                          </p:val>
                                        </p:tav>
                                      </p:tavLst>
                                    </p:anim>
                                    <p:anim calcmode="lin" valueType="num">
                                      <p:cBhvr>
                                        <p:cTn id="13" dur="500" fill="hold"/>
                                        <p:tgtEl>
                                          <p:spTgt spid="15565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56332"/>
                                        </p:tgtEl>
                                        <p:attrNameLst>
                                          <p:attrName>style.visibility</p:attrName>
                                        </p:attrNameLst>
                                      </p:cBhvr>
                                      <p:to>
                                        <p:strVal val="visible"/>
                                      </p:to>
                                    </p:set>
                                    <p:animEffect transition="in" filter="dissolve">
                                      <p:cBhvr>
                                        <p:cTn id="18" dur="500"/>
                                        <p:tgtEl>
                                          <p:spTgt spid="5633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21185"/>
                                        </p:tgtEl>
                                        <p:attrNameLst>
                                          <p:attrName>style.visibility</p:attrName>
                                        </p:attrNameLst>
                                      </p:cBhvr>
                                      <p:to>
                                        <p:strVal val="visible"/>
                                      </p:to>
                                    </p:set>
                                    <p:animEffect transition="in" filter="dissolve">
                                      <p:cBhvr>
                                        <p:cTn id="23" dur="500"/>
                                        <p:tgtEl>
                                          <p:spTgt spid="221185"/>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21186"/>
                                        </p:tgtEl>
                                        <p:attrNameLst>
                                          <p:attrName>style.visibility</p:attrName>
                                        </p:attrNameLst>
                                      </p:cBhvr>
                                      <p:to>
                                        <p:strVal val="visible"/>
                                      </p:to>
                                    </p:set>
                                    <p:animEffect transition="in" filter="dissolve">
                                      <p:cBhvr>
                                        <p:cTn id="28" dur="500"/>
                                        <p:tgtEl>
                                          <p:spTgt spid="221186"/>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55661"/>
                                        </p:tgtEl>
                                        <p:attrNameLst>
                                          <p:attrName>style.visibility</p:attrName>
                                        </p:attrNameLst>
                                      </p:cBhvr>
                                      <p:to>
                                        <p:strVal val="visible"/>
                                      </p:to>
                                    </p:set>
                                    <p:anim calcmode="lin" valueType="num">
                                      <p:cBhvr>
                                        <p:cTn id="33" dur="500" fill="hold"/>
                                        <p:tgtEl>
                                          <p:spTgt spid="155661"/>
                                        </p:tgtEl>
                                        <p:attrNameLst>
                                          <p:attrName>ppt_x</p:attrName>
                                        </p:attrNameLst>
                                      </p:cBhvr>
                                      <p:tavLst>
                                        <p:tav tm="0">
                                          <p:val>
                                            <p:strVal val="0-#ppt_w/2"/>
                                          </p:val>
                                        </p:tav>
                                        <p:tav tm="100000">
                                          <p:val>
                                            <p:strVal val="#ppt_x"/>
                                          </p:val>
                                        </p:tav>
                                      </p:tavLst>
                                    </p:anim>
                                    <p:anim calcmode="lin" valueType="num">
                                      <p:cBhvr>
                                        <p:cTn id="34" dur="500" fill="hold"/>
                                        <p:tgtEl>
                                          <p:spTgt spid="1556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8" grpId="0"/>
      <p:bldP spid="15566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446"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61447" name="Rectangle 2"/>
          <p:cNvSpPr>
            <a:spLocks noGrp="1"/>
          </p:cNvSpPr>
          <p:nvPr>
            <p:ph type="title"/>
          </p:nvPr>
        </p:nvSpPr>
        <p:spPr>
          <a:xfrm>
            <a:off x="533400" y="228600"/>
            <a:ext cx="7958138" cy="1143000"/>
          </a:xfrm>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利用向量值函数的微积分理论, 很容易推导出</a:t>
            </a:r>
            <a:r>
              <a:rPr lang="zh-CN" altLang="en-US" b="1" u="none" dirty="0">
                <a:solidFill>
                  <a:schemeClr val="tx1"/>
                </a:solidFill>
              </a:rPr>
              <a:t>一阶常微分方程组</a:t>
            </a:r>
            <a:r>
              <a:rPr lang="zh-CN" altLang="en-US" b="1" u="none" dirty="0">
                <a:solidFill>
                  <a:schemeClr val="tx1"/>
                </a:solidFill>
                <a:latin typeface="Times New Roman" panose="02020603050405020304" pitchFamily="18" charset="0"/>
              </a:rPr>
              <a:t>初值问题的数值解法.</a:t>
            </a:r>
            <a:r>
              <a:rPr lang="zh-CN" altLang="en-US" sz="2800" u="none" dirty="0">
                <a:solidFill>
                  <a:schemeClr val="tx1"/>
                </a:solidFill>
                <a:latin typeface="Times New Roman" panose="02020603050405020304" pitchFamily="18" charset="0"/>
              </a:rPr>
              <a:t> </a:t>
            </a:r>
            <a:endParaRPr lang="zh-CN" altLang="en-US" sz="2800" u="none" dirty="0"/>
          </a:p>
        </p:txBody>
      </p:sp>
      <p:graphicFrame>
        <p:nvGraphicFramePr>
          <p:cNvPr id="156675" name="Object 3"/>
          <p:cNvGraphicFramePr/>
          <p:nvPr/>
        </p:nvGraphicFramePr>
        <p:xfrm>
          <a:off x="3186431" y="1665288"/>
          <a:ext cx="4695190" cy="571500"/>
        </p:xfrm>
        <a:graphic>
          <a:graphicData uri="http://schemas.openxmlformats.org/presentationml/2006/ole">
            <mc:AlternateContent xmlns:mc="http://schemas.openxmlformats.org/markup-compatibility/2006">
              <mc:Choice xmlns:v="urn:schemas-microsoft-com:vml" Requires="v">
                <p:oleObj spid="_x0000_s3248" name="" r:id="rId1" imgW="1854200" imgH="228600" progId="Equation.3">
                  <p:embed/>
                </p:oleObj>
              </mc:Choice>
              <mc:Fallback>
                <p:oleObj name="" r:id="rId1" imgW="1854200" imgH="228600" progId="Equation.3">
                  <p:embed/>
                  <p:pic>
                    <p:nvPicPr>
                      <p:cNvPr id="0" name="图片 3247"/>
                      <p:cNvPicPr/>
                      <p:nvPr/>
                    </p:nvPicPr>
                    <p:blipFill>
                      <a:blip r:embed="rId2"/>
                      <a:stretch>
                        <a:fillRect/>
                      </a:stretch>
                    </p:blipFill>
                    <p:spPr>
                      <a:xfrm>
                        <a:off x="3186431" y="1665288"/>
                        <a:ext cx="4695190" cy="571500"/>
                      </a:xfrm>
                      <a:prstGeom prst="rect">
                        <a:avLst/>
                      </a:prstGeom>
                      <a:noFill/>
                      <a:ln w="38100">
                        <a:noFill/>
                        <a:miter/>
                      </a:ln>
                    </p:spPr>
                  </p:pic>
                </p:oleObj>
              </mc:Fallback>
            </mc:AlternateContent>
          </a:graphicData>
        </a:graphic>
      </p:graphicFrame>
      <p:sp>
        <p:nvSpPr>
          <p:cNvPr id="156680" name="Text Box 8"/>
          <p:cNvSpPr txBox="1"/>
          <p:nvPr/>
        </p:nvSpPr>
        <p:spPr>
          <a:xfrm>
            <a:off x="488950" y="1611313"/>
            <a:ext cx="2384425" cy="579437"/>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如</a:t>
            </a:r>
            <a:r>
              <a:rPr lang="en-US" altLang="zh-CN" b="1" dirty="0">
                <a:latin typeface="Times New Roman" panose="02020603050405020304" pitchFamily="18" charset="0"/>
              </a:rPr>
              <a:t>Euler</a:t>
            </a:r>
            <a:r>
              <a:rPr lang="zh-CN" altLang="en-US" b="1" dirty="0">
                <a:latin typeface="Times New Roman" panose="02020603050405020304" pitchFamily="18" charset="0"/>
              </a:rPr>
              <a:t>公式</a:t>
            </a:r>
            <a:endParaRPr lang="zh-CN" altLang="en-US" b="1" dirty="0">
              <a:latin typeface="Times New Roman" panose="02020603050405020304" pitchFamily="18" charset="0"/>
            </a:endParaRPr>
          </a:p>
        </p:txBody>
      </p:sp>
      <p:graphicFrame>
        <p:nvGraphicFramePr>
          <p:cNvPr id="156681" name="Object 9"/>
          <p:cNvGraphicFramePr/>
          <p:nvPr/>
        </p:nvGraphicFramePr>
        <p:xfrm>
          <a:off x="1652588" y="2495550"/>
          <a:ext cx="4106862" cy="609600"/>
        </p:xfrm>
        <a:graphic>
          <a:graphicData uri="http://schemas.openxmlformats.org/presentationml/2006/ole">
            <mc:AlternateContent xmlns:mc="http://schemas.openxmlformats.org/markup-compatibility/2006">
              <mc:Choice xmlns:v="urn:schemas-microsoft-com:vml" Requires="v">
                <p:oleObj spid="_x0000_s3249" name="" r:id="rId3" imgW="1687830" imgH="254000" progId="Equation.3">
                  <p:embed/>
                </p:oleObj>
              </mc:Choice>
              <mc:Fallback>
                <p:oleObj name="" r:id="rId3" imgW="1687830" imgH="254000" progId="Equation.3">
                  <p:embed/>
                  <p:pic>
                    <p:nvPicPr>
                      <p:cNvPr id="0" name="图片 3248"/>
                      <p:cNvPicPr/>
                      <p:nvPr/>
                    </p:nvPicPr>
                    <p:blipFill>
                      <a:blip r:embed="rId4"/>
                      <a:stretch>
                        <a:fillRect/>
                      </a:stretch>
                    </p:blipFill>
                    <p:spPr>
                      <a:xfrm>
                        <a:off x="1652588" y="2495550"/>
                        <a:ext cx="4106862" cy="609600"/>
                      </a:xfrm>
                      <a:prstGeom prst="rect">
                        <a:avLst/>
                      </a:prstGeom>
                      <a:noFill/>
                      <a:ln w="38100">
                        <a:noFill/>
                        <a:miter/>
                      </a:ln>
                    </p:spPr>
                  </p:pic>
                </p:oleObj>
              </mc:Fallback>
            </mc:AlternateContent>
          </a:graphicData>
        </a:graphic>
      </p:graphicFrame>
      <p:sp>
        <p:nvSpPr>
          <p:cNvPr id="156683" name="Text Box 11"/>
          <p:cNvSpPr txBox="1"/>
          <p:nvPr/>
        </p:nvSpPr>
        <p:spPr>
          <a:xfrm>
            <a:off x="490538" y="2438400"/>
            <a:ext cx="1076325" cy="579438"/>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其中</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graphicFrame>
        <p:nvGraphicFramePr>
          <p:cNvPr id="156678" name="Object 6"/>
          <p:cNvGraphicFramePr/>
          <p:nvPr/>
        </p:nvGraphicFramePr>
        <p:xfrm>
          <a:off x="1171575" y="3298825"/>
          <a:ext cx="5821363" cy="2374900"/>
        </p:xfrm>
        <a:graphic>
          <a:graphicData uri="http://schemas.openxmlformats.org/presentationml/2006/ole">
            <mc:AlternateContent xmlns:mc="http://schemas.openxmlformats.org/markup-compatibility/2006">
              <mc:Choice xmlns:v="urn:schemas-microsoft-com:vml" Requires="v">
                <p:oleObj spid="_x0000_s3247" name="" r:id="rId5" imgW="2424430" imgH="989965" progId="Equation.3">
                  <p:embed/>
                </p:oleObj>
              </mc:Choice>
              <mc:Fallback>
                <p:oleObj name="" r:id="rId5" imgW="2424430" imgH="989965" progId="Equation.3">
                  <p:embed/>
                  <p:pic>
                    <p:nvPicPr>
                      <p:cNvPr id="0" name="图片 3246"/>
                      <p:cNvPicPr/>
                      <p:nvPr/>
                    </p:nvPicPr>
                    <p:blipFill>
                      <a:blip r:embed="rId6"/>
                      <a:stretch>
                        <a:fillRect/>
                      </a:stretch>
                    </p:blipFill>
                    <p:spPr>
                      <a:xfrm>
                        <a:off x="1171575" y="3298825"/>
                        <a:ext cx="5821363" cy="23749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680"/>
                                        </p:tgtEl>
                                        <p:attrNameLst>
                                          <p:attrName>style.visibility</p:attrName>
                                        </p:attrNameLst>
                                      </p:cBhvr>
                                      <p:to>
                                        <p:strVal val="visible"/>
                                      </p:to>
                                    </p:set>
                                    <p:animEffect transition="in" filter="wipe(left)">
                                      <p:cBhvr>
                                        <p:cTn id="7" dur="500"/>
                                        <p:tgtEl>
                                          <p:spTgt spid="1566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6675"/>
                                        </p:tgtEl>
                                        <p:attrNameLst>
                                          <p:attrName>style.visibility</p:attrName>
                                        </p:attrNameLst>
                                      </p:cBhvr>
                                      <p:to>
                                        <p:strVal val="visible"/>
                                      </p:to>
                                    </p:set>
                                    <p:animEffect transition="in" filter="wipe(left)">
                                      <p:cBhvr>
                                        <p:cTn id="12" dur="500"/>
                                        <p:tgtEl>
                                          <p:spTgt spid="15667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5668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56681"/>
                                        </p:tgtEl>
                                        <p:attrNameLst>
                                          <p:attrName>style.visibility</p:attrName>
                                        </p:attrNameLst>
                                      </p:cBhvr>
                                      <p:to>
                                        <p:strVal val="visible"/>
                                      </p:to>
                                    </p:set>
                                    <p:animEffect transition="in" filter="dissolve">
                                      <p:cBhvr>
                                        <p:cTn id="21" dur="500"/>
                                        <p:tgtEl>
                                          <p:spTgt spid="15668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56678"/>
                                        </p:tgtEl>
                                        <p:attrNameLst>
                                          <p:attrName>style.visibility</p:attrName>
                                        </p:attrNameLst>
                                      </p:cBhvr>
                                      <p:to>
                                        <p:strVal val="visible"/>
                                      </p:to>
                                    </p:set>
                                    <p:animEffect transition="in" filter="wipe(up)">
                                      <p:cBhvr>
                                        <p:cTn id="26" dur="500"/>
                                        <p:tgtEl>
                                          <p:spTgt spid="156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0" grpId="0"/>
      <p:bldP spid="15668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469"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62470" name="Rectangle 2"/>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a:t>
            </a:r>
            <a:r>
              <a:rPr lang="en-US" altLang="zh-CN" b="1" u="none" dirty="0">
                <a:solidFill>
                  <a:schemeClr val="tx1"/>
                </a:solidFill>
                <a:latin typeface="Times New Roman" panose="02020603050405020304" pitchFamily="18" charset="0"/>
              </a:rPr>
              <a:t>9.</a:t>
            </a:r>
            <a:r>
              <a:rPr lang="en-US" altLang="zh-CN" b="1" u="none" dirty="0">
                <a:solidFill>
                  <a:schemeClr val="tx1"/>
                </a:solidFill>
                <a:latin typeface="Times New Roman" panose="02020603050405020304" pitchFamily="18" charset="0"/>
              </a:rPr>
              <a:t>4</a:t>
            </a:r>
            <a:r>
              <a:rPr lang="zh-CN" altLang="en-US" b="1" u="none" dirty="0">
                <a:solidFill>
                  <a:schemeClr val="tx1"/>
                </a:solidFill>
                <a:latin typeface="Times New Roman" panose="02020603050405020304" pitchFamily="18" charset="0"/>
              </a:rPr>
              <a:t>.3)的分量形式为</a:t>
            </a:r>
            <a:r>
              <a:rPr lang="zh-CN" altLang="en-US" sz="2800" u="none" dirty="0">
                <a:solidFill>
                  <a:schemeClr val="tx1"/>
                </a:solidFill>
              </a:rPr>
              <a:t> </a:t>
            </a:r>
            <a:endParaRPr lang="zh-CN" altLang="en-US" sz="2800" u="none" dirty="0">
              <a:solidFill>
                <a:schemeClr val="tx1"/>
              </a:solidFill>
            </a:endParaRPr>
          </a:p>
        </p:txBody>
      </p:sp>
      <p:graphicFrame>
        <p:nvGraphicFramePr>
          <p:cNvPr id="157699" name="Object 3"/>
          <p:cNvGraphicFramePr/>
          <p:nvPr/>
        </p:nvGraphicFramePr>
        <p:xfrm>
          <a:off x="1568609" y="1263492"/>
          <a:ext cx="6646545" cy="1141730"/>
        </p:xfrm>
        <a:graphic>
          <a:graphicData uri="http://schemas.openxmlformats.org/presentationml/2006/ole">
            <mc:AlternateContent xmlns:mc="http://schemas.openxmlformats.org/markup-compatibility/2006">
              <mc:Choice xmlns:v="urn:schemas-microsoft-com:vml" Requires="v">
                <p:oleObj spid="_x0000_s3246" name="" r:id="rId1" imgW="2705100" imgH="457200" progId="Equation.3">
                  <p:embed/>
                </p:oleObj>
              </mc:Choice>
              <mc:Fallback>
                <p:oleObj name="" r:id="rId1" imgW="2705100" imgH="457200" progId="Equation.3">
                  <p:embed/>
                  <p:pic>
                    <p:nvPicPr>
                      <p:cNvPr id="0" name="图片 3245"/>
                      <p:cNvPicPr/>
                      <p:nvPr/>
                    </p:nvPicPr>
                    <p:blipFill>
                      <a:blip r:embed="rId2"/>
                      <a:stretch>
                        <a:fillRect/>
                      </a:stretch>
                    </p:blipFill>
                    <p:spPr>
                      <a:xfrm>
                        <a:off x="1568609" y="1263492"/>
                        <a:ext cx="6646545" cy="1141730"/>
                      </a:xfrm>
                      <a:prstGeom prst="rect">
                        <a:avLst/>
                      </a:prstGeom>
                      <a:noFill/>
                      <a:ln w="38100">
                        <a:noFill/>
                        <a:miter/>
                      </a:ln>
                    </p:spPr>
                  </p:pic>
                </p:oleObj>
              </mc:Fallback>
            </mc:AlternateContent>
          </a:graphicData>
        </a:graphic>
      </p:graphicFrame>
      <p:graphicFrame>
        <p:nvGraphicFramePr>
          <p:cNvPr id="157702" name="Object 6"/>
          <p:cNvGraphicFramePr/>
          <p:nvPr/>
        </p:nvGraphicFramePr>
        <p:xfrm>
          <a:off x="820738" y="3190875"/>
          <a:ext cx="7375525" cy="2476500"/>
        </p:xfrm>
        <a:graphic>
          <a:graphicData uri="http://schemas.openxmlformats.org/presentationml/2006/ole">
            <mc:AlternateContent xmlns:mc="http://schemas.openxmlformats.org/markup-compatibility/2006">
              <mc:Choice xmlns:v="urn:schemas-microsoft-com:vml" Requires="v">
                <p:oleObj spid="_x0000_s3250" name="" r:id="rId3" imgW="2945130" imgH="989965" progId="Equation.3">
                  <p:embed/>
                </p:oleObj>
              </mc:Choice>
              <mc:Fallback>
                <p:oleObj name="" r:id="rId3" imgW="2945130" imgH="989965" progId="Equation.3">
                  <p:embed/>
                  <p:pic>
                    <p:nvPicPr>
                      <p:cNvPr id="0" name="图片 3249"/>
                      <p:cNvPicPr/>
                      <p:nvPr/>
                    </p:nvPicPr>
                    <p:blipFill>
                      <a:blip r:embed="rId4"/>
                      <a:stretch>
                        <a:fillRect/>
                      </a:stretch>
                    </p:blipFill>
                    <p:spPr>
                      <a:xfrm>
                        <a:off x="820738" y="3190875"/>
                        <a:ext cx="7375525" cy="2476500"/>
                      </a:xfrm>
                      <a:prstGeom prst="rect">
                        <a:avLst/>
                      </a:prstGeom>
                      <a:noFill/>
                      <a:ln w="38100">
                        <a:noFill/>
                        <a:miter/>
                      </a:ln>
                    </p:spPr>
                  </p:pic>
                </p:oleObj>
              </mc:Fallback>
            </mc:AlternateContent>
          </a:graphicData>
        </a:graphic>
      </p:graphicFrame>
      <p:sp>
        <p:nvSpPr>
          <p:cNvPr id="157704" name="Text Box 8"/>
          <p:cNvSpPr txBox="1"/>
          <p:nvPr/>
        </p:nvSpPr>
        <p:spPr>
          <a:xfrm>
            <a:off x="554038" y="2297113"/>
            <a:ext cx="674687" cy="579437"/>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或</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7699"/>
                                        </p:tgtEl>
                                        <p:attrNameLst>
                                          <p:attrName>style.visibility</p:attrName>
                                        </p:attrNameLst>
                                      </p:cBhvr>
                                      <p:to>
                                        <p:strVal val="visible"/>
                                      </p:to>
                                    </p:set>
                                    <p:animEffect transition="in" filter="wipe(left)">
                                      <p:cBhvr>
                                        <p:cTn id="7" dur="500"/>
                                        <p:tgtEl>
                                          <p:spTgt spid="15769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5770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57702"/>
                                        </p:tgtEl>
                                        <p:attrNameLst>
                                          <p:attrName>style.visibility</p:attrName>
                                        </p:attrNameLst>
                                      </p:cBhvr>
                                      <p:to>
                                        <p:strVal val="visible"/>
                                      </p:to>
                                    </p:set>
                                    <p:animEffect transition="in" filter="dissolve">
                                      <p:cBhvr>
                                        <p:cTn id="16" dur="500"/>
                                        <p:tgtEl>
                                          <p:spTgt spid="157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3497"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63498" name="Rectangle 2"/>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四阶标准的</a:t>
            </a:r>
            <a:r>
              <a:rPr lang="en-US" altLang="zh-CN" b="1" u="none" dirty="0">
                <a:solidFill>
                  <a:schemeClr val="tx1"/>
                </a:solidFill>
                <a:latin typeface="Times New Roman" panose="02020603050405020304" pitchFamily="18" charset="0"/>
              </a:rPr>
              <a:t>Runge-Kutta</a:t>
            </a:r>
            <a:r>
              <a:rPr lang="zh-CN" altLang="en-US" b="1" u="none" dirty="0">
                <a:solidFill>
                  <a:schemeClr val="tx1"/>
                </a:solidFill>
                <a:latin typeface="Times New Roman" panose="02020603050405020304" pitchFamily="18" charset="0"/>
              </a:rPr>
              <a:t>公式</a:t>
            </a:r>
            <a:r>
              <a:rPr lang="zh-CN" altLang="en-US" sz="2800" u="none" dirty="0">
                <a:solidFill>
                  <a:schemeClr val="tx1"/>
                </a:solidFill>
              </a:rPr>
              <a:t> </a:t>
            </a:r>
            <a:endParaRPr lang="zh-CN" altLang="en-US" sz="2800" u="none" dirty="0">
              <a:solidFill>
                <a:schemeClr val="tx1"/>
              </a:solidFill>
            </a:endParaRPr>
          </a:p>
        </p:txBody>
      </p:sp>
      <p:graphicFrame>
        <p:nvGraphicFramePr>
          <p:cNvPr id="158727" name="Object 7"/>
          <p:cNvGraphicFramePr/>
          <p:nvPr/>
        </p:nvGraphicFramePr>
        <p:xfrm>
          <a:off x="908209" y="1186022"/>
          <a:ext cx="6894195" cy="944245"/>
        </p:xfrm>
        <a:graphic>
          <a:graphicData uri="http://schemas.openxmlformats.org/presentationml/2006/ole">
            <mc:AlternateContent xmlns:mc="http://schemas.openxmlformats.org/markup-compatibility/2006">
              <mc:Choice xmlns:v="urn:schemas-microsoft-com:vml" Requires="v">
                <p:oleObj spid="_x0000_s3245" name="" r:id="rId1" imgW="2870200" imgH="393700" progId="Equation.3">
                  <p:embed/>
                </p:oleObj>
              </mc:Choice>
              <mc:Fallback>
                <p:oleObj name="" r:id="rId1" imgW="2870200" imgH="393700" progId="Equation.3">
                  <p:embed/>
                  <p:pic>
                    <p:nvPicPr>
                      <p:cNvPr id="0" name="图片 3244"/>
                      <p:cNvPicPr/>
                      <p:nvPr/>
                    </p:nvPicPr>
                    <p:blipFill>
                      <a:blip r:embed="rId2"/>
                      <a:stretch>
                        <a:fillRect/>
                      </a:stretch>
                    </p:blipFill>
                    <p:spPr>
                      <a:xfrm>
                        <a:off x="908209" y="1186022"/>
                        <a:ext cx="6894195" cy="944245"/>
                      </a:xfrm>
                      <a:prstGeom prst="rect">
                        <a:avLst/>
                      </a:prstGeom>
                      <a:noFill/>
                      <a:ln w="38100">
                        <a:noFill/>
                        <a:miter/>
                      </a:ln>
                    </p:spPr>
                  </p:pic>
                </p:oleObj>
              </mc:Fallback>
            </mc:AlternateContent>
          </a:graphicData>
        </a:graphic>
      </p:graphicFrame>
      <p:graphicFrame>
        <p:nvGraphicFramePr>
          <p:cNvPr id="158726" name="Object 6"/>
          <p:cNvGraphicFramePr/>
          <p:nvPr/>
        </p:nvGraphicFramePr>
        <p:xfrm>
          <a:off x="960438" y="2201863"/>
          <a:ext cx="2254250" cy="547687"/>
        </p:xfrm>
        <a:graphic>
          <a:graphicData uri="http://schemas.openxmlformats.org/presentationml/2006/ole">
            <mc:AlternateContent xmlns:mc="http://schemas.openxmlformats.org/markup-compatibility/2006">
              <mc:Choice xmlns:v="urn:schemas-microsoft-com:vml" Requires="v">
                <p:oleObj spid="_x0000_s3258" name="" r:id="rId3" imgW="939800" imgH="228600" progId="Equation.3">
                  <p:embed/>
                </p:oleObj>
              </mc:Choice>
              <mc:Fallback>
                <p:oleObj name="" r:id="rId3" imgW="939800" imgH="228600" progId="Equation.3">
                  <p:embed/>
                  <p:pic>
                    <p:nvPicPr>
                      <p:cNvPr id="0" name="图片 3257"/>
                      <p:cNvPicPr/>
                      <p:nvPr/>
                    </p:nvPicPr>
                    <p:blipFill>
                      <a:blip r:embed="rId4"/>
                      <a:stretch>
                        <a:fillRect/>
                      </a:stretch>
                    </p:blipFill>
                    <p:spPr>
                      <a:xfrm>
                        <a:off x="960438" y="2201863"/>
                        <a:ext cx="2254250" cy="547687"/>
                      </a:xfrm>
                      <a:prstGeom prst="rect">
                        <a:avLst/>
                      </a:prstGeom>
                      <a:noFill/>
                      <a:ln w="38100">
                        <a:noFill/>
                        <a:miter/>
                      </a:ln>
                    </p:spPr>
                  </p:pic>
                </p:oleObj>
              </mc:Fallback>
            </mc:AlternateContent>
          </a:graphicData>
        </a:graphic>
      </p:graphicFrame>
      <p:graphicFrame>
        <p:nvGraphicFramePr>
          <p:cNvPr id="158725" name="Object 5"/>
          <p:cNvGraphicFramePr/>
          <p:nvPr/>
        </p:nvGraphicFramePr>
        <p:xfrm>
          <a:off x="928688" y="2744788"/>
          <a:ext cx="4021137" cy="944562"/>
        </p:xfrm>
        <a:graphic>
          <a:graphicData uri="http://schemas.openxmlformats.org/presentationml/2006/ole">
            <mc:AlternateContent xmlns:mc="http://schemas.openxmlformats.org/markup-compatibility/2006">
              <mc:Choice xmlns:v="urn:schemas-microsoft-com:vml" Requires="v">
                <p:oleObj spid="_x0000_s3253" name="" r:id="rId5" imgW="1675765" imgH="393700" progId="Equation.3">
                  <p:embed/>
                </p:oleObj>
              </mc:Choice>
              <mc:Fallback>
                <p:oleObj name="" r:id="rId5" imgW="1675765" imgH="393700" progId="Equation.3">
                  <p:embed/>
                  <p:pic>
                    <p:nvPicPr>
                      <p:cNvPr id="0" name="图片 3252"/>
                      <p:cNvPicPr/>
                      <p:nvPr/>
                    </p:nvPicPr>
                    <p:blipFill>
                      <a:blip r:embed="rId6"/>
                      <a:stretch>
                        <a:fillRect/>
                      </a:stretch>
                    </p:blipFill>
                    <p:spPr>
                      <a:xfrm>
                        <a:off x="928688" y="2744788"/>
                        <a:ext cx="4021137" cy="944562"/>
                      </a:xfrm>
                      <a:prstGeom prst="rect">
                        <a:avLst/>
                      </a:prstGeom>
                      <a:noFill/>
                      <a:ln w="38100">
                        <a:noFill/>
                        <a:miter/>
                      </a:ln>
                    </p:spPr>
                  </p:pic>
                </p:oleObj>
              </mc:Fallback>
            </mc:AlternateContent>
          </a:graphicData>
        </a:graphic>
      </p:graphicFrame>
      <p:graphicFrame>
        <p:nvGraphicFramePr>
          <p:cNvPr id="158724" name="Object 4"/>
          <p:cNvGraphicFramePr/>
          <p:nvPr/>
        </p:nvGraphicFramePr>
        <p:xfrm>
          <a:off x="936625" y="3749675"/>
          <a:ext cx="4051300" cy="944563"/>
        </p:xfrm>
        <a:graphic>
          <a:graphicData uri="http://schemas.openxmlformats.org/presentationml/2006/ole">
            <mc:AlternateContent xmlns:mc="http://schemas.openxmlformats.org/markup-compatibility/2006">
              <mc:Choice xmlns:v="urn:schemas-microsoft-com:vml" Requires="v">
                <p:oleObj spid="_x0000_s3256" name="" r:id="rId7" imgW="1688465" imgH="393700" progId="Equation.3">
                  <p:embed/>
                </p:oleObj>
              </mc:Choice>
              <mc:Fallback>
                <p:oleObj name="" r:id="rId7" imgW="1688465" imgH="393700" progId="Equation.3">
                  <p:embed/>
                  <p:pic>
                    <p:nvPicPr>
                      <p:cNvPr id="0" name="图片 3255"/>
                      <p:cNvPicPr/>
                      <p:nvPr/>
                    </p:nvPicPr>
                    <p:blipFill>
                      <a:blip r:embed="rId8"/>
                      <a:stretch>
                        <a:fillRect/>
                      </a:stretch>
                    </p:blipFill>
                    <p:spPr>
                      <a:xfrm>
                        <a:off x="936625" y="3749675"/>
                        <a:ext cx="4051300" cy="944563"/>
                      </a:xfrm>
                      <a:prstGeom prst="rect">
                        <a:avLst/>
                      </a:prstGeom>
                      <a:noFill/>
                      <a:ln w="38100">
                        <a:noFill/>
                        <a:miter/>
                      </a:ln>
                    </p:spPr>
                  </p:pic>
                </p:oleObj>
              </mc:Fallback>
            </mc:AlternateContent>
          </a:graphicData>
        </a:graphic>
      </p:graphicFrame>
      <p:graphicFrame>
        <p:nvGraphicFramePr>
          <p:cNvPr id="158723" name="Object 3"/>
          <p:cNvGraphicFramePr/>
          <p:nvPr/>
        </p:nvGraphicFramePr>
        <p:xfrm>
          <a:off x="1012825" y="4849813"/>
          <a:ext cx="3656013" cy="547687"/>
        </p:xfrm>
        <a:graphic>
          <a:graphicData uri="http://schemas.openxmlformats.org/presentationml/2006/ole">
            <mc:AlternateContent xmlns:mc="http://schemas.openxmlformats.org/markup-compatibility/2006">
              <mc:Choice xmlns:v="urn:schemas-microsoft-com:vml" Requires="v">
                <p:oleObj spid="_x0000_s3257" name="" r:id="rId9" imgW="1524000" imgH="228600" progId="Equation.3">
                  <p:embed/>
                </p:oleObj>
              </mc:Choice>
              <mc:Fallback>
                <p:oleObj name="" r:id="rId9" imgW="1524000" imgH="228600" progId="Equation.3">
                  <p:embed/>
                  <p:pic>
                    <p:nvPicPr>
                      <p:cNvPr id="0" name="图片 3256"/>
                      <p:cNvPicPr/>
                      <p:nvPr/>
                    </p:nvPicPr>
                    <p:blipFill>
                      <a:blip r:embed="rId10"/>
                      <a:stretch>
                        <a:fillRect/>
                      </a:stretch>
                    </p:blipFill>
                    <p:spPr>
                      <a:xfrm>
                        <a:off x="1012825" y="4849813"/>
                        <a:ext cx="3656013" cy="547687"/>
                      </a:xfrm>
                      <a:prstGeom prst="rect">
                        <a:avLst/>
                      </a:prstGeom>
                      <a:noFill/>
                      <a:ln w="38100">
                        <a:noFill/>
                        <a:miter/>
                      </a:ln>
                    </p:spPr>
                  </p:pic>
                </p:oleObj>
              </mc:Fallback>
            </mc:AlternateContent>
          </a:graphicData>
        </a:graphic>
      </p:graphicFrame>
      <p:grpSp>
        <p:nvGrpSpPr>
          <p:cNvPr id="2" name="Group 12"/>
          <p:cNvGrpSpPr/>
          <p:nvPr/>
        </p:nvGrpSpPr>
        <p:grpSpPr>
          <a:xfrm>
            <a:off x="555625" y="5399088"/>
            <a:ext cx="8382000" cy="1174750"/>
            <a:chOff x="376" y="3401"/>
            <a:chExt cx="5280" cy="740"/>
          </a:xfrm>
        </p:grpSpPr>
        <p:sp>
          <p:nvSpPr>
            <p:cNvPr id="63500" name="Text Box 9"/>
            <p:cNvSpPr txBox="1"/>
            <p:nvPr/>
          </p:nvSpPr>
          <p:spPr>
            <a:xfrm>
              <a:off x="376" y="3401"/>
              <a:ext cx="5280" cy="740"/>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设                                                             则 (</a:t>
              </a:r>
              <a:r>
                <a:rPr lang="en-US" altLang="zh-CN" b="1" dirty="0">
                  <a:latin typeface="Times New Roman" panose="02020603050405020304" pitchFamily="18" charset="0"/>
                </a:rPr>
                <a:t>9.</a:t>
              </a:r>
              <a:r>
                <a:rPr lang="en-US" altLang="zh-CN" b="1" dirty="0">
                  <a:latin typeface="Times New Roman" panose="02020603050405020304" pitchFamily="18" charset="0"/>
                </a:rPr>
                <a:t>4</a:t>
              </a:r>
              <a:r>
                <a:rPr lang="zh-CN" altLang="en-US" b="1" dirty="0">
                  <a:latin typeface="Times New Roman" panose="02020603050405020304" pitchFamily="18" charset="0"/>
                </a:rPr>
                <a:t>.5)</a:t>
              </a:r>
              <a:endParaRPr lang="zh-CN" altLang="en-US" b="1" dirty="0">
                <a:latin typeface="Times New Roman" panose="02020603050405020304" pitchFamily="18" charset="0"/>
              </a:endParaRPr>
            </a:p>
            <a:p>
              <a:pPr eaLnBrk="0" hangingPunct="0">
                <a:lnSpc>
                  <a:spcPct val="120000"/>
                </a:lnSpc>
              </a:pPr>
              <a:r>
                <a:rPr lang="zh-CN" altLang="en-US" b="1" dirty="0">
                  <a:latin typeface="Times New Roman" panose="02020603050405020304" pitchFamily="18" charset="0"/>
                </a:rPr>
                <a:t>的分量形式为 </a:t>
              </a:r>
              <a:endParaRPr lang="zh-CN" altLang="en-US" b="1" dirty="0">
                <a:latin typeface="Times New Roman" panose="02020603050405020304" pitchFamily="18" charset="0"/>
              </a:endParaRPr>
            </a:p>
          </p:txBody>
        </p:sp>
        <p:graphicFrame>
          <p:nvGraphicFramePr>
            <p:cNvPr id="63495" name="Object 10"/>
            <p:cNvGraphicFramePr/>
            <p:nvPr/>
          </p:nvGraphicFramePr>
          <p:xfrm>
            <a:off x="680" y="3431"/>
            <a:ext cx="3884" cy="384"/>
          </p:xfrm>
          <a:graphic>
            <a:graphicData uri="http://schemas.openxmlformats.org/presentationml/2006/ole">
              <mc:AlternateContent xmlns:mc="http://schemas.openxmlformats.org/markup-compatibility/2006">
                <mc:Choice xmlns:v="urn:schemas-microsoft-com:vml" Requires="v">
                  <p:oleObj spid="_x0000_s3254" name="" r:id="rId11" imgW="2538095" imgH="254000" progId="Equation.3">
                    <p:embed/>
                  </p:oleObj>
                </mc:Choice>
                <mc:Fallback>
                  <p:oleObj name="" r:id="rId11" imgW="2538095" imgH="254000" progId="Equation.3">
                    <p:embed/>
                    <p:pic>
                      <p:nvPicPr>
                        <p:cNvPr id="0" name="图片 3253"/>
                        <p:cNvPicPr/>
                        <p:nvPr/>
                      </p:nvPicPr>
                      <p:blipFill>
                        <a:blip r:embed="rId12"/>
                        <a:stretch>
                          <a:fillRect/>
                        </a:stretch>
                      </p:blipFill>
                      <p:spPr>
                        <a:xfrm>
                          <a:off x="680" y="3431"/>
                          <a:ext cx="3884" cy="384"/>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8727"/>
                                        </p:tgtEl>
                                        <p:attrNameLst>
                                          <p:attrName>style.visibility</p:attrName>
                                        </p:attrNameLst>
                                      </p:cBhvr>
                                      <p:to>
                                        <p:strVal val="visible"/>
                                      </p:to>
                                    </p:set>
                                    <p:anim calcmode="lin" valueType="num">
                                      <p:cBhvr>
                                        <p:cTn id="7" dur="500" fill="hold"/>
                                        <p:tgtEl>
                                          <p:spTgt spid="158727"/>
                                        </p:tgtEl>
                                        <p:attrNameLst>
                                          <p:attrName>ppt_x</p:attrName>
                                        </p:attrNameLst>
                                      </p:cBhvr>
                                      <p:tavLst>
                                        <p:tav tm="0">
                                          <p:val>
                                            <p:strVal val="0-#ppt_w/2"/>
                                          </p:val>
                                        </p:tav>
                                        <p:tav tm="100000">
                                          <p:val>
                                            <p:strVal val="#ppt_x"/>
                                          </p:val>
                                        </p:tav>
                                      </p:tavLst>
                                    </p:anim>
                                    <p:anim calcmode="lin" valueType="num">
                                      <p:cBhvr>
                                        <p:cTn id="8" dur="500" fill="hold"/>
                                        <p:tgtEl>
                                          <p:spTgt spid="1587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58726"/>
                                        </p:tgtEl>
                                        <p:attrNameLst>
                                          <p:attrName>style.visibility</p:attrName>
                                        </p:attrNameLst>
                                      </p:cBhvr>
                                      <p:to>
                                        <p:strVal val="visible"/>
                                      </p:to>
                                    </p:set>
                                    <p:anim calcmode="lin" valueType="num">
                                      <p:cBhvr>
                                        <p:cTn id="13" dur="500" fill="hold"/>
                                        <p:tgtEl>
                                          <p:spTgt spid="158726"/>
                                        </p:tgtEl>
                                        <p:attrNameLst>
                                          <p:attrName>ppt_x</p:attrName>
                                        </p:attrNameLst>
                                      </p:cBhvr>
                                      <p:tavLst>
                                        <p:tav tm="0">
                                          <p:val>
                                            <p:strVal val="0-#ppt_w/2"/>
                                          </p:val>
                                        </p:tav>
                                        <p:tav tm="100000">
                                          <p:val>
                                            <p:strVal val="#ppt_x"/>
                                          </p:val>
                                        </p:tav>
                                      </p:tavLst>
                                    </p:anim>
                                    <p:anim calcmode="lin" valueType="num">
                                      <p:cBhvr>
                                        <p:cTn id="14" dur="500" fill="hold"/>
                                        <p:tgtEl>
                                          <p:spTgt spid="15872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58725"/>
                                        </p:tgtEl>
                                        <p:attrNameLst>
                                          <p:attrName>style.visibility</p:attrName>
                                        </p:attrNameLst>
                                      </p:cBhvr>
                                      <p:to>
                                        <p:strVal val="visible"/>
                                      </p:to>
                                    </p:set>
                                    <p:anim calcmode="lin" valueType="num">
                                      <p:cBhvr>
                                        <p:cTn id="19" dur="500" fill="hold"/>
                                        <p:tgtEl>
                                          <p:spTgt spid="158725"/>
                                        </p:tgtEl>
                                        <p:attrNameLst>
                                          <p:attrName>ppt_x</p:attrName>
                                        </p:attrNameLst>
                                      </p:cBhvr>
                                      <p:tavLst>
                                        <p:tav tm="0">
                                          <p:val>
                                            <p:strVal val="0-#ppt_w/2"/>
                                          </p:val>
                                        </p:tav>
                                        <p:tav tm="100000">
                                          <p:val>
                                            <p:strVal val="#ppt_x"/>
                                          </p:val>
                                        </p:tav>
                                      </p:tavLst>
                                    </p:anim>
                                    <p:anim calcmode="lin" valueType="num">
                                      <p:cBhvr>
                                        <p:cTn id="20" dur="500" fill="hold"/>
                                        <p:tgtEl>
                                          <p:spTgt spid="15872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58724"/>
                                        </p:tgtEl>
                                        <p:attrNameLst>
                                          <p:attrName>style.visibility</p:attrName>
                                        </p:attrNameLst>
                                      </p:cBhvr>
                                      <p:to>
                                        <p:strVal val="visible"/>
                                      </p:to>
                                    </p:set>
                                    <p:anim calcmode="lin" valueType="num">
                                      <p:cBhvr>
                                        <p:cTn id="25" dur="500" fill="hold"/>
                                        <p:tgtEl>
                                          <p:spTgt spid="158724"/>
                                        </p:tgtEl>
                                        <p:attrNameLst>
                                          <p:attrName>ppt_x</p:attrName>
                                        </p:attrNameLst>
                                      </p:cBhvr>
                                      <p:tavLst>
                                        <p:tav tm="0">
                                          <p:val>
                                            <p:strVal val="0-#ppt_w/2"/>
                                          </p:val>
                                        </p:tav>
                                        <p:tav tm="100000">
                                          <p:val>
                                            <p:strVal val="#ppt_x"/>
                                          </p:val>
                                        </p:tav>
                                      </p:tavLst>
                                    </p:anim>
                                    <p:anim calcmode="lin" valueType="num">
                                      <p:cBhvr>
                                        <p:cTn id="26" dur="500" fill="hold"/>
                                        <p:tgtEl>
                                          <p:spTgt spid="15872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58723"/>
                                        </p:tgtEl>
                                        <p:attrNameLst>
                                          <p:attrName>style.visibility</p:attrName>
                                        </p:attrNameLst>
                                      </p:cBhvr>
                                      <p:to>
                                        <p:strVal val="visible"/>
                                      </p:to>
                                    </p:set>
                                    <p:anim calcmode="lin" valueType="num">
                                      <p:cBhvr>
                                        <p:cTn id="31" dur="500" fill="hold"/>
                                        <p:tgtEl>
                                          <p:spTgt spid="158723"/>
                                        </p:tgtEl>
                                        <p:attrNameLst>
                                          <p:attrName>ppt_x</p:attrName>
                                        </p:attrNameLst>
                                      </p:cBhvr>
                                      <p:tavLst>
                                        <p:tav tm="0">
                                          <p:val>
                                            <p:strVal val="0-#ppt_w/2"/>
                                          </p:val>
                                        </p:tav>
                                        <p:tav tm="100000">
                                          <p:val>
                                            <p:strVal val="#ppt_x"/>
                                          </p:val>
                                        </p:tav>
                                      </p:tavLst>
                                    </p:anim>
                                    <p:anim calcmode="lin" valueType="num">
                                      <p:cBhvr>
                                        <p:cTn id="32" dur="500" fill="hold"/>
                                        <p:tgtEl>
                                          <p:spTgt spid="15872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ppt_x</p:attrName>
                                        </p:attrNameLst>
                                      </p:cBhvr>
                                      <p:tavLst>
                                        <p:tav tm="0">
                                          <p:val>
                                            <p:strVal val="0-#ppt_w/2"/>
                                          </p:val>
                                        </p:tav>
                                        <p:tav tm="100000">
                                          <p:val>
                                            <p:strVal val="#ppt_x"/>
                                          </p:val>
                                        </p:tav>
                                      </p:tavLst>
                                    </p:anim>
                                    <p:anim calcmode="lin" valueType="num">
                                      <p:cBhvr>
                                        <p:cTn id="3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4517"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64518" name="Rectangle 2"/>
          <p:cNvSpPr>
            <a:spLocks noGrp="1"/>
          </p:cNvSpPr>
          <p:nvPr>
            <p:ph type="title"/>
          </p:nvPr>
        </p:nvSpPr>
        <p:spPr>
          <a:xfrm>
            <a:off x="407988" y="228600"/>
            <a:ext cx="8283575" cy="1035050"/>
          </a:xfrm>
          <a:ln/>
        </p:spPr>
        <p:txBody>
          <a:bodyPr vert="horz" wrap="square" lIns="91440" tIns="45720" rIns="91440" bIns="45720" anchor="ctr" anchorCtr="0"/>
          <a:p>
            <a:r>
              <a:rPr lang="zh-CN" altLang="en-US" b="1" u="none" dirty="0">
                <a:solidFill>
                  <a:srgbClr val="FF0000"/>
                </a:solidFill>
                <a:latin typeface="Times New Roman" panose="02020603050405020304" pitchFamily="18" charset="0"/>
              </a:rPr>
              <a:t>四阶标准的</a:t>
            </a:r>
            <a:r>
              <a:rPr lang="en-US" altLang="zh-CN" b="1" u="none" dirty="0">
                <a:solidFill>
                  <a:srgbClr val="FF0000"/>
                </a:solidFill>
                <a:latin typeface="Times New Roman" panose="02020603050405020304" pitchFamily="18" charset="0"/>
              </a:rPr>
              <a:t>Runge-Kutta</a:t>
            </a:r>
            <a:r>
              <a:rPr lang="zh-CN" altLang="en-US" b="1" u="none" dirty="0">
                <a:solidFill>
                  <a:srgbClr val="FF0000"/>
                </a:solidFill>
                <a:latin typeface="Times New Roman" panose="02020603050405020304" pitchFamily="18" charset="0"/>
              </a:rPr>
              <a:t>公式的分量形式</a:t>
            </a:r>
            <a:r>
              <a:rPr lang="zh-CN" altLang="en-US" sz="2800" u="none" dirty="0">
                <a:solidFill>
                  <a:schemeClr val="tx1"/>
                </a:solidFill>
              </a:rPr>
              <a:t> </a:t>
            </a:r>
            <a:endParaRPr lang="zh-CN" altLang="en-US" sz="2800" u="none" dirty="0">
              <a:solidFill>
                <a:schemeClr val="tx1"/>
              </a:solidFill>
            </a:endParaRPr>
          </a:p>
        </p:txBody>
      </p:sp>
      <p:graphicFrame>
        <p:nvGraphicFramePr>
          <p:cNvPr id="198658" name="Object 2"/>
          <p:cNvGraphicFramePr/>
          <p:nvPr/>
        </p:nvGraphicFramePr>
        <p:xfrm>
          <a:off x="487363" y="1066800"/>
          <a:ext cx="8410575" cy="3943350"/>
        </p:xfrm>
        <a:graphic>
          <a:graphicData uri="http://schemas.openxmlformats.org/presentationml/2006/ole">
            <mc:AlternateContent xmlns:mc="http://schemas.openxmlformats.org/markup-compatibility/2006">
              <mc:Choice xmlns:v="urn:schemas-microsoft-com:vml" Requires="v">
                <p:oleObj spid="_x0000_s3252" name="" r:id="rId1" imgW="3657600" imgH="1714500" progId="Equation.DSMT4">
                  <p:embed/>
                </p:oleObj>
              </mc:Choice>
              <mc:Fallback>
                <p:oleObj name="" r:id="rId1" imgW="3657600" imgH="1714500" progId="Equation.DSMT4">
                  <p:embed/>
                  <p:pic>
                    <p:nvPicPr>
                      <p:cNvPr id="0" name="图片 3251"/>
                      <p:cNvPicPr/>
                      <p:nvPr/>
                    </p:nvPicPr>
                    <p:blipFill>
                      <a:blip r:embed="rId2"/>
                      <a:stretch>
                        <a:fillRect/>
                      </a:stretch>
                    </p:blipFill>
                    <p:spPr>
                      <a:xfrm>
                        <a:off x="487363" y="1066800"/>
                        <a:ext cx="8410575" cy="3943350"/>
                      </a:xfrm>
                      <a:prstGeom prst="rect">
                        <a:avLst/>
                      </a:prstGeom>
                      <a:noFill/>
                      <a:ln w="38100">
                        <a:noFill/>
                        <a:miter/>
                      </a:ln>
                    </p:spPr>
                  </p:pic>
                </p:oleObj>
              </mc:Fallback>
            </mc:AlternateContent>
          </a:graphicData>
        </a:graphic>
      </p:graphicFrame>
      <p:grpSp>
        <p:nvGrpSpPr>
          <p:cNvPr id="2" name="Group 9"/>
          <p:cNvGrpSpPr/>
          <p:nvPr/>
        </p:nvGrpSpPr>
        <p:grpSpPr>
          <a:xfrm>
            <a:off x="360363" y="5426075"/>
            <a:ext cx="5164137" cy="592138"/>
            <a:chOff x="227" y="3418"/>
            <a:chExt cx="3253" cy="373"/>
          </a:xfrm>
        </p:grpSpPr>
        <p:sp>
          <p:nvSpPr>
            <p:cNvPr id="64520" name="Text Box 7"/>
            <p:cNvSpPr txBox="1"/>
            <p:nvPr/>
          </p:nvSpPr>
          <p:spPr>
            <a:xfrm>
              <a:off x="227" y="3418"/>
              <a:ext cx="3253" cy="365"/>
            </a:xfrm>
            <a:prstGeom prst="rect">
              <a:avLst/>
            </a:prstGeom>
            <a:noFill/>
            <a:ln w="9525">
              <a:noFill/>
            </a:ln>
          </p:spPr>
          <p:txBody>
            <a:bodyPr wrap="none">
              <a:spAutoFit/>
            </a:bodyPr>
            <a:p>
              <a:pPr eaLnBrk="0" hangingPunct="0"/>
              <a:r>
                <a:rPr lang="zh-CN" altLang="en-US" dirty="0">
                  <a:latin typeface="Times New Roman" panose="02020603050405020304" pitchFamily="18" charset="0"/>
                </a:rPr>
                <a:t>其中</a:t>
              </a:r>
              <a:r>
                <a:rPr lang="zh-CN" altLang="en-US" b="1" dirty="0">
                  <a:latin typeface="Times New Roman" panose="02020603050405020304" pitchFamily="18" charset="0"/>
                </a:rPr>
                <a:t>                                     </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64515" name="Object 3"/>
            <p:cNvGraphicFramePr/>
            <p:nvPr/>
          </p:nvGraphicFramePr>
          <p:xfrm>
            <a:off x="842" y="3485"/>
            <a:ext cx="2303" cy="306"/>
          </p:xfrm>
          <a:graphic>
            <a:graphicData uri="http://schemas.openxmlformats.org/presentationml/2006/ole">
              <mc:AlternateContent xmlns:mc="http://schemas.openxmlformats.org/markup-compatibility/2006">
                <mc:Choice xmlns:v="urn:schemas-microsoft-com:vml" Requires="v">
                  <p:oleObj spid="_x0000_s3255" name="" r:id="rId3" imgW="1560830" imgH="203200" progId="Equation.3">
                    <p:embed/>
                  </p:oleObj>
                </mc:Choice>
                <mc:Fallback>
                  <p:oleObj name="" r:id="rId3" imgW="1560830" imgH="203200" progId="Equation.3">
                    <p:embed/>
                    <p:pic>
                      <p:nvPicPr>
                        <p:cNvPr id="0" name="图片 3254"/>
                        <p:cNvPicPr/>
                        <p:nvPr/>
                      </p:nvPicPr>
                      <p:blipFill>
                        <a:blip r:embed="rId4"/>
                        <a:stretch>
                          <a:fillRect/>
                        </a:stretch>
                      </p:blipFill>
                      <p:spPr>
                        <a:xfrm>
                          <a:off x="842" y="3485"/>
                          <a:ext cx="2303" cy="306"/>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98658"/>
                                        </p:tgtEl>
                                        <p:attrNameLst>
                                          <p:attrName>style.visibility</p:attrName>
                                        </p:attrNameLst>
                                      </p:cBhvr>
                                      <p:to>
                                        <p:strVal val="visible"/>
                                      </p:to>
                                    </p:set>
                                    <p:animEffect transition="in" filter="checkerboard(across)">
                                      <p:cBhvr>
                                        <p:cTn id="7" dur="500"/>
                                        <p:tgtEl>
                                          <p:spTgt spid="1986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5544"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65545" name="Rectangle 2"/>
          <p:cNvSpPr>
            <a:spLocks noGrp="1"/>
          </p:cNvSpPr>
          <p:nvPr>
            <p:ph type="title"/>
          </p:nvPr>
        </p:nvSpPr>
        <p:spPr>
          <a:ln/>
        </p:spPr>
        <p:txBody>
          <a:bodyPr vert="horz" wrap="square" lIns="91440" tIns="45720" rIns="91440" bIns="45720" anchor="ctr" anchorCtr="0"/>
          <a:p>
            <a:pPr algn="l">
              <a:lnSpc>
                <a:spcPct val="120000"/>
              </a:lnSpc>
            </a:pPr>
            <a:r>
              <a:rPr lang="zh-CN" altLang="en-US" b="1" u="none" dirty="0">
                <a:solidFill>
                  <a:schemeClr val="tx1"/>
                </a:solidFill>
                <a:latin typeface="Times New Roman" panose="02020603050405020304" pitchFamily="18" charset="0"/>
              </a:rPr>
              <a:t>例</a:t>
            </a:r>
            <a:r>
              <a:rPr lang="en-US" altLang="zh-CN" b="1" u="none" dirty="0">
                <a:solidFill>
                  <a:schemeClr val="tx1"/>
                </a:solidFill>
                <a:latin typeface="Times New Roman" panose="02020603050405020304" pitchFamily="18" charset="0"/>
              </a:rPr>
              <a:t>9.</a:t>
            </a:r>
            <a:r>
              <a:rPr lang="en-US" altLang="zh-CN" b="1" u="none" dirty="0">
                <a:solidFill>
                  <a:schemeClr val="tx1"/>
                </a:solidFill>
                <a:latin typeface="Times New Roman" panose="02020603050405020304" pitchFamily="18" charset="0"/>
              </a:rPr>
              <a:t>4</a:t>
            </a:r>
            <a:r>
              <a:rPr lang="zh-CN" altLang="en-US" b="1" u="none" dirty="0">
                <a:solidFill>
                  <a:schemeClr val="tx1"/>
                </a:solidFill>
                <a:latin typeface="Times New Roman" panose="02020603050405020304" pitchFamily="18" charset="0"/>
              </a:rPr>
              <a:t>.1：试写出用改进</a:t>
            </a:r>
            <a:r>
              <a:rPr lang="en-US" altLang="zh-CN" b="1" u="none" dirty="0">
                <a:solidFill>
                  <a:schemeClr val="tx1"/>
                </a:solidFill>
                <a:latin typeface="Times New Roman" panose="02020603050405020304" pitchFamily="18" charset="0"/>
              </a:rPr>
              <a:t>Euler</a:t>
            </a:r>
            <a:r>
              <a:rPr lang="zh-CN" altLang="en-US" b="1" u="none" dirty="0">
                <a:solidFill>
                  <a:schemeClr val="tx1"/>
                </a:solidFill>
                <a:latin typeface="Times New Roman" panose="02020603050405020304" pitchFamily="18" charset="0"/>
              </a:rPr>
              <a:t>公式解下列初值问题的计算公式：</a:t>
            </a:r>
            <a:r>
              <a:rPr lang="zh-CN" altLang="en-US" sz="2800" u="none" dirty="0">
                <a:solidFill>
                  <a:schemeClr val="tx1"/>
                </a:solidFill>
                <a:latin typeface="Times New Roman" panose="02020603050405020304" pitchFamily="18" charset="0"/>
              </a:rPr>
              <a:t> </a:t>
            </a:r>
            <a:r>
              <a:rPr lang="zh-CN" altLang="en-US" sz="2800" u="none" dirty="0">
                <a:solidFill>
                  <a:schemeClr val="tx1"/>
                </a:solidFill>
              </a:rPr>
              <a:t> </a:t>
            </a:r>
            <a:endParaRPr lang="zh-CN" altLang="en-US" sz="2800" u="none" dirty="0">
              <a:solidFill>
                <a:schemeClr val="tx1"/>
              </a:solidFill>
            </a:endParaRPr>
          </a:p>
        </p:txBody>
      </p:sp>
      <p:graphicFrame>
        <p:nvGraphicFramePr>
          <p:cNvPr id="160771" name="Object 3"/>
          <p:cNvGraphicFramePr/>
          <p:nvPr/>
        </p:nvGraphicFramePr>
        <p:xfrm>
          <a:off x="2779713" y="1381125"/>
          <a:ext cx="2982912" cy="1776413"/>
        </p:xfrm>
        <a:graphic>
          <a:graphicData uri="http://schemas.openxmlformats.org/presentationml/2006/ole">
            <mc:AlternateContent xmlns:mc="http://schemas.openxmlformats.org/markup-compatibility/2006">
              <mc:Choice xmlns:v="urn:schemas-microsoft-com:vml" Requires="v">
                <p:oleObj spid="_x0000_s3251" name="" r:id="rId1" imgW="1193165" imgH="711200" progId="Equation.3">
                  <p:embed/>
                </p:oleObj>
              </mc:Choice>
              <mc:Fallback>
                <p:oleObj name="" r:id="rId1" imgW="1193165" imgH="711200" progId="Equation.3">
                  <p:embed/>
                  <p:pic>
                    <p:nvPicPr>
                      <p:cNvPr id="0" name="图片 3250"/>
                      <p:cNvPicPr/>
                      <p:nvPr/>
                    </p:nvPicPr>
                    <p:blipFill>
                      <a:blip r:embed="rId2"/>
                      <a:stretch>
                        <a:fillRect/>
                      </a:stretch>
                    </p:blipFill>
                    <p:spPr>
                      <a:xfrm>
                        <a:off x="2779713" y="1381125"/>
                        <a:ext cx="2982912" cy="1776413"/>
                      </a:xfrm>
                      <a:prstGeom prst="rect">
                        <a:avLst/>
                      </a:prstGeom>
                      <a:noFill/>
                      <a:ln w="38100">
                        <a:noFill/>
                        <a:miter/>
                      </a:ln>
                    </p:spPr>
                  </p:pic>
                </p:oleObj>
              </mc:Fallback>
            </mc:AlternateContent>
          </a:graphicData>
        </a:graphic>
      </p:graphicFrame>
      <p:sp>
        <p:nvSpPr>
          <p:cNvPr id="160773" name="Text Box 5"/>
          <p:cNvSpPr txBox="1"/>
          <p:nvPr/>
        </p:nvSpPr>
        <p:spPr>
          <a:xfrm>
            <a:off x="536575" y="3254375"/>
            <a:ext cx="1219200" cy="579438"/>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解:令</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graphicFrame>
        <p:nvGraphicFramePr>
          <p:cNvPr id="160778" name="Object 10"/>
          <p:cNvGraphicFramePr/>
          <p:nvPr/>
        </p:nvGraphicFramePr>
        <p:xfrm>
          <a:off x="1643063" y="3079750"/>
          <a:ext cx="1431925" cy="1096963"/>
        </p:xfrm>
        <a:graphic>
          <a:graphicData uri="http://schemas.openxmlformats.org/presentationml/2006/ole">
            <mc:AlternateContent xmlns:mc="http://schemas.openxmlformats.org/markup-compatibility/2006">
              <mc:Choice xmlns:v="urn:schemas-microsoft-com:vml" Requires="v">
                <p:oleObj spid="_x0000_s3263" name="" r:id="rId3" imgW="596900" imgH="457200" progId="Equation.3">
                  <p:embed/>
                </p:oleObj>
              </mc:Choice>
              <mc:Fallback>
                <p:oleObj name="" r:id="rId3" imgW="596900" imgH="457200" progId="Equation.3">
                  <p:embed/>
                  <p:pic>
                    <p:nvPicPr>
                      <p:cNvPr id="0" name="图片 3262"/>
                      <p:cNvPicPr/>
                      <p:nvPr/>
                    </p:nvPicPr>
                    <p:blipFill>
                      <a:blip r:embed="rId4"/>
                      <a:stretch>
                        <a:fillRect/>
                      </a:stretch>
                    </p:blipFill>
                    <p:spPr>
                      <a:xfrm>
                        <a:off x="1643063" y="3079750"/>
                        <a:ext cx="1431925" cy="1096963"/>
                      </a:xfrm>
                      <a:prstGeom prst="rect">
                        <a:avLst/>
                      </a:prstGeom>
                      <a:noFill/>
                      <a:ln w="38100">
                        <a:noFill/>
                        <a:miter/>
                      </a:ln>
                    </p:spPr>
                  </p:pic>
                </p:oleObj>
              </mc:Fallback>
            </mc:AlternateContent>
          </a:graphicData>
        </a:graphic>
      </p:graphicFrame>
      <p:grpSp>
        <p:nvGrpSpPr>
          <p:cNvPr id="2" name="Group 15"/>
          <p:cNvGrpSpPr/>
          <p:nvPr/>
        </p:nvGrpSpPr>
        <p:grpSpPr>
          <a:xfrm>
            <a:off x="3154363" y="3044825"/>
            <a:ext cx="2225675" cy="1163638"/>
            <a:chOff x="1987" y="1968"/>
            <a:chExt cx="1402" cy="733"/>
          </a:xfrm>
        </p:grpSpPr>
        <p:sp>
          <p:nvSpPr>
            <p:cNvPr id="65551" name="Text Box 12"/>
            <p:cNvSpPr txBox="1"/>
            <p:nvPr/>
          </p:nvSpPr>
          <p:spPr>
            <a:xfrm>
              <a:off x="1987" y="2113"/>
              <a:ext cx="430" cy="365"/>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则</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graphicFrame>
          <p:nvGraphicFramePr>
            <p:cNvPr id="65542" name="Object 13"/>
            <p:cNvGraphicFramePr/>
            <p:nvPr/>
          </p:nvGraphicFramePr>
          <p:xfrm>
            <a:off x="2326" y="1968"/>
            <a:ext cx="1063" cy="733"/>
          </p:xfrm>
          <a:graphic>
            <a:graphicData uri="http://schemas.openxmlformats.org/presentationml/2006/ole">
              <mc:AlternateContent xmlns:mc="http://schemas.openxmlformats.org/markup-compatibility/2006">
                <mc:Choice xmlns:v="urn:schemas-microsoft-com:vml" Requires="v">
                  <p:oleObj spid="_x0000_s3262" name="" r:id="rId5" imgW="698500" imgH="482600" progId="Equation.3">
                    <p:embed/>
                  </p:oleObj>
                </mc:Choice>
                <mc:Fallback>
                  <p:oleObj name="" r:id="rId5" imgW="698500" imgH="482600" progId="Equation.3">
                    <p:embed/>
                    <p:pic>
                      <p:nvPicPr>
                        <p:cNvPr id="0" name="图片 3261"/>
                        <p:cNvPicPr/>
                        <p:nvPr/>
                      </p:nvPicPr>
                      <p:blipFill>
                        <a:blip r:embed="rId6"/>
                        <a:stretch>
                          <a:fillRect/>
                        </a:stretch>
                      </p:blipFill>
                      <p:spPr>
                        <a:xfrm>
                          <a:off x="2326" y="1968"/>
                          <a:ext cx="1063" cy="733"/>
                        </a:xfrm>
                        <a:prstGeom prst="rect">
                          <a:avLst/>
                        </a:prstGeom>
                        <a:noFill/>
                        <a:ln w="38100">
                          <a:noFill/>
                          <a:miter/>
                        </a:ln>
                      </p:spPr>
                    </p:pic>
                  </p:oleObj>
                </mc:Fallback>
              </mc:AlternateContent>
            </a:graphicData>
          </a:graphic>
        </p:graphicFrame>
      </p:grpSp>
      <p:grpSp>
        <p:nvGrpSpPr>
          <p:cNvPr id="3" name="Group 17"/>
          <p:cNvGrpSpPr/>
          <p:nvPr/>
        </p:nvGrpSpPr>
        <p:grpSpPr>
          <a:xfrm>
            <a:off x="519113" y="3287713"/>
            <a:ext cx="7232650" cy="2286000"/>
            <a:chOff x="327" y="2071"/>
            <a:chExt cx="4556" cy="1440"/>
          </a:xfrm>
        </p:grpSpPr>
        <p:graphicFrame>
          <p:nvGraphicFramePr>
            <p:cNvPr id="65540" name="Object 9"/>
            <p:cNvGraphicFramePr/>
            <p:nvPr/>
          </p:nvGraphicFramePr>
          <p:xfrm>
            <a:off x="2408" y="2812"/>
            <a:ext cx="2475" cy="691"/>
          </p:xfrm>
          <a:graphic>
            <a:graphicData uri="http://schemas.openxmlformats.org/presentationml/2006/ole">
              <mc:AlternateContent xmlns:mc="http://schemas.openxmlformats.org/markup-compatibility/2006">
                <mc:Choice xmlns:v="urn:schemas-microsoft-com:vml" Requires="v">
                  <p:oleObj spid="_x0000_s3265" name="" r:id="rId7" imgW="1638300" imgH="457200" progId="Equation.3">
                    <p:embed/>
                  </p:oleObj>
                </mc:Choice>
                <mc:Fallback>
                  <p:oleObj name="" r:id="rId7" imgW="1638300" imgH="457200" progId="Equation.3">
                    <p:embed/>
                    <p:pic>
                      <p:nvPicPr>
                        <p:cNvPr id="0" name="图片 3264"/>
                        <p:cNvPicPr/>
                        <p:nvPr/>
                      </p:nvPicPr>
                      <p:blipFill>
                        <a:blip r:embed="rId8"/>
                        <a:stretch>
                          <a:fillRect/>
                        </a:stretch>
                      </p:blipFill>
                      <p:spPr>
                        <a:xfrm>
                          <a:off x="2408" y="2812"/>
                          <a:ext cx="2475" cy="691"/>
                        </a:xfrm>
                        <a:prstGeom prst="rect">
                          <a:avLst/>
                        </a:prstGeom>
                        <a:noFill/>
                        <a:ln w="38100">
                          <a:noFill/>
                          <a:miter/>
                        </a:ln>
                      </p:spPr>
                    </p:pic>
                  </p:oleObj>
                </mc:Fallback>
              </mc:AlternateContent>
            </a:graphicData>
          </a:graphic>
        </p:graphicFrame>
        <p:graphicFrame>
          <p:nvGraphicFramePr>
            <p:cNvPr id="65541" name="Object 8"/>
            <p:cNvGraphicFramePr/>
            <p:nvPr/>
          </p:nvGraphicFramePr>
          <p:xfrm>
            <a:off x="327" y="2782"/>
            <a:ext cx="2073" cy="729"/>
          </p:xfrm>
          <a:graphic>
            <a:graphicData uri="http://schemas.openxmlformats.org/presentationml/2006/ole">
              <mc:AlternateContent xmlns:mc="http://schemas.openxmlformats.org/markup-compatibility/2006">
                <mc:Choice xmlns:v="urn:schemas-microsoft-com:vml" Requires="v">
                  <p:oleObj spid="_x0000_s3266" name="" r:id="rId9" imgW="1370965" imgH="482600" progId="Equation.3">
                    <p:embed/>
                  </p:oleObj>
                </mc:Choice>
                <mc:Fallback>
                  <p:oleObj name="" r:id="rId9" imgW="1370965" imgH="482600" progId="Equation.3">
                    <p:embed/>
                    <p:pic>
                      <p:nvPicPr>
                        <p:cNvPr id="0" name="图片 3265"/>
                        <p:cNvPicPr/>
                        <p:nvPr/>
                      </p:nvPicPr>
                      <p:blipFill>
                        <a:blip r:embed="rId10"/>
                        <a:stretch>
                          <a:fillRect/>
                        </a:stretch>
                      </p:blipFill>
                      <p:spPr>
                        <a:xfrm>
                          <a:off x="327" y="2782"/>
                          <a:ext cx="2073" cy="729"/>
                        </a:xfrm>
                        <a:prstGeom prst="rect">
                          <a:avLst/>
                        </a:prstGeom>
                        <a:noFill/>
                        <a:ln w="38100">
                          <a:noFill/>
                          <a:miter/>
                        </a:ln>
                      </p:spPr>
                    </p:pic>
                  </p:oleObj>
                </mc:Fallback>
              </mc:AlternateContent>
            </a:graphicData>
          </a:graphic>
        </p:graphicFrame>
        <p:sp>
          <p:nvSpPr>
            <p:cNvPr id="65550" name="Text Box 16"/>
            <p:cNvSpPr txBox="1"/>
            <p:nvPr/>
          </p:nvSpPr>
          <p:spPr>
            <a:xfrm>
              <a:off x="3547" y="2071"/>
              <a:ext cx="628" cy="365"/>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再取</a:t>
              </a:r>
              <a:endParaRPr lang="zh-CN" altLang="en-US" b="1" dirty="0">
                <a:latin typeface="Times New Roman" panose="02020603050405020304" pitchFamily="18" charset="0"/>
              </a:endParaRPr>
            </a:p>
          </p:txBody>
        </p:sp>
      </p:grpSp>
      <p:sp>
        <p:nvSpPr>
          <p:cNvPr id="160786" name="Text Box 18"/>
          <p:cNvSpPr txBox="1"/>
          <p:nvPr/>
        </p:nvSpPr>
        <p:spPr>
          <a:xfrm>
            <a:off x="444500" y="5651500"/>
            <a:ext cx="5284788" cy="584200"/>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由向量形式的改进</a:t>
            </a:r>
            <a:r>
              <a:rPr lang="en-US" altLang="zh-CN" b="1" dirty="0">
                <a:latin typeface="Times New Roman" panose="02020603050405020304" pitchFamily="18" charset="0"/>
              </a:rPr>
              <a:t>Euler</a:t>
            </a:r>
            <a:r>
              <a:rPr lang="zh-CN" altLang="en-US" b="1" dirty="0">
                <a:latin typeface="Times New Roman" panose="02020603050405020304" pitchFamily="18" charset="0"/>
              </a:rPr>
              <a:t>公式</a:t>
            </a:r>
            <a:endParaRPr lang="zh-CN" altLang="en-US"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0771"/>
                                        </p:tgtEl>
                                        <p:attrNameLst>
                                          <p:attrName>style.visibility</p:attrName>
                                        </p:attrNameLst>
                                      </p:cBhvr>
                                      <p:to>
                                        <p:strVal val="visible"/>
                                      </p:to>
                                    </p:set>
                                    <p:animEffect transition="in" filter="wipe(up)">
                                      <p:cBhvr>
                                        <p:cTn id="7" dur="500"/>
                                        <p:tgtEl>
                                          <p:spTgt spid="16077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60773"/>
                                        </p:tgtEl>
                                        <p:attrNameLst>
                                          <p:attrName>style.visibility</p:attrName>
                                        </p:attrNameLst>
                                      </p:cBhvr>
                                      <p:to>
                                        <p:strVal val="visible"/>
                                      </p:to>
                                    </p:set>
                                    <p:anim calcmode="lin" valueType="num">
                                      <p:cBhvr>
                                        <p:cTn id="12" dur="500" fill="hold"/>
                                        <p:tgtEl>
                                          <p:spTgt spid="160773"/>
                                        </p:tgtEl>
                                        <p:attrNameLst>
                                          <p:attrName>ppt_x</p:attrName>
                                        </p:attrNameLst>
                                      </p:cBhvr>
                                      <p:tavLst>
                                        <p:tav tm="0">
                                          <p:val>
                                            <p:strVal val="0-#ppt_w/2"/>
                                          </p:val>
                                        </p:tav>
                                        <p:tav tm="100000">
                                          <p:val>
                                            <p:strVal val="#ppt_x"/>
                                          </p:val>
                                        </p:tav>
                                      </p:tavLst>
                                    </p:anim>
                                    <p:anim calcmode="lin" valueType="num">
                                      <p:cBhvr>
                                        <p:cTn id="13" dur="500" fill="hold"/>
                                        <p:tgtEl>
                                          <p:spTgt spid="16077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16077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up)">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60786"/>
                                        </p:tgtEl>
                                        <p:attrNameLst>
                                          <p:attrName>style.visibility</p:attrName>
                                        </p:attrNameLst>
                                      </p:cBhvr>
                                      <p:to>
                                        <p:strVal val="visible"/>
                                      </p:to>
                                    </p:set>
                                    <p:animEffect transition="in" filter="dissolve">
                                      <p:cBhvr>
                                        <p:cTn id="31" dur="500"/>
                                        <p:tgtEl>
                                          <p:spTgt spid="160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3" grpId="0"/>
      <p:bldP spid="16078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6567"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66568" name="Rectangle 2"/>
          <p:cNvSpPr>
            <a:spLocks noGrp="1"/>
          </p:cNvSpPr>
          <p:nvPr>
            <p:ph type="title"/>
          </p:nvPr>
        </p:nvSpPr>
        <p:spPr>
          <a:xfrm>
            <a:off x="166688" y="371475"/>
            <a:ext cx="4916487" cy="1143000"/>
          </a:xfrm>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改进</a:t>
            </a:r>
            <a:r>
              <a:rPr lang="en-US" altLang="zh-CN" b="1" u="none" dirty="0">
                <a:solidFill>
                  <a:schemeClr val="tx1"/>
                </a:solidFill>
                <a:latin typeface="Times New Roman" panose="02020603050405020304" pitchFamily="18" charset="0"/>
              </a:rPr>
              <a:t>Euler</a:t>
            </a:r>
            <a:r>
              <a:rPr lang="zh-CN" altLang="en-US" b="1" u="none" dirty="0">
                <a:solidFill>
                  <a:schemeClr val="tx1"/>
                </a:solidFill>
                <a:latin typeface="Times New Roman" panose="02020603050405020304" pitchFamily="18" charset="0"/>
              </a:rPr>
              <a:t>公式的向量形式</a:t>
            </a:r>
            <a:r>
              <a:rPr lang="zh-CN" altLang="en-US" sz="2800" u="none" dirty="0">
                <a:solidFill>
                  <a:schemeClr val="tx1"/>
                </a:solidFill>
                <a:latin typeface="Times New Roman" panose="02020603050405020304" pitchFamily="18" charset="0"/>
              </a:rPr>
              <a:t> </a:t>
            </a:r>
            <a:endParaRPr lang="zh-CN" altLang="en-US" sz="2800" u="none" dirty="0">
              <a:solidFill>
                <a:schemeClr val="tx1"/>
              </a:solidFill>
              <a:latin typeface="Times New Roman" panose="02020603050405020304" pitchFamily="18" charset="0"/>
            </a:endParaRPr>
          </a:p>
        </p:txBody>
      </p:sp>
      <p:graphicFrame>
        <p:nvGraphicFramePr>
          <p:cNvPr id="222208" name="Object 1024"/>
          <p:cNvGraphicFramePr/>
          <p:nvPr/>
        </p:nvGraphicFramePr>
        <p:xfrm>
          <a:off x="5146675" y="206375"/>
          <a:ext cx="3775075" cy="2159000"/>
        </p:xfrm>
        <a:graphic>
          <a:graphicData uri="http://schemas.openxmlformats.org/presentationml/2006/ole">
            <mc:AlternateContent xmlns:mc="http://schemas.openxmlformats.org/markup-compatibility/2006">
              <mc:Choice xmlns:v="urn:schemas-microsoft-com:vml" Requires="v">
                <p:oleObj spid="_x0000_s3260" name="" r:id="rId1" imgW="1510665" imgH="862965" progId="Equation.3">
                  <p:embed/>
                </p:oleObj>
              </mc:Choice>
              <mc:Fallback>
                <p:oleObj name="" r:id="rId1" imgW="1510665" imgH="862965" progId="Equation.3">
                  <p:embed/>
                  <p:pic>
                    <p:nvPicPr>
                      <p:cNvPr id="0" name="图片 3259"/>
                      <p:cNvPicPr/>
                      <p:nvPr/>
                    </p:nvPicPr>
                    <p:blipFill>
                      <a:blip r:embed="rId2"/>
                      <a:stretch>
                        <a:fillRect/>
                      </a:stretch>
                    </p:blipFill>
                    <p:spPr>
                      <a:xfrm>
                        <a:off x="5146675" y="206375"/>
                        <a:ext cx="3775075" cy="2159000"/>
                      </a:xfrm>
                      <a:prstGeom prst="rect">
                        <a:avLst/>
                      </a:prstGeom>
                      <a:noFill/>
                      <a:ln w="38100">
                        <a:noFill/>
                        <a:miter/>
                      </a:ln>
                    </p:spPr>
                  </p:pic>
                </p:oleObj>
              </mc:Fallback>
            </mc:AlternateContent>
          </a:graphicData>
        </a:graphic>
      </p:graphicFrame>
      <p:sp>
        <p:nvSpPr>
          <p:cNvPr id="161796" name="Text Box 4"/>
          <p:cNvSpPr txBox="1"/>
          <p:nvPr/>
        </p:nvSpPr>
        <p:spPr>
          <a:xfrm>
            <a:off x="255588" y="1736725"/>
            <a:ext cx="3479800" cy="585788"/>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其分量计算形式为</a:t>
            </a:r>
            <a:endParaRPr lang="zh-CN" altLang="en-US" b="1" dirty="0">
              <a:latin typeface="Times New Roman" panose="02020603050405020304" pitchFamily="18" charset="0"/>
            </a:endParaRPr>
          </a:p>
        </p:txBody>
      </p:sp>
      <p:graphicFrame>
        <p:nvGraphicFramePr>
          <p:cNvPr id="222209" name="Object 1025"/>
          <p:cNvGraphicFramePr/>
          <p:nvPr/>
        </p:nvGraphicFramePr>
        <p:xfrm>
          <a:off x="320675" y="2382838"/>
          <a:ext cx="5438775" cy="1333500"/>
        </p:xfrm>
        <a:graphic>
          <a:graphicData uri="http://schemas.openxmlformats.org/presentationml/2006/ole">
            <mc:AlternateContent xmlns:mc="http://schemas.openxmlformats.org/markup-compatibility/2006">
              <mc:Choice xmlns:v="urn:schemas-microsoft-com:vml" Requires="v">
                <p:oleObj spid="_x0000_s3264" name="" r:id="rId3" imgW="2183765" imgH="533400" progId="Equation.3">
                  <p:embed/>
                </p:oleObj>
              </mc:Choice>
              <mc:Fallback>
                <p:oleObj name="" r:id="rId3" imgW="2183765" imgH="533400" progId="Equation.3">
                  <p:embed/>
                  <p:pic>
                    <p:nvPicPr>
                      <p:cNvPr id="0" name="图片 3263"/>
                      <p:cNvPicPr/>
                      <p:nvPr/>
                    </p:nvPicPr>
                    <p:blipFill>
                      <a:blip r:embed="rId4"/>
                      <a:stretch>
                        <a:fillRect/>
                      </a:stretch>
                    </p:blipFill>
                    <p:spPr>
                      <a:xfrm>
                        <a:off x="320675" y="2382838"/>
                        <a:ext cx="5438775" cy="1333500"/>
                      </a:xfrm>
                      <a:prstGeom prst="rect">
                        <a:avLst/>
                      </a:prstGeom>
                      <a:noFill/>
                      <a:ln w="38100">
                        <a:noFill/>
                        <a:miter/>
                      </a:ln>
                    </p:spPr>
                  </p:pic>
                </p:oleObj>
              </mc:Fallback>
            </mc:AlternateContent>
          </a:graphicData>
        </a:graphic>
      </p:graphicFrame>
      <p:graphicFrame>
        <p:nvGraphicFramePr>
          <p:cNvPr id="222210" name="Object 1026"/>
          <p:cNvGraphicFramePr/>
          <p:nvPr/>
        </p:nvGraphicFramePr>
        <p:xfrm>
          <a:off x="355600" y="3779838"/>
          <a:ext cx="4049713" cy="1222375"/>
        </p:xfrm>
        <a:graphic>
          <a:graphicData uri="http://schemas.openxmlformats.org/presentationml/2006/ole">
            <mc:AlternateContent xmlns:mc="http://schemas.openxmlformats.org/markup-compatibility/2006">
              <mc:Choice xmlns:v="urn:schemas-microsoft-com:vml" Requires="v">
                <p:oleObj spid="_x0000_s3261" name="" r:id="rId5" imgW="1689100" imgH="508000" progId="Equation.3">
                  <p:embed/>
                </p:oleObj>
              </mc:Choice>
              <mc:Fallback>
                <p:oleObj name="" r:id="rId5" imgW="1689100" imgH="508000" progId="Equation.3">
                  <p:embed/>
                  <p:pic>
                    <p:nvPicPr>
                      <p:cNvPr id="0" name="图片 3260"/>
                      <p:cNvPicPr/>
                      <p:nvPr/>
                    </p:nvPicPr>
                    <p:blipFill>
                      <a:blip r:embed="rId6"/>
                      <a:stretch>
                        <a:fillRect/>
                      </a:stretch>
                    </p:blipFill>
                    <p:spPr>
                      <a:xfrm>
                        <a:off x="355600" y="3779838"/>
                        <a:ext cx="4049713" cy="1222375"/>
                      </a:xfrm>
                      <a:prstGeom prst="rect">
                        <a:avLst/>
                      </a:prstGeom>
                      <a:noFill/>
                      <a:ln w="38100">
                        <a:noFill/>
                        <a:miter/>
                      </a:ln>
                    </p:spPr>
                  </p:pic>
                </p:oleObj>
              </mc:Fallback>
            </mc:AlternateContent>
          </a:graphicData>
        </a:graphic>
      </p:graphicFrame>
      <p:graphicFrame>
        <p:nvGraphicFramePr>
          <p:cNvPr id="222211" name="Object 1027"/>
          <p:cNvGraphicFramePr/>
          <p:nvPr/>
        </p:nvGraphicFramePr>
        <p:xfrm>
          <a:off x="371475" y="5133975"/>
          <a:ext cx="7458075" cy="1268413"/>
        </p:xfrm>
        <a:graphic>
          <a:graphicData uri="http://schemas.openxmlformats.org/presentationml/2006/ole">
            <mc:AlternateContent xmlns:mc="http://schemas.openxmlformats.org/markup-compatibility/2006">
              <mc:Choice xmlns:v="urn:schemas-microsoft-com:vml" Requires="v">
                <p:oleObj spid="_x0000_s3259" name="" r:id="rId7" imgW="2997200" imgH="508000" progId="Equation.3">
                  <p:embed/>
                </p:oleObj>
              </mc:Choice>
              <mc:Fallback>
                <p:oleObj name="" r:id="rId7" imgW="2997200" imgH="508000" progId="Equation.3">
                  <p:embed/>
                  <p:pic>
                    <p:nvPicPr>
                      <p:cNvPr id="0" name="图片 3258"/>
                      <p:cNvPicPr/>
                      <p:nvPr/>
                    </p:nvPicPr>
                    <p:blipFill>
                      <a:blip r:embed="rId8"/>
                      <a:stretch>
                        <a:fillRect/>
                      </a:stretch>
                    </p:blipFill>
                    <p:spPr>
                      <a:xfrm>
                        <a:off x="371475" y="5133975"/>
                        <a:ext cx="7458075" cy="12684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22208"/>
                                        </p:tgtEl>
                                        <p:attrNameLst>
                                          <p:attrName>style.visibility</p:attrName>
                                        </p:attrNameLst>
                                      </p:cBhvr>
                                      <p:to>
                                        <p:strVal val="visible"/>
                                      </p:to>
                                    </p:set>
                                    <p:animEffect transition="in" filter="checkerboard(across)">
                                      <p:cBhvr>
                                        <p:cTn id="7" dur="500"/>
                                        <p:tgtEl>
                                          <p:spTgt spid="22220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61796"/>
                                        </p:tgtEl>
                                        <p:attrNameLst>
                                          <p:attrName>style.visibility</p:attrName>
                                        </p:attrNameLst>
                                      </p:cBhvr>
                                      <p:to>
                                        <p:strVal val="visible"/>
                                      </p:to>
                                    </p:set>
                                    <p:animEffect transition="in" filter="checkerboard(across)">
                                      <p:cBhvr>
                                        <p:cTn id="12" dur="500"/>
                                        <p:tgtEl>
                                          <p:spTgt spid="16179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22209"/>
                                        </p:tgtEl>
                                        <p:attrNameLst>
                                          <p:attrName>style.visibility</p:attrName>
                                        </p:attrNameLst>
                                      </p:cBhvr>
                                      <p:to>
                                        <p:strVal val="visible"/>
                                      </p:to>
                                    </p:set>
                                    <p:animEffect transition="in" filter="dissolve">
                                      <p:cBhvr>
                                        <p:cTn id="17" dur="500"/>
                                        <p:tgtEl>
                                          <p:spTgt spid="22220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22210"/>
                                        </p:tgtEl>
                                        <p:attrNameLst>
                                          <p:attrName>style.visibility</p:attrName>
                                        </p:attrNameLst>
                                      </p:cBhvr>
                                      <p:to>
                                        <p:strVal val="visible"/>
                                      </p:to>
                                    </p:set>
                                    <p:animEffect transition="in" filter="dissolve">
                                      <p:cBhvr>
                                        <p:cTn id="22" dur="500"/>
                                        <p:tgtEl>
                                          <p:spTgt spid="22221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22211"/>
                                        </p:tgtEl>
                                        <p:attrNameLst>
                                          <p:attrName>style.visibility</p:attrName>
                                        </p:attrNameLst>
                                      </p:cBhvr>
                                      <p:to>
                                        <p:strVal val="visible"/>
                                      </p:to>
                                    </p:set>
                                    <p:animEffect transition="in" filter="dissolve">
                                      <p:cBhvr>
                                        <p:cTn id="27" dur="500"/>
                                        <p:tgtEl>
                                          <p:spTgt spid="222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588"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67589" name="Rectangle 2"/>
          <p:cNvSpPr>
            <a:spLocks noGrp="1"/>
          </p:cNvSpPr>
          <p:nvPr>
            <p:ph type="title"/>
          </p:nvPr>
        </p:nvSpPr>
        <p:spPr>
          <a:xfrm>
            <a:off x="358775" y="228600"/>
            <a:ext cx="7772400" cy="1143000"/>
          </a:xfrm>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整理得分量计算格式</a:t>
            </a:r>
            <a:endParaRPr lang="zh-CN" altLang="en-US" b="1" u="none" dirty="0">
              <a:solidFill>
                <a:schemeClr val="tx1"/>
              </a:solidFill>
              <a:latin typeface="Times New Roman" panose="02020603050405020304" pitchFamily="18" charset="0"/>
            </a:endParaRPr>
          </a:p>
        </p:txBody>
      </p:sp>
      <p:graphicFrame>
        <p:nvGraphicFramePr>
          <p:cNvPr id="223232" name="Object 1024"/>
          <p:cNvGraphicFramePr/>
          <p:nvPr/>
        </p:nvGraphicFramePr>
        <p:xfrm>
          <a:off x="492125" y="1300163"/>
          <a:ext cx="7978775" cy="4130675"/>
        </p:xfrm>
        <a:graphic>
          <a:graphicData uri="http://schemas.openxmlformats.org/presentationml/2006/ole">
            <mc:AlternateContent xmlns:mc="http://schemas.openxmlformats.org/markup-compatibility/2006">
              <mc:Choice xmlns:v="urn:schemas-microsoft-com:vml" Requires="v">
                <p:oleObj spid="_x0000_s3268" name="" r:id="rId1" imgW="3187700" imgH="1651000" progId="Equation.3">
                  <p:embed/>
                </p:oleObj>
              </mc:Choice>
              <mc:Fallback>
                <p:oleObj name="" r:id="rId1" imgW="3187700" imgH="1651000" progId="Equation.3">
                  <p:embed/>
                  <p:pic>
                    <p:nvPicPr>
                      <p:cNvPr id="0" name="图片 3267"/>
                      <p:cNvPicPr/>
                      <p:nvPr/>
                    </p:nvPicPr>
                    <p:blipFill>
                      <a:blip r:embed="rId2"/>
                      <a:stretch>
                        <a:fillRect/>
                      </a:stretch>
                    </p:blipFill>
                    <p:spPr>
                      <a:xfrm>
                        <a:off x="492125" y="1300163"/>
                        <a:ext cx="7978775" cy="41306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3232"/>
                                        </p:tgtEl>
                                        <p:attrNameLst>
                                          <p:attrName>style.visibility</p:attrName>
                                        </p:attrNameLst>
                                      </p:cBhvr>
                                      <p:to>
                                        <p:strVal val="visible"/>
                                      </p:to>
                                    </p:set>
                                    <p:animEffect transition="in" filter="wipe(up)">
                                      <p:cBhvr>
                                        <p:cTn id="7" dur="500"/>
                                        <p:tgtEl>
                                          <p:spTgt spid="223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613"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68614" name="Rectangle 2"/>
          <p:cNvSpPr>
            <a:spLocks noGrp="1"/>
          </p:cNvSpPr>
          <p:nvPr>
            <p:ph type="title"/>
          </p:nvPr>
        </p:nvSpPr>
        <p:spPr>
          <a:xfrm>
            <a:off x="300038" y="228600"/>
            <a:ext cx="8621712" cy="1143000"/>
          </a:xfrm>
          <a:ln/>
        </p:spPr>
        <p:txBody>
          <a:bodyPr vert="horz" wrap="square" lIns="91440" tIns="45720" rIns="91440" bIns="45720" anchor="ctr" anchorCtr="0"/>
          <a:p>
            <a:pPr algn="l"/>
            <a:r>
              <a:rPr lang="en-US" altLang="zh-CN" sz="3600" b="1" u="none" dirty="0">
                <a:latin typeface="Times New Roman" panose="02020603050405020304" pitchFamily="18" charset="0"/>
              </a:rPr>
              <a:t>9.4</a:t>
            </a:r>
            <a:r>
              <a:rPr lang="zh-CN" altLang="en-US" sz="3600" b="1" u="none" dirty="0">
                <a:latin typeface="Times New Roman" panose="02020603050405020304" pitchFamily="18" charset="0"/>
              </a:rPr>
              <a:t>.2 高阶常微分方程初值问题的数值解法</a:t>
            </a:r>
            <a:endParaRPr lang="zh-CN" altLang="en-US" sz="3600" u="none" dirty="0">
              <a:latin typeface="Times New Roman" panose="02020603050405020304" pitchFamily="18" charset="0"/>
              <a:ea typeface="Times New Roman" panose="02020603050405020304" pitchFamily="18" charset="0"/>
            </a:endParaRPr>
          </a:p>
        </p:txBody>
      </p:sp>
      <p:sp>
        <p:nvSpPr>
          <p:cNvPr id="163843" name="Rectangle 3"/>
          <p:cNvSpPr>
            <a:spLocks noGrp="1"/>
          </p:cNvSpPr>
          <p:nvPr>
            <p:ph idx="1"/>
          </p:nvPr>
        </p:nvSpPr>
        <p:spPr>
          <a:xfrm>
            <a:off x="946150" y="1314450"/>
            <a:ext cx="7772400" cy="563563"/>
          </a:xfrm>
          <a:ln/>
        </p:spPr>
        <p:txBody>
          <a:bodyPr vert="horz" wrap="square" lIns="91440" tIns="45720" rIns="91440" bIns="45720" anchor="t" anchorCtr="0"/>
          <a:p>
            <a:pPr marL="0" indent="0">
              <a:lnSpc>
                <a:spcPct val="90000"/>
              </a:lnSpc>
              <a:buNone/>
            </a:pPr>
            <a:r>
              <a:rPr lang="zh-CN" altLang="en-US" sz="3200" b="1" dirty="0"/>
              <a:t>高阶常微分方程初值问题的一般形式为 </a:t>
            </a:r>
            <a:endParaRPr lang="zh-CN" altLang="en-US" sz="3200" b="1" dirty="0"/>
          </a:p>
        </p:txBody>
      </p:sp>
      <p:graphicFrame>
        <p:nvGraphicFramePr>
          <p:cNvPr id="224256" name="Object 1024"/>
          <p:cNvGraphicFramePr/>
          <p:nvPr/>
        </p:nvGraphicFramePr>
        <p:xfrm>
          <a:off x="304007" y="1927067"/>
          <a:ext cx="8277225" cy="1271905"/>
        </p:xfrm>
        <a:graphic>
          <a:graphicData uri="http://schemas.openxmlformats.org/presentationml/2006/ole">
            <mc:AlternateContent xmlns:mc="http://schemas.openxmlformats.org/markup-compatibility/2006">
              <mc:Choice xmlns:v="urn:schemas-microsoft-com:vml" Requires="v">
                <p:oleObj spid="_x0000_s3267" name="" r:id="rId1" imgW="3327400" imgH="508000" progId="Equation.3">
                  <p:embed/>
                </p:oleObj>
              </mc:Choice>
              <mc:Fallback>
                <p:oleObj name="" r:id="rId1" imgW="3327400" imgH="508000" progId="Equation.3">
                  <p:embed/>
                  <p:pic>
                    <p:nvPicPr>
                      <p:cNvPr id="0" name="图片 3266"/>
                      <p:cNvPicPr/>
                      <p:nvPr/>
                    </p:nvPicPr>
                    <p:blipFill>
                      <a:blip r:embed="rId2"/>
                      <a:stretch>
                        <a:fillRect/>
                      </a:stretch>
                    </p:blipFill>
                    <p:spPr>
                      <a:xfrm>
                        <a:off x="304007" y="1927067"/>
                        <a:ext cx="8277225" cy="1271905"/>
                      </a:xfrm>
                      <a:prstGeom prst="rect">
                        <a:avLst/>
                      </a:prstGeom>
                      <a:noFill/>
                      <a:ln w="38100">
                        <a:noFill/>
                        <a:miter/>
                      </a:ln>
                    </p:spPr>
                  </p:pic>
                </p:oleObj>
              </mc:Fallback>
            </mc:AlternateContent>
          </a:graphicData>
        </a:graphic>
      </p:graphicFrame>
      <p:sp>
        <p:nvSpPr>
          <p:cNvPr id="163846" name="Text Box 6"/>
          <p:cNvSpPr txBox="1"/>
          <p:nvPr/>
        </p:nvSpPr>
        <p:spPr>
          <a:xfrm>
            <a:off x="284163" y="3379788"/>
            <a:ext cx="2224087" cy="579437"/>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引入新变量</a:t>
            </a:r>
            <a:endParaRPr lang="zh-CN" altLang="en-US" b="1" dirty="0">
              <a:latin typeface="Times New Roman" panose="02020603050405020304" pitchFamily="18" charset="0"/>
            </a:endParaRPr>
          </a:p>
        </p:txBody>
      </p:sp>
      <p:graphicFrame>
        <p:nvGraphicFramePr>
          <p:cNvPr id="224257" name="Object 1025"/>
          <p:cNvGraphicFramePr/>
          <p:nvPr/>
        </p:nvGraphicFramePr>
        <p:xfrm>
          <a:off x="2438400" y="3373438"/>
          <a:ext cx="6499225" cy="635000"/>
        </p:xfrm>
        <a:graphic>
          <a:graphicData uri="http://schemas.openxmlformats.org/presentationml/2006/ole">
            <mc:AlternateContent xmlns:mc="http://schemas.openxmlformats.org/markup-compatibility/2006">
              <mc:Choice xmlns:v="urn:schemas-microsoft-com:vml" Requires="v">
                <p:oleObj spid="_x0000_s3269" name="" r:id="rId3" imgW="2562860" imgH="254000" progId="Equation.3">
                  <p:embed/>
                </p:oleObj>
              </mc:Choice>
              <mc:Fallback>
                <p:oleObj name="" r:id="rId3" imgW="2562860" imgH="254000" progId="Equation.3">
                  <p:embed/>
                  <p:pic>
                    <p:nvPicPr>
                      <p:cNvPr id="0" name="图片 3268"/>
                      <p:cNvPicPr/>
                      <p:nvPr/>
                    </p:nvPicPr>
                    <p:blipFill>
                      <a:blip r:embed="rId4"/>
                      <a:stretch>
                        <a:fillRect/>
                      </a:stretch>
                    </p:blipFill>
                    <p:spPr>
                      <a:xfrm>
                        <a:off x="2438400" y="3373438"/>
                        <a:ext cx="6499225" cy="635000"/>
                      </a:xfrm>
                      <a:prstGeom prst="rect">
                        <a:avLst/>
                      </a:prstGeom>
                      <a:noFill/>
                      <a:ln w="38100">
                        <a:noFill/>
                        <a:miter/>
                      </a:ln>
                    </p:spPr>
                  </p:pic>
                </p:oleObj>
              </mc:Fallback>
            </mc:AlternateContent>
          </a:graphicData>
        </a:graphic>
      </p:graphicFrame>
      <p:sp>
        <p:nvSpPr>
          <p:cNvPr id="163849" name="Text Box 9"/>
          <p:cNvSpPr txBox="1"/>
          <p:nvPr/>
        </p:nvSpPr>
        <p:spPr>
          <a:xfrm>
            <a:off x="306388" y="4130675"/>
            <a:ext cx="8596312" cy="1076325"/>
          </a:xfrm>
          <a:prstGeom prst="rect">
            <a:avLst/>
          </a:prstGeom>
          <a:noFill/>
          <a:ln w="9525">
            <a:noFill/>
          </a:ln>
        </p:spPr>
        <p:txBody>
          <a:bodyPr>
            <a:spAutoFit/>
          </a:bodyPr>
          <a:p>
            <a:pPr eaLnBrk="0" hangingPunct="0"/>
            <a:r>
              <a:rPr lang="zh-CN" altLang="en-US" b="1" dirty="0">
                <a:latin typeface="Times New Roman" panose="02020603050405020304" pitchFamily="18" charset="0"/>
              </a:rPr>
              <a:t>则 (</a:t>
            </a:r>
            <a:r>
              <a:rPr lang="en-US" altLang="zh-CN" b="1" dirty="0">
                <a:latin typeface="Times New Roman" panose="02020603050405020304" pitchFamily="18" charset="0"/>
              </a:rPr>
              <a:t>9.</a:t>
            </a:r>
            <a:r>
              <a:rPr lang="en-US" altLang="zh-CN" b="1" dirty="0">
                <a:latin typeface="Times New Roman" panose="02020603050405020304" pitchFamily="18" charset="0"/>
              </a:rPr>
              <a:t>4</a:t>
            </a:r>
            <a:r>
              <a:rPr lang="zh-CN" altLang="en-US" b="1" dirty="0">
                <a:latin typeface="Times New Roman" panose="02020603050405020304" pitchFamily="18" charset="0"/>
              </a:rPr>
              <a:t>.7) 可化为如下一阶常微分方程组初值问题.</a:t>
            </a:r>
            <a:endParaRPr lang="zh-CN" altLang="en-US"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3843">
                                            <p:txEl>
                                              <p:charRg st="0" end="19"/>
                                            </p:txEl>
                                          </p:spTgt>
                                        </p:tgtEl>
                                        <p:attrNameLst>
                                          <p:attrName>style.visibility</p:attrName>
                                        </p:attrNameLst>
                                      </p:cBhvr>
                                      <p:to>
                                        <p:strVal val="visible"/>
                                      </p:to>
                                    </p:set>
                                    <p:animEffect transition="in" filter="dissolve">
                                      <p:cBhvr>
                                        <p:cTn id="7" dur="500"/>
                                        <p:tgtEl>
                                          <p:spTgt spid="163843">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4256"/>
                                        </p:tgtEl>
                                        <p:attrNameLst>
                                          <p:attrName>style.visibility</p:attrName>
                                        </p:attrNameLst>
                                      </p:cBhvr>
                                      <p:to>
                                        <p:strVal val="visible"/>
                                      </p:to>
                                    </p:set>
                                    <p:animEffect transition="in" filter="wipe(left)">
                                      <p:cBhvr>
                                        <p:cTn id="12" dur="500"/>
                                        <p:tgtEl>
                                          <p:spTgt spid="22425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63846"/>
                                        </p:tgtEl>
                                        <p:attrNameLst>
                                          <p:attrName>style.visibility</p:attrName>
                                        </p:attrNameLst>
                                      </p:cBhvr>
                                      <p:to>
                                        <p:strVal val="visible"/>
                                      </p:to>
                                    </p:set>
                                    <p:anim calcmode="lin" valueType="num">
                                      <p:cBhvr>
                                        <p:cTn id="17" dur="500" fill="hold"/>
                                        <p:tgtEl>
                                          <p:spTgt spid="163846"/>
                                        </p:tgtEl>
                                        <p:attrNameLst>
                                          <p:attrName>ppt_x</p:attrName>
                                        </p:attrNameLst>
                                      </p:cBhvr>
                                      <p:tavLst>
                                        <p:tav tm="0">
                                          <p:val>
                                            <p:strVal val="0-#ppt_w/2"/>
                                          </p:val>
                                        </p:tav>
                                        <p:tav tm="100000">
                                          <p:val>
                                            <p:strVal val="#ppt_x"/>
                                          </p:val>
                                        </p:tav>
                                      </p:tavLst>
                                    </p:anim>
                                    <p:anim calcmode="lin" valueType="num">
                                      <p:cBhvr>
                                        <p:cTn id="18" dur="500" fill="hold"/>
                                        <p:tgtEl>
                                          <p:spTgt spid="16384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24257"/>
                                        </p:tgtEl>
                                        <p:attrNameLst>
                                          <p:attrName>style.visibility</p:attrName>
                                        </p:attrNameLst>
                                      </p:cBhvr>
                                      <p:to>
                                        <p:strVal val="visible"/>
                                      </p:to>
                                    </p:set>
                                    <p:animEffect transition="in" filter="wipe(left)">
                                      <p:cBhvr>
                                        <p:cTn id="23" dur="500"/>
                                        <p:tgtEl>
                                          <p:spTgt spid="224257"/>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163849"/>
                                        </p:tgtEl>
                                        <p:attrNameLst>
                                          <p:attrName>style.visibility</p:attrName>
                                        </p:attrNameLst>
                                      </p:cBhvr>
                                      <p:to>
                                        <p:strVal val="visible"/>
                                      </p:to>
                                    </p:set>
                                    <p:animEffect transition="in" filter="barn(outVertical)">
                                      <p:cBhvr>
                                        <p:cTn id="28" dur="500"/>
                                        <p:tgtEl>
                                          <p:spTgt spid="1638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p:bldP spid="163846" grpId="0"/>
      <p:bldP spid="16384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36"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69637" name="Rectangle 2"/>
          <p:cNvSpPr>
            <a:spLocks noGrp="1"/>
          </p:cNvSpPr>
          <p:nvPr>
            <p:ph type="title"/>
          </p:nvPr>
        </p:nvSpPr>
        <p:spPr>
          <a:ln/>
        </p:spPr>
        <p:txBody>
          <a:bodyPr vert="horz" wrap="square" lIns="91440" tIns="45720" rIns="91440" bIns="45720" anchor="ctr" anchorCtr="0"/>
          <a:p>
            <a:pPr algn="l"/>
            <a:r>
              <a:rPr lang="zh-CN" altLang="en-US" b="1" u="none" dirty="0">
                <a:solidFill>
                  <a:srgbClr val="FF0000"/>
                </a:solidFill>
                <a:latin typeface="Times New Roman" panose="02020603050405020304" pitchFamily="18" charset="0"/>
              </a:rPr>
              <a:t>等价的一阶常微分方程组初值问题：</a:t>
            </a:r>
            <a:endParaRPr lang="zh-CN" altLang="en-US" b="1" u="none" dirty="0">
              <a:solidFill>
                <a:srgbClr val="FF0000"/>
              </a:solidFill>
              <a:latin typeface="Times New Roman" panose="02020603050405020304" pitchFamily="18" charset="0"/>
              <a:ea typeface="Times New Roman" panose="02020603050405020304" pitchFamily="18" charset="0"/>
            </a:endParaRPr>
          </a:p>
        </p:txBody>
      </p:sp>
      <p:graphicFrame>
        <p:nvGraphicFramePr>
          <p:cNvPr id="225280" name="Object 1024"/>
          <p:cNvGraphicFramePr/>
          <p:nvPr/>
        </p:nvGraphicFramePr>
        <p:xfrm>
          <a:off x="817404" y="1055688"/>
          <a:ext cx="7545705" cy="3562350"/>
        </p:xfrm>
        <a:graphic>
          <a:graphicData uri="http://schemas.openxmlformats.org/presentationml/2006/ole">
            <mc:AlternateContent xmlns:mc="http://schemas.openxmlformats.org/markup-compatibility/2006">
              <mc:Choice xmlns:v="urn:schemas-microsoft-com:vml" Requires="v">
                <p:oleObj spid="_x0000_s3270" name="" r:id="rId1" imgW="3022600" imgH="1422400" progId="Equation.3">
                  <p:embed/>
                </p:oleObj>
              </mc:Choice>
              <mc:Fallback>
                <p:oleObj name="" r:id="rId1" imgW="3022600" imgH="1422400" progId="Equation.3">
                  <p:embed/>
                  <p:pic>
                    <p:nvPicPr>
                      <p:cNvPr id="0" name="图片 3269"/>
                      <p:cNvPicPr/>
                      <p:nvPr/>
                    </p:nvPicPr>
                    <p:blipFill>
                      <a:blip r:embed="rId2"/>
                      <a:stretch>
                        <a:fillRect/>
                      </a:stretch>
                    </p:blipFill>
                    <p:spPr>
                      <a:xfrm>
                        <a:off x="817404" y="1055688"/>
                        <a:ext cx="7545705" cy="3562350"/>
                      </a:xfrm>
                      <a:prstGeom prst="rect">
                        <a:avLst/>
                      </a:prstGeom>
                      <a:noFill/>
                      <a:ln w="38100">
                        <a:noFill/>
                        <a:miter/>
                      </a:ln>
                    </p:spPr>
                  </p:pic>
                </p:oleObj>
              </mc:Fallback>
            </mc:AlternateContent>
          </a:graphicData>
        </a:graphic>
      </p:graphicFrame>
      <p:sp>
        <p:nvSpPr>
          <p:cNvPr id="164869" name="Text Box 5"/>
          <p:cNvSpPr txBox="1"/>
          <p:nvPr/>
        </p:nvSpPr>
        <p:spPr>
          <a:xfrm>
            <a:off x="442913" y="4729163"/>
            <a:ext cx="8234362" cy="1076325"/>
          </a:xfrm>
          <a:prstGeom prst="rect">
            <a:avLst/>
          </a:prstGeom>
          <a:noFill/>
          <a:ln w="9525">
            <a:noFill/>
          </a:ln>
        </p:spPr>
        <p:txBody>
          <a:bodyPr>
            <a:spAutoFit/>
          </a:bodyPr>
          <a:p>
            <a:pPr eaLnBrk="0" hangingPunct="0"/>
            <a:r>
              <a:rPr lang="zh-CN" altLang="en-US" b="1" dirty="0">
                <a:latin typeface="Times New Roman" panose="02020603050405020304" pitchFamily="18" charset="0"/>
              </a:rPr>
              <a:t>于是，可采用前面</a:t>
            </a:r>
            <a:r>
              <a:rPr lang="en-US" altLang="zh-CN" b="1" dirty="0">
                <a:latin typeface="Times New Roman" panose="02020603050405020304" pitchFamily="18" charset="0"/>
              </a:rPr>
              <a:t>9.</a:t>
            </a:r>
            <a:r>
              <a:rPr lang="en-US" altLang="zh-CN" b="1" dirty="0">
                <a:latin typeface="Times New Roman" panose="02020603050405020304" pitchFamily="18" charset="0"/>
              </a:rPr>
              <a:t>4</a:t>
            </a:r>
            <a:r>
              <a:rPr lang="zh-CN" altLang="en-US" b="1" dirty="0">
                <a:latin typeface="Times New Roman" panose="02020603050405020304" pitchFamily="18" charset="0"/>
              </a:rPr>
              <a:t>.1所介绍的方法求此问题的数值解.</a:t>
            </a:r>
            <a:endParaRPr lang="zh-CN" altLang="en-US" b="1"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5280"/>
                                        </p:tgtEl>
                                        <p:attrNameLst>
                                          <p:attrName>style.visibility</p:attrName>
                                        </p:attrNameLst>
                                      </p:cBhvr>
                                      <p:to>
                                        <p:strVal val="visible"/>
                                      </p:to>
                                    </p:set>
                                    <p:animEffect transition="in" filter="wipe(up)">
                                      <p:cBhvr>
                                        <p:cTn id="7" dur="500"/>
                                        <p:tgtEl>
                                          <p:spTgt spid="2252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869"/>
                                        </p:tgtEl>
                                        <p:attrNameLst>
                                          <p:attrName>style.visibility</p:attrName>
                                        </p:attrNameLst>
                                      </p:cBhvr>
                                      <p:to>
                                        <p:strVal val="visible"/>
                                      </p:to>
                                    </p:set>
                                    <p:animEffect transition="in" filter="wipe(left)">
                                      <p:cBhvr>
                                        <p:cTn id="12" dur="500"/>
                                        <p:tgtEl>
                                          <p:spTgt spid="164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663"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70664" name="Rectangle 2"/>
          <p:cNvSpPr>
            <a:spLocks noGrp="1"/>
          </p:cNvSpPr>
          <p:nvPr>
            <p:ph type="title"/>
          </p:nvPr>
        </p:nvSpPr>
        <p:spPr>
          <a:xfrm>
            <a:off x="533400" y="228600"/>
            <a:ext cx="8318500" cy="1143000"/>
          </a:xfrm>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例</a:t>
            </a:r>
            <a:r>
              <a:rPr lang="en-US" altLang="zh-CN" b="1" u="none" dirty="0">
                <a:solidFill>
                  <a:schemeClr val="tx1"/>
                </a:solidFill>
                <a:latin typeface="Times New Roman" panose="02020603050405020304" pitchFamily="18" charset="0"/>
              </a:rPr>
              <a:t>9.</a:t>
            </a:r>
            <a:r>
              <a:rPr lang="en-US" altLang="zh-CN" b="1" u="none" dirty="0">
                <a:solidFill>
                  <a:schemeClr val="tx1"/>
                </a:solidFill>
                <a:latin typeface="Times New Roman" panose="02020603050405020304" pitchFamily="18" charset="0"/>
              </a:rPr>
              <a:t>4</a:t>
            </a:r>
            <a:r>
              <a:rPr lang="zh-CN" altLang="en-US" b="1" u="none" dirty="0">
                <a:solidFill>
                  <a:schemeClr val="tx1"/>
                </a:solidFill>
                <a:latin typeface="Times New Roman" panose="02020603050405020304" pitchFamily="18" charset="0"/>
              </a:rPr>
              <a:t>.2写出用标准四阶</a:t>
            </a:r>
            <a:r>
              <a:rPr lang="en-US" altLang="zh-CN" b="1" u="none" dirty="0">
                <a:solidFill>
                  <a:schemeClr val="tx1"/>
                </a:solidFill>
                <a:latin typeface="Times New Roman" panose="02020603050405020304" pitchFamily="18" charset="0"/>
              </a:rPr>
              <a:t>Runge-Kutta</a:t>
            </a:r>
            <a:r>
              <a:rPr lang="zh-CN" altLang="en-US" b="1" u="none" dirty="0">
                <a:solidFill>
                  <a:schemeClr val="tx1"/>
                </a:solidFill>
                <a:latin typeface="Times New Roman" panose="02020603050405020304" pitchFamily="18" charset="0"/>
              </a:rPr>
              <a:t>公式求解</a:t>
            </a:r>
            <a:endParaRPr lang="zh-CN" altLang="en-US" b="1" u="none" dirty="0">
              <a:solidFill>
                <a:schemeClr val="tx1"/>
              </a:solidFill>
              <a:latin typeface="Times New Roman" panose="02020603050405020304" pitchFamily="18" charset="0"/>
              <a:ea typeface="Times New Roman" panose="02020603050405020304" pitchFamily="18" charset="0"/>
            </a:endParaRPr>
          </a:p>
        </p:txBody>
      </p:sp>
      <p:graphicFrame>
        <p:nvGraphicFramePr>
          <p:cNvPr id="70658" name="Object 1024"/>
          <p:cNvGraphicFramePr/>
          <p:nvPr/>
        </p:nvGraphicFramePr>
        <p:xfrm>
          <a:off x="2482850" y="1123950"/>
          <a:ext cx="4059238" cy="1204913"/>
        </p:xfrm>
        <a:graphic>
          <a:graphicData uri="http://schemas.openxmlformats.org/presentationml/2006/ole">
            <mc:AlternateContent xmlns:mc="http://schemas.openxmlformats.org/markup-compatibility/2006">
              <mc:Choice xmlns:v="urn:schemas-microsoft-com:vml" Requires="v">
                <p:oleObj spid="_x0000_s3273" name="" r:id="rId1" imgW="1625600" imgH="482600" progId="Equation.3">
                  <p:embed/>
                </p:oleObj>
              </mc:Choice>
              <mc:Fallback>
                <p:oleObj name="" r:id="rId1" imgW="1625600" imgH="482600" progId="Equation.3">
                  <p:embed/>
                  <p:pic>
                    <p:nvPicPr>
                      <p:cNvPr id="0" name="图片 3272"/>
                      <p:cNvPicPr/>
                      <p:nvPr/>
                    </p:nvPicPr>
                    <p:blipFill>
                      <a:blip r:embed="rId2"/>
                      <a:stretch>
                        <a:fillRect/>
                      </a:stretch>
                    </p:blipFill>
                    <p:spPr>
                      <a:xfrm>
                        <a:off x="2482850" y="1123950"/>
                        <a:ext cx="4059238" cy="1204913"/>
                      </a:xfrm>
                      <a:prstGeom prst="rect">
                        <a:avLst/>
                      </a:prstGeom>
                      <a:noFill/>
                      <a:ln w="38100">
                        <a:noFill/>
                        <a:miter/>
                      </a:ln>
                    </p:spPr>
                  </p:pic>
                </p:oleObj>
              </mc:Fallback>
            </mc:AlternateContent>
          </a:graphicData>
        </a:graphic>
      </p:graphicFrame>
      <p:sp>
        <p:nvSpPr>
          <p:cNvPr id="70665" name="Text Box 6"/>
          <p:cNvSpPr txBox="1"/>
          <p:nvPr/>
        </p:nvSpPr>
        <p:spPr>
          <a:xfrm>
            <a:off x="457200" y="2162175"/>
            <a:ext cx="2390775" cy="579438"/>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的计算公式.</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grpSp>
        <p:nvGrpSpPr>
          <p:cNvPr id="2" name="Group 19"/>
          <p:cNvGrpSpPr/>
          <p:nvPr/>
        </p:nvGrpSpPr>
        <p:grpSpPr>
          <a:xfrm>
            <a:off x="457200" y="2649538"/>
            <a:ext cx="7878763" cy="1260475"/>
            <a:chOff x="288" y="1669"/>
            <a:chExt cx="4963" cy="794"/>
          </a:xfrm>
        </p:grpSpPr>
        <p:sp>
          <p:nvSpPr>
            <p:cNvPr id="70669" name="Text Box 7"/>
            <p:cNvSpPr txBox="1"/>
            <p:nvPr/>
          </p:nvSpPr>
          <p:spPr>
            <a:xfrm>
              <a:off x="288" y="1669"/>
              <a:ext cx="4963" cy="794"/>
            </a:xfrm>
            <a:prstGeom prst="rect">
              <a:avLst/>
            </a:prstGeom>
            <a:noFill/>
            <a:ln w="9525">
              <a:noFill/>
            </a:ln>
          </p:spPr>
          <p:txBody>
            <a:bodyPr>
              <a:spAutoFit/>
            </a:bodyPr>
            <a:p>
              <a:pPr eaLnBrk="0" hangingPunct="0">
                <a:lnSpc>
                  <a:spcPct val="120000"/>
                </a:lnSpc>
              </a:pPr>
              <a:r>
                <a:rPr lang="zh-CN" altLang="en-US" b="1" dirty="0">
                  <a:latin typeface="Times New Roman" panose="02020603050405020304" pitchFamily="18" charset="0"/>
                </a:rPr>
                <a:t>解: 令            ，将此问题转化为一阶常微分方程组初值问题</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aphicFrame>
          <p:nvGraphicFramePr>
            <p:cNvPr id="70661" name="Object 1027"/>
            <p:cNvGraphicFramePr/>
            <p:nvPr/>
          </p:nvGraphicFramePr>
          <p:xfrm>
            <a:off x="1067" y="1746"/>
            <a:ext cx="642" cy="321"/>
          </p:xfrm>
          <a:graphic>
            <a:graphicData uri="http://schemas.openxmlformats.org/presentationml/2006/ole">
              <mc:AlternateContent xmlns:mc="http://schemas.openxmlformats.org/markup-compatibility/2006">
                <mc:Choice xmlns:v="urn:schemas-microsoft-com:vml" Requires="v">
                  <p:oleObj spid="_x0000_s3271" name="" r:id="rId3" imgW="405765" imgH="203200" progId="Equation.3">
                    <p:embed/>
                  </p:oleObj>
                </mc:Choice>
                <mc:Fallback>
                  <p:oleObj name="" r:id="rId3" imgW="405765" imgH="203200" progId="Equation.3">
                    <p:embed/>
                    <p:pic>
                      <p:nvPicPr>
                        <p:cNvPr id="0" name="图片 3270"/>
                        <p:cNvPicPr/>
                        <p:nvPr/>
                      </p:nvPicPr>
                      <p:blipFill>
                        <a:blip r:embed="rId4"/>
                        <a:stretch>
                          <a:fillRect/>
                        </a:stretch>
                      </p:blipFill>
                      <p:spPr>
                        <a:xfrm>
                          <a:off x="1067" y="1746"/>
                          <a:ext cx="642" cy="321"/>
                        </a:xfrm>
                        <a:prstGeom prst="rect">
                          <a:avLst/>
                        </a:prstGeom>
                        <a:noFill/>
                        <a:ln w="38100">
                          <a:noFill/>
                          <a:miter/>
                        </a:ln>
                      </p:spPr>
                    </p:pic>
                  </p:oleObj>
                </mc:Fallback>
              </mc:AlternateContent>
            </a:graphicData>
          </a:graphic>
        </p:graphicFrame>
      </p:grpSp>
      <p:graphicFrame>
        <p:nvGraphicFramePr>
          <p:cNvPr id="226305" name="Object 1025"/>
          <p:cNvGraphicFramePr/>
          <p:nvPr/>
        </p:nvGraphicFramePr>
        <p:xfrm>
          <a:off x="3605213" y="3306763"/>
          <a:ext cx="3460750" cy="1778000"/>
        </p:xfrm>
        <a:graphic>
          <a:graphicData uri="http://schemas.openxmlformats.org/presentationml/2006/ole">
            <mc:AlternateContent xmlns:mc="http://schemas.openxmlformats.org/markup-compatibility/2006">
              <mc:Choice xmlns:v="urn:schemas-microsoft-com:vml" Requires="v">
                <p:oleObj spid="_x0000_s3272" name="" r:id="rId5" imgW="1383665" imgH="711200" progId="Equation.3">
                  <p:embed/>
                </p:oleObj>
              </mc:Choice>
              <mc:Fallback>
                <p:oleObj name="" r:id="rId5" imgW="1383665" imgH="711200" progId="Equation.3">
                  <p:embed/>
                  <p:pic>
                    <p:nvPicPr>
                      <p:cNvPr id="0" name="图片 3271"/>
                      <p:cNvPicPr/>
                      <p:nvPr/>
                    </p:nvPicPr>
                    <p:blipFill>
                      <a:blip r:embed="rId6"/>
                      <a:stretch>
                        <a:fillRect/>
                      </a:stretch>
                    </p:blipFill>
                    <p:spPr>
                      <a:xfrm>
                        <a:off x="3605213" y="3306763"/>
                        <a:ext cx="3460750" cy="1778000"/>
                      </a:xfrm>
                      <a:prstGeom prst="rect">
                        <a:avLst/>
                      </a:prstGeom>
                      <a:noFill/>
                      <a:ln w="38100">
                        <a:noFill/>
                        <a:miter/>
                      </a:ln>
                    </p:spPr>
                  </p:pic>
                </p:oleObj>
              </mc:Fallback>
            </mc:AlternateContent>
          </a:graphicData>
        </a:graphic>
      </p:graphicFrame>
      <p:grpSp>
        <p:nvGrpSpPr>
          <p:cNvPr id="3" name="Group 18"/>
          <p:cNvGrpSpPr/>
          <p:nvPr/>
        </p:nvGrpSpPr>
        <p:grpSpPr>
          <a:xfrm>
            <a:off x="490538" y="4987925"/>
            <a:ext cx="5472112" cy="1158875"/>
            <a:chOff x="259" y="3162"/>
            <a:chExt cx="3447" cy="730"/>
          </a:xfrm>
        </p:grpSpPr>
        <p:sp>
          <p:nvSpPr>
            <p:cNvPr id="70668" name="Text Box 15"/>
            <p:cNvSpPr txBox="1"/>
            <p:nvPr/>
          </p:nvSpPr>
          <p:spPr>
            <a:xfrm>
              <a:off x="259" y="3319"/>
              <a:ext cx="3447" cy="365"/>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再令                                       则 </a:t>
              </a:r>
              <a:endParaRPr lang="zh-CN" altLang="en-US" b="1" dirty="0">
                <a:latin typeface="Times New Roman" panose="02020603050405020304" pitchFamily="18" charset="0"/>
              </a:endParaRPr>
            </a:p>
          </p:txBody>
        </p:sp>
        <p:graphicFrame>
          <p:nvGraphicFramePr>
            <p:cNvPr id="70660" name="Object 1026"/>
            <p:cNvGraphicFramePr/>
            <p:nvPr/>
          </p:nvGraphicFramePr>
          <p:xfrm>
            <a:off x="784" y="3162"/>
            <a:ext cx="2499" cy="730"/>
          </p:xfrm>
          <a:graphic>
            <a:graphicData uri="http://schemas.openxmlformats.org/presentationml/2006/ole">
              <mc:AlternateContent xmlns:mc="http://schemas.openxmlformats.org/markup-compatibility/2006">
                <mc:Choice xmlns:v="urn:schemas-microsoft-com:vml" Requires="v">
                  <p:oleObj spid="_x0000_s3274" name="" r:id="rId7" imgW="1637665" imgH="482600" progId="Equation.3">
                    <p:embed/>
                  </p:oleObj>
                </mc:Choice>
                <mc:Fallback>
                  <p:oleObj name="" r:id="rId7" imgW="1637665" imgH="482600" progId="Equation.3">
                    <p:embed/>
                    <p:pic>
                      <p:nvPicPr>
                        <p:cNvPr id="0" name="图片 3273"/>
                        <p:cNvPicPr/>
                        <p:nvPr/>
                      </p:nvPicPr>
                      <p:blipFill>
                        <a:blip r:embed="rId8"/>
                        <a:stretch>
                          <a:fillRect/>
                        </a:stretch>
                      </p:blipFill>
                      <p:spPr>
                        <a:xfrm>
                          <a:off x="784" y="3162"/>
                          <a:ext cx="2499" cy="73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0-#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26305"/>
                                        </p:tgtEl>
                                        <p:attrNameLst>
                                          <p:attrName>style.visibility</p:attrName>
                                        </p:attrNameLst>
                                      </p:cBhvr>
                                      <p:to>
                                        <p:strVal val="visible"/>
                                      </p:to>
                                    </p:set>
                                    <p:animEffect transition="in" filter="wipe(up)">
                                      <p:cBhvr>
                                        <p:cTn id="13" dur="500"/>
                                        <p:tgtEl>
                                          <p:spTgt spid="22630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695"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71696" name="Rectangle 2"/>
          <p:cNvSpPr>
            <a:spLocks noGrp="1"/>
          </p:cNvSpPr>
          <p:nvPr>
            <p:ph type="title"/>
          </p:nvPr>
        </p:nvSpPr>
        <p:spPr>
          <a:ln/>
        </p:spPr>
        <p:txBody>
          <a:bodyPr vert="horz" wrap="square" lIns="91440" tIns="45720" rIns="91440" bIns="45720" anchor="ctr" anchorCtr="0"/>
          <a:p>
            <a:pPr algn="l"/>
            <a:r>
              <a:rPr lang="zh-CN" altLang="en-US" b="1" u="none" dirty="0">
                <a:solidFill>
                  <a:schemeClr val="tx1"/>
                </a:solidFill>
                <a:latin typeface="Times New Roman" panose="02020603050405020304" pitchFamily="18" charset="0"/>
              </a:rPr>
              <a:t>求此问题数值解的标准四阶</a:t>
            </a:r>
            <a:r>
              <a:rPr lang="en-US" altLang="zh-CN" b="1" u="none" dirty="0">
                <a:solidFill>
                  <a:schemeClr val="tx1"/>
                </a:solidFill>
                <a:latin typeface="Times New Roman" panose="02020603050405020304" pitchFamily="18" charset="0"/>
              </a:rPr>
              <a:t>Runge-Kutta</a:t>
            </a:r>
            <a:r>
              <a:rPr lang="zh-CN" altLang="en-US" b="1" u="none" dirty="0">
                <a:solidFill>
                  <a:schemeClr val="tx1"/>
                </a:solidFill>
                <a:latin typeface="Times New Roman" panose="02020603050405020304" pitchFamily="18" charset="0"/>
              </a:rPr>
              <a:t>公式为</a:t>
            </a:r>
            <a:endParaRPr lang="zh-CN" altLang="en-US" b="1" u="none" dirty="0">
              <a:solidFill>
                <a:schemeClr val="tx1"/>
              </a:solidFill>
              <a:latin typeface="Times New Roman" panose="02020603050405020304" pitchFamily="18" charset="0"/>
              <a:ea typeface="Times New Roman" panose="02020603050405020304" pitchFamily="18" charset="0"/>
            </a:endParaRPr>
          </a:p>
        </p:txBody>
      </p:sp>
      <p:graphicFrame>
        <p:nvGraphicFramePr>
          <p:cNvPr id="227328" name="Object 1024"/>
          <p:cNvGraphicFramePr/>
          <p:nvPr/>
        </p:nvGraphicFramePr>
        <p:xfrm>
          <a:off x="638175" y="1066800"/>
          <a:ext cx="5240338" cy="944563"/>
        </p:xfrm>
        <a:graphic>
          <a:graphicData uri="http://schemas.openxmlformats.org/presentationml/2006/ole">
            <mc:AlternateContent xmlns:mc="http://schemas.openxmlformats.org/markup-compatibility/2006">
              <mc:Choice xmlns:v="urn:schemas-microsoft-com:vml" Requires="v">
                <p:oleObj spid="_x0000_s3285" name="" r:id="rId1" imgW="2183765" imgH="393700" progId="Equation.3">
                  <p:embed/>
                </p:oleObj>
              </mc:Choice>
              <mc:Fallback>
                <p:oleObj name="" r:id="rId1" imgW="2183765" imgH="393700" progId="Equation.3">
                  <p:embed/>
                  <p:pic>
                    <p:nvPicPr>
                      <p:cNvPr id="0" name="图片 3284"/>
                      <p:cNvPicPr/>
                      <p:nvPr/>
                    </p:nvPicPr>
                    <p:blipFill>
                      <a:blip r:embed="rId2"/>
                      <a:stretch>
                        <a:fillRect/>
                      </a:stretch>
                    </p:blipFill>
                    <p:spPr>
                      <a:xfrm>
                        <a:off x="638175" y="1066800"/>
                        <a:ext cx="5240338" cy="944563"/>
                      </a:xfrm>
                      <a:prstGeom prst="rect">
                        <a:avLst/>
                      </a:prstGeom>
                      <a:noFill/>
                      <a:ln w="38100">
                        <a:noFill/>
                        <a:miter/>
                      </a:ln>
                    </p:spPr>
                  </p:pic>
                </p:oleObj>
              </mc:Fallback>
            </mc:AlternateContent>
          </a:graphicData>
        </a:graphic>
      </p:graphicFrame>
      <p:graphicFrame>
        <p:nvGraphicFramePr>
          <p:cNvPr id="227329" name="Object 1025"/>
          <p:cNvGraphicFramePr/>
          <p:nvPr/>
        </p:nvGraphicFramePr>
        <p:xfrm>
          <a:off x="661988" y="1962150"/>
          <a:ext cx="5513387" cy="944563"/>
        </p:xfrm>
        <a:graphic>
          <a:graphicData uri="http://schemas.openxmlformats.org/presentationml/2006/ole">
            <mc:AlternateContent xmlns:mc="http://schemas.openxmlformats.org/markup-compatibility/2006">
              <mc:Choice xmlns:v="urn:schemas-microsoft-com:vml" Requires="v">
                <p:oleObj spid="_x0000_s3283" name="" r:id="rId3" imgW="2297430" imgH="393700" progId="Equation.3">
                  <p:embed/>
                </p:oleObj>
              </mc:Choice>
              <mc:Fallback>
                <p:oleObj name="" r:id="rId3" imgW="2297430" imgH="393700" progId="Equation.3">
                  <p:embed/>
                  <p:pic>
                    <p:nvPicPr>
                      <p:cNvPr id="0" name="图片 3282"/>
                      <p:cNvPicPr/>
                      <p:nvPr/>
                    </p:nvPicPr>
                    <p:blipFill>
                      <a:blip r:embed="rId4"/>
                      <a:stretch>
                        <a:fillRect/>
                      </a:stretch>
                    </p:blipFill>
                    <p:spPr>
                      <a:xfrm>
                        <a:off x="661988" y="1962150"/>
                        <a:ext cx="5513387" cy="944563"/>
                      </a:xfrm>
                      <a:prstGeom prst="rect">
                        <a:avLst/>
                      </a:prstGeom>
                      <a:noFill/>
                      <a:ln w="38100">
                        <a:noFill/>
                        <a:miter/>
                      </a:ln>
                    </p:spPr>
                  </p:pic>
                </p:oleObj>
              </mc:Fallback>
            </mc:AlternateContent>
          </a:graphicData>
        </a:graphic>
      </p:graphicFrame>
      <p:graphicFrame>
        <p:nvGraphicFramePr>
          <p:cNvPr id="227330" name="Object 1026"/>
          <p:cNvGraphicFramePr/>
          <p:nvPr/>
        </p:nvGraphicFramePr>
        <p:xfrm>
          <a:off x="706438" y="2876550"/>
          <a:ext cx="1249362" cy="547688"/>
        </p:xfrm>
        <a:graphic>
          <a:graphicData uri="http://schemas.openxmlformats.org/presentationml/2006/ole">
            <mc:AlternateContent xmlns:mc="http://schemas.openxmlformats.org/markup-compatibility/2006">
              <mc:Choice xmlns:v="urn:schemas-microsoft-com:vml" Requires="v">
                <p:oleObj spid="_x0000_s3277" name="" r:id="rId5" imgW="520700" imgH="228600" progId="Equation.3">
                  <p:embed/>
                </p:oleObj>
              </mc:Choice>
              <mc:Fallback>
                <p:oleObj name="" r:id="rId5" imgW="520700" imgH="228600" progId="Equation.3">
                  <p:embed/>
                  <p:pic>
                    <p:nvPicPr>
                      <p:cNvPr id="0" name="图片 3276"/>
                      <p:cNvPicPr/>
                      <p:nvPr/>
                    </p:nvPicPr>
                    <p:blipFill>
                      <a:blip r:embed="rId6"/>
                      <a:stretch>
                        <a:fillRect/>
                      </a:stretch>
                    </p:blipFill>
                    <p:spPr>
                      <a:xfrm>
                        <a:off x="706438" y="2876550"/>
                        <a:ext cx="1249362" cy="547688"/>
                      </a:xfrm>
                      <a:prstGeom prst="rect">
                        <a:avLst/>
                      </a:prstGeom>
                      <a:noFill/>
                      <a:ln w="38100">
                        <a:noFill/>
                        <a:miter/>
                      </a:ln>
                    </p:spPr>
                  </p:pic>
                </p:oleObj>
              </mc:Fallback>
            </mc:AlternateContent>
          </a:graphicData>
        </a:graphic>
      </p:graphicFrame>
      <p:graphicFrame>
        <p:nvGraphicFramePr>
          <p:cNvPr id="227331" name="Object 1027"/>
          <p:cNvGraphicFramePr/>
          <p:nvPr/>
        </p:nvGraphicFramePr>
        <p:xfrm>
          <a:off x="2159000" y="2914650"/>
          <a:ext cx="2925763" cy="579438"/>
        </p:xfrm>
        <a:graphic>
          <a:graphicData uri="http://schemas.openxmlformats.org/presentationml/2006/ole">
            <mc:AlternateContent xmlns:mc="http://schemas.openxmlformats.org/markup-compatibility/2006">
              <mc:Choice xmlns:v="urn:schemas-microsoft-com:vml" Requires="v">
                <p:oleObj spid="_x0000_s3286" name="" r:id="rId7" imgW="1218565" imgH="241300" progId="Equation.3">
                  <p:embed/>
                </p:oleObj>
              </mc:Choice>
              <mc:Fallback>
                <p:oleObj name="" r:id="rId7" imgW="1218565" imgH="241300" progId="Equation.3">
                  <p:embed/>
                  <p:pic>
                    <p:nvPicPr>
                      <p:cNvPr id="0" name="图片 3285"/>
                      <p:cNvPicPr/>
                      <p:nvPr/>
                    </p:nvPicPr>
                    <p:blipFill>
                      <a:blip r:embed="rId8"/>
                      <a:stretch>
                        <a:fillRect/>
                      </a:stretch>
                    </p:blipFill>
                    <p:spPr>
                      <a:xfrm>
                        <a:off x="2159000" y="2914650"/>
                        <a:ext cx="2925763" cy="579438"/>
                      </a:xfrm>
                      <a:prstGeom prst="rect">
                        <a:avLst/>
                      </a:prstGeom>
                      <a:noFill/>
                      <a:ln w="38100">
                        <a:noFill/>
                        <a:miter/>
                      </a:ln>
                    </p:spPr>
                  </p:pic>
                </p:oleObj>
              </mc:Fallback>
            </mc:AlternateContent>
          </a:graphicData>
        </a:graphic>
      </p:graphicFrame>
      <p:graphicFrame>
        <p:nvGraphicFramePr>
          <p:cNvPr id="227332" name="Object 1028"/>
          <p:cNvGraphicFramePr/>
          <p:nvPr/>
        </p:nvGraphicFramePr>
        <p:xfrm>
          <a:off x="681038" y="3413125"/>
          <a:ext cx="2346325" cy="944563"/>
        </p:xfrm>
        <a:graphic>
          <a:graphicData uri="http://schemas.openxmlformats.org/presentationml/2006/ole">
            <mc:AlternateContent xmlns:mc="http://schemas.openxmlformats.org/markup-compatibility/2006">
              <mc:Choice xmlns:v="urn:schemas-microsoft-com:vml" Requires="v">
                <p:oleObj spid="_x0000_s3287" name="" r:id="rId9" imgW="977265" imgH="393700" progId="Equation.3">
                  <p:embed/>
                </p:oleObj>
              </mc:Choice>
              <mc:Fallback>
                <p:oleObj name="" r:id="rId9" imgW="977265" imgH="393700" progId="Equation.3">
                  <p:embed/>
                  <p:pic>
                    <p:nvPicPr>
                      <p:cNvPr id="0" name="图片 3286"/>
                      <p:cNvPicPr/>
                      <p:nvPr/>
                    </p:nvPicPr>
                    <p:blipFill>
                      <a:blip r:embed="rId10"/>
                      <a:stretch>
                        <a:fillRect/>
                      </a:stretch>
                    </p:blipFill>
                    <p:spPr>
                      <a:xfrm>
                        <a:off x="681038" y="3413125"/>
                        <a:ext cx="2346325" cy="944563"/>
                      </a:xfrm>
                      <a:prstGeom prst="rect">
                        <a:avLst/>
                      </a:prstGeom>
                      <a:noFill/>
                      <a:ln w="38100">
                        <a:noFill/>
                        <a:miter/>
                      </a:ln>
                    </p:spPr>
                  </p:pic>
                </p:oleObj>
              </mc:Fallback>
            </mc:AlternateContent>
          </a:graphicData>
        </a:graphic>
      </p:graphicFrame>
      <p:graphicFrame>
        <p:nvGraphicFramePr>
          <p:cNvPr id="227333" name="Object 1029"/>
          <p:cNvGraphicFramePr/>
          <p:nvPr/>
        </p:nvGraphicFramePr>
        <p:xfrm>
          <a:off x="2974975" y="3422650"/>
          <a:ext cx="5424488" cy="944563"/>
        </p:xfrm>
        <a:graphic>
          <a:graphicData uri="http://schemas.openxmlformats.org/presentationml/2006/ole">
            <mc:AlternateContent xmlns:mc="http://schemas.openxmlformats.org/markup-compatibility/2006">
              <mc:Choice xmlns:v="urn:schemas-microsoft-com:vml" Requires="v">
                <p:oleObj spid="_x0000_s3280" name="" r:id="rId11" imgW="2259330" imgH="393700" progId="Equation.3">
                  <p:embed/>
                </p:oleObj>
              </mc:Choice>
              <mc:Fallback>
                <p:oleObj name="" r:id="rId11" imgW="2259330" imgH="393700" progId="Equation.3">
                  <p:embed/>
                  <p:pic>
                    <p:nvPicPr>
                      <p:cNvPr id="0" name="图片 3279"/>
                      <p:cNvPicPr/>
                      <p:nvPr/>
                    </p:nvPicPr>
                    <p:blipFill>
                      <a:blip r:embed="rId12"/>
                      <a:stretch>
                        <a:fillRect/>
                      </a:stretch>
                    </p:blipFill>
                    <p:spPr>
                      <a:xfrm>
                        <a:off x="2974975" y="3422650"/>
                        <a:ext cx="5424488" cy="944563"/>
                      </a:xfrm>
                      <a:prstGeom prst="rect">
                        <a:avLst/>
                      </a:prstGeom>
                      <a:noFill/>
                      <a:ln w="38100">
                        <a:noFill/>
                        <a:miter/>
                      </a:ln>
                    </p:spPr>
                  </p:pic>
                </p:oleObj>
              </mc:Fallback>
            </mc:AlternateContent>
          </a:graphicData>
        </a:graphic>
      </p:graphicFrame>
      <p:graphicFrame>
        <p:nvGraphicFramePr>
          <p:cNvPr id="227334" name="Object 1030"/>
          <p:cNvGraphicFramePr/>
          <p:nvPr/>
        </p:nvGraphicFramePr>
        <p:xfrm>
          <a:off x="684213" y="4335463"/>
          <a:ext cx="2376487" cy="944562"/>
        </p:xfrm>
        <a:graphic>
          <a:graphicData uri="http://schemas.openxmlformats.org/presentationml/2006/ole">
            <mc:AlternateContent xmlns:mc="http://schemas.openxmlformats.org/markup-compatibility/2006">
              <mc:Choice xmlns:v="urn:schemas-microsoft-com:vml" Requires="v">
                <p:oleObj spid="_x0000_s3275" name="" r:id="rId13" imgW="989965" imgH="393700" progId="Equation.3">
                  <p:embed/>
                </p:oleObj>
              </mc:Choice>
              <mc:Fallback>
                <p:oleObj name="" r:id="rId13" imgW="989965" imgH="393700" progId="Equation.3">
                  <p:embed/>
                  <p:pic>
                    <p:nvPicPr>
                      <p:cNvPr id="0" name="图片 3274"/>
                      <p:cNvPicPr/>
                      <p:nvPr/>
                    </p:nvPicPr>
                    <p:blipFill>
                      <a:blip r:embed="rId14"/>
                      <a:stretch>
                        <a:fillRect/>
                      </a:stretch>
                    </p:blipFill>
                    <p:spPr>
                      <a:xfrm>
                        <a:off x="684213" y="4335463"/>
                        <a:ext cx="2376487" cy="944562"/>
                      </a:xfrm>
                      <a:prstGeom prst="rect">
                        <a:avLst/>
                      </a:prstGeom>
                      <a:noFill/>
                      <a:ln w="38100">
                        <a:noFill/>
                        <a:miter/>
                      </a:ln>
                    </p:spPr>
                  </p:pic>
                </p:oleObj>
              </mc:Fallback>
            </mc:AlternateContent>
          </a:graphicData>
        </a:graphic>
      </p:graphicFrame>
      <p:graphicFrame>
        <p:nvGraphicFramePr>
          <p:cNvPr id="227335" name="Object 1031"/>
          <p:cNvGraphicFramePr/>
          <p:nvPr/>
        </p:nvGraphicFramePr>
        <p:xfrm>
          <a:off x="3008313" y="4357688"/>
          <a:ext cx="5576887" cy="944562"/>
        </p:xfrm>
        <a:graphic>
          <a:graphicData uri="http://schemas.openxmlformats.org/presentationml/2006/ole">
            <mc:AlternateContent xmlns:mc="http://schemas.openxmlformats.org/markup-compatibility/2006">
              <mc:Choice xmlns:v="urn:schemas-microsoft-com:vml" Requires="v">
                <p:oleObj spid="_x0000_s3284" name="" r:id="rId15" imgW="2322830" imgH="393700" progId="Equation.3">
                  <p:embed/>
                </p:oleObj>
              </mc:Choice>
              <mc:Fallback>
                <p:oleObj name="" r:id="rId15" imgW="2322830" imgH="393700" progId="Equation.3">
                  <p:embed/>
                  <p:pic>
                    <p:nvPicPr>
                      <p:cNvPr id="0" name="图片 3283"/>
                      <p:cNvPicPr/>
                      <p:nvPr/>
                    </p:nvPicPr>
                    <p:blipFill>
                      <a:blip r:embed="rId16"/>
                      <a:stretch>
                        <a:fillRect/>
                      </a:stretch>
                    </p:blipFill>
                    <p:spPr>
                      <a:xfrm>
                        <a:off x="3008313" y="4357688"/>
                        <a:ext cx="5576887" cy="944562"/>
                      </a:xfrm>
                      <a:prstGeom prst="rect">
                        <a:avLst/>
                      </a:prstGeom>
                      <a:noFill/>
                      <a:ln w="38100">
                        <a:noFill/>
                        <a:miter/>
                      </a:ln>
                    </p:spPr>
                  </p:pic>
                </p:oleObj>
              </mc:Fallback>
            </mc:AlternateContent>
          </a:graphicData>
        </a:graphic>
      </p:graphicFrame>
      <p:graphicFrame>
        <p:nvGraphicFramePr>
          <p:cNvPr id="227336" name="Object 1032"/>
          <p:cNvGraphicFramePr/>
          <p:nvPr/>
        </p:nvGraphicFramePr>
        <p:xfrm>
          <a:off x="654050" y="5303838"/>
          <a:ext cx="2254250" cy="547687"/>
        </p:xfrm>
        <a:graphic>
          <a:graphicData uri="http://schemas.openxmlformats.org/presentationml/2006/ole">
            <mc:AlternateContent xmlns:mc="http://schemas.openxmlformats.org/markup-compatibility/2006">
              <mc:Choice xmlns:v="urn:schemas-microsoft-com:vml" Requires="v">
                <p:oleObj spid="_x0000_s3288" name="" r:id="rId17" imgW="939800" imgH="228600" progId="Equation.3">
                  <p:embed/>
                </p:oleObj>
              </mc:Choice>
              <mc:Fallback>
                <p:oleObj name="" r:id="rId17" imgW="939800" imgH="228600" progId="Equation.3">
                  <p:embed/>
                  <p:pic>
                    <p:nvPicPr>
                      <p:cNvPr id="0" name="图片 3287"/>
                      <p:cNvPicPr/>
                      <p:nvPr/>
                    </p:nvPicPr>
                    <p:blipFill>
                      <a:blip r:embed="rId18"/>
                      <a:stretch>
                        <a:fillRect/>
                      </a:stretch>
                    </p:blipFill>
                    <p:spPr>
                      <a:xfrm>
                        <a:off x="654050" y="5303838"/>
                        <a:ext cx="2254250" cy="547687"/>
                      </a:xfrm>
                      <a:prstGeom prst="rect">
                        <a:avLst/>
                      </a:prstGeom>
                      <a:noFill/>
                      <a:ln w="38100">
                        <a:noFill/>
                        <a:miter/>
                      </a:ln>
                    </p:spPr>
                  </p:pic>
                </p:oleObj>
              </mc:Fallback>
            </mc:AlternateContent>
          </a:graphicData>
        </a:graphic>
      </p:graphicFrame>
      <p:graphicFrame>
        <p:nvGraphicFramePr>
          <p:cNvPr id="227337" name="Object 1033"/>
          <p:cNvGraphicFramePr/>
          <p:nvPr/>
        </p:nvGraphicFramePr>
        <p:xfrm>
          <a:off x="2913063" y="5326063"/>
          <a:ext cx="5119687" cy="547687"/>
        </p:xfrm>
        <a:graphic>
          <a:graphicData uri="http://schemas.openxmlformats.org/presentationml/2006/ole">
            <mc:AlternateContent xmlns:mc="http://schemas.openxmlformats.org/markup-compatibility/2006">
              <mc:Choice xmlns:v="urn:schemas-microsoft-com:vml" Requires="v">
                <p:oleObj spid="_x0000_s3276" name="" r:id="rId19" imgW="2133600" imgH="228600" progId="Equation.3">
                  <p:embed/>
                </p:oleObj>
              </mc:Choice>
              <mc:Fallback>
                <p:oleObj name="" r:id="rId19" imgW="2133600" imgH="228600" progId="Equation.3">
                  <p:embed/>
                  <p:pic>
                    <p:nvPicPr>
                      <p:cNvPr id="0" name="图片 3275"/>
                      <p:cNvPicPr/>
                      <p:nvPr/>
                    </p:nvPicPr>
                    <p:blipFill>
                      <a:blip r:embed="rId20"/>
                      <a:stretch>
                        <a:fillRect/>
                      </a:stretch>
                    </p:blipFill>
                    <p:spPr>
                      <a:xfrm>
                        <a:off x="2913063" y="5326063"/>
                        <a:ext cx="5119687" cy="547687"/>
                      </a:xfrm>
                      <a:prstGeom prst="rect">
                        <a:avLst/>
                      </a:prstGeom>
                      <a:noFill/>
                      <a:ln w="38100">
                        <a:noFill/>
                        <a:miter/>
                      </a:ln>
                    </p:spPr>
                  </p:pic>
                </p:oleObj>
              </mc:Fallback>
            </mc:AlternateContent>
          </a:graphicData>
        </a:graphic>
      </p:graphicFrame>
      <p:graphicFrame>
        <p:nvGraphicFramePr>
          <p:cNvPr id="227338" name="Object 1034"/>
          <p:cNvGraphicFramePr/>
          <p:nvPr/>
        </p:nvGraphicFramePr>
        <p:xfrm>
          <a:off x="614363" y="5935663"/>
          <a:ext cx="2376487" cy="547687"/>
        </p:xfrm>
        <a:graphic>
          <a:graphicData uri="http://schemas.openxmlformats.org/presentationml/2006/ole">
            <mc:AlternateContent xmlns:mc="http://schemas.openxmlformats.org/markup-compatibility/2006">
              <mc:Choice xmlns:v="urn:schemas-microsoft-com:vml" Requires="v">
                <p:oleObj spid="_x0000_s3281" name="" r:id="rId21" imgW="990600" imgH="228600" progId="Equation.3">
                  <p:embed/>
                </p:oleObj>
              </mc:Choice>
              <mc:Fallback>
                <p:oleObj name="" r:id="rId21" imgW="990600" imgH="228600" progId="Equation.3">
                  <p:embed/>
                  <p:pic>
                    <p:nvPicPr>
                      <p:cNvPr id="0" name="图片 3280"/>
                      <p:cNvPicPr/>
                      <p:nvPr/>
                    </p:nvPicPr>
                    <p:blipFill>
                      <a:blip r:embed="rId22"/>
                      <a:stretch>
                        <a:fillRect/>
                      </a:stretch>
                    </p:blipFill>
                    <p:spPr>
                      <a:xfrm>
                        <a:off x="614363" y="5935663"/>
                        <a:ext cx="2376487" cy="547687"/>
                      </a:xfrm>
                      <a:prstGeom prst="rect">
                        <a:avLst/>
                      </a:prstGeom>
                      <a:noFill/>
                      <a:ln w="38100">
                        <a:noFill/>
                        <a:miter/>
                      </a:ln>
                    </p:spPr>
                  </p:pic>
                </p:oleObj>
              </mc:Fallback>
            </mc:AlternateContent>
          </a:graphicData>
        </a:graphic>
      </p:graphicFrame>
      <p:graphicFrame>
        <p:nvGraphicFramePr>
          <p:cNvPr id="227339" name="Object 1035"/>
          <p:cNvGraphicFramePr/>
          <p:nvPr/>
        </p:nvGraphicFramePr>
        <p:xfrm>
          <a:off x="6227763" y="1377950"/>
          <a:ext cx="2381250" cy="1143000"/>
        </p:xfrm>
        <a:graphic>
          <a:graphicData uri="http://schemas.openxmlformats.org/presentationml/2006/ole">
            <mc:AlternateContent xmlns:mc="http://schemas.openxmlformats.org/markup-compatibility/2006">
              <mc:Choice xmlns:v="urn:schemas-microsoft-com:vml" Requires="v">
                <p:oleObj spid="_x0000_s3282" name="" r:id="rId23" imgW="951865" imgH="457200" progId="Equation.3">
                  <p:embed/>
                </p:oleObj>
              </mc:Choice>
              <mc:Fallback>
                <p:oleObj name="" r:id="rId23" imgW="951865" imgH="457200" progId="Equation.3">
                  <p:embed/>
                  <p:pic>
                    <p:nvPicPr>
                      <p:cNvPr id="0" name="图片 3281"/>
                      <p:cNvPicPr/>
                      <p:nvPr/>
                    </p:nvPicPr>
                    <p:blipFill>
                      <a:blip r:embed="rId24"/>
                      <a:stretch>
                        <a:fillRect/>
                      </a:stretch>
                    </p:blipFill>
                    <p:spPr>
                      <a:xfrm>
                        <a:off x="6227763" y="1377950"/>
                        <a:ext cx="2381250" cy="1143000"/>
                      </a:xfrm>
                      <a:prstGeom prst="rect">
                        <a:avLst/>
                      </a:prstGeom>
                      <a:gradFill rotWithShape="0">
                        <a:gsLst>
                          <a:gs pos="0">
                            <a:srgbClr val="FFFFFF"/>
                          </a:gs>
                          <a:gs pos="50000">
                            <a:srgbClr val="FFFF00"/>
                          </a:gs>
                          <a:gs pos="100000">
                            <a:srgbClr val="FFFFFF"/>
                          </a:gs>
                        </a:gsLst>
                        <a:lin ang="5400000" scaled="1"/>
                        <a:tileRect/>
                      </a:gra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7328"/>
                                        </p:tgtEl>
                                        <p:attrNameLst>
                                          <p:attrName>style.visibility</p:attrName>
                                        </p:attrNameLst>
                                      </p:cBhvr>
                                      <p:to>
                                        <p:strVal val="visible"/>
                                      </p:to>
                                    </p:set>
                                    <p:animEffect transition="in" filter="dissolve">
                                      <p:cBhvr>
                                        <p:cTn id="7" dur="500"/>
                                        <p:tgtEl>
                                          <p:spTgt spid="22732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7329"/>
                                        </p:tgtEl>
                                        <p:attrNameLst>
                                          <p:attrName>style.visibility</p:attrName>
                                        </p:attrNameLst>
                                      </p:cBhvr>
                                      <p:to>
                                        <p:strVal val="visible"/>
                                      </p:to>
                                    </p:set>
                                    <p:animEffect transition="in" filter="dissolve">
                                      <p:cBhvr>
                                        <p:cTn id="12" dur="500"/>
                                        <p:tgtEl>
                                          <p:spTgt spid="2273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27339"/>
                                        </p:tgtEl>
                                        <p:attrNameLst>
                                          <p:attrName>style.visibility</p:attrName>
                                        </p:attrNameLst>
                                      </p:cBhvr>
                                      <p:to>
                                        <p:strVal val="visible"/>
                                      </p:to>
                                    </p:set>
                                    <p:animEffect transition="in" filter="wipe(up)">
                                      <p:cBhvr>
                                        <p:cTn id="17" dur="500"/>
                                        <p:tgtEl>
                                          <p:spTgt spid="22733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27330"/>
                                        </p:tgtEl>
                                        <p:attrNameLst>
                                          <p:attrName>style.visibility</p:attrName>
                                        </p:attrNameLst>
                                      </p:cBhvr>
                                      <p:to>
                                        <p:strVal val="visible"/>
                                      </p:to>
                                    </p:set>
                                    <p:animEffect transition="in" filter="dissolve">
                                      <p:cBhvr>
                                        <p:cTn id="22" dur="500"/>
                                        <p:tgtEl>
                                          <p:spTgt spid="22733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27331"/>
                                        </p:tgtEl>
                                        <p:attrNameLst>
                                          <p:attrName>style.visibility</p:attrName>
                                        </p:attrNameLst>
                                      </p:cBhvr>
                                      <p:to>
                                        <p:strVal val="visible"/>
                                      </p:to>
                                    </p:set>
                                    <p:animEffect transition="in" filter="dissolve">
                                      <p:cBhvr>
                                        <p:cTn id="27" dur="500"/>
                                        <p:tgtEl>
                                          <p:spTgt spid="22733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27332"/>
                                        </p:tgtEl>
                                        <p:attrNameLst>
                                          <p:attrName>style.visibility</p:attrName>
                                        </p:attrNameLst>
                                      </p:cBhvr>
                                      <p:to>
                                        <p:strVal val="visible"/>
                                      </p:to>
                                    </p:set>
                                    <p:animEffect transition="in" filter="dissolve">
                                      <p:cBhvr>
                                        <p:cTn id="32" dur="500"/>
                                        <p:tgtEl>
                                          <p:spTgt spid="22733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27333"/>
                                        </p:tgtEl>
                                        <p:attrNameLst>
                                          <p:attrName>style.visibility</p:attrName>
                                        </p:attrNameLst>
                                      </p:cBhvr>
                                      <p:to>
                                        <p:strVal val="visible"/>
                                      </p:to>
                                    </p:set>
                                    <p:animEffect transition="in" filter="dissolve">
                                      <p:cBhvr>
                                        <p:cTn id="37" dur="500"/>
                                        <p:tgtEl>
                                          <p:spTgt spid="22733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27334"/>
                                        </p:tgtEl>
                                        <p:attrNameLst>
                                          <p:attrName>style.visibility</p:attrName>
                                        </p:attrNameLst>
                                      </p:cBhvr>
                                      <p:to>
                                        <p:strVal val="visible"/>
                                      </p:to>
                                    </p:set>
                                    <p:animEffect transition="in" filter="dissolve">
                                      <p:cBhvr>
                                        <p:cTn id="42" dur="500"/>
                                        <p:tgtEl>
                                          <p:spTgt spid="22733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27335"/>
                                        </p:tgtEl>
                                        <p:attrNameLst>
                                          <p:attrName>style.visibility</p:attrName>
                                        </p:attrNameLst>
                                      </p:cBhvr>
                                      <p:to>
                                        <p:strVal val="visible"/>
                                      </p:to>
                                    </p:set>
                                    <p:animEffect transition="in" filter="dissolve">
                                      <p:cBhvr>
                                        <p:cTn id="47" dur="500"/>
                                        <p:tgtEl>
                                          <p:spTgt spid="22733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27336"/>
                                        </p:tgtEl>
                                        <p:attrNameLst>
                                          <p:attrName>style.visibility</p:attrName>
                                        </p:attrNameLst>
                                      </p:cBhvr>
                                      <p:to>
                                        <p:strVal val="visible"/>
                                      </p:to>
                                    </p:set>
                                    <p:animEffect transition="in" filter="dissolve">
                                      <p:cBhvr>
                                        <p:cTn id="52" dur="500"/>
                                        <p:tgtEl>
                                          <p:spTgt spid="227336"/>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27337"/>
                                        </p:tgtEl>
                                        <p:attrNameLst>
                                          <p:attrName>style.visibility</p:attrName>
                                        </p:attrNameLst>
                                      </p:cBhvr>
                                      <p:to>
                                        <p:strVal val="visible"/>
                                      </p:to>
                                    </p:set>
                                    <p:animEffect transition="in" filter="dissolve">
                                      <p:cBhvr>
                                        <p:cTn id="57" dur="500"/>
                                        <p:tgtEl>
                                          <p:spTgt spid="227337"/>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227338"/>
                                        </p:tgtEl>
                                        <p:attrNameLst>
                                          <p:attrName>style.visibility</p:attrName>
                                        </p:attrNameLst>
                                      </p:cBhvr>
                                      <p:to>
                                        <p:strVal val="visible"/>
                                      </p:to>
                                    </p:set>
                                    <p:animEffect transition="in" filter="dissolve">
                                      <p:cBhvr>
                                        <p:cTn id="62" dur="500"/>
                                        <p:tgtEl>
                                          <p:spTgt spid="227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页脚占位符 4"/>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709" name="灯片编号占位符 5"/>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72710" name="Rectangle 2"/>
          <p:cNvSpPr>
            <a:spLocks noGrp="1"/>
          </p:cNvSpPr>
          <p:nvPr>
            <p:ph type="title"/>
          </p:nvPr>
        </p:nvSpPr>
        <p:spPr>
          <a:xfrm>
            <a:off x="0" y="228600"/>
            <a:ext cx="9144000" cy="1143000"/>
          </a:xfrm>
          <a:ln/>
        </p:spPr>
        <p:txBody>
          <a:bodyPr vert="horz" wrap="square" lIns="91440" tIns="45720" rIns="91440" bIns="45720" anchor="ctr" anchorCtr="0"/>
          <a:p>
            <a:pPr algn="l"/>
            <a:r>
              <a:rPr lang="en-US" altLang="zh-CN" sz="3600" b="1" u="none" dirty="0">
                <a:latin typeface="Times New Roman" panose="02020603050405020304" pitchFamily="18" charset="0"/>
              </a:rPr>
              <a:t>9.4</a:t>
            </a:r>
            <a:r>
              <a:rPr lang="zh-CN" altLang="en-US" sz="3600" b="1" u="none" dirty="0">
                <a:latin typeface="Times New Roman" panose="02020603050405020304" pitchFamily="18" charset="0"/>
              </a:rPr>
              <a:t>.3 高阶常微分方程组初值问题的数值解法</a:t>
            </a:r>
            <a:endParaRPr lang="zh-CN" altLang="en-US" sz="3600" u="none" dirty="0">
              <a:latin typeface="Times New Roman" panose="02020603050405020304" pitchFamily="18" charset="0"/>
              <a:ea typeface="Times New Roman" panose="02020603050405020304" pitchFamily="18" charset="0"/>
            </a:endParaRPr>
          </a:p>
        </p:txBody>
      </p:sp>
      <p:sp>
        <p:nvSpPr>
          <p:cNvPr id="168963" name="Rectangle 3"/>
          <p:cNvSpPr>
            <a:spLocks noGrp="1"/>
          </p:cNvSpPr>
          <p:nvPr>
            <p:ph idx="1"/>
          </p:nvPr>
        </p:nvSpPr>
        <p:spPr>
          <a:xfrm>
            <a:off x="595313" y="1108075"/>
            <a:ext cx="8153400" cy="1458913"/>
          </a:xfrm>
          <a:ln/>
        </p:spPr>
        <p:txBody>
          <a:bodyPr vert="horz" wrap="square" lIns="91440" tIns="45720" rIns="91440" bIns="45720" anchor="t" anchorCtr="0"/>
          <a:p>
            <a:pPr marL="0" indent="0" algn="just">
              <a:lnSpc>
                <a:spcPct val="120000"/>
              </a:lnSpc>
              <a:buNone/>
            </a:pPr>
            <a:r>
              <a:rPr lang="zh-CN" altLang="en-US" sz="2000" dirty="0">
                <a:latin typeface="Times New Roman" panose="02020603050405020304" pitchFamily="18" charset="0"/>
              </a:rPr>
              <a:t> </a:t>
            </a:r>
            <a:r>
              <a:rPr lang="zh-CN" altLang="en-US" sz="3200" dirty="0">
                <a:latin typeface="Times New Roman" panose="02020603050405020304" pitchFamily="18" charset="0"/>
              </a:rPr>
              <a:t>        </a:t>
            </a:r>
            <a:r>
              <a:rPr lang="zh-CN" altLang="en-US" sz="3200" b="1" dirty="0">
                <a:latin typeface="Times New Roman" panose="02020603050405020304" pitchFamily="18" charset="0"/>
              </a:rPr>
              <a:t>对于高阶常微分方程组的初值问题, 考察下面的二阶常微分方程组初值问题:</a:t>
            </a:r>
            <a:endParaRPr lang="zh-CN" altLang="en-US" sz="3200" b="1" dirty="0"/>
          </a:p>
        </p:txBody>
      </p:sp>
      <p:graphicFrame>
        <p:nvGraphicFramePr>
          <p:cNvPr id="228352" name="Object 1024"/>
          <p:cNvGraphicFramePr/>
          <p:nvPr/>
        </p:nvGraphicFramePr>
        <p:xfrm>
          <a:off x="842963" y="2489200"/>
          <a:ext cx="7046912" cy="1779588"/>
        </p:xfrm>
        <a:graphic>
          <a:graphicData uri="http://schemas.openxmlformats.org/presentationml/2006/ole">
            <mc:AlternateContent xmlns:mc="http://schemas.openxmlformats.org/markup-compatibility/2006">
              <mc:Choice xmlns:v="urn:schemas-microsoft-com:vml" Requires="v">
                <p:oleObj spid="_x0000_s3278" name="" r:id="rId1" imgW="2805430" imgH="711200" progId="Equation.3">
                  <p:embed/>
                </p:oleObj>
              </mc:Choice>
              <mc:Fallback>
                <p:oleObj name="" r:id="rId1" imgW="2805430" imgH="711200" progId="Equation.3">
                  <p:embed/>
                  <p:pic>
                    <p:nvPicPr>
                      <p:cNvPr id="0" name="图片 3277"/>
                      <p:cNvPicPr/>
                      <p:nvPr/>
                    </p:nvPicPr>
                    <p:blipFill>
                      <a:blip r:embed="rId2"/>
                      <a:stretch>
                        <a:fillRect/>
                      </a:stretch>
                    </p:blipFill>
                    <p:spPr>
                      <a:xfrm>
                        <a:off x="842963" y="2489200"/>
                        <a:ext cx="7046912" cy="1779588"/>
                      </a:xfrm>
                      <a:prstGeom prst="rect">
                        <a:avLst/>
                      </a:prstGeom>
                      <a:noFill/>
                      <a:ln w="38100">
                        <a:noFill/>
                        <a:miter/>
                      </a:ln>
                    </p:spPr>
                  </p:pic>
                </p:oleObj>
              </mc:Fallback>
            </mc:AlternateContent>
          </a:graphicData>
        </a:graphic>
      </p:graphicFrame>
      <p:grpSp>
        <p:nvGrpSpPr>
          <p:cNvPr id="2" name="Group 10"/>
          <p:cNvGrpSpPr/>
          <p:nvPr/>
        </p:nvGrpSpPr>
        <p:grpSpPr>
          <a:xfrm>
            <a:off x="617538" y="4429125"/>
            <a:ext cx="5213350" cy="590550"/>
            <a:chOff x="379" y="2996"/>
            <a:chExt cx="3284" cy="372"/>
          </a:xfrm>
        </p:grpSpPr>
        <p:sp>
          <p:nvSpPr>
            <p:cNvPr id="72714" name="Text Box 6"/>
            <p:cNvSpPr txBox="1"/>
            <p:nvPr/>
          </p:nvSpPr>
          <p:spPr>
            <a:xfrm>
              <a:off x="379" y="2996"/>
              <a:ext cx="430" cy="365"/>
            </a:xfrm>
            <a:prstGeom prst="rect">
              <a:avLst/>
            </a:prstGeom>
            <a:noFill/>
            <a:ln w="9525">
              <a:noFill/>
            </a:ln>
          </p:spPr>
          <p:txBody>
            <a:bodyPr wrap="none">
              <a:spAutoFit/>
            </a:bodyPr>
            <a:p>
              <a:pPr eaLnBrk="0" hangingPunct="0"/>
              <a:r>
                <a:rPr lang="zh-CN" altLang="en-US" b="1" dirty="0">
                  <a:latin typeface="Times New Roman" panose="02020603050405020304" pitchFamily="18" charset="0"/>
                </a:rPr>
                <a:t>令</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graphicFrame>
          <p:nvGraphicFramePr>
            <p:cNvPr id="72707" name="Object 1025"/>
            <p:cNvGraphicFramePr/>
            <p:nvPr/>
          </p:nvGraphicFramePr>
          <p:xfrm>
            <a:off x="755" y="3021"/>
            <a:ext cx="2908" cy="347"/>
          </p:xfrm>
          <a:graphic>
            <a:graphicData uri="http://schemas.openxmlformats.org/presentationml/2006/ole">
              <mc:AlternateContent xmlns:mc="http://schemas.openxmlformats.org/markup-compatibility/2006">
                <mc:Choice xmlns:v="urn:schemas-microsoft-com:vml" Requires="v">
                  <p:oleObj spid="_x0000_s3279" name="" r:id="rId3" imgW="1917700" imgH="228600" progId="Equation.3">
                    <p:embed/>
                  </p:oleObj>
                </mc:Choice>
                <mc:Fallback>
                  <p:oleObj name="" r:id="rId3" imgW="1917700" imgH="228600" progId="Equation.3">
                    <p:embed/>
                    <p:pic>
                      <p:nvPicPr>
                        <p:cNvPr id="0" name="图片 3278"/>
                        <p:cNvPicPr/>
                        <p:nvPr/>
                      </p:nvPicPr>
                      <p:blipFill>
                        <a:blip r:embed="rId4"/>
                        <a:stretch>
                          <a:fillRect/>
                        </a:stretch>
                      </p:blipFill>
                      <p:spPr>
                        <a:xfrm>
                          <a:off x="755" y="3021"/>
                          <a:ext cx="2908" cy="347"/>
                        </a:xfrm>
                        <a:prstGeom prst="rect">
                          <a:avLst/>
                        </a:prstGeom>
                        <a:noFill/>
                        <a:ln w="38100">
                          <a:noFill/>
                          <a:miter/>
                        </a:ln>
                      </p:spPr>
                    </p:pic>
                  </p:oleObj>
                </mc:Fallback>
              </mc:AlternateContent>
            </a:graphicData>
          </a:graphic>
        </p:graphicFrame>
      </p:grpSp>
      <p:sp>
        <p:nvSpPr>
          <p:cNvPr id="168969" name="Text Box 9"/>
          <p:cNvSpPr txBox="1"/>
          <p:nvPr/>
        </p:nvSpPr>
        <p:spPr>
          <a:xfrm>
            <a:off x="620713" y="5248275"/>
            <a:ext cx="8289925" cy="579438"/>
          </a:xfrm>
          <a:prstGeom prst="rect">
            <a:avLst/>
          </a:prstGeom>
          <a:noFill/>
          <a:ln w="9525">
            <a:noFill/>
          </a:ln>
        </p:spPr>
        <p:txBody>
          <a:bodyPr>
            <a:spAutoFit/>
          </a:bodyPr>
          <a:p>
            <a:pPr eaLnBrk="0" hangingPunct="0"/>
            <a:r>
              <a:rPr lang="zh-CN" altLang="en-US" b="1" dirty="0">
                <a:latin typeface="Times New Roman" panose="02020603050405020304" pitchFamily="18" charset="0"/>
              </a:rPr>
              <a:t>将此问题转化为一阶常微分方程组初值问题</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8963">
                                            <p:txEl>
                                              <p:charRg st="0" end="45"/>
                                            </p:txEl>
                                          </p:spTgt>
                                        </p:tgtEl>
                                        <p:attrNameLst>
                                          <p:attrName>style.visibility</p:attrName>
                                        </p:attrNameLst>
                                      </p:cBhvr>
                                      <p:to>
                                        <p:strVal val="visible"/>
                                      </p:to>
                                    </p:set>
                                    <p:anim calcmode="lin" valueType="num">
                                      <p:cBhvr>
                                        <p:cTn id="7" dur="500" fill="hold"/>
                                        <p:tgtEl>
                                          <p:spTgt spid="168963">
                                            <p:txEl>
                                              <p:charRg st="0" end="45"/>
                                            </p:txEl>
                                          </p:spTgt>
                                        </p:tgtEl>
                                        <p:attrNameLst>
                                          <p:attrName>ppt_x</p:attrName>
                                        </p:attrNameLst>
                                      </p:cBhvr>
                                      <p:tavLst>
                                        <p:tav tm="0">
                                          <p:val>
                                            <p:strVal val="0-#ppt_w/2"/>
                                          </p:val>
                                        </p:tav>
                                        <p:tav tm="100000">
                                          <p:val>
                                            <p:strVal val="#ppt_x"/>
                                          </p:val>
                                        </p:tav>
                                      </p:tavLst>
                                    </p:anim>
                                    <p:anim calcmode="lin" valueType="num">
                                      <p:cBhvr>
                                        <p:cTn id="8" dur="500" fill="hold"/>
                                        <p:tgtEl>
                                          <p:spTgt spid="168963">
                                            <p:txEl>
                                              <p:charRg st="0" end="4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28352"/>
                                        </p:tgtEl>
                                        <p:attrNameLst>
                                          <p:attrName>style.visibility</p:attrName>
                                        </p:attrNameLst>
                                      </p:cBhvr>
                                      <p:to>
                                        <p:strVal val="visible"/>
                                      </p:to>
                                    </p:set>
                                    <p:animEffect transition="in" filter="wipe(up)">
                                      <p:cBhvr>
                                        <p:cTn id="13" dur="500"/>
                                        <p:tgtEl>
                                          <p:spTgt spid="22835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ppt_x</p:attrName>
                                        </p:attrNameLst>
                                      </p:cBhvr>
                                      <p:tavLst>
                                        <p:tav tm="0">
                                          <p:val>
                                            <p:strVal val="0-#ppt_w/2"/>
                                          </p:val>
                                        </p:tav>
                                        <p:tav tm="100000">
                                          <p:val>
                                            <p:strVal val="#ppt_x"/>
                                          </p:val>
                                        </p:tav>
                                      </p:tavLst>
                                    </p:anim>
                                    <p:anim calcmode="lin" valueType="num">
                                      <p:cBhvr>
                                        <p:cTn id="19"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68969"/>
                                        </p:tgtEl>
                                        <p:attrNameLst>
                                          <p:attrName>style.visibility</p:attrName>
                                        </p:attrNameLst>
                                      </p:cBhvr>
                                      <p:to>
                                        <p:strVal val="visible"/>
                                      </p:to>
                                    </p:set>
                                    <p:animEffect transition="in" filter="wipe(right)">
                                      <p:cBhvr>
                                        <p:cTn id="24" dur="500"/>
                                        <p:tgtEl>
                                          <p:spTgt spid="1689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build="p"/>
      <p:bldP spid="16896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页脚占位符 3"/>
          <p:cNvSpPr txBox="1">
            <a:spLocks noGrp="1"/>
          </p:cNvSpPr>
          <p:nvPr>
            <p:ph type="ftr" sz="quarter" idx="3"/>
          </p:nvPr>
        </p:nvSpPr>
        <p:spPr bwMode="auto">
          <a:ln/>
        </p:spPr>
        <p:txBody>
          <a:bodyPr wrap="square" lIns="91440" tIns="45720" rIns="91440" bIns="45720" numCol="1" anchor="t"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ODE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732" name="灯片编号占位符 4"/>
          <p:cNvSpPr txBox="1">
            <a:spLocks noGrp="1"/>
          </p:cNvSpPr>
          <p:nvPr>
            <p:ph type="sldNum" sz="quarter" idx="4"/>
          </p:nvPr>
        </p:nvSpPr>
        <p:spPr>
          <a:ln/>
        </p:spPr>
        <p: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fld>
            <a:endParaRPr lang="zh-CN" altLang="en-US" sz="1400" dirty="0"/>
          </a:p>
        </p:txBody>
      </p:sp>
      <p:sp>
        <p:nvSpPr>
          <p:cNvPr id="73733" name="Rectangle 2"/>
          <p:cNvSpPr>
            <a:spLocks noGrp="1"/>
          </p:cNvSpPr>
          <p:nvPr>
            <p:ph type="title"/>
          </p:nvPr>
        </p:nvSpPr>
        <p:spPr>
          <a:ln/>
        </p:spPr>
        <p:txBody>
          <a:bodyPr vert="horz" wrap="square" lIns="91440" tIns="45720" rIns="91440" bIns="45720" anchor="ctr" anchorCtr="0"/>
          <a:p>
            <a:pPr algn="l"/>
            <a:r>
              <a:rPr lang="zh-CN" altLang="en-US" b="1" u="none" dirty="0">
                <a:solidFill>
                  <a:srgbClr val="FF0000"/>
                </a:solidFill>
                <a:latin typeface="Times New Roman" panose="02020603050405020304" pitchFamily="18" charset="0"/>
              </a:rPr>
              <a:t>等价的一阶常微分方程组初值问题</a:t>
            </a:r>
            <a:endParaRPr lang="zh-CN" altLang="en-US" b="1" u="none" dirty="0">
              <a:solidFill>
                <a:srgbClr val="FF0000"/>
              </a:solidFill>
              <a:latin typeface="Times New Roman" panose="02020603050405020304" pitchFamily="18" charset="0"/>
            </a:endParaRPr>
          </a:p>
        </p:txBody>
      </p:sp>
      <p:graphicFrame>
        <p:nvGraphicFramePr>
          <p:cNvPr id="73730" name="Object 1024"/>
          <p:cNvGraphicFramePr/>
          <p:nvPr/>
        </p:nvGraphicFramePr>
        <p:xfrm>
          <a:off x="534988" y="1500188"/>
          <a:ext cx="7842250" cy="3116262"/>
        </p:xfrm>
        <a:graphic>
          <a:graphicData uri="http://schemas.openxmlformats.org/presentationml/2006/ole">
            <mc:AlternateContent xmlns:mc="http://schemas.openxmlformats.org/markup-compatibility/2006">
              <mc:Choice xmlns:v="urn:schemas-microsoft-com:vml" Requires="v">
                <p:oleObj spid="_x0000_s3289" name="" r:id="rId1" imgW="3124200" imgH="1244600" progId="Equation.3">
                  <p:embed/>
                </p:oleObj>
              </mc:Choice>
              <mc:Fallback>
                <p:oleObj name="" r:id="rId1" imgW="3124200" imgH="1244600" progId="Equation.3">
                  <p:embed/>
                  <p:pic>
                    <p:nvPicPr>
                      <p:cNvPr id="0" name="图片 3288"/>
                      <p:cNvPicPr/>
                      <p:nvPr/>
                    </p:nvPicPr>
                    <p:blipFill>
                      <a:blip r:embed="rId2"/>
                      <a:stretch>
                        <a:fillRect/>
                      </a:stretch>
                    </p:blipFill>
                    <p:spPr>
                      <a:xfrm>
                        <a:off x="534988" y="1500188"/>
                        <a:ext cx="7842250" cy="3116262"/>
                      </a:xfrm>
                      <a:prstGeom prst="rect">
                        <a:avLst/>
                      </a:prstGeom>
                      <a:noFill/>
                      <a:ln w="38100">
                        <a:noFill/>
                        <a:miter/>
                      </a:ln>
                    </p:spPr>
                  </p:pic>
                </p:oleObj>
              </mc:Fallback>
            </mc:AlternateContent>
          </a:graphicData>
        </a:graphic>
      </p:graphicFrame>
    </p:spTree>
  </p:cSld>
  <p:clrMapOvr>
    <a:masterClrMapping/>
  </p:clrMapOvr>
</p:sld>
</file>

<file path=ppt/tags/tag1.xml><?xml version="1.0" encoding="utf-8"?>
<p:tagLst xmlns:p="http://schemas.openxmlformats.org/presentationml/2006/main">
  <p:tag name="commondata" val="eyJoZGlkIjoiN2I4NDViNGMzYzEyZjQ3NjA4YTIzYjE4ZDQ4YzJkZGEifQ=="/>
</p:tagLst>
</file>

<file path=ppt/theme/theme1.xml><?xml version="1.0" encoding="utf-8"?>
<a:theme xmlns:a="http://schemas.openxmlformats.org/drawingml/2006/main" name="默认设计模板">
  <a:themeElements>
    <a:clrScheme name="">
      <a:dk1>
        <a:srgbClr val="000000"/>
      </a:dk1>
      <a:lt1>
        <a:srgbClr val="DDDDDD"/>
      </a:lt1>
      <a:dk2>
        <a:srgbClr val="000000"/>
      </a:dk2>
      <a:lt2>
        <a:srgbClr val="808080"/>
      </a:lt2>
      <a:accent1>
        <a:srgbClr val="00CC99"/>
      </a:accent1>
      <a:accent2>
        <a:srgbClr val="3333CC"/>
      </a:accent2>
      <a:accent3>
        <a:srgbClr val="EBEBEB"/>
      </a:accent3>
      <a:accent4>
        <a:srgbClr val="000000"/>
      </a:accent4>
      <a:accent5>
        <a:srgbClr val="AAE2CA"/>
      </a:accent5>
      <a:accent6>
        <a:srgbClr val="2D2DB9"/>
      </a:accent6>
      <a:hlink>
        <a:srgbClr val="CCCCFF"/>
      </a:hlink>
      <a:folHlink>
        <a:srgbClr val="B2B2B2"/>
      </a:folHlink>
    </a:clrScheme>
    <a:fontScheme name="默认设计模板">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DDDDDD"/>
      </a:lt1>
      <a:dk2>
        <a:srgbClr val="000000"/>
      </a:dk2>
      <a:lt2>
        <a:srgbClr val="808080"/>
      </a:lt2>
      <a:accent1>
        <a:srgbClr val="00CC99"/>
      </a:accent1>
      <a:accent2>
        <a:srgbClr val="3333CC"/>
      </a:accent2>
      <a:accent3>
        <a:srgbClr val="EBEBEB"/>
      </a:accent3>
      <a:accent4>
        <a:srgbClr val="000000"/>
      </a:accent4>
      <a:accent5>
        <a:srgbClr val="AAE2CA"/>
      </a:accent5>
      <a:accent6>
        <a:srgbClr val="2D2DB9"/>
      </a:accent6>
      <a:hlink>
        <a:srgbClr val="CCCCFF"/>
      </a:hlink>
      <a:folHlink>
        <a:srgbClr val="B2B2B2"/>
      </a:folHlink>
    </a:clrScheme>
    <a:fontScheme name="默认设计模板">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9539</Words>
  <Application>WPS 演示</Application>
  <PresentationFormat>全屏显示(4:3)</PresentationFormat>
  <Paragraphs>1158</Paragraphs>
  <Slides>78</Slides>
  <Notes>9</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232</vt:i4>
      </vt:variant>
      <vt:variant>
        <vt:lpstr>幻灯片标题</vt:lpstr>
      </vt:variant>
      <vt:variant>
        <vt:i4>78</vt:i4>
      </vt:variant>
    </vt:vector>
  </HeadingPairs>
  <TitlesOfParts>
    <vt:vector size="326" baseType="lpstr">
      <vt:lpstr>Arial</vt:lpstr>
      <vt:lpstr>宋体</vt:lpstr>
      <vt:lpstr>Wingdings</vt:lpstr>
      <vt:lpstr>Times New Roman</vt:lpstr>
      <vt:lpstr>Comic Sans MS</vt:lpstr>
      <vt:lpstr>ZapfDingbats</vt:lpstr>
      <vt:lpstr>华文行楷</vt:lpstr>
      <vt:lpstr>黑体</vt:lpstr>
      <vt:lpstr>华文隶书</vt:lpstr>
      <vt:lpstr>隶书</vt:lpstr>
      <vt:lpstr>Symbol</vt:lpstr>
      <vt:lpstr>微软雅黑</vt:lpstr>
      <vt:lpstr>Arial Unicode MS</vt:lpstr>
      <vt:lpstr>Times New Roman</vt:lpstr>
      <vt:lpstr>默认设计模板</vt:lpstr>
      <vt:lpstr>1_默认设计模板</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Equation.DSMT4</vt:lpstr>
      <vt:lpstr>Equation.DSMT4</vt:lpstr>
      <vt:lpstr>Equation.3</vt:lpstr>
      <vt:lpstr>Equation.DSMT4</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Equation.DSMT4</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Equation.3</vt:lpstr>
      <vt:lpstr>Equation.DSMT4</vt:lpstr>
      <vt:lpstr>Equation.3</vt:lpstr>
      <vt:lpstr>Equation.DSMT4</vt:lpstr>
      <vt:lpstr>Equation.DSMT4</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Equation.3</vt:lpstr>
      <vt:lpstr>Equation.3</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数值积分与数值微分</dc:title>
  <dc:creator/>
  <cp:lastModifiedBy>xws</cp:lastModifiedBy>
  <cp:revision>200</cp:revision>
  <dcterms:created xsi:type="dcterms:W3CDTF">2004-05-04T08:18:17Z</dcterms:created>
  <dcterms:modified xsi:type="dcterms:W3CDTF">2023-11-22T07:35:00Z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F2047180096D4ED3A1FB5968CF78B11F_13</vt:lpwstr>
  </property>
</Properties>
</file>